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4.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Annual growth by segment (CAGR) · market size in the label</a:t>
            </a:r>
          </a:p>
        </c:rich>
      </c:tx>
      <c:layout/>
      <c:overlay val="0"/>
    </c:title>
    <c:autoTitleDeleted val="0"/>
    <c:plotArea>
      <c:layout/>
      <c:barChart>
        <c:barDir val="bar"/>
        <c:grouping val="clustered"/>
        <c:varyColors val="0"/>
        <c:ser>
          <c:idx val="0"/>
          <c:order val="0"/>
          <c:tx>
            <c:strRef>
              <c:f>Sheet1!$B$1</c:f>
              <c:strCache>
                <c:ptCount val="1"/>
                <c:pt idx="0">
                  <c:v>CAGR</c:v>
                </c:pt>
              </c:strCache>
            </c:strRef>
          </c:tx>
          <c:spPr>
            <a:solidFill>
              <a:srgbClr val="C9A84C"/>
            </a:solidFill>
            <a:effectLst/>
          </c:spPr>
          <c:invertIfNegative val="0"/>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cat>
            <c:multiLvlStrRef>
              <c:f>Sheet1!$A$2:$A$6</c:f>
              <c:multiLvlStrCache>
                <c:ptCount val="5"/>
                <c:lvl>
                  <c:pt idx="0">
                    <c:v>Corporate L&amp;D · $380B</c:v>
                  </c:pt>
                  <c:pt idx="1">
                    <c:v>Compliance training · $14.9B</c:v>
                  </c:pt>
                  <c:pt idx="2">
                    <c:v>Digital-assets education · $3.5B</c:v>
                  </c:pt>
                  <c:pt idx="3">
                    <c:v>AI-governance training · $1.2B</c:v>
                  </c:pt>
                  <c:pt idx="4">
                    <c:v>Community platforms · $8.5B</c:v>
                  </c:pt>
                </c:lvl>
              </c:multiLvlStrCache>
            </c:multiLvlStrRef>
          </c:cat>
          <c:val>
            <c:numRef>
              <c:f>Sheet1!$B$2:$B$6</c:f>
              <c:numCache>
                <c:formatCode>General</c:formatCode>
                <c:ptCount val="5"/>
                <c:pt idx="0">
                  <c:v>12</c:v>
                </c:pt>
                <c:pt idx="1">
                  <c:v>16</c:v>
                </c:pt>
                <c:pt idx="2">
                  <c:v>35</c:v>
                </c:pt>
                <c:pt idx="3">
                  <c:v>42</c:v>
                </c:pt>
                <c:pt idx="4">
                  <c:v>18</c:v>
                </c:pt>
              </c:numCache>
            </c:numRef>
          </c:val>
        </c:ser>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18"/>
          <c:y val="0.19"/>
          <c:w val="0.78"/>
          <c:h val="0.79"/>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A8AA0"/>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Revenue by stream, Year 1 vs Year 3 ($K)</a:t>
            </a:r>
          </a:p>
        </c:rich>
      </c:tx>
      <c:layout/>
      <c:overlay val="0"/>
    </c:title>
    <c:autoTitleDeleted val="0"/>
    <c:plotArea>
      <c:layout/>
      <c:barChart>
        <c:barDir val="bar"/>
        <c:grouping val="stacked"/>
        <c:varyColors val="0"/>
        <c:ser>
          <c:idx val="0"/>
          <c:order val="0"/>
          <c:tx>
            <c:strRef>
              <c:f>Sheet1!$B$1</c:f>
              <c:strCache>
                <c:ptCount val="1"/>
                <c:pt idx="0">
                  <c:v>Company Academies</c:v>
                </c:pt>
              </c:strCache>
            </c:strRef>
          </c:tx>
          <c:spPr>
            <a:solidFill>
              <a:srgbClr val="C9A84C"/>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Sheet1!$B$2:$B$3</c:f>
              <c:numCache>
                <c:formatCode>General</c:formatCode>
                <c:ptCount val="2"/>
                <c:pt idx="0">
                  <c:v>825</c:v>
                </c:pt>
                <c:pt idx="1">
                  <c:v>2400</c:v>
                </c:pt>
              </c:numCache>
            </c:numRef>
          </c:val>
        </c:ser>
        <c:ser>
          <c:idx val="1"/>
          <c:order val="1"/>
          <c:tx>
            <c:strRef>
              <c:f>Sheet1!$C$1</c:f>
              <c:strCache>
                <c:ptCount val="1"/>
                <c:pt idx="0">
                  <c:v>Corporate Team Subs</c:v>
                </c:pt>
              </c:strCache>
            </c:strRef>
          </c:tx>
          <c:spPr>
            <a:solidFill>
              <a:srgbClr val="F0C96B"/>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Sheet1!$C$2:$C$3</c:f>
              <c:numCache>
                <c:formatCode>General</c:formatCode>
                <c:ptCount val="2"/>
                <c:pt idx="0">
                  <c:v>480</c:v>
                </c:pt>
                <c:pt idx="1">
                  <c:v>2400</c:v>
                </c:pt>
              </c:numCache>
            </c:numRef>
          </c:val>
        </c:ser>
        <c:ser>
          <c:idx val="2"/>
          <c:order val="2"/>
          <c:tx>
            <c:strRef>
              <c:f>Sheet1!$D$1</c:f>
              <c:strCache>
                <c:ptCount val="1"/>
                <c:pt idx="0">
                  <c:v>Individual Subscriptions</c:v>
                </c:pt>
              </c:strCache>
            </c:strRef>
          </c:tx>
          <c:spPr>
            <a:solidFill>
              <a:srgbClr val="9B7A2E"/>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Sheet1!$D$2:$D$3</c:f>
              <c:numCache>
                <c:formatCode>General</c:formatCode>
                <c:ptCount val="2"/>
                <c:pt idx="0">
                  <c:v>280</c:v>
                </c:pt>
                <c:pt idx="1">
                  <c:v>2800</c:v>
                </c:pt>
              </c:numCache>
            </c:numRef>
          </c:val>
        </c:ser>
        <c:ser>
          <c:idx val="3"/>
          <c:order val="3"/>
          <c:tx>
            <c:strRef>
              <c:f>Sheet1!$E$1</c:f>
              <c:strCache>
                <c:ptCount val="1"/>
                <c:pt idx="0">
                  <c:v>Open Marketplace</c:v>
                </c:pt>
              </c:strCache>
            </c:strRef>
          </c:tx>
          <c:spPr>
            <a:solidFill>
              <a:srgbClr val="8A8AA0"/>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Sheet1!$E$2:$E$3</c:f>
              <c:numCache>
                <c:formatCode>General</c:formatCode>
                <c:ptCount val="2"/>
                <c:pt idx="0">
                  <c:v>100</c:v>
                </c:pt>
                <c:pt idx="1">
                  <c:v>750</c:v>
                </c:pt>
              </c:numCache>
            </c:numRef>
          </c:val>
        </c:ser>
        <c:ser>
          <c:idx val="4"/>
          <c:order val="4"/>
          <c:tx>
            <c:strRef>
              <c:f>Sheet1!$F$1</c:f>
              <c:strCache>
                <c:ptCount val="1"/>
                <c:pt idx="0">
                  <c:v>Certification Fees</c:v>
                </c:pt>
              </c:strCache>
            </c:strRef>
          </c:tx>
          <c:spPr>
            <a:solidFill>
              <a:srgbClr val="5A5A70"/>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Sheet1!$F$2:$F$3</c:f>
              <c:numCache>
                <c:formatCode>General</c:formatCode>
                <c:ptCount val="2"/>
                <c:pt idx="0">
                  <c:v>30</c:v>
                </c:pt>
                <c:pt idx="1">
                  <c:v>240</c:v>
                </c:pt>
              </c:numCache>
            </c:numRef>
          </c:val>
        </c:ser>
        <c:ser>
          <c:idx val="5"/>
          <c:order val="5"/>
          <c:tx>
            <c:strRef>
              <c:f>Sheet1!$G$1</c:f>
              <c:strCache>
                <c:ptCount val="1"/>
                <c:pt idx="0">
                  <c:v>Summit + Research</c:v>
                </c:pt>
              </c:strCache>
            </c:strRef>
          </c:tx>
          <c:spPr>
            <a:solidFill>
              <a:srgbClr val="D6D6E4"/>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Sheet1!$G$2:$G$3</c:f>
              <c:numCache>
                <c:formatCode>General</c:formatCode>
                <c:ptCount val="2"/>
                <c:pt idx="0">
                  <c:v>0</c:v>
                </c:pt>
                <c:pt idx="1">
                  <c:v>1000</c:v>
                </c:pt>
              </c:numCache>
            </c:numRef>
          </c:val>
        </c:ser>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C9A84C"/>
              </a:solidFill>
              <a:ln w="12700" cap="flat">
                <a:solidFill>
                  <a:srgbClr val="171722"/>
                </a:solidFill>
                <a:prstDash val="solid"/>
                <a:round/>
              </a:ln>
              <a:effectLst/>
            </c:spPr>
          </c:dPt>
          <c:dPt>
            <c:idx val="1"/>
            <c:bubble3D val="0"/>
            <c:spPr>
              <a:solidFill>
                <a:srgbClr val="F0C96B"/>
              </a:solidFill>
              <a:ln w="12700" cap="flat">
                <a:solidFill>
                  <a:srgbClr val="171722"/>
                </a:solidFill>
                <a:prstDash val="solid"/>
                <a:round/>
              </a:ln>
              <a:effectLst/>
            </c:spPr>
          </c:dPt>
          <c:dPt>
            <c:idx val="2"/>
            <c:bubble3D val="0"/>
            <c:spPr>
              <a:solidFill>
                <a:srgbClr val="8A8AA0"/>
              </a:solidFill>
              <a:ln w="12700" cap="flat">
                <a:solidFill>
                  <a:srgbClr val="171722"/>
                </a:solidFill>
                <a:prstDash val="solid"/>
                <a:round/>
              </a:ln>
              <a:effectLst/>
            </c:spPr>
          </c:dPt>
          <c:dPt>
            <c:idx val="3"/>
            <c:bubble3D val="0"/>
            <c:spPr>
              <a:solidFill>
                <a:srgbClr val="D6D6E4"/>
              </a:solidFill>
              <a:ln w="12700" cap="flat">
                <a:solidFill>
                  <a:srgbClr val="171722"/>
                </a:solidFill>
                <a:prstDash val="solid"/>
                <a:round/>
              </a:ln>
              <a:effectLst/>
            </c:spPr>
          </c:dPt>
          <c:dLbls>
            <c:dLbl>
              <c:idx val="0"/>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1"/>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2"/>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3"/>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Sales &amp; partnership team</c:v>
                </c:pt>
                <c:pt idx="1">
                  <c:v>Marketing &amp; conferences</c:v>
                </c:pt>
                <c:pt idx="2">
                  <c:v>Platform scaling (AWS, EKS)</c:v>
                </c:pt>
                <c:pt idx="3">
                  <c:v>G&amp;A, legal, operations</c:v>
                </c:pt>
              </c:strCache>
            </c:strRef>
          </c:cat>
          <c:val>
            <c:numRef>
              <c:f>Sheet1!$B$2:$B$5</c:f>
              <c:numCache>
                <c:ptCount val="4"/>
                <c:pt idx="0">
                  <c:v>600</c:v>
                </c:pt>
                <c:pt idx="1">
                  <c:v>400</c:v>
                </c:pt>
                <c:pt idx="2">
                  <c:v>400</c:v>
                </c:pt>
                <c:pt idx="3">
                  <c:v>600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one platform where regulators, financial intelligence units, banks, exchanges, enterprises, founders and students learn the digital economy, hosted by Dubai Blockchain Center. Every screen in this deck is either real software or a clearly labelled prototype. The running example, a Tether academy, is fictitious demo data: Tether is a roadmap target, not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from the master investor deck. The speed mismatch is the killer fact: MiCA, FATF guidance and new crypto typologies change monthly, universities take 18 months to update a curriculum and the big certification bodies about 6. Every team in the room has felt this, from product and treasury to risk and compliance. Use one concrete picture: a stablecoin team that must understand multichain settlement, reserve attestations and new regulation within weeks, and who today pieces that together from webinars and PDFs. Each problem has an answer that the product tour shows on real screens; the numbers under each answer are the slides. The &lt;48-hour update is a design target of Studio authoring plus the round-table pipeline, not a measured result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isn't a course catalogue; it's a city map. A district is where a topic lives, and a layer is how deep you go. Every district is an Open edX organisation, so the structure sits in the LMS itself, not just in marketing. The same grid organises the community forums on slide 14. Internal, not for the audience: the repo's preview page still says six districts, shows a '50+ Partners' stat and a 'Trusted by' strip naming roadmap partners. This capture uses corrected copy, and the page must be fixed before anything goes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one platform. Symposia is the community intelligence engine: round tables that become papers, posts and partner reports. Company Academies are branded partner academies with pathways, verified badges and a talent pipeline. Open Knowledge is the AI tutor, digital twins and the open course marketplace. Every feature serves the network effect: more partners bring more content, which makes the AI smarter, which brings more value. Each product-tour slide carries its pillar in a label next to the step, so you can see every pillar on real screens. Be precise on two points: publishing needs one human approval, and TikTok is on the roadmap,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one person, Layla, through every function, and then the partner behind her course. Three fictitious people carry the story: Layla the learner, Nadia who runs the partner academy, and Dr. Amira Haddad who moderates round tables. Four labels tell you what each screen is. A real Open edX screen came from a running Tutor 22 install. A Chronopoli template render is our repo code rendered in a test harness. A design prototype is a page still to be built. Opencast and Discourse screens are real extension systems. Layla is one persona of several, and USDT-201 is one of eight illustrative Tether courses: USDT-101 fundamentals, 102 multichain, 202 reserves and attestations, 203 payments and treasury, 301 investigations, 302 regulation and the 401 executive programme; four of the eight sit in the Digital Assets District. Every step also carries its pillar (slide 4): Symposia, Company Academies, Open Knowledge, or the shared platform core. Her course runs from 1 September 2026, and her badge is issued on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stock Open edX with Chronopoli settings: we didn't build a catalogue, we got one. These real Open edX screens still use the default theme with the Chronopoli name and a demo wordmark, not yet the dark/gold theme. The district filter was switched off in the demo because the stock catalogue shows raw org codes; the district still appears on every card. The frame shows the first two rows; the zoom is the USDT-301 card image from the same screen, and the list on the right gives all eight demo tracks: USDT-101 is free (L1), USDT-301 costs $1,499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isn't mocked: Layla's answers went through the repo's real routing function. Call it onboarding, not AI: today the routing is deterministic rules, which also makes it easy to explain. The AI comes in on slide 11, where the tutor reuses this profile. Because the home district follows the learner's own focus choice, an FIU investigator who picks financial-crime investigation lands in Investigation, and a ministry adviser who picks governance lands in Governance. Before go-live, these templates must render through Open edX's Mako engine (R-9), and answers must be checked against the allowed options (R-33).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 admin, Nadia Karim (fictitious), sets this up in the Django admin: partner record, subdomain, pathways, badges and jobs. Two honest caveats. The template doesn't yet apply the partner's brand colour or logo. And the subdomain middleware isn't registered in the Tutor plugin yet (R-23, sprint 6); the test harness switched it on. The frame shows the top of the academy page; the open roles follow further down the same page, and slide 13 shows the job board. This is the Company Academies pillar: a branded partner academy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page and price are live Open edX: USDT-201, L2 Professional, $599, and Chronopoli never sees card details because Stripe hosts the checkout. The confirmation page is a prototype because its template is missing (R-10). The checkout routing bug is fixed (R-11). Still open for the Commerce sprint: making Open edX itself enforce payment through paid course modes (R-12), and handling refunds and webhook edge cases (R-14).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worked through the course in a real browser session; these aren't mock-ups. This is the no-fork advantage in practice: world-class courseware, grading and progress tracking that Open edX maintains for us. Our engineering goes into what sits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widget, the Chronopoli header and the chat view that streams the answer are real repo code, and that view built a system prompt personalised to Layla. The two Bedrock calls were stubbed in the harness, so the answer text is scripted demo copy, not live model output; say so if asked. This is our platform moat (milestone M6): tutoring grounded in partner courses and round-table papers. The review fixed the history bug that broke the tutor after about six questions (R-15) and the knowledge-base IAM permissions (R-16). Still open for sprint 5: the knowledge-base index and access policy (R-18) and per-user quotas (R-32). Check on staging that the widget appears inside the new Learning MFE. The dark/gold look is the target Chronopoli theme; the real Open edX screens on slide 10 still use the stock theme, and both show the same Module 3 outline. This is the AI Tutor of the Open Knowledge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answered one capstone question wrong on purpose, so the 85% is a grade Open edX computed from her submitted answers. The pathway spans Digital Assets, Compliance, Risk &amp; Trust and Governance. That's the city idea: one credential built from several districts. In the harness the grades call is a stub; in production it reads the Open edX grades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to partners: you don't just educate the market, you hire from it. The badge was awarded with the repo's own award function. Two fixes are needed before this is automatic and compliant: the auto-badge trigger on certificate creation (R-22), and explicit opt-in before learners are auto-applied to jobs (R-37, UAE data-protection risk,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systems ran for real in Docker for these captures, with seeded content. The thread starts from the Module 4 worked example in the lecture, where both VASPs already apply the Travel Rule, and asks about the harder sunrise case, so course, video and community connect. Presenton couldn't be captured because its image download was blocked in the capture environment, so we don't show a screen for it. Keeping the SSO secret in sync between Tutor and Discourse is still open (R-28).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switch personas here: Nadia Karim runs the partner academy, and Dr. Amira Haddad moderates round tables. Both are fictitious. From now on, the question is what a partner gets for its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already know this kind of tool, and Open edX runs it at global scale. All eight demo courses were built and imported through this toolchain, so onboarding a partner's content means importing a course, not starting a software project. Pathways, badges and job postings are then set up in the academy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on the right come from 811 bulk-created demo accounts plus Layla, sized to match the scenario. If asked about the other 292: in the demo they are audit (unpaid) enrolments, and the scenario counts only verified enrolments as sales. The review added the weekly-report task (R-7, fixed), though Tutor still needs a scheduler process. Before go-live: a proper partner-user access model (R-26), reports scoped to each partner (R-25, partly fixed), the dashboard template itself (R-10), and the completion-rate calculation, which the analytics code doesn't fill 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differentiator (milestone M4). Putting an issuer, a central bank, an exchange and a regulator-facing moderator in one room is something no MOOC can sell. The round-table templates print times in UTC, so the agenda is written in UTC too: 12:00 UTC is 16:00 in Dubai. Open for the Pipeline sprint: the IVS recording configuration and the pipeline start (R-24).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these output texts are mock copy written for the demo and shown in the real templates. The pipeline hasn't processed a real session yet. The transcript-polling bug is fixed (R-3). Open for the Pipeline sprint: mapping the IVS event and producing an MP4 (R-4), the approval hand-off (R-5), and a container Lambda for the PDF paper (R-20). Don't promise anonymity yet. Today the analysis prompt extracts named quotes and the paper template prints them with a participant list, so Chatham House anonymisation must be built in before the first real session. One round table becomes five outputs: the opinion paper, a LinkedIn post per participant, an Instagram carousel, the Partner Intelligence Report for the sponsor and, once approved, an update to the AI tutor’s knowledge base. The screen also lists the transcript and the analysis, the two intermediate products. The master papers’ “3 hours” and “10 minutes” are design targets: the pipeline has not processed a real session yet. TikTok is on the roadmap, not in the code. The approval queue prints UTC: 14:03 UTC is 18:03 in Dubai, about half an hour after the 16:00-17:30 GST session ends. (The harness copy of the approval template adds the UTC label that the detail page already prints; the same one-word fix belongs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and service integrations are in the code, including expert approval of each question. The pages are prototypes because the masterclass templates are missing (R-10). Consent is a design rule, not yet code: before any voice is cloned we need a recorded written consent, and a publish check so that no twin goes live without the expert's approval (R-30, sprint 5, together with a real upload view and asynchronous Textract for multi-page PDFs). The expert must be able to withdraw the twin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numbers are the Chronopoli Master Document estimates; we have not had them independently verified, so say that if asked. The TAM is professional digital-economy training, $45B; the serviceable market is enterprise training in MENA and Europe, $8.5B; the obtainable share is $9.6M by Year 3, the same figure as the Year 3 revenue projection. The five segments overlap and are not additive, which is why corporate L&amp;D alone is larger than the TAM. The point of the slide is growth: AI-governance training and digital-assets education grow at 42% and 35% a year, and nobody connects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B2B-first: companies fund everything. A Founding Academy costs $150,000 a year. For that the partner gets trained staff and trained regulators, verified credentials, qualified candidates sent directly to its hiring team, and a Partner Intelligence Report every time its name comes up in a round table. Compare that with about $20,000 for a single recruiter placement. Before a single student pays, the Company Academies alone bring $825,000 in Year 1. These are Master Document projections. The next slides show the second pricing view, the one already in the code: per-course layer prices, seats and the 70/30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mechanics, and the first three are in the e-commerce code. The price ladder puts a whole academy on one screen, from a free USDT-101 to a $4,500 live cohort in Dubai. This is the second pricing view: the commercial model on slide 22 (academy fees, subscriptions) is what the master projections count; these are the mechanics that already exist in the e-commerce code. The $1,500 per seat per year there is the $125 per seat per month here. Company Academy fees follow the master pricing ($25K–$150K a year); what each partner tier gets within that range isn't set yet. The model's strength is that partners bring content and audience, and Chronopoli takes 30% of every partner sale without producing the course. Internal: the L1 price label in the code still reads $49-$149 and must be aligned to the $0-149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sell. Individuals buy course by course, and the prices on the left are live Open edX configuration, not a mock-up. Employers buy seats: Gulf Digital Exchange licenses 25 seats and has assigned 18. The licence page is a prototype: its template is one of the missing templates (review finding R-10). Two things to resolve in the Commerce sprint: the subscription code bills yearly while the price list is monthly, and seat assignment is only a counter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in the checkout code: each Stripe Checkout Session carries a transfer of 70 percent to the partner's Connect account, and the webhook writes a payout record. The gross counts individual purchases only; team-licence revenue comes on top. Still open for the Commerce sprint: payout status is never set to 'paid' yet (R-13, partly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this is a model of one academy, not reported revenue. Three things to take from it. First, the free USDT-101 is the funnel, with 2,140 enrolments or 44% of the total. Second, 50 live-cohort seats bring $225,000, about 72% of what 520 buyers of the flagship L2 course bring. Third, the platform keeps $332,532 without producing a single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cost is almost embarrassingly low: about $4,600 a year for AWS in Year 1, zero licensing, because the whole stack is open source: Open edX, Discourse, Opencast, Presenton, all self-hosted. All figures are Master Document projections, not results. Month 5 counts from the commercial launch, and the launch follows the six-sprint go-live plan, so don’t present it as a calendar date. At the Year 3 projection of $9.59M, the $8M pre-money is below one times projected Year 3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statuses exactly as they are. The platform is code-complete: 15 development phases, 90 requirements, none unmapped. It is Terraform-ready for me-central-1 but not deployed; slide 33 has the honest review. Dubai Blockchain Center is the confirmed anchor, with a network of more than 500 companies. The BUiD academic MOU is in progress, with 30 CPD credits a year as the recognition target. Tether is the one named target partner, for the Strategic tier: the demo academy in the product tour is built around an illustrative Tether scenario with mock data, and no partnership is implied. The two Founding Partner seats, $150K a year each, are open; nothing is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The ratings of the competitors are the Master Document’s. The Chronopoli column means built in code and shown in this deck; it goes live with the six-sprint plan. The last column points to the slide that shows each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moats, and each strengthens the other three. The knowledge moat: every round table, paper and masterclass feeds the AI tutor, and no external AI has that knowledge base. Partner lock-in: an academy’s credential history, talent pipeline and community live inside Chronopoli. Network effects: more partners, more round tables, more knowledge, more users, more employer demand, more partners. Cost structure: $374 a month of AWS to start and zero licensing, so SaaS competitors cannot undercut us without losing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brings compliance depth: KYC, AML and EDD across Liechtenstein, Switzerland and the UAE, plus the DBCC network. The CTO seat is open: we are looking for a senior Open edX and AWS engineer with MENA experience, and the platform code, the review and the six-sprint plan are the brief. Maria Papadaki of BUiD advises as academic partner; DBCC leadership supports the platform. We deliberately do not quote a line count: the codebase has grown past the old figure, and the review on slide 33 is the better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no-fork decision matters to an investor: we maintain only our plugin, apps and theme, and Open edX security fixes and features arrive through “tutor upgrade”. The real Open edX screens in this deck ran on a stock Tutor 22.0.2 install built from prebuilt images. Hosting in the UAE region keeps regulated learners' data close to home. Costs start small and scale with traffic: the master papers budget $374 a month for AWS at launch (the cost moat, slide 30), growing to an EKS cluster at $600–$2,000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show this than have you find it in due diligence. Five critical items are open: packaging (R-1), routing (R-2), IVS event mapping (R-4), the approval hand-off (R-5), and a public media bucket that also holds learner grade files (R-6). One critical item (R-3) is fixed. Four open items still need a sprint: the auto-badge trigger (R-22), the Discourse SSO secret sync (R-28), onboarding answer validation (R-33) and the configure-tutor script (R-34). Three urgent upgrades are done: the retired Claude model is replaced, MySQL moved from 8.0 to 8.4 to avoid extended-support fees, and the plugin's cap on an end-of-life Tutor release is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base of the 90-day go-to-market plan on slide 35. The slide shows the order of work, not dates, because sprint length isn't fixed yet. Sprint 1 unlocks everything else: once the apps load inside Open edX, every template render in this deck becomes a live page. After M1, features roll out as milestones: e-commerce, round tables, company academies, the AI tutor, then digital twins with the partner dashboard. Two upgrades are held back to sprint 6 on purpose: AWS provider 6.x, which needs a reviewed terraform plan, and Claude Sonnet 5.5, which needs Lambda changes and a check that it is available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to close two Founding Partners before the public launch, then let the product sell itself. The first 90 days: finish the six sprints, run terraform apply, pitch the Tether academy with one slide and one demo, open the Founding Partner conversations, run three beta round tables through DBCC and sign the BUiD MOU. Months 3 to 6: public free tier, first opinion papers on LinkedIn, 2,000 registrations and the first company academy. Months 6 to 12: 400 paid subscribers, four corporate team licences, three more strategic partners and the first digital-twin masterclass. Then TOKEN2049, an annual summit and Singapore. Month counts are targets; the go-live date depends on the sprints, which are ordered but not yet 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 plan fills two Founding Academy seats at $150K a year each; neither is filled, and we do not name candidates. Tether is the one named target, in the Strategic tier: the academy in the product tour is an illustrative Tether scenario with mock data, not a partnership. Sequence: founding partners come first, because they shape the curricula and co-host the first round tables. Strategic academies like the Tether scenario follow once company academies are live (milestone M5). Content partners deepen individual districts, including the AI District. Institutions give the credentials weight with regulators and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$2M in a seed round at an $8M pre-money valuation, as equity or a SAFE, for 18 months of runway. Use of funds: $600K for the sales and partnership team, $400K for marketing and conferences, $400K for platform scaling on AWS and EKS, and $600K for G&amp;A, legal and operations. Four reasons: the code is complete and the go-live plan is concrete; companies pay us, not students; there are no licensing costs; and the UAE tax regime plus the DBCC anchor. Don’t say the platform is live: it goes live after the six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features. The product exists as code and as the screens you've seen; what's missing is go-live engineering and the first founding partners. The investor terms are on slide 37: $2M seed at $8M pre-money. This slide is the partner version of the ask. Offer the user guide and technical review booklet as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1-image-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26-image-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27-image-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image" Target="../media/image-29-15.png"/><Relationship Id="rId16" Type="http://schemas.openxmlformats.org/officeDocument/2006/relationships/image" Target="../media/image-29-16.png"/><Relationship Id="rId17" Type="http://schemas.openxmlformats.org/officeDocument/2006/relationships/image" Target="../media/image-29-17.png"/><Relationship Id="rId18" Type="http://schemas.openxmlformats.org/officeDocument/2006/relationships/image" Target="../media/image-29-18.png"/><Relationship Id="rId19" Type="http://schemas.openxmlformats.org/officeDocument/2006/relationships/image" Target="../media/image-29-19.png"/><Relationship Id="rId20" Type="http://schemas.openxmlformats.org/officeDocument/2006/relationships/image" Target="../media/image-29-20.png"/><Relationship Id="rId21" Type="http://schemas.openxmlformats.org/officeDocument/2006/relationships/image" Target="../media/image-29-21.png"/><Relationship Id="rId22" Type="http://schemas.openxmlformats.org/officeDocument/2006/relationships/image" Target="../media/image-29-22.png"/><Relationship Id="rId23" Type="http://schemas.openxmlformats.org/officeDocument/2006/relationships/image" Target="../media/image-29-23.png"/><Relationship Id="rId24" Type="http://schemas.openxmlformats.org/officeDocument/2006/relationships/image" Target="../media/image-29-24.png"/><Relationship Id="rId25" Type="http://schemas.openxmlformats.org/officeDocument/2006/relationships/image" Target="../media/image-29-25.png"/><Relationship Id="rId26" Type="http://schemas.openxmlformats.org/officeDocument/2006/relationships/image" Target="../media/image-29-26.png"/><Relationship Id="rId27" Type="http://schemas.openxmlformats.org/officeDocument/2006/relationships/image" Target="../media/image-29-27.png"/><Relationship Id="rId28" Type="http://schemas.openxmlformats.org/officeDocument/2006/relationships/image" Target="../media/image-29-28.png"/><Relationship Id="rId29" Type="http://schemas.openxmlformats.org/officeDocument/2006/relationships/image" Target="../media/image-29-29.png"/><Relationship Id="rId30" Type="http://schemas.openxmlformats.org/officeDocument/2006/relationships/image" Target="../media/image-29-30.png"/><Relationship Id="rId31" Type="http://schemas.openxmlformats.org/officeDocument/2006/relationships/image" Target="../media/image-29-31.png"/><Relationship Id="rId32" Type="http://schemas.openxmlformats.org/officeDocument/2006/relationships/image" Target="../media/image-29-32.png"/><Relationship Id="rId33" Type="http://schemas.openxmlformats.org/officeDocument/2006/relationships/image" Target="../media/image-29-33.png"/><Relationship Id="rId34" Type="http://schemas.openxmlformats.org/officeDocument/2006/relationships/image" Target="../media/image-29-34.png"/><Relationship Id="rId35" Type="http://schemas.openxmlformats.org/officeDocument/2006/relationships/image" Target="../media/image-29-35.png"/><Relationship Id="rId36" Type="http://schemas.openxmlformats.org/officeDocument/2006/relationships/image" Target="../media/image-29-36.png"/><Relationship Id="rId37" Type="http://schemas.openxmlformats.org/officeDocument/2006/relationships/image" Target="../media/image-29-37.png"/><Relationship Id="rId38" Type="http://schemas.openxmlformats.org/officeDocument/2006/relationships/image" Target="../media/image-29-38.png"/><Relationship Id="rId39" Type="http://schemas.openxmlformats.org/officeDocument/2006/relationships/image" Target="../media/image-29-39.png"/><Relationship Id="rId40" Type="http://schemas.openxmlformats.org/officeDocument/2006/relationships/image" Target="../media/image-29-40.png"/><Relationship Id="rId41" Type="http://schemas.openxmlformats.org/officeDocument/2006/relationships/slideLayout" Target="../slideLayouts/slideLayout1.xml"/><Relationship Id="rId4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image" Target="../media/image-35-11.png"/><Relationship Id="rId12" Type="http://schemas.openxmlformats.org/officeDocument/2006/relationships/image" Target="../media/image-35-12.png"/><Relationship Id="rId13" Type="http://schemas.openxmlformats.org/officeDocument/2006/relationships/image" Target="../media/image-35-13.png"/><Relationship Id="rId14" Type="http://schemas.openxmlformats.org/officeDocument/2006/relationships/image" Target="../media/image-35-14.png"/><Relationship Id="rId15" Type="http://schemas.openxmlformats.org/officeDocument/2006/relationships/image" Target="../media/image-35-15.png"/><Relationship Id="rId16" Type="http://schemas.openxmlformats.org/officeDocument/2006/relationships/image" Target="../media/image-35-16.png"/><Relationship Id="rId17" Type="http://schemas.openxmlformats.org/officeDocument/2006/relationships/image" Target="../media/image-35-17.png"/><Relationship Id="rId18" Type="http://schemas.openxmlformats.org/officeDocument/2006/relationships/image" Target="../media/image-35-18.png"/><Relationship Id="rId19" Type="http://schemas.openxmlformats.org/officeDocument/2006/relationships/slideLayout" Target="../slideLayouts/slideLayout1.xml"/><Relationship Id="rId2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37-image-1.png"/><Relationship Id="rId3" Type="http://schemas.openxmlformats.org/officeDocument/2006/relationships/image" Target="../media/image-37-2.png"/><Relationship Id="rId4" Type="http://schemas.openxmlformats.org/officeDocument/2006/relationships/image" Target="../media/image-37-3.png"/><Relationship Id="rId5" Type="http://schemas.openxmlformats.org/officeDocument/2006/relationships/image" Target="../media/image-37-4.png"/><Relationship Id="rId6" Type="http://schemas.openxmlformats.org/officeDocument/2006/relationships/image" Target="../media/image-37-5.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299332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275558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INVESTOR &amp; PARTNER PRESENTATION</a:t>
            </a:r>
            <a:endParaRPr lang="en-US" sz="900" dirty="0"/>
          </a:p>
        </p:txBody>
      </p:sp>
      <p:sp>
        <p:nvSpPr>
          <p:cNvPr id="5" name="Text 2"/>
          <p:cNvSpPr txBox="1"/>
          <p:nvPr/>
        </p:nvSpPr>
        <p:spPr>
          <a:xfrm>
            <a:off x="457200" y="1481328"/>
            <a:ext cx="6400800" cy="1097280"/>
          </a:xfrm>
          <a:prstGeom prst="rect">
            <a:avLst/>
          </a:prstGeom>
          <a:noFill/>
          <a:ln/>
        </p:spPr>
        <p:txBody>
          <a:bodyPr wrap="square" lIns="0" tIns="0" rIns="0" bIns="0" rtlCol="0" anchor="t"/>
          <a:lstStyle/>
          <a:p>
            <a:pPr indent="0" marL="0">
              <a:buNone/>
            </a:pPr>
            <a:r>
              <a:rPr lang="en-US" sz="7200" b="1" dirty="0">
                <a:solidFill>
                  <a:srgbClr val="F0C96B"/>
                </a:solidFill>
                <a:latin typeface="Arial" pitchFamily="34" charset="0"/>
                <a:ea typeface="Arial" pitchFamily="34" charset="-122"/>
                <a:cs typeface="Arial" pitchFamily="34" charset="-120"/>
              </a:rPr>
              <a:t>Chronopoli</a:t>
            </a:r>
            <a:endParaRPr lang="en-US" sz="7200" dirty="0"/>
          </a:p>
        </p:txBody>
      </p:sp>
      <p:sp>
        <p:nvSpPr>
          <p:cNvPr id="6" name="Text 3"/>
          <p:cNvSpPr txBox="1"/>
          <p:nvPr/>
        </p:nvSpPr>
        <p:spPr>
          <a:xfrm>
            <a:off x="457200" y="2670048"/>
            <a:ext cx="6126480" cy="646176"/>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The Global Knowledge City for the digital economy,</a:t>
            </a:r>
            <a:endParaRPr lang="en-US" sz="2000" dirty="0"/>
          </a:p>
          <a:p>
            <a:pPr indent="0" marL="0">
              <a:buNone/>
            </a:pPr>
            <a:r>
              <a:rPr lang="en-US" sz="2000" dirty="0">
                <a:solidFill>
                  <a:srgbClr val="FFFFFF"/>
                </a:solidFill>
                <a:latin typeface="Arial" pitchFamily="34" charset="0"/>
                <a:ea typeface="Arial" pitchFamily="34" charset="-122"/>
                <a:cs typeface="Arial" pitchFamily="34" charset="-120"/>
              </a:rPr>
              <a:t>hosted by Dubai Blockchain Center</a:t>
            </a:r>
            <a:endParaRPr lang="en-US" sz="2000" dirty="0"/>
          </a:p>
        </p:txBody>
      </p:sp>
      <p:sp>
        <p:nvSpPr>
          <p:cNvPr id="7" name="Text 4"/>
          <p:cNvSpPr txBox="1"/>
          <p:nvPr/>
        </p:nvSpPr>
        <p:spPr>
          <a:xfrm>
            <a:off x="457200" y="3517392"/>
            <a:ext cx="6126480" cy="493776"/>
          </a:xfrm>
          <a:prstGeom prst="rect">
            <a:avLst/>
          </a:prstGeom>
          <a:noFill/>
          <a:ln/>
        </p:spPr>
        <p:txBody>
          <a:bodyPr wrap="square" lIns="0" tIns="0" rIns="0" bIns="0" rtlCol="0" anchor="t"/>
          <a:lstStyle/>
          <a:p>
            <a:pPr indent="0" marL="0">
              <a:buNone/>
            </a:pPr>
            <a:r>
              <a:rPr lang="en-US" sz="1500" b="1" dirty="0">
                <a:solidFill>
                  <a:srgbClr val="F0C96B"/>
                </a:solidFill>
                <a:latin typeface="Arial" pitchFamily="34" charset="0"/>
                <a:ea typeface="Arial" pitchFamily="34" charset="-122"/>
                <a:cs typeface="Arial" pitchFamily="34" charset="-120"/>
              </a:rPr>
              <a:t>AI-Native Knowledge Infrastructure ·</a:t>
            </a:r>
            <a:endParaRPr lang="en-US" sz="1500" dirty="0"/>
          </a:p>
          <a:p>
            <a:pPr indent="0" marL="0">
              <a:buNone/>
            </a:pPr>
            <a:r>
              <a:rPr lang="en-US" sz="1500" b="1" dirty="0">
                <a:solidFill>
                  <a:srgbClr val="F0C96B"/>
                </a:solidFill>
                <a:latin typeface="Arial" pitchFamily="34" charset="0"/>
                <a:ea typeface="Arial" pitchFamily="34" charset="-122"/>
                <a:cs typeface="Arial" pitchFamily="34" charset="-120"/>
              </a:rPr>
              <a:t>Community Intelligence Engine · Verified Credentials</a:t>
            </a:r>
            <a:endParaRPr lang="en-US" sz="1500" dirty="0"/>
          </a:p>
        </p:txBody>
      </p:sp>
      <p:sp>
        <p:nvSpPr>
          <p:cNvPr id="8" name="Text 5"/>
          <p:cNvSpPr txBox="1"/>
          <p:nvPr/>
        </p:nvSpPr>
        <p:spPr>
          <a:xfrm>
            <a:off x="457200" y="4212336"/>
            <a:ext cx="6126480" cy="45415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Digital assets · AI · Governance · Risk &amp; trust ·</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Financial-crime investigation · Compliance · Emerging tech</a:t>
            </a:r>
            <a:endParaRPr lang="en-US" sz="1400" dirty="0"/>
          </a:p>
        </p:txBody>
      </p:sp>
      <p:sp>
        <p:nvSpPr>
          <p:cNvPr id="9" name="Text 6"/>
          <p:cNvSpPr txBox="1"/>
          <p:nvPr/>
        </p:nvSpPr>
        <p:spPr>
          <a:xfrm>
            <a:off x="457200" y="4767072"/>
            <a:ext cx="6126480" cy="24079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Built on Open edX (Tutor 22), designed for AWS · September 2026</a:t>
            </a:r>
            <a:endParaRPr lang="en-US" sz="1400" dirty="0"/>
          </a:p>
        </p:txBody>
      </p:sp>
      <p:sp>
        <p:nvSpPr>
          <p:cNvPr id="10" name="Shape 7"/>
          <p:cNvSpPr/>
          <p:nvPr/>
        </p:nvSpPr>
        <p:spPr>
          <a:xfrm>
            <a:off x="457200" y="5291328"/>
            <a:ext cx="6126480" cy="603504"/>
          </a:xfrm>
          <a:prstGeom prst="roundRect">
            <a:avLst>
              <a:gd name="adj" fmla="val 15152"/>
            </a:avLst>
          </a:prstGeom>
          <a:solidFill>
            <a:srgbClr val="15151F"/>
          </a:solidFill>
          <a:ln w="9525">
            <a:solidFill>
              <a:srgbClr val="5A4A22"/>
            </a:solidFill>
            <a:prstDash val="solid"/>
          </a:ln>
        </p:spPr>
      </p:sp>
      <p:pic>
        <p:nvPicPr>
          <p:cNvPr id="11" name="Image 0" descr="preencoded.png">    </p:cNvPr>
          <p:cNvPicPr>
            <a:picLocks noChangeAspect="1"/>
          </p:cNvPicPr>
          <p:nvPr/>
        </p:nvPicPr>
        <p:blipFill>
          <a:blip r:embed="rId2"/>
          <a:stretch>
            <a:fillRect/>
          </a:stretch>
        </p:blipFill>
        <p:spPr>
          <a:xfrm>
            <a:off x="621792" y="5465064"/>
            <a:ext cx="256032" cy="256032"/>
          </a:xfrm>
          <a:prstGeom prst="rect">
            <a:avLst/>
          </a:prstGeom>
        </p:spPr>
      </p:pic>
      <p:sp>
        <p:nvSpPr>
          <p:cNvPr id="12" name="Text 8"/>
          <p:cNvSpPr txBox="1"/>
          <p:nvPr/>
        </p:nvSpPr>
        <p:spPr>
          <a:xfrm>
            <a:off x="1005840" y="5291328"/>
            <a:ext cx="5440680" cy="603504"/>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The product tour uses an illustrative Tether (USDT) academy: fictitious mock data, no partnership implied</a:t>
            </a:r>
            <a:endParaRPr lang="en-US" sz="1200" dirty="0"/>
          </a:p>
        </p:txBody>
      </p:sp>
      <p:pic>
        <p:nvPicPr>
          <p:cNvPr id="13" name="Image 1" descr="/tmp/claude-0/-home-user-Chronopoli/d7458f57-86b2-5920-914e-8615357fee63/scratchpad/deck-master/framed/landing_hero.png">    </p:cNvPr>
          <p:cNvPicPr>
            <a:picLocks noChangeAspect="1"/>
          </p:cNvPicPr>
          <p:nvPr/>
        </p:nvPicPr>
        <p:blipFill>
          <a:blip r:embed="rId3"/>
          <a:stretch>
            <a:fillRect/>
          </a:stretch>
        </p:blipFill>
        <p:spPr>
          <a:xfrm>
            <a:off x="6862854" y="1844689"/>
            <a:ext cx="5003948" cy="2812006"/>
          </a:xfrm>
          <a:prstGeom prst="rect">
            <a:avLst/>
          </a:prstGeom>
        </p:spPr>
      </p:pic>
      <p:sp>
        <p:nvSpPr>
          <p:cNvPr id="14" name="Shape 9"/>
          <p:cNvSpPr/>
          <p:nvPr/>
        </p:nvSpPr>
        <p:spPr>
          <a:xfrm>
            <a:off x="6995160" y="4661548"/>
            <a:ext cx="1495471" cy="219456"/>
          </a:xfrm>
          <a:prstGeom prst="roundRect">
            <a:avLst>
              <a:gd name="adj" fmla="val 50000"/>
            </a:avLst>
          </a:prstGeom>
          <a:solidFill>
            <a:srgbClr val="1B1B27"/>
          </a:solidFill>
          <a:ln w="9525">
            <a:solidFill>
              <a:srgbClr val="3A3A50"/>
            </a:solidFill>
            <a:prstDash val="solid"/>
          </a:ln>
        </p:spPr>
      </p:sp>
      <p:sp>
        <p:nvSpPr>
          <p:cNvPr id="15" name="Shape 10"/>
          <p:cNvSpPr/>
          <p:nvPr/>
        </p:nvSpPr>
        <p:spPr>
          <a:xfrm>
            <a:off x="7086600" y="4734700"/>
            <a:ext cx="73152" cy="73152"/>
          </a:xfrm>
          <a:prstGeom prst="ellipse">
            <a:avLst/>
          </a:prstGeom>
          <a:solidFill>
            <a:srgbClr val="A9A9C6"/>
          </a:solidFill>
          <a:ln/>
        </p:spPr>
      </p:sp>
      <p:sp>
        <p:nvSpPr>
          <p:cNvPr id="16" name="Text 11"/>
          <p:cNvSpPr txBox="1"/>
          <p:nvPr/>
        </p:nvSpPr>
        <p:spPr>
          <a:xfrm>
            <a:off x="7214616" y="4661548"/>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2"/>
          <p:cNvSpPr txBox="1"/>
          <p:nvPr/>
        </p:nvSpPr>
        <p:spPr>
          <a:xfrm>
            <a:off x="8600359" y="4693552"/>
            <a:ext cx="313413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(not yet deployed)</a:t>
            </a:r>
            <a:endParaRPr lang="en-US" sz="1000" dirty="0"/>
          </a:p>
        </p:txBody>
      </p:sp>
      <p:sp>
        <p:nvSpPr>
          <p:cNvPr id="18"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9"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11277295" cy="536753"/>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457200" y="1341425"/>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No one connects digital assets, AI, governance, risk and investigation in one trusted, neutral place</a:t>
            </a:r>
            <a:endParaRPr lang="en-US" sz="1600" dirty="0"/>
          </a:p>
        </p:txBody>
      </p:sp>
      <p:sp>
        <p:nvSpPr>
          <p:cNvPr id="7" name="Shape 4"/>
          <p:cNvSpPr/>
          <p:nvPr/>
        </p:nvSpPr>
        <p:spPr>
          <a:xfrm>
            <a:off x="457200" y="1932737"/>
            <a:ext cx="2613584" cy="4285183"/>
          </a:xfrm>
          <a:prstGeom prst="roundRect">
            <a:avLst>
              <a:gd name="adj" fmla="val 4198"/>
            </a:avLst>
          </a:prstGeom>
          <a:solidFill>
            <a:srgbClr val="171722"/>
          </a:solidFill>
          <a:ln w="9525">
            <a:solidFill>
              <a:srgbClr val="2C2C3E"/>
            </a:solidFill>
            <a:prstDash val="solid"/>
          </a:ln>
        </p:spPr>
      </p:sp>
      <p:sp>
        <p:nvSpPr>
          <p:cNvPr id="8" name="Shape 5"/>
          <p:cNvSpPr/>
          <p:nvPr/>
        </p:nvSpPr>
        <p:spPr>
          <a:xfrm>
            <a:off x="676656" y="2152193"/>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66493"/>
            <a:ext cx="228600" cy="228600"/>
          </a:xfrm>
          <a:prstGeom prst="rect">
            <a:avLst/>
          </a:prstGeom>
        </p:spPr>
      </p:pic>
      <p:sp>
        <p:nvSpPr>
          <p:cNvPr id="10" name="Text 6"/>
          <p:cNvSpPr txBox="1"/>
          <p:nvPr/>
        </p:nvSpPr>
        <p:spPr>
          <a:xfrm>
            <a:off x="1261872"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Fragmentation</a:t>
            </a:r>
            <a:endParaRPr lang="en-US" sz="1600" dirty="0"/>
          </a:p>
        </p:txBody>
      </p:sp>
      <p:sp>
        <p:nvSpPr>
          <p:cNvPr id="11" name="Text 7"/>
          <p:cNvSpPr txBox="1"/>
          <p:nvPr/>
        </p:nvSpPr>
        <p:spPr>
          <a:xfrm>
            <a:off x="676656"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Stablecoin infrastructure, AI governance, regulation, risk and forensics sit in silos; no single platform connects them</a:t>
            </a:r>
            <a:endParaRPr lang="en-US" sz="1400" dirty="0"/>
          </a:p>
        </p:txBody>
      </p:sp>
      <p:sp>
        <p:nvSpPr>
          <p:cNvPr id="12" name="Shape 8"/>
          <p:cNvSpPr/>
          <p:nvPr/>
        </p:nvSpPr>
        <p:spPr>
          <a:xfrm>
            <a:off x="676656" y="4968240"/>
            <a:ext cx="2174672" cy="0"/>
          </a:xfrm>
          <a:prstGeom prst="line">
            <a:avLst/>
          </a:prstGeom>
          <a:noFill/>
          <a:ln w="9525">
            <a:solidFill>
              <a:srgbClr val="2C2C3E"/>
            </a:solidFill>
            <a:prstDash val="solid"/>
          </a:ln>
        </p:spPr>
      </p:sp>
      <p:sp>
        <p:nvSpPr>
          <p:cNvPr id="13" name="Text 9"/>
          <p:cNvSpPr txBox="1"/>
          <p:nvPr/>
        </p:nvSpPr>
        <p:spPr>
          <a:xfrm>
            <a:off x="676656"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14" name="Text 10"/>
          <p:cNvSpPr txBox="1"/>
          <p:nvPr/>
        </p:nvSpPr>
        <p:spPr>
          <a:xfrm>
            <a:off x="676656"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Seven districts, four layers, one onboarding</a:t>
            </a:r>
            <a:endParaRPr lang="en-US" sz="1400" dirty="0"/>
          </a:p>
        </p:txBody>
      </p:sp>
      <p:sp>
        <p:nvSpPr>
          <p:cNvPr id="15" name="Text 11"/>
          <p:cNvSpPr txBox="1"/>
          <p:nvPr/>
        </p:nvSpPr>
        <p:spPr>
          <a:xfrm>
            <a:off x="676656"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3, 7</a:t>
            </a:r>
            <a:endParaRPr lang="en-US" sz="1000" dirty="0"/>
          </a:p>
        </p:txBody>
      </p:sp>
      <p:sp>
        <p:nvSpPr>
          <p:cNvPr id="16" name="Shape 12"/>
          <p:cNvSpPr/>
          <p:nvPr/>
        </p:nvSpPr>
        <p:spPr>
          <a:xfrm>
            <a:off x="3345104" y="1932737"/>
            <a:ext cx="2613584" cy="4285183"/>
          </a:xfrm>
          <a:prstGeom prst="roundRect">
            <a:avLst>
              <a:gd name="adj" fmla="val 4198"/>
            </a:avLst>
          </a:prstGeom>
          <a:solidFill>
            <a:srgbClr val="171722"/>
          </a:solidFill>
          <a:ln w="9525">
            <a:solidFill>
              <a:srgbClr val="2C2C3E"/>
            </a:solidFill>
            <a:prstDash val="solid"/>
          </a:ln>
        </p:spPr>
      </p:sp>
      <p:sp>
        <p:nvSpPr>
          <p:cNvPr id="17" name="Shape 13"/>
          <p:cNvSpPr/>
          <p:nvPr/>
        </p:nvSpPr>
        <p:spPr>
          <a:xfrm>
            <a:off x="3564560" y="2152193"/>
            <a:ext cx="457200" cy="457200"/>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3678860" y="2266493"/>
            <a:ext cx="228600" cy="228600"/>
          </a:xfrm>
          <a:prstGeom prst="rect">
            <a:avLst/>
          </a:prstGeom>
        </p:spPr>
      </p:pic>
      <p:sp>
        <p:nvSpPr>
          <p:cNvPr id="19" name="Text 14"/>
          <p:cNvSpPr txBox="1"/>
          <p:nvPr/>
        </p:nvSpPr>
        <p:spPr>
          <a:xfrm>
            <a:off x="4149776"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Speed Mismatch</a:t>
            </a:r>
            <a:endParaRPr lang="en-US" sz="1600" dirty="0"/>
          </a:p>
        </p:txBody>
      </p:sp>
      <p:sp>
        <p:nvSpPr>
          <p:cNvPr id="20" name="Text 15"/>
          <p:cNvSpPr txBox="1"/>
          <p:nvPr/>
        </p:nvSpPr>
        <p:spPr>
          <a:xfrm>
            <a:off x="3564560"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MiCA and FATF change, DeFi exploits create new typologies. Universities take 18 months to update, training firms 6; the market moves daily</a:t>
            </a:r>
            <a:endParaRPr lang="en-US" sz="1400" dirty="0"/>
          </a:p>
        </p:txBody>
      </p:sp>
      <p:sp>
        <p:nvSpPr>
          <p:cNvPr id="21" name="Shape 16"/>
          <p:cNvSpPr/>
          <p:nvPr/>
        </p:nvSpPr>
        <p:spPr>
          <a:xfrm>
            <a:off x="3564560" y="4968240"/>
            <a:ext cx="2174672" cy="0"/>
          </a:xfrm>
          <a:prstGeom prst="line">
            <a:avLst/>
          </a:prstGeom>
          <a:noFill/>
          <a:ln w="9525">
            <a:solidFill>
              <a:srgbClr val="2C2C3E"/>
            </a:solidFill>
            <a:prstDash val="solid"/>
          </a:ln>
        </p:spPr>
      </p:sp>
      <p:sp>
        <p:nvSpPr>
          <p:cNvPr id="22" name="Text 17"/>
          <p:cNvSpPr txBox="1"/>
          <p:nvPr/>
        </p:nvSpPr>
        <p:spPr>
          <a:xfrm>
            <a:off x="3564560"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23" name="Text 18"/>
          <p:cNvSpPr txBox="1"/>
          <p:nvPr/>
        </p:nvSpPr>
        <p:spPr>
          <a:xfrm>
            <a:off x="3564560"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Updates in under 48 h: Studio + pipeline</a:t>
            </a:r>
            <a:endParaRPr lang="en-US" sz="1400" dirty="0"/>
          </a:p>
        </p:txBody>
      </p:sp>
      <p:sp>
        <p:nvSpPr>
          <p:cNvPr id="24" name="Text 19"/>
          <p:cNvSpPr txBox="1"/>
          <p:nvPr/>
        </p:nvSpPr>
        <p:spPr>
          <a:xfrm>
            <a:off x="3564560"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16, 19</a:t>
            </a:r>
            <a:endParaRPr lang="en-US" sz="1000" dirty="0"/>
          </a:p>
        </p:txBody>
      </p:sp>
      <p:sp>
        <p:nvSpPr>
          <p:cNvPr id="25" name="Shape 20"/>
          <p:cNvSpPr/>
          <p:nvPr/>
        </p:nvSpPr>
        <p:spPr>
          <a:xfrm>
            <a:off x="6233008" y="1932737"/>
            <a:ext cx="2613584" cy="4285183"/>
          </a:xfrm>
          <a:prstGeom prst="roundRect">
            <a:avLst>
              <a:gd name="adj" fmla="val 4198"/>
            </a:avLst>
          </a:prstGeom>
          <a:solidFill>
            <a:srgbClr val="171722"/>
          </a:solidFill>
          <a:ln w="9525">
            <a:solidFill>
              <a:srgbClr val="2C2C3E"/>
            </a:solidFill>
            <a:prstDash val="solid"/>
          </a:ln>
        </p:spPr>
      </p:sp>
      <p:sp>
        <p:nvSpPr>
          <p:cNvPr id="26" name="Shape 21"/>
          <p:cNvSpPr/>
          <p:nvPr/>
        </p:nvSpPr>
        <p:spPr>
          <a:xfrm>
            <a:off x="6452464" y="2152193"/>
            <a:ext cx="457200" cy="457200"/>
          </a:xfrm>
          <a:prstGeom prst="ellipse">
            <a:avLst/>
          </a:prstGeom>
          <a:solidFill>
            <a:srgbClr val="1E1A10"/>
          </a:solidFill>
          <a:ln w="9525">
            <a:solidFill>
              <a:srgbClr val="5A4A22"/>
            </a:solidFill>
            <a:prstDash val="solid"/>
          </a:ln>
        </p:spPr>
      </p:sp>
      <p:pic>
        <p:nvPicPr>
          <p:cNvPr id="27" name="Image 2" descr="preencoded.png">    </p:cNvPr>
          <p:cNvPicPr>
            <a:picLocks noChangeAspect="1"/>
          </p:cNvPicPr>
          <p:nvPr/>
        </p:nvPicPr>
        <p:blipFill>
          <a:blip r:embed="rId4"/>
          <a:stretch>
            <a:fillRect/>
          </a:stretch>
        </p:blipFill>
        <p:spPr>
          <a:xfrm>
            <a:off x="6566764" y="2266493"/>
            <a:ext cx="228600" cy="228600"/>
          </a:xfrm>
          <a:prstGeom prst="rect">
            <a:avLst/>
          </a:prstGeom>
        </p:spPr>
      </p:pic>
      <p:sp>
        <p:nvSpPr>
          <p:cNvPr id="28" name="Text 22"/>
          <p:cNvSpPr txBox="1"/>
          <p:nvPr/>
        </p:nvSpPr>
        <p:spPr>
          <a:xfrm>
            <a:off x="7037680"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Fake Credentials</a:t>
            </a:r>
            <a:endParaRPr lang="en-US" sz="1600" dirty="0"/>
          </a:p>
        </p:txBody>
      </p:sp>
      <p:sp>
        <p:nvSpPr>
          <p:cNvPr id="29" name="Text 23"/>
          <p:cNvSpPr txBox="1"/>
          <p:nvPr/>
        </p:nvSpPr>
        <p:spPr>
          <a:xfrm>
            <a:off x="6452464"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 certificate says you sat in a room. It tells no employer what you know today, in context, for your jurisdiction</a:t>
            </a:r>
            <a:endParaRPr lang="en-US" sz="1400" dirty="0"/>
          </a:p>
        </p:txBody>
      </p:sp>
      <p:sp>
        <p:nvSpPr>
          <p:cNvPr id="30" name="Shape 24"/>
          <p:cNvSpPr/>
          <p:nvPr/>
        </p:nvSpPr>
        <p:spPr>
          <a:xfrm>
            <a:off x="6452464" y="4968240"/>
            <a:ext cx="2174672" cy="0"/>
          </a:xfrm>
          <a:prstGeom prst="line">
            <a:avLst/>
          </a:prstGeom>
          <a:noFill/>
          <a:ln w="9525">
            <a:solidFill>
              <a:srgbClr val="2C2C3E"/>
            </a:solidFill>
            <a:prstDash val="solid"/>
          </a:ln>
        </p:spPr>
      </p:sp>
      <p:sp>
        <p:nvSpPr>
          <p:cNvPr id="31" name="Text 25"/>
          <p:cNvSpPr txBox="1"/>
          <p:nvPr/>
        </p:nvSpPr>
        <p:spPr>
          <a:xfrm>
            <a:off x="6452464"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32" name="Text 26"/>
          <p:cNvSpPr txBox="1"/>
          <p:nvPr/>
        </p:nvSpPr>
        <p:spPr>
          <a:xfrm>
            <a:off x="6452464"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Open Badges 2.0 linked to partner roles</a:t>
            </a:r>
            <a:endParaRPr lang="en-US" sz="1400" dirty="0"/>
          </a:p>
        </p:txBody>
      </p:sp>
      <p:sp>
        <p:nvSpPr>
          <p:cNvPr id="33" name="Text 27"/>
          <p:cNvSpPr txBox="1"/>
          <p:nvPr/>
        </p:nvSpPr>
        <p:spPr>
          <a:xfrm>
            <a:off x="6452464"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 13</a:t>
            </a:r>
            <a:endParaRPr lang="en-US" sz="1000" dirty="0"/>
          </a:p>
        </p:txBody>
      </p:sp>
      <p:sp>
        <p:nvSpPr>
          <p:cNvPr id="34" name="Shape 28"/>
          <p:cNvSpPr/>
          <p:nvPr/>
        </p:nvSpPr>
        <p:spPr>
          <a:xfrm>
            <a:off x="9120911" y="1932737"/>
            <a:ext cx="2613584" cy="4285183"/>
          </a:xfrm>
          <a:prstGeom prst="roundRect">
            <a:avLst>
              <a:gd name="adj" fmla="val 4198"/>
            </a:avLst>
          </a:prstGeom>
          <a:solidFill>
            <a:srgbClr val="171722"/>
          </a:solidFill>
          <a:ln w="9525">
            <a:solidFill>
              <a:srgbClr val="2C2C3E"/>
            </a:solidFill>
            <a:prstDash val="solid"/>
          </a:ln>
        </p:spPr>
      </p:sp>
      <p:sp>
        <p:nvSpPr>
          <p:cNvPr id="35" name="Shape 29"/>
          <p:cNvSpPr/>
          <p:nvPr/>
        </p:nvSpPr>
        <p:spPr>
          <a:xfrm>
            <a:off x="9340367" y="2152193"/>
            <a:ext cx="457200" cy="457200"/>
          </a:xfrm>
          <a:prstGeom prst="ellipse">
            <a:avLst/>
          </a:prstGeom>
          <a:solidFill>
            <a:srgbClr val="1E1A10"/>
          </a:solidFill>
          <a:ln w="9525">
            <a:solidFill>
              <a:srgbClr val="5A4A22"/>
            </a:solidFill>
            <a:prstDash val="solid"/>
          </a:ln>
        </p:spPr>
      </p:sp>
      <p:pic>
        <p:nvPicPr>
          <p:cNvPr id="36" name="Image 3" descr="preencoded.png">    </p:cNvPr>
          <p:cNvPicPr>
            <a:picLocks noChangeAspect="1"/>
          </p:cNvPicPr>
          <p:nvPr/>
        </p:nvPicPr>
        <p:blipFill>
          <a:blip r:embed="rId5"/>
          <a:stretch>
            <a:fillRect/>
          </a:stretch>
        </p:blipFill>
        <p:spPr>
          <a:xfrm>
            <a:off x="9454667" y="2266493"/>
            <a:ext cx="228600" cy="228600"/>
          </a:xfrm>
          <a:prstGeom prst="rect">
            <a:avLst/>
          </a:prstGeom>
        </p:spPr>
      </p:pic>
      <p:sp>
        <p:nvSpPr>
          <p:cNvPr id="37" name="Text 30"/>
          <p:cNvSpPr txBox="1"/>
          <p:nvPr/>
        </p:nvSpPr>
        <p:spPr>
          <a:xfrm>
            <a:off x="9925583"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 Neutral Convener</a:t>
            </a:r>
            <a:endParaRPr lang="en-US" sz="1600" dirty="0"/>
          </a:p>
        </p:txBody>
      </p:sp>
      <p:sp>
        <p:nvSpPr>
          <p:cNvPr id="38" name="Text 31"/>
          <p:cNvSpPr txBox="1"/>
          <p:nvPr/>
        </p:nvSpPr>
        <p:spPr>
          <a:xfrm>
            <a:off x="9340367"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Nobody puts an issuer, a UAE regulator, a forensics analyst and a researcher in one room and turns that into institutional knowledge</a:t>
            </a:r>
            <a:endParaRPr lang="en-US" sz="1400" dirty="0"/>
          </a:p>
        </p:txBody>
      </p:sp>
      <p:sp>
        <p:nvSpPr>
          <p:cNvPr id="39" name="Shape 32"/>
          <p:cNvSpPr/>
          <p:nvPr/>
        </p:nvSpPr>
        <p:spPr>
          <a:xfrm>
            <a:off x="9340367" y="4968240"/>
            <a:ext cx="2174672" cy="0"/>
          </a:xfrm>
          <a:prstGeom prst="line">
            <a:avLst/>
          </a:prstGeom>
          <a:noFill/>
          <a:ln w="9525">
            <a:solidFill>
              <a:srgbClr val="2C2C3E"/>
            </a:solidFill>
            <a:prstDash val="solid"/>
          </a:ln>
        </p:spPr>
      </p:sp>
      <p:sp>
        <p:nvSpPr>
          <p:cNvPr id="40" name="Text 33"/>
          <p:cNvSpPr txBox="1"/>
          <p:nvPr/>
        </p:nvSpPr>
        <p:spPr>
          <a:xfrm>
            <a:off x="9340367"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41" name="Text 34"/>
          <p:cNvSpPr txBox="1"/>
          <p:nvPr/>
        </p:nvSpPr>
        <p:spPr>
          <a:xfrm>
            <a:off x="9340367"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Symposia: round tables that publish</a:t>
            </a:r>
            <a:endParaRPr lang="en-US" sz="1400" dirty="0"/>
          </a:p>
        </p:txBody>
      </p:sp>
      <p:sp>
        <p:nvSpPr>
          <p:cNvPr id="42" name="Text 35"/>
          <p:cNvSpPr txBox="1"/>
          <p:nvPr/>
        </p:nvSpPr>
        <p:spPr>
          <a:xfrm>
            <a:off x="9340367"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18, 19</a:t>
            </a:r>
            <a:endParaRPr lang="en-US" sz="1000" dirty="0"/>
          </a:p>
        </p:txBody>
      </p:sp>
      <p:sp>
        <p:nvSpPr>
          <p:cNvPr id="43"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535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157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CITY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One city, seven districts, four layers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sits in a Knowledge District and a learning layer, so every learner and partner knows where they belong</a:t>
            </a:r>
            <a:endParaRPr lang="en-US" sz="1600" dirty="0"/>
          </a:p>
        </p:txBody>
      </p:sp>
      <p:pic>
        <p:nvPicPr>
          <p:cNvPr id="7" name="Image 0" descr="/tmp/claude-0/-home-user-Chronopoli/d7458f57-86b2-5920-914e-8615357fee63/scratchpad/deck-master/framed/districts.png">    </p:cNvPr>
          <p:cNvPicPr>
            <a:picLocks noChangeAspect="1"/>
          </p:cNvPicPr>
          <p:nvPr/>
        </p:nvPicPr>
        <p:blipFill>
          <a:blip r:embed="rId2"/>
          <a:stretch>
            <a:fillRect/>
          </a:stretch>
        </p:blipFill>
        <p:spPr>
          <a:xfrm>
            <a:off x="5248999" y="1711795"/>
            <a:ext cx="6661633" cy="4314025"/>
          </a:xfrm>
          <a:prstGeom prst="rect">
            <a:avLst/>
          </a:prstGeom>
        </p:spPr>
      </p:pic>
      <p:sp>
        <p:nvSpPr>
          <p:cNvPr id="8" name="Shape 4"/>
          <p:cNvSpPr/>
          <p:nvPr/>
        </p:nvSpPr>
        <p:spPr>
          <a:xfrm>
            <a:off x="5425135" y="5986844"/>
            <a:ext cx="1495471" cy="219456"/>
          </a:xfrm>
          <a:prstGeom prst="roundRect">
            <a:avLst>
              <a:gd name="adj" fmla="val 50000"/>
            </a:avLst>
          </a:prstGeom>
          <a:solidFill>
            <a:srgbClr val="1B1B27"/>
          </a:solidFill>
          <a:ln w="9525">
            <a:solidFill>
              <a:srgbClr val="3A3A50"/>
            </a:solidFill>
            <a:prstDash val="solid"/>
          </a:ln>
        </p:spPr>
      </p:sp>
      <p:sp>
        <p:nvSpPr>
          <p:cNvPr id="9" name="Shape 5"/>
          <p:cNvSpPr/>
          <p:nvPr/>
        </p:nvSpPr>
        <p:spPr>
          <a:xfrm>
            <a:off x="5516575" y="6059996"/>
            <a:ext cx="73152" cy="73152"/>
          </a:xfrm>
          <a:prstGeom prst="ellipse">
            <a:avLst/>
          </a:prstGeom>
          <a:solidFill>
            <a:srgbClr val="A9A9C6"/>
          </a:solidFill>
          <a:ln/>
        </p:spPr>
      </p:sp>
      <p:sp>
        <p:nvSpPr>
          <p:cNvPr id="10" name="Text 6"/>
          <p:cNvSpPr txBox="1"/>
          <p:nvPr/>
        </p:nvSpPr>
        <p:spPr>
          <a:xfrm>
            <a:off x="5644591" y="598684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1" name="Text 7"/>
          <p:cNvSpPr txBox="1"/>
          <p:nvPr/>
        </p:nvSpPr>
        <p:spPr>
          <a:xfrm>
            <a:off x="7030334" y="6018848"/>
            <a:ext cx="470416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of the seven districts (not yet deployed)</a:t>
            </a:r>
            <a:endParaRPr lang="en-US" sz="1000" dirty="0"/>
          </a:p>
        </p:txBody>
      </p:sp>
      <p:sp>
        <p:nvSpPr>
          <p:cNvPr id="12" name="Text 8"/>
          <p:cNvSpPr txBox="1"/>
          <p:nvPr/>
        </p:nvSpPr>
        <p:spPr>
          <a:xfrm>
            <a:off x="457200" y="1933651"/>
            <a:ext cx="4510735" cy="189128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7 Knowledge Districts = 7 Open edX organisations: AI, Digital Assets, Governance, Compliance, Investigation, Risk &amp; Trust, Emerging Tech</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4 learning layers set depth and price (below)</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Partners publish tracks into several districts and can run their own academy on a partner subdomain</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account for courses and community</a:t>
            </a:r>
            <a:endParaRPr lang="en-US" sz="1400" dirty="0"/>
          </a:p>
        </p:txBody>
      </p:sp>
      <p:sp>
        <p:nvSpPr>
          <p:cNvPr id="13" name="Shape 9"/>
          <p:cNvSpPr/>
          <p:nvPr/>
        </p:nvSpPr>
        <p:spPr>
          <a:xfrm>
            <a:off x="457200" y="5394960"/>
            <a:ext cx="1059104" cy="822960"/>
          </a:xfrm>
          <a:prstGeom prst="roundRect">
            <a:avLst>
              <a:gd name="adj" fmla="val 6667"/>
            </a:avLst>
          </a:prstGeom>
          <a:solidFill>
            <a:srgbClr val="1B1812"/>
          </a:solidFill>
          <a:ln w="9525">
            <a:solidFill>
              <a:srgbClr val="5A4A22"/>
            </a:solidFill>
            <a:prstDash val="solid"/>
          </a:ln>
        </p:spPr>
      </p:sp>
      <p:sp>
        <p:nvSpPr>
          <p:cNvPr id="14" name="Text 10"/>
          <p:cNvSpPr txBox="1"/>
          <p:nvPr/>
        </p:nvSpPr>
        <p:spPr>
          <a:xfrm>
            <a:off x="548640" y="546811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endParaRPr lang="en-US" sz="1100" dirty="0"/>
          </a:p>
        </p:txBody>
      </p:sp>
      <p:sp>
        <p:nvSpPr>
          <p:cNvPr id="15" name="Text 11"/>
          <p:cNvSpPr txBox="1"/>
          <p:nvPr/>
        </p:nvSpPr>
        <p:spPr>
          <a:xfrm>
            <a:off x="548640" y="565099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Entry</a:t>
            </a:r>
            <a:endParaRPr lang="en-US" sz="1000" dirty="0"/>
          </a:p>
        </p:txBody>
      </p:sp>
      <p:sp>
        <p:nvSpPr>
          <p:cNvPr id="16" name="Text 12"/>
          <p:cNvSpPr txBox="1"/>
          <p:nvPr/>
        </p:nvSpPr>
        <p:spPr>
          <a:xfrm>
            <a:off x="548640" y="582472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$0–$149</a:t>
            </a:r>
            <a:endParaRPr lang="en-US" sz="1000" dirty="0"/>
          </a:p>
        </p:txBody>
      </p:sp>
      <p:sp>
        <p:nvSpPr>
          <p:cNvPr id="17" name="Shape 13"/>
          <p:cNvSpPr/>
          <p:nvPr/>
        </p:nvSpPr>
        <p:spPr>
          <a:xfrm>
            <a:off x="1607744" y="5257800"/>
            <a:ext cx="1059104" cy="960120"/>
          </a:xfrm>
          <a:prstGeom prst="roundRect">
            <a:avLst>
              <a:gd name="adj" fmla="val 5714"/>
            </a:avLst>
          </a:prstGeom>
          <a:solidFill>
            <a:srgbClr val="2A2415"/>
          </a:solidFill>
          <a:ln w="9525">
            <a:solidFill>
              <a:srgbClr val="5A4A22"/>
            </a:solidFill>
            <a:prstDash val="solid"/>
          </a:ln>
        </p:spPr>
      </p:sp>
      <p:sp>
        <p:nvSpPr>
          <p:cNvPr id="18" name="Text 14"/>
          <p:cNvSpPr txBox="1"/>
          <p:nvPr/>
        </p:nvSpPr>
        <p:spPr>
          <a:xfrm>
            <a:off x="1699184" y="533095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endParaRPr lang="en-US" sz="1100" dirty="0"/>
          </a:p>
        </p:txBody>
      </p:sp>
      <p:sp>
        <p:nvSpPr>
          <p:cNvPr id="19" name="Text 15"/>
          <p:cNvSpPr txBox="1"/>
          <p:nvPr/>
        </p:nvSpPr>
        <p:spPr>
          <a:xfrm>
            <a:off x="1699184" y="551383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Professional</a:t>
            </a:r>
            <a:endParaRPr lang="en-US" sz="1000" dirty="0"/>
          </a:p>
        </p:txBody>
      </p:sp>
      <p:sp>
        <p:nvSpPr>
          <p:cNvPr id="20" name="Text 16"/>
          <p:cNvSpPr txBox="1"/>
          <p:nvPr/>
        </p:nvSpPr>
        <p:spPr>
          <a:xfrm>
            <a:off x="1699184" y="568756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$299–$799</a:t>
            </a:r>
            <a:endParaRPr lang="en-US" sz="1000" dirty="0"/>
          </a:p>
        </p:txBody>
      </p:sp>
      <p:sp>
        <p:nvSpPr>
          <p:cNvPr id="21" name="Shape 17"/>
          <p:cNvSpPr/>
          <p:nvPr/>
        </p:nvSpPr>
        <p:spPr>
          <a:xfrm>
            <a:off x="2758288" y="5120640"/>
            <a:ext cx="1059104" cy="1097280"/>
          </a:xfrm>
          <a:prstGeom prst="roundRect">
            <a:avLst>
              <a:gd name="adj" fmla="val 5180"/>
            </a:avLst>
          </a:prstGeom>
          <a:solidFill>
            <a:srgbClr val="3C321A"/>
          </a:solidFill>
          <a:ln w="9525">
            <a:solidFill>
              <a:srgbClr val="5A4A22"/>
            </a:solidFill>
            <a:prstDash val="solid"/>
          </a:ln>
        </p:spPr>
      </p:sp>
      <p:sp>
        <p:nvSpPr>
          <p:cNvPr id="22" name="Text 18"/>
          <p:cNvSpPr txBox="1"/>
          <p:nvPr/>
        </p:nvSpPr>
        <p:spPr>
          <a:xfrm>
            <a:off x="2849728" y="519379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endParaRPr lang="en-US" sz="1100" dirty="0"/>
          </a:p>
        </p:txBody>
      </p:sp>
      <p:sp>
        <p:nvSpPr>
          <p:cNvPr id="23" name="Text 19"/>
          <p:cNvSpPr txBox="1"/>
          <p:nvPr/>
        </p:nvSpPr>
        <p:spPr>
          <a:xfrm>
            <a:off x="2849728" y="537667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Institutional</a:t>
            </a:r>
            <a:endParaRPr lang="en-US" sz="1000" dirty="0"/>
          </a:p>
        </p:txBody>
      </p:sp>
      <p:sp>
        <p:nvSpPr>
          <p:cNvPr id="24" name="Text 20"/>
          <p:cNvSpPr txBox="1"/>
          <p:nvPr/>
        </p:nvSpPr>
        <p:spPr>
          <a:xfrm>
            <a:off x="2849728" y="555040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$999–$2,499</a:t>
            </a:r>
            <a:endParaRPr lang="en-US" sz="1000" dirty="0"/>
          </a:p>
        </p:txBody>
      </p:sp>
      <p:sp>
        <p:nvSpPr>
          <p:cNvPr id="25" name="Shape 21"/>
          <p:cNvSpPr/>
          <p:nvPr/>
        </p:nvSpPr>
        <p:spPr>
          <a:xfrm>
            <a:off x="3908831" y="4983480"/>
            <a:ext cx="1059104" cy="1234440"/>
          </a:xfrm>
          <a:prstGeom prst="roundRect">
            <a:avLst>
              <a:gd name="adj" fmla="val 5180"/>
            </a:avLst>
          </a:prstGeom>
          <a:solidFill>
            <a:srgbClr val="54441F"/>
          </a:solidFill>
          <a:ln w="9525">
            <a:solidFill>
              <a:srgbClr val="5A4A22"/>
            </a:solidFill>
            <a:prstDash val="solid"/>
          </a:ln>
        </p:spPr>
      </p:sp>
      <p:sp>
        <p:nvSpPr>
          <p:cNvPr id="26" name="Text 22"/>
          <p:cNvSpPr txBox="1"/>
          <p:nvPr/>
        </p:nvSpPr>
        <p:spPr>
          <a:xfrm>
            <a:off x="4000271" y="505663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endParaRPr lang="en-US" sz="1100" dirty="0"/>
          </a:p>
        </p:txBody>
      </p:sp>
      <p:sp>
        <p:nvSpPr>
          <p:cNvPr id="27" name="Text 23"/>
          <p:cNvSpPr txBox="1"/>
          <p:nvPr/>
        </p:nvSpPr>
        <p:spPr>
          <a:xfrm>
            <a:off x="4000271" y="523951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Influence</a:t>
            </a:r>
            <a:endParaRPr lang="en-US" sz="1000" dirty="0"/>
          </a:p>
        </p:txBody>
      </p:sp>
      <p:sp>
        <p:nvSpPr>
          <p:cNvPr id="28" name="Text 24"/>
          <p:cNvSpPr txBox="1"/>
          <p:nvPr/>
        </p:nvSpPr>
        <p:spPr>
          <a:xfrm>
            <a:off x="4000271" y="541324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$3,000–$8,000</a:t>
            </a:r>
            <a:endParaRPr lang="en-US" sz="1000" dirty="0"/>
          </a:p>
        </p:txBody>
      </p:sp>
      <p:sp>
        <p:nvSpPr>
          <p:cNvPr id="29" name="Text 25"/>
          <p:cNvSpPr txBox="1"/>
          <p:nvPr/>
        </p:nvSpPr>
        <p:spPr>
          <a:xfrm>
            <a:off x="457200" y="4489704"/>
            <a:ext cx="451073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LEARNING LAYERS: DEPTH AND PRICE RISE TOGETHER</a:t>
            </a:r>
            <a:endParaRPr lang="en-US" sz="850" dirty="0"/>
          </a:p>
        </p:txBody>
      </p:sp>
      <p:sp>
        <p:nvSpPr>
          <p:cNvPr id="30"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under the Chatham House Rule, streamed on AWS IVS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Automated opinion papers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18-19</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Branded partner academies</a:t>
            </a:r>
            <a:endParaRPr lang="en-US" sz="1250" dirty="0"/>
          </a:p>
        </p:txBody>
      </p:sp>
      <p:sp>
        <p:nvSpPr>
          <p:cNvPr id="22" name="Text 17"/>
          <p:cNvSpPr txBox="1"/>
          <p:nvPr/>
        </p:nvSpPr>
        <p:spPr>
          <a:xfrm>
            <a:off x="4563770"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on a partner subdomain</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verified credentials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partner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8, 12-13, 17</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all platform content</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6, 9, 11, 20</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onboarding, Open edX courseware and Studio, Discourse forums and Opencast video (slides 7, 10, 14, 16)</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41448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7674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Product tour: one learner, end to end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persona of several: Layla, MLRO at Gulf Digital Exchange (fictitious VASP), earns a stablecoin credential</a:t>
            </a:r>
            <a:endParaRPr lang="en-US" sz="1600" dirty="0"/>
          </a:p>
        </p:txBody>
      </p:sp>
      <p:sp>
        <p:nvSpPr>
          <p:cNvPr id="7" name="Shape 4"/>
          <p:cNvSpPr/>
          <p:nvPr/>
        </p:nvSpPr>
        <p:spPr>
          <a:xfrm>
            <a:off x="1083716" y="2189683"/>
            <a:ext cx="10024262" cy="0"/>
          </a:xfrm>
          <a:prstGeom prst="line">
            <a:avLst/>
          </a:prstGeom>
          <a:noFill/>
          <a:ln w="15875">
            <a:solidFill>
              <a:srgbClr val="9B7A2E"/>
            </a:solidFill>
            <a:prstDash val="solid"/>
          </a:ln>
        </p:spPr>
      </p:sp>
      <p:sp>
        <p:nvSpPr>
          <p:cNvPr id="8" name="Shape 5"/>
          <p:cNvSpPr/>
          <p:nvPr/>
        </p:nvSpPr>
        <p:spPr>
          <a:xfrm>
            <a:off x="855116" y="1961083"/>
            <a:ext cx="457200" cy="457200"/>
          </a:xfrm>
          <a:prstGeom prst="ellipse">
            <a:avLst/>
          </a:prstGeom>
          <a:solidFill>
            <a:srgbClr val="1E1A10"/>
          </a:solidFill>
          <a:ln w="15875">
            <a:solidFill>
              <a:srgbClr val="C9A84C"/>
            </a:solidFill>
            <a:prstDash val="solid"/>
          </a:ln>
        </p:spPr>
      </p:sp>
      <p:sp>
        <p:nvSpPr>
          <p:cNvPr id="9" name="Text 6"/>
          <p:cNvSpPr txBox="1"/>
          <p:nvPr/>
        </p:nvSpPr>
        <p:spPr>
          <a:xfrm>
            <a:off x="85511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48463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1" name="Text 8"/>
          <p:cNvSpPr txBox="1"/>
          <p:nvPr/>
        </p:nvSpPr>
        <p:spPr>
          <a:xfrm>
            <a:off x="50292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One catalogue, one sign-up</a:t>
            </a:r>
            <a:endParaRPr lang="en-US" sz="1050" dirty="0"/>
          </a:p>
        </p:txBody>
      </p:sp>
      <p:sp>
        <p:nvSpPr>
          <p:cNvPr id="12" name="Text 9"/>
          <p:cNvSpPr txBox="1"/>
          <p:nvPr/>
        </p:nvSpPr>
        <p:spPr>
          <a:xfrm>
            <a:off x="45720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6</a:t>
            </a:r>
            <a:endParaRPr lang="en-US" sz="900" dirty="0"/>
          </a:p>
        </p:txBody>
      </p:sp>
      <p:sp>
        <p:nvSpPr>
          <p:cNvPr id="13" name="Text 10"/>
          <p:cNvSpPr txBox="1"/>
          <p:nvPr/>
        </p:nvSpPr>
        <p:spPr>
          <a:xfrm>
            <a:off x="45720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14" name="Shape 11"/>
          <p:cNvSpPr/>
          <p:nvPr/>
        </p:nvSpPr>
        <p:spPr>
          <a:xfrm>
            <a:off x="2108149" y="1961083"/>
            <a:ext cx="457200" cy="457200"/>
          </a:xfrm>
          <a:prstGeom prst="ellipse">
            <a:avLst/>
          </a:prstGeom>
          <a:solidFill>
            <a:srgbClr val="1E1A10"/>
          </a:solidFill>
          <a:ln w="15875">
            <a:solidFill>
              <a:srgbClr val="C9A84C"/>
            </a:solidFill>
            <a:prstDash val="solid"/>
          </a:ln>
        </p:spPr>
      </p:sp>
      <p:sp>
        <p:nvSpPr>
          <p:cNvPr id="15" name="Text 12"/>
          <p:cNvSpPr txBox="1"/>
          <p:nvPr/>
        </p:nvSpPr>
        <p:spPr>
          <a:xfrm>
            <a:off x="210814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16" name="Text 13"/>
          <p:cNvSpPr txBox="1"/>
          <p:nvPr/>
        </p:nvSpPr>
        <p:spPr>
          <a:xfrm>
            <a:off x="1737665"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17" name="Text 14"/>
          <p:cNvSpPr txBox="1"/>
          <p:nvPr/>
        </p:nvSpPr>
        <p:spPr>
          <a:xfrm>
            <a:off x="1755953"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Routed in 5 questions</a:t>
            </a:r>
            <a:endParaRPr lang="en-US" sz="1050" dirty="0"/>
          </a:p>
        </p:txBody>
      </p:sp>
      <p:sp>
        <p:nvSpPr>
          <p:cNvPr id="18" name="Text 15"/>
          <p:cNvSpPr txBox="1"/>
          <p:nvPr/>
        </p:nvSpPr>
        <p:spPr>
          <a:xfrm>
            <a:off x="1710233"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7</a:t>
            </a:r>
            <a:endParaRPr lang="en-US" sz="900" dirty="0"/>
          </a:p>
        </p:txBody>
      </p:sp>
      <p:sp>
        <p:nvSpPr>
          <p:cNvPr id="19" name="Text 16"/>
          <p:cNvSpPr txBox="1"/>
          <p:nvPr/>
        </p:nvSpPr>
        <p:spPr>
          <a:xfrm>
            <a:off x="1710233"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20" name="Shape 17"/>
          <p:cNvSpPr/>
          <p:nvPr/>
        </p:nvSpPr>
        <p:spPr>
          <a:xfrm>
            <a:off x="3361182" y="1961083"/>
            <a:ext cx="457200" cy="457200"/>
          </a:xfrm>
          <a:prstGeom prst="ellipse">
            <a:avLst/>
          </a:prstGeom>
          <a:solidFill>
            <a:srgbClr val="1E1A10"/>
          </a:solidFill>
          <a:ln w="15875">
            <a:solidFill>
              <a:srgbClr val="C9A84C"/>
            </a:solidFill>
            <a:prstDash val="solid"/>
          </a:ln>
        </p:spPr>
      </p:sp>
      <p:sp>
        <p:nvSpPr>
          <p:cNvPr id="21" name="Text 18"/>
          <p:cNvSpPr txBox="1"/>
          <p:nvPr/>
        </p:nvSpPr>
        <p:spPr>
          <a:xfrm>
            <a:off x="3361182"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22" name="Text 19"/>
          <p:cNvSpPr txBox="1"/>
          <p:nvPr/>
        </p:nvSpPr>
        <p:spPr>
          <a:xfrm>
            <a:off x="2990698"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Partner academy</a:t>
            </a:r>
            <a:endParaRPr lang="en-US" sz="1200" dirty="0"/>
          </a:p>
        </p:txBody>
      </p:sp>
      <p:sp>
        <p:nvSpPr>
          <p:cNvPr id="23" name="Text 20"/>
          <p:cNvSpPr txBox="1"/>
          <p:nvPr/>
        </p:nvSpPr>
        <p:spPr>
          <a:xfrm>
            <a:off x="3008986"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Pick a pathway</a:t>
            </a:r>
            <a:endParaRPr lang="en-US" sz="1050" dirty="0"/>
          </a:p>
        </p:txBody>
      </p:sp>
      <p:sp>
        <p:nvSpPr>
          <p:cNvPr id="24" name="Text 21"/>
          <p:cNvSpPr txBox="1"/>
          <p:nvPr/>
        </p:nvSpPr>
        <p:spPr>
          <a:xfrm>
            <a:off x="2963266"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8</a:t>
            </a:r>
            <a:endParaRPr lang="en-US" sz="900" dirty="0"/>
          </a:p>
        </p:txBody>
      </p:sp>
      <p:sp>
        <p:nvSpPr>
          <p:cNvPr id="25" name="Text 22"/>
          <p:cNvSpPr txBox="1"/>
          <p:nvPr/>
        </p:nvSpPr>
        <p:spPr>
          <a:xfrm>
            <a:off x="2963266"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26" name="Shape 23"/>
          <p:cNvSpPr/>
          <p:nvPr/>
        </p:nvSpPr>
        <p:spPr>
          <a:xfrm>
            <a:off x="4614215" y="1961083"/>
            <a:ext cx="457200" cy="457200"/>
          </a:xfrm>
          <a:prstGeom prst="ellipse">
            <a:avLst/>
          </a:prstGeom>
          <a:solidFill>
            <a:srgbClr val="1E1A10"/>
          </a:solidFill>
          <a:ln w="15875">
            <a:solidFill>
              <a:srgbClr val="C9A84C"/>
            </a:solidFill>
            <a:prstDash val="solid"/>
          </a:ln>
        </p:spPr>
      </p:sp>
      <p:sp>
        <p:nvSpPr>
          <p:cNvPr id="27" name="Text 24"/>
          <p:cNvSpPr txBox="1"/>
          <p:nvPr/>
        </p:nvSpPr>
        <p:spPr>
          <a:xfrm>
            <a:off x="4614215"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28" name="Text 25"/>
          <p:cNvSpPr txBox="1"/>
          <p:nvPr/>
        </p:nvSpPr>
        <p:spPr>
          <a:xfrm>
            <a:off x="4243730"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Enrol &amp; pay</a:t>
            </a:r>
            <a:endParaRPr lang="en-US" sz="1200" dirty="0"/>
          </a:p>
        </p:txBody>
      </p:sp>
      <p:sp>
        <p:nvSpPr>
          <p:cNvPr id="29" name="Text 26"/>
          <p:cNvSpPr txBox="1"/>
          <p:nvPr/>
        </p:nvSpPr>
        <p:spPr>
          <a:xfrm>
            <a:off x="4262018"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Stripe Checkout</a:t>
            </a:r>
            <a:endParaRPr lang="en-US" sz="1050" dirty="0"/>
          </a:p>
        </p:txBody>
      </p:sp>
      <p:sp>
        <p:nvSpPr>
          <p:cNvPr id="30" name="Text 27"/>
          <p:cNvSpPr txBox="1"/>
          <p:nvPr/>
        </p:nvSpPr>
        <p:spPr>
          <a:xfrm>
            <a:off x="4216298"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9</a:t>
            </a:r>
            <a:endParaRPr lang="en-US" sz="900" dirty="0"/>
          </a:p>
        </p:txBody>
      </p:sp>
      <p:sp>
        <p:nvSpPr>
          <p:cNvPr id="31" name="Text 28"/>
          <p:cNvSpPr txBox="1"/>
          <p:nvPr/>
        </p:nvSpPr>
        <p:spPr>
          <a:xfrm>
            <a:off x="4216298"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32" name="Shape 29"/>
          <p:cNvSpPr/>
          <p:nvPr/>
        </p:nvSpPr>
        <p:spPr>
          <a:xfrm>
            <a:off x="5867248" y="1961083"/>
            <a:ext cx="457200" cy="457200"/>
          </a:xfrm>
          <a:prstGeom prst="ellipse">
            <a:avLst/>
          </a:prstGeom>
          <a:solidFill>
            <a:srgbClr val="1E1A10"/>
          </a:solidFill>
          <a:ln w="15875">
            <a:solidFill>
              <a:srgbClr val="C9A84C"/>
            </a:solidFill>
            <a:prstDash val="solid"/>
          </a:ln>
        </p:spPr>
      </p:sp>
      <p:sp>
        <p:nvSpPr>
          <p:cNvPr id="33" name="Text 30"/>
          <p:cNvSpPr txBox="1"/>
          <p:nvPr/>
        </p:nvSpPr>
        <p:spPr>
          <a:xfrm>
            <a:off x="5867248"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34" name="Text 31"/>
          <p:cNvSpPr txBox="1"/>
          <p:nvPr/>
        </p:nvSpPr>
        <p:spPr>
          <a:xfrm>
            <a:off x="5496763"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Learn</a:t>
            </a:r>
            <a:endParaRPr lang="en-US" sz="1200" dirty="0"/>
          </a:p>
        </p:txBody>
      </p:sp>
      <p:sp>
        <p:nvSpPr>
          <p:cNvPr id="35" name="Text 32"/>
          <p:cNvSpPr txBox="1"/>
          <p:nvPr/>
        </p:nvSpPr>
        <p:spPr>
          <a:xfrm>
            <a:off x="5515051"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Lessons and graded checks</a:t>
            </a:r>
            <a:endParaRPr lang="en-US" sz="1050" dirty="0"/>
          </a:p>
        </p:txBody>
      </p:sp>
      <p:sp>
        <p:nvSpPr>
          <p:cNvPr id="36" name="Text 33"/>
          <p:cNvSpPr txBox="1"/>
          <p:nvPr/>
        </p:nvSpPr>
        <p:spPr>
          <a:xfrm>
            <a:off x="5469331"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10</a:t>
            </a:r>
            <a:endParaRPr lang="en-US" sz="900" dirty="0"/>
          </a:p>
        </p:txBody>
      </p:sp>
      <p:sp>
        <p:nvSpPr>
          <p:cNvPr id="37" name="Text 34"/>
          <p:cNvSpPr txBox="1"/>
          <p:nvPr/>
        </p:nvSpPr>
        <p:spPr>
          <a:xfrm>
            <a:off x="5469331"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38" name="Shape 35"/>
          <p:cNvSpPr/>
          <p:nvPr/>
        </p:nvSpPr>
        <p:spPr>
          <a:xfrm>
            <a:off x="7120280" y="1961083"/>
            <a:ext cx="457200" cy="457200"/>
          </a:xfrm>
          <a:prstGeom prst="ellipse">
            <a:avLst/>
          </a:prstGeom>
          <a:solidFill>
            <a:srgbClr val="1E1A10"/>
          </a:solidFill>
          <a:ln w="15875">
            <a:solidFill>
              <a:srgbClr val="C9A84C"/>
            </a:solidFill>
            <a:prstDash val="solid"/>
          </a:ln>
        </p:spPr>
      </p:sp>
      <p:sp>
        <p:nvSpPr>
          <p:cNvPr id="39" name="Text 36"/>
          <p:cNvSpPr txBox="1"/>
          <p:nvPr/>
        </p:nvSpPr>
        <p:spPr>
          <a:xfrm>
            <a:off x="7120280"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40" name="Text 37"/>
          <p:cNvSpPr txBox="1"/>
          <p:nvPr/>
        </p:nvSpPr>
        <p:spPr>
          <a:xfrm>
            <a:off x="6749796"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AI tutor</a:t>
            </a:r>
            <a:endParaRPr lang="en-US" sz="1200" dirty="0"/>
          </a:p>
        </p:txBody>
      </p:sp>
      <p:sp>
        <p:nvSpPr>
          <p:cNvPr id="41" name="Text 38"/>
          <p:cNvSpPr txBox="1"/>
          <p:nvPr/>
        </p:nvSpPr>
        <p:spPr>
          <a:xfrm>
            <a:off x="6768084"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Cited answers inside the lesson</a:t>
            </a:r>
            <a:endParaRPr lang="en-US" sz="1050" dirty="0"/>
          </a:p>
        </p:txBody>
      </p:sp>
      <p:sp>
        <p:nvSpPr>
          <p:cNvPr id="42" name="Text 39"/>
          <p:cNvSpPr txBox="1"/>
          <p:nvPr/>
        </p:nvSpPr>
        <p:spPr>
          <a:xfrm>
            <a:off x="6722364"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11</a:t>
            </a:r>
            <a:endParaRPr lang="en-US" sz="900" dirty="0"/>
          </a:p>
        </p:txBody>
      </p:sp>
      <p:sp>
        <p:nvSpPr>
          <p:cNvPr id="43" name="Text 40"/>
          <p:cNvSpPr txBox="1"/>
          <p:nvPr/>
        </p:nvSpPr>
        <p:spPr>
          <a:xfrm>
            <a:off x="6722364"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44" name="Shape 41"/>
          <p:cNvSpPr/>
          <p:nvPr/>
        </p:nvSpPr>
        <p:spPr>
          <a:xfrm>
            <a:off x="8373313" y="1961083"/>
            <a:ext cx="457200" cy="457200"/>
          </a:xfrm>
          <a:prstGeom prst="ellipse">
            <a:avLst/>
          </a:prstGeom>
          <a:solidFill>
            <a:srgbClr val="1E1A10"/>
          </a:solidFill>
          <a:ln w="15875">
            <a:solidFill>
              <a:srgbClr val="C9A84C"/>
            </a:solidFill>
            <a:prstDash val="solid"/>
          </a:ln>
        </p:spPr>
      </p:sp>
      <p:sp>
        <p:nvSpPr>
          <p:cNvPr id="45" name="Text 42"/>
          <p:cNvSpPr txBox="1"/>
          <p:nvPr/>
        </p:nvSpPr>
        <p:spPr>
          <a:xfrm>
            <a:off x="8373313"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7</a:t>
            </a:r>
            <a:endParaRPr lang="en-US" sz="1500" dirty="0"/>
          </a:p>
        </p:txBody>
      </p:sp>
      <p:sp>
        <p:nvSpPr>
          <p:cNvPr id="46" name="Text 43"/>
          <p:cNvSpPr txBox="1"/>
          <p:nvPr/>
        </p:nvSpPr>
        <p:spPr>
          <a:xfrm>
            <a:off x="8002829"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Pass &amp; pathway</a:t>
            </a:r>
            <a:endParaRPr lang="en-US" sz="1200" dirty="0"/>
          </a:p>
        </p:txBody>
      </p:sp>
      <p:sp>
        <p:nvSpPr>
          <p:cNvPr id="47" name="Text 44"/>
          <p:cNvSpPr txBox="1"/>
          <p:nvPr/>
        </p:nvSpPr>
        <p:spPr>
          <a:xfrm>
            <a:off x="8021117"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Grades roll up to the pathway</a:t>
            </a:r>
            <a:endParaRPr lang="en-US" sz="1050" dirty="0"/>
          </a:p>
        </p:txBody>
      </p:sp>
      <p:sp>
        <p:nvSpPr>
          <p:cNvPr id="48" name="Text 45"/>
          <p:cNvSpPr txBox="1"/>
          <p:nvPr/>
        </p:nvSpPr>
        <p:spPr>
          <a:xfrm>
            <a:off x="7975397"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12</a:t>
            </a:r>
            <a:endParaRPr lang="en-US" sz="900" dirty="0"/>
          </a:p>
        </p:txBody>
      </p:sp>
      <p:sp>
        <p:nvSpPr>
          <p:cNvPr id="49" name="Text 46"/>
          <p:cNvSpPr txBox="1"/>
          <p:nvPr/>
        </p:nvSpPr>
        <p:spPr>
          <a:xfrm>
            <a:off x="7975397"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0" name="Shape 47"/>
          <p:cNvSpPr/>
          <p:nvPr/>
        </p:nvSpPr>
        <p:spPr>
          <a:xfrm>
            <a:off x="9626346" y="1961083"/>
            <a:ext cx="457200" cy="457200"/>
          </a:xfrm>
          <a:prstGeom prst="ellipse">
            <a:avLst/>
          </a:prstGeom>
          <a:solidFill>
            <a:srgbClr val="1E1A10"/>
          </a:solidFill>
          <a:ln w="15875">
            <a:solidFill>
              <a:srgbClr val="C9A84C"/>
            </a:solidFill>
            <a:prstDash val="solid"/>
          </a:ln>
        </p:spPr>
      </p:sp>
      <p:sp>
        <p:nvSpPr>
          <p:cNvPr id="51" name="Text 48"/>
          <p:cNvSpPr txBox="1"/>
          <p:nvPr/>
        </p:nvSpPr>
        <p:spPr>
          <a:xfrm>
            <a:off x="962634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8</a:t>
            </a:r>
            <a:endParaRPr lang="en-US" sz="1500" dirty="0"/>
          </a:p>
        </p:txBody>
      </p:sp>
      <p:sp>
        <p:nvSpPr>
          <p:cNvPr id="52" name="Text 49"/>
          <p:cNvSpPr txBox="1"/>
          <p:nvPr/>
        </p:nvSpPr>
        <p:spPr>
          <a:xfrm>
            <a:off x="925586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 to job</a:t>
            </a:r>
            <a:endParaRPr lang="en-US" sz="1200" dirty="0"/>
          </a:p>
        </p:txBody>
      </p:sp>
      <p:sp>
        <p:nvSpPr>
          <p:cNvPr id="53" name="Text 50"/>
          <p:cNvSpPr txBox="1"/>
          <p:nvPr/>
        </p:nvSpPr>
        <p:spPr>
          <a:xfrm>
            <a:off x="927415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Open Badge, matched to a job</a:t>
            </a:r>
            <a:endParaRPr lang="en-US" sz="1050" dirty="0"/>
          </a:p>
        </p:txBody>
      </p:sp>
      <p:sp>
        <p:nvSpPr>
          <p:cNvPr id="54" name="Text 51"/>
          <p:cNvSpPr txBox="1"/>
          <p:nvPr/>
        </p:nvSpPr>
        <p:spPr>
          <a:xfrm>
            <a:off x="922843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13</a:t>
            </a:r>
            <a:endParaRPr lang="en-US" sz="900" dirty="0"/>
          </a:p>
        </p:txBody>
      </p:sp>
      <p:sp>
        <p:nvSpPr>
          <p:cNvPr id="55" name="Text 52"/>
          <p:cNvSpPr txBox="1"/>
          <p:nvPr/>
        </p:nvSpPr>
        <p:spPr>
          <a:xfrm>
            <a:off x="922843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6" name="Shape 53"/>
          <p:cNvSpPr/>
          <p:nvPr/>
        </p:nvSpPr>
        <p:spPr>
          <a:xfrm>
            <a:off x="10879379" y="1961083"/>
            <a:ext cx="457200" cy="457200"/>
          </a:xfrm>
          <a:prstGeom prst="ellipse">
            <a:avLst/>
          </a:prstGeom>
          <a:solidFill>
            <a:srgbClr val="1E1A10"/>
          </a:solidFill>
          <a:ln w="15875">
            <a:solidFill>
              <a:srgbClr val="C9A84C"/>
            </a:solidFill>
            <a:prstDash val="solid"/>
          </a:ln>
        </p:spPr>
      </p:sp>
      <p:sp>
        <p:nvSpPr>
          <p:cNvPr id="57" name="Text 54"/>
          <p:cNvSpPr txBox="1"/>
          <p:nvPr/>
        </p:nvSpPr>
        <p:spPr>
          <a:xfrm>
            <a:off x="1087937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9</a:t>
            </a:r>
            <a:endParaRPr lang="en-US" sz="1500" dirty="0"/>
          </a:p>
        </p:txBody>
      </p:sp>
      <p:sp>
        <p:nvSpPr>
          <p:cNvPr id="58" name="Text 55"/>
          <p:cNvSpPr txBox="1"/>
          <p:nvPr/>
        </p:nvSpPr>
        <p:spPr>
          <a:xfrm>
            <a:off x="10508894"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Community &amp; video</a:t>
            </a:r>
            <a:endParaRPr lang="en-US" sz="1200" dirty="0"/>
          </a:p>
        </p:txBody>
      </p:sp>
      <p:sp>
        <p:nvSpPr>
          <p:cNvPr id="59" name="Text 56"/>
          <p:cNvSpPr txBox="1"/>
          <p:nvPr/>
        </p:nvSpPr>
        <p:spPr>
          <a:xfrm>
            <a:off x="10527182"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Discourse forums, Opencast video</a:t>
            </a:r>
            <a:endParaRPr lang="en-US" sz="1050" dirty="0"/>
          </a:p>
        </p:txBody>
      </p:sp>
      <p:sp>
        <p:nvSpPr>
          <p:cNvPr id="60" name="Text 57"/>
          <p:cNvSpPr txBox="1"/>
          <p:nvPr/>
        </p:nvSpPr>
        <p:spPr>
          <a:xfrm>
            <a:off x="10481462"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14</a:t>
            </a:r>
            <a:endParaRPr lang="en-US" sz="900" dirty="0"/>
          </a:p>
        </p:txBody>
      </p:sp>
      <p:sp>
        <p:nvSpPr>
          <p:cNvPr id="61" name="Text 58"/>
          <p:cNvSpPr txBox="1"/>
          <p:nvPr/>
        </p:nvSpPr>
        <p:spPr>
          <a:xfrm>
            <a:off x="10481462"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62" name="Shape 59"/>
          <p:cNvSpPr/>
          <p:nvPr/>
        </p:nvSpPr>
        <p:spPr>
          <a:xfrm>
            <a:off x="457200" y="3881323"/>
            <a:ext cx="11277295" cy="475488"/>
          </a:xfrm>
          <a:prstGeom prst="roundRect">
            <a:avLst>
              <a:gd name="adj" fmla="val 19231"/>
            </a:avLst>
          </a:prstGeom>
          <a:solidFill>
            <a:srgbClr val="171722"/>
          </a:solidFill>
          <a:ln w="9525">
            <a:solidFill>
              <a:srgbClr val="2C2C3E"/>
            </a:solidFill>
            <a:prstDash val="solid"/>
          </a:ln>
        </p:spPr>
      </p:sp>
      <p:sp>
        <p:nvSpPr>
          <p:cNvPr id="63" name="Text 60"/>
          <p:cNvSpPr txBox="1"/>
          <p:nvPr/>
        </p:nvSpPr>
        <p:spPr>
          <a:xfrm>
            <a:off x="640080" y="3881323"/>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Then the partner side (slides 16-26)</a:t>
            </a:r>
            <a:endParaRPr lang="en-US" sz="1200" dirty="0"/>
          </a:p>
        </p:txBody>
      </p:sp>
      <p:sp>
        <p:nvSpPr>
          <p:cNvPr id="64" name="Shape 61"/>
          <p:cNvSpPr/>
          <p:nvPr/>
        </p:nvSpPr>
        <p:spPr>
          <a:xfrm>
            <a:off x="3472099" y="3991051"/>
            <a:ext cx="980501" cy="256032"/>
          </a:xfrm>
          <a:prstGeom prst="roundRect">
            <a:avLst>
              <a:gd name="adj" fmla="val 50000"/>
            </a:avLst>
          </a:prstGeom>
          <a:solidFill>
            <a:srgbClr val="1E1A10"/>
          </a:solidFill>
          <a:ln w="9525">
            <a:solidFill>
              <a:srgbClr val="5A4A22"/>
            </a:solidFill>
            <a:prstDash val="solid"/>
          </a:ln>
        </p:spPr>
      </p:sp>
      <p:sp>
        <p:nvSpPr>
          <p:cNvPr id="65" name="Text 62"/>
          <p:cNvSpPr txBox="1"/>
          <p:nvPr/>
        </p:nvSpPr>
        <p:spPr>
          <a:xfrm>
            <a:off x="3609259" y="3991051"/>
            <a:ext cx="797621"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Author</a:t>
            </a:r>
            <a:r>
              <a:rPr lang="en-US" sz="1000" dirty="0">
                <a:solidFill>
                  <a:srgbClr val="8E8EA2"/>
                </a:solidFill>
                <a:latin typeface="Arial" pitchFamily="34" charset="0"/>
                <a:ea typeface="Arial" pitchFamily="34" charset="-122"/>
                <a:cs typeface="Arial" pitchFamily="34" charset="-120"/>
              </a:rPr>
              <a:t>  16</a:t>
            </a:r>
            <a:endParaRPr lang="en-US" sz="1100" dirty="0"/>
          </a:p>
        </p:txBody>
      </p:sp>
      <p:sp>
        <p:nvSpPr>
          <p:cNvPr id="66" name="Text 63"/>
          <p:cNvSpPr txBox="1"/>
          <p:nvPr/>
        </p:nvSpPr>
        <p:spPr>
          <a:xfrm>
            <a:off x="445260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7" name="Shape 64"/>
          <p:cNvSpPr/>
          <p:nvPr/>
        </p:nvSpPr>
        <p:spPr>
          <a:xfrm>
            <a:off x="4653768" y="3991051"/>
            <a:ext cx="1089607" cy="256032"/>
          </a:xfrm>
          <a:prstGeom prst="roundRect">
            <a:avLst>
              <a:gd name="adj" fmla="val 50000"/>
            </a:avLst>
          </a:prstGeom>
          <a:solidFill>
            <a:srgbClr val="1E1A10"/>
          </a:solidFill>
          <a:ln w="9525">
            <a:solidFill>
              <a:srgbClr val="5A4A22"/>
            </a:solidFill>
            <a:prstDash val="solid"/>
          </a:ln>
        </p:spPr>
      </p:sp>
      <p:sp>
        <p:nvSpPr>
          <p:cNvPr id="68" name="Text 65"/>
          <p:cNvSpPr txBox="1"/>
          <p:nvPr/>
        </p:nvSpPr>
        <p:spPr>
          <a:xfrm>
            <a:off x="4790928" y="3991051"/>
            <a:ext cx="90672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Measure</a:t>
            </a:r>
            <a:r>
              <a:rPr lang="en-US" sz="1000" dirty="0">
                <a:solidFill>
                  <a:srgbClr val="8E8EA2"/>
                </a:solidFill>
                <a:latin typeface="Arial" pitchFamily="34" charset="0"/>
                <a:ea typeface="Arial" pitchFamily="34" charset="-122"/>
                <a:cs typeface="Arial" pitchFamily="34" charset="-120"/>
              </a:rPr>
              <a:t>  17</a:t>
            </a:r>
            <a:endParaRPr lang="en-US" sz="1100" dirty="0"/>
          </a:p>
        </p:txBody>
      </p:sp>
      <p:sp>
        <p:nvSpPr>
          <p:cNvPr id="69" name="Text 66"/>
          <p:cNvSpPr txBox="1"/>
          <p:nvPr/>
        </p:nvSpPr>
        <p:spPr>
          <a:xfrm>
            <a:off x="5743374"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0" name="Shape 67"/>
          <p:cNvSpPr/>
          <p:nvPr/>
        </p:nvSpPr>
        <p:spPr>
          <a:xfrm>
            <a:off x="5944542" y="3991051"/>
            <a:ext cx="1112713" cy="256032"/>
          </a:xfrm>
          <a:prstGeom prst="roundRect">
            <a:avLst>
              <a:gd name="adj" fmla="val 50000"/>
            </a:avLst>
          </a:prstGeom>
          <a:solidFill>
            <a:srgbClr val="1E1A10"/>
          </a:solidFill>
          <a:ln w="9525">
            <a:solidFill>
              <a:srgbClr val="5A4A22"/>
            </a:solidFill>
            <a:prstDash val="solid"/>
          </a:ln>
        </p:spPr>
      </p:sp>
      <p:sp>
        <p:nvSpPr>
          <p:cNvPr id="71" name="Text 68"/>
          <p:cNvSpPr txBox="1"/>
          <p:nvPr/>
        </p:nvSpPr>
        <p:spPr>
          <a:xfrm>
            <a:off x="6081702" y="3991051"/>
            <a:ext cx="929833"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Convene</a:t>
            </a:r>
            <a:r>
              <a:rPr lang="en-US" sz="1000" dirty="0">
                <a:solidFill>
                  <a:srgbClr val="8E8EA2"/>
                </a:solidFill>
                <a:latin typeface="Arial" pitchFamily="34" charset="0"/>
                <a:ea typeface="Arial" pitchFamily="34" charset="-122"/>
                <a:cs typeface="Arial" pitchFamily="34" charset="-120"/>
              </a:rPr>
              <a:t>  18</a:t>
            </a:r>
            <a:endParaRPr lang="en-US" sz="1100" dirty="0"/>
          </a:p>
        </p:txBody>
      </p:sp>
      <p:sp>
        <p:nvSpPr>
          <p:cNvPr id="72" name="Text 69"/>
          <p:cNvSpPr txBox="1"/>
          <p:nvPr/>
        </p:nvSpPr>
        <p:spPr>
          <a:xfrm>
            <a:off x="7057255"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3" name="Shape 70"/>
          <p:cNvSpPr/>
          <p:nvPr/>
        </p:nvSpPr>
        <p:spPr>
          <a:xfrm>
            <a:off x="7258423" y="3991051"/>
            <a:ext cx="1027217" cy="256032"/>
          </a:xfrm>
          <a:prstGeom prst="roundRect">
            <a:avLst>
              <a:gd name="adj" fmla="val 50000"/>
            </a:avLst>
          </a:prstGeom>
          <a:solidFill>
            <a:srgbClr val="1E1A10"/>
          </a:solidFill>
          <a:ln w="9525">
            <a:solidFill>
              <a:srgbClr val="5A4A22"/>
            </a:solidFill>
            <a:prstDash val="solid"/>
          </a:ln>
        </p:spPr>
      </p:sp>
      <p:sp>
        <p:nvSpPr>
          <p:cNvPr id="74" name="Text 71"/>
          <p:cNvSpPr txBox="1"/>
          <p:nvPr/>
        </p:nvSpPr>
        <p:spPr>
          <a:xfrm>
            <a:off x="7395583" y="3991051"/>
            <a:ext cx="84433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Publish</a:t>
            </a:r>
            <a:r>
              <a:rPr lang="en-US" sz="1000" dirty="0">
                <a:solidFill>
                  <a:srgbClr val="8E8EA2"/>
                </a:solidFill>
                <a:latin typeface="Arial" pitchFamily="34" charset="0"/>
                <a:ea typeface="Arial" pitchFamily="34" charset="-122"/>
                <a:cs typeface="Arial" pitchFamily="34" charset="-120"/>
              </a:rPr>
              <a:t>  19</a:t>
            </a:r>
            <a:endParaRPr lang="en-US" sz="1100" dirty="0"/>
          </a:p>
        </p:txBody>
      </p:sp>
      <p:sp>
        <p:nvSpPr>
          <p:cNvPr id="75" name="Text 72"/>
          <p:cNvSpPr txBox="1"/>
          <p:nvPr/>
        </p:nvSpPr>
        <p:spPr>
          <a:xfrm>
            <a:off x="828564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6" name="Shape 73"/>
          <p:cNvSpPr/>
          <p:nvPr/>
        </p:nvSpPr>
        <p:spPr>
          <a:xfrm>
            <a:off x="8486808" y="3991051"/>
            <a:ext cx="1322710" cy="256032"/>
          </a:xfrm>
          <a:prstGeom prst="roundRect">
            <a:avLst>
              <a:gd name="adj" fmla="val 50000"/>
            </a:avLst>
          </a:prstGeom>
          <a:solidFill>
            <a:srgbClr val="1E1A10"/>
          </a:solidFill>
          <a:ln w="9525">
            <a:solidFill>
              <a:srgbClr val="5A4A22"/>
            </a:solidFill>
            <a:prstDash val="solid"/>
          </a:ln>
        </p:spPr>
      </p:sp>
      <p:sp>
        <p:nvSpPr>
          <p:cNvPr id="77" name="Text 74"/>
          <p:cNvSpPr txBox="1"/>
          <p:nvPr/>
        </p:nvSpPr>
        <p:spPr>
          <a:xfrm>
            <a:off x="8623968" y="3991051"/>
            <a:ext cx="1139830"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Masterclass</a:t>
            </a:r>
            <a:r>
              <a:rPr lang="en-US" sz="1000" dirty="0">
                <a:solidFill>
                  <a:srgbClr val="8E8EA2"/>
                </a:solidFill>
                <a:latin typeface="Arial" pitchFamily="34" charset="0"/>
                <a:ea typeface="Arial" pitchFamily="34" charset="-122"/>
                <a:cs typeface="Arial" pitchFamily="34" charset="-120"/>
              </a:rPr>
              <a:t>  20</a:t>
            </a:r>
            <a:endParaRPr lang="en-US" sz="1100" dirty="0"/>
          </a:p>
        </p:txBody>
      </p:sp>
      <p:sp>
        <p:nvSpPr>
          <p:cNvPr id="78" name="Text 75"/>
          <p:cNvSpPr txBox="1"/>
          <p:nvPr/>
        </p:nvSpPr>
        <p:spPr>
          <a:xfrm>
            <a:off x="9809518"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9" name="Shape 76"/>
          <p:cNvSpPr/>
          <p:nvPr/>
        </p:nvSpPr>
        <p:spPr>
          <a:xfrm>
            <a:off x="10010686" y="3991051"/>
            <a:ext cx="1016879" cy="256032"/>
          </a:xfrm>
          <a:prstGeom prst="roundRect">
            <a:avLst>
              <a:gd name="adj" fmla="val 50000"/>
            </a:avLst>
          </a:prstGeom>
          <a:solidFill>
            <a:srgbClr val="1E1A10"/>
          </a:solidFill>
          <a:ln w="9525">
            <a:solidFill>
              <a:srgbClr val="5A4A22"/>
            </a:solidFill>
            <a:prstDash val="solid"/>
          </a:ln>
        </p:spPr>
      </p:sp>
      <p:sp>
        <p:nvSpPr>
          <p:cNvPr id="80" name="Text 77"/>
          <p:cNvSpPr txBox="1"/>
          <p:nvPr/>
        </p:nvSpPr>
        <p:spPr>
          <a:xfrm>
            <a:off x="10147846" y="3991051"/>
            <a:ext cx="833999"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Earn</a:t>
            </a:r>
            <a:r>
              <a:rPr lang="en-US" sz="1000" dirty="0">
                <a:solidFill>
                  <a:srgbClr val="8E8EA2"/>
                </a:solidFill>
                <a:latin typeface="Arial" pitchFamily="34" charset="0"/>
                <a:ea typeface="Arial" pitchFamily="34" charset="-122"/>
                <a:cs typeface="Arial" pitchFamily="34" charset="-120"/>
              </a:rPr>
              <a:t>  22-26</a:t>
            </a:r>
            <a:endParaRPr lang="en-US" sz="1100" dirty="0"/>
          </a:p>
        </p:txBody>
      </p:sp>
      <p:sp>
        <p:nvSpPr>
          <p:cNvPr id="81" name="Text 78"/>
          <p:cNvSpPr txBox="1"/>
          <p:nvPr/>
        </p:nvSpPr>
        <p:spPr>
          <a:xfrm>
            <a:off x="457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CAST (ALL FICTITIOUS)</a:t>
            </a:r>
            <a:endParaRPr lang="en-US" sz="900" dirty="0"/>
          </a:p>
        </p:txBody>
      </p:sp>
      <p:sp>
        <p:nvSpPr>
          <p:cNvPr id="82" name="Text 79"/>
          <p:cNvSpPr txBox="1"/>
          <p:nvPr/>
        </p:nvSpPr>
        <p:spPr>
          <a:xfrm>
            <a:off x="6172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EACH SCREEN IS</a:t>
            </a:r>
            <a:endParaRPr lang="en-US" sz="900" dirty="0"/>
          </a:p>
        </p:txBody>
      </p:sp>
      <p:sp>
        <p:nvSpPr>
          <p:cNvPr id="83" name="Shape 80"/>
          <p:cNvSpPr/>
          <p:nvPr/>
        </p:nvSpPr>
        <p:spPr>
          <a:xfrm>
            <a:off x="457200" y="4960315"/>
            <a:ext cx="329184" cy="329184"/>
          </a:xfrm>
          <a:prstGeom prst="ellipse">
            <a:avLst/>
          </a:prstGeom>
          <a:solidFill>
            <a:srgbClr val="C9A84C"/>
          </a:solidFill>
          <a:ln/>
        </p:spPr>
      </p:sp>
      <p:sp>
        <p:nvSpPr>
          <p:cNvPr id="84" name="Text 81"/>
          <p:cNvSpPr txBox="1"/>
          <p:nvPr/>
        </p:nvSpPr>
        <p:spPr>
          <a:xfrm>
            <a:off x="457200" y="496031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LA</a:t>
            </a:r>
            <a:endParaRPr lang="en-US" sz="1000" dirty="0"/>
          </a:p>
        </p:txBody>
      </p:sp>
      <p:sp>
        <p:nvSpPr>
          <p:cNvPr id="85" name="Text 82"/>
          <p:cNvSpPr txBox="1"/>
          <p:nvPr/>
        </p:nvSpPr>
        <p:spPr>
          <a:xfrm>
            <a:off x="950976" y="490545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Layla Al-Mansoori</a:t>
            </a:r>
            <a:r>
              <a:rPr lang="en-US" sz="1000" dirty="0">
                <a:solidFill>
                  <a:srgbClr val="C9A84C"/>
                </a:solidFill>
                <a:latin typeface="Arial" pitchFamily="34" charset="0"/>
                <a:ea typeface="Arial" pitchFamily="34" charset="-122"/>
                <a:cs typeface="Arial" pitchFamily="34" charset="-120"/>
              </a:rPr>
              <a:t>   slides 7-14, 18, 20, 23-24</a:t>
            </a:r>
            <a:endParaRPr lang="en-US" sz="1300" dirty="0"/>
          </a:p>
        </p:txBody>
      </p:sp>
      <p:sp>
        <p:nvSpPr>
          <p:cNvPr id="86" name="Text 83"/>
          <p:cNvSpPr txBox="1"/>
          <p:nvPr/>
        </p:nvSpPr>
        <p:spPr>
          <a:xfrm>
            <a:off x="950976" y="513405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MLRO, Gulf Digital Exchange (fictitious VASP)</a:t>
            </a:r>
            <a:endParaRPr lang="en-US" sz="1100" dirty="0"/>
          </a:p>
        </p:txBody>
      </p:sp>
      <p:sp>
        <p:nvSpPr>
          <p:cNvPr id="87" name="Shape 84"/>
          <p:cNvSpPr/>
          <p:nvPr/>
        </p:nvSpPr>
        <p:spPr>
          <a:xfrm>
            <a:off x="457200" y="5397805"/>
            <a:ext cx="329184" cy="329184"/>
          </a:xfrm>
          <a:prstGeom prst="ellipse">
            <a:avLst/>
          </a:prstGeom>
          <a:solidFill>
            <a:srgbClr val="3B82F6"/>
          </a:solidFill>
          <a:ln/>
        </p:spPr>
      </p:sp>
      <p:sp>
        <p:nvSpPr>
          <p:cNvPr id="88" name="Text 85"/>
          <p:cNvSpPr txBox="1"/>
          <p:nvPr/>
        </p:nvSpPr>
        <p:spPr>
          <a:xfrm>
            <a:off x="457200" y="539780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NK</a:t>
            </a:r>
            <a:endParaRPr lang="en-US" sz="1000" dirty="0"/>
          </a:p>
        </p:txBody>
      </p:sp>
      <p:sp>
        <p:nvSpPr>
          <p:cNvPr id="89" name="Text 86"/>
          <p:cNvSpPr txBox="1"/>
          <p:nvPr/>
        </p:nvSpPr>
        <p:spPr>
          <a:xfrm>
            <a:off x="950976" y="534294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Nadia Karim</a:t>
            </a:r>
            <a:r>
              <a:rPr lang="en-US" sz="1000" dirty="0">
                <a:solidFill>
                  <a:srgbClr val="C9A84C"/>
                </a:solidFill>
                <a:latin typeface="Arial" pitchFamily="34" charset="0"/>
                <a:ea typeface="Arial" pitchFamily="34" charset="-122"/>
                <a:cs typeface="Arial" pitchFamily="34" charset="-120"/>
              </a:rPr>
              <a:t>   slides 17, 24-25</a:t>
            </a:r>
            <a:endParaRPr lang="en-US" sz="1300" dirty="0"/>
          </a:p>
        </p:txBody>
      </p:sp>
      <p:sp>
        <p:nvSpPr>
          <p:cNvPr id="90" name="Text 87"/>
          <p:cNvSpPr txBox="1"/>
          <p:nvPr/>
        </p:nvSpPr>
        <p:spPr>
          <a:xfrm>
            <a:off x="950976" y="557154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Academy administrator, partner side (fictitious)</a:t>
            </a:r>
            <a:endParaRPr lang="en-US" sz="1100" dirty="0"/>
          </a:p>
        </p:txBody>
      </p:sp>
      <p:sp>
        <p:nvSpPr>
          <p:cNvPr id="91" name="Shape 88"/>
          <p:cNvSpPr/>
          <p:nvPr/>
        </p:nvSpPr>
        <p:spPr>
          <a:xfrm>
            <a:off x="457200" y="5835294"/>
            <a:ext cx="329184" cy="329184"/>
          </a:xfrm>
          <a:prstGeom prst="ellipse">
            <a:avLst/>
          </a:prstGeom>
          <a:solidFill>
            <a:srgbClr val="10B981"/>
          </a:solidFill>
          <a:ln/>
        </p:spPr>
      </p:sp>
      <p:sp>
        <p:nvSpPr>
          <p:cNvPr id="92" name="Text 89"/>
          <p:cNvSpPr txBox="1"/>
          <p:nvPr/>
        </p:nvSpPr>
        <p:spPr>
          <a:xfrm>
            <a:off x="457200" y="5835294"/>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AH</a:t>
            </a:r>
            <a:endParaRPr lang="en-US" sz="1000" dirty="0"/>
          </a:p>
        </p:txBody>
      </p:sp>
      <p:sp>
        <p:nvSpPr>
          <p:cNvPr id="93" name="Text 90"/>
          <p:cNvSpPr txBox="1"/>
          <p:nvPr/>
        </p:nvSpPr>
        <p:spPr>
          <a:xfrm>
            <a:off x="950976" y="5780430"/>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Dr. Amira Haddad</a:t>
            </a:r>
            <a:r>
              <a:rPr lang="en-US" sz="1000" dirty="0">
                <a:solidFill>
                  <a:srgbClr val="C9A84C"/>
                </a:solidFill>
                <a:latin typeface="Arial" pitchFamily="34" charset="0"/>
                <a:ea typeface="Arial" pitchFamily="34" charset="-122"/>
                <a:cs typeface="Arial" pitchFamily="34" charset="-120"/>
              </a:rPr>
              <a:t>   slides 18-20</a:t>
            </a:r>
            <a:endParaRPr lang="en-US" sz="1300" dirty="0"/>
          </a:p>
        </p:txBody>
      </p:sp>
      <p:sp>
        <p:nvSpPr>
          <p:cNvPr id="94" name="Text 91"/>
          <p:cNvSpPr txBox="1"/>
          <p:nvPr/>
        </p:nvSpPr>
        <p:spPr>
          <a:xfrm>
            <a:off x="950976" y="6009030"/>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Round-table moderator, Governance District (fictitious)</a:t>
            </a:r>
            <a:endParaRPr lang="en-US" sz="1100" dirty="0"/>
          </a:p>
        </p:txBody>
      </p:sp>
      <p:sp>
        <p:nvSpPr>
          <p:cNvPr id="95" name="Shape 92"/>
          <p:cNvSpPr/>
          <p:nvPr/>
        </p:nvSpPr>
        <p:spPr>
          <a:xfrm>
            <a:off x="6172200" y="4923739"/>
            <a:ext cx="1763105" cy="219456"/>
          </a:xfrm>
          <a:prstGeom prst="roundRect">
            <a:avLst>
              <a:gd name="adj" fmla="val 50000"/>
            </a:avLst>
          </a:prstGeom>
          <a:solidFill>
            <a:srgbClr val="1B1B27"/>
          </a:solidFill>
          <a:ln w="9525">
            <a:solidFill>
              <a:srgbClr val="3A3A50"/>
            </a:solidFill>
            <a:prstDash val="solid"/>
          </a:ln>
        </p:spPr>
      </p:sp>
      <p:sp>
        <p:nvSpPr>
          <p:cNvPr id="96" name="Shape 93"/>
          <p:cNvSpPr/>
          <p:nvPr/>
        </p:nvSpPr>
        <p:spPr>
          <a:xfrm>
            <a:off x="6263640" y="4996891"/>
            <a:ext cx="73152" cy="73152"/>
          </a:xfrm>
          <a:prstGeom prst="ellipse">
            <a:avLst/>
          </a:prstGeom>
          <a:solidFill>
            <a:srgbClr val="34D399"/>
          </a:solidFill>
          <a:ln/>
        </p:spPr>
      </p:sp>
      <p:sp>
        <p:nvSpPr>
          <p:cNvPr id="97" name="Text 94"/>
          <p:cNvSpPr txBox="1"/>
          <p:nvPr/>
        </p:nvSpPr>
        <p:spPr>
          <a:xfrm>
            <a:off x="6391656" y="4923739"/>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98" name="Text 95"/>
          <p:cNvSpPr txBox="1"/>
          <p:nvPr/>
        </p:nvSpPr>
        <p:spPr>
          <a:xfrm>
            <a:off x="8045033" y="4923739"/>
            <a:ext cx="368946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Captured from a running stock Tutor 22.0.2 install</a:t>
            </a:r>
            <a:endParaRPr lang="en-US" sz="1100" dirty="0"/>
          </a:p>
        </p:txBody>
      </p:sp>
      <p:sp>
        <p:nvSpPr>
          <p:cNvPr id="99" name="Shape 96"/>
          <p:cNvSpPr/>
          <p:nvPr/>
        </p:nvSpPr>
        <p:spPr>
          <a:xfrm>
            <a:off x="6172200" y="5251856"/>
            <a:ext cx="2591796" cy="219456"/>
          </a:xfrm>
          <a:prstGeom prst="roundRect">
            <a:avLst>
              <a:gd name="adj" fmla="val 50000"/>
            </a:avLst>
          </a:prstGeom>
          <a:solidFill>
            <a:srgbClr val="1B1B27"/>
          </a:solidFill>
          <a:ln w="9525">
            <a:solidFill>
              <a:srgbClr val="3A3A50"/>
            </a:solidFill>
            <a:prstDash val="solid"/>
          </a:ln>
        </p:spPr>
      </p:sp>
      <p:sp>
        <p:nvSpPr>
          <p:cNvPr id="100" name="Shape 97"/>
          <p:cNvSpPr/>
          <p:nvPr/>
        </p:nvSpPr>
        <p:spPr>
          <a:xfrm>
            <a:off x="6263640" y="5325008"/>
            <a:ext cx="73152" cy="73152"/>
          </a:xfrm>
          <a:prstGeom prst="ellipse">
            <a:avLst/>
          </a:prstGeom>
          <a:solidFill>
            <a:srgbClr val="F0C96B"/>
          </a:solidFill>
          <a:ln/>
        </p:spPr>
      </p:sp>
      <p:sp>
        <p:nvSpPr>
          <p:cNvPr id="101" name="Text 98"/>
          <p:cNvSpPr txBox="1"/>
          <p:nvPr/>
        </p:nvSpPr>
        <p:spPr>
          <a:xfrm>
            <a:off x="6391656" y="525185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102" name="Text 99"/>
          <p:cNvSpPr txBox="1"/>
          <p:nvPr/>
        </p:nvSpPr>
        <p:spPr>
          <a:xfrm>
            <a:off x="8873724" y="5251856"/>
            <a:ext cx="286077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Our repo code, rendered in a test harness</a:t>
            </a:r>
            <a:endParaRPr lang="en-US" sz="1100" dirty="0"/>
          </a:p>
        </p:txBody>
      </p:sp>
      <p:sp>
        <p:nvSpPr>
          <p:cNvPr id="103" name="Shape 100"/>
          <p:cNvSpPr/>
          <p:nvPr/>
        </p:nvSpPr>
        <p:spPr>
          <a:xfrm>
            <a:off x="6172200" y="5579974"/>
            <a:ext cx="1495471" cy="219456"/>
          </a:xfrm>
          <a:prstGeom prst="roundRect">
            <a:avLst>
              <a:gd name="adj" fmla="val 50000"/>
            </a:avLst>
          </a:prstGeom>
          <a:solidFill>
            <a:srgbClr val="1B1B27"/>
          </a:solidFill>
          <a:ln w="9525">
            <a:solidFill>
              <a:srgbClr val="3A3A50"/>
            </a:solidFill>
            <a:prstDash val="solid"/>
          </a:ln>
        </p:spPr>
      </p:sp>
      <p:sp>
        <p:nvSpPr>
          <p:cNvPr id="104" name="Shape 101"/>
          <p:cNvSpPr/>
          <p:nvPr/>
        </p:nvSpPr>
        <p:spPr>
          <a:xfrm>
            <a:off x="6263640" y="5653126"/>
            <a:ext cx="73152" cy="73152"/>
          </a:xfrm>
          <a:prstGeom prst="ellipse">
            <a:avLst/>
          </a:prstGeom>
          <a:solidFill>
            <a:srgbClr val="A9A9C6"/>
          </a:solidFill>
          <a:ln/>
        </p:spPr>
      </p:sp>
      <p:sp>
        <p:nvSpPr>
          <p:cNvPr id="105" name="Text 102"/>
          <p:cNvSpPr txBox="1"/>
          <p:nvPr/>
        </p:nvSpPr>
        <p:spPr>
          <a:xfrm>
            <a:off x="6391656" y="557997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06" name="Text 103"/>
          <p:cNvSpPr txBox="1"/>
          <p:nvPr/>
        </p:nvSpPr>
        <p:spPr>
          <a:xfrm>
            <a:off x="7777399" y="5579974"/>
            <a:ext cx="3957096"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 page that is still to be built</a:t>
            </a:r>
            <a:endParaRPr lang="en-US" sz="1100" dirty="0"/>
          </a:p>
        </p:txBody>
      </p:sp>
      <p:sp>
        <p:nvSpPr>
          <p:cNvPr id="107" name="Shape 104"/>
          <p:cNvSpPr/>
          <p:nvPr/>
        </p:nvSpPr>
        <p:spPr>
          <a:xfrm>
            <a:off x="6172200" y="5908091"/>
            <a:ext cx="1327790" cy="219456"/>
          </a:xfrm>
          <a:prstGeom prst="roundRect">
            <a:avLst>
              <a:gd name="adj" fmla="val 50000"/>
            </a:avLst>
          </a:prstGeom>
          <a:solidFill>
            <a:srgbClr val="1B1B27"/>
          </a:solidFill>
          <a:ln w="9525">
            <a:solidFill>
              <a:srgbClr val="3A3A50"/>
            </a:solidFill>
            <a:prstDash val="solid"/>
          </a:ln>
        </p:spPr>
      </p:sp>
      <p:sp>
        <p:nvSpPr>
          <p:cNvPr id="108" name="Shape 105"/>
          <p:cNvSpPr/>
          <p:nvPr/>
        </p:nvSpPr>
        <p:spPr>
          <a:xfrm>
            <a:off x="6263640" y="5981243"/>
            <a:ext cx="73152" cy="73152"/>
          </a:xfrm>
          <a:prstGeom prst="ellipse">
            <a:avLst/>
          </a:prstGeom>
          <a:solidFill>
            <a:srgbClr val="60A5FA"/>
          </a:solidFill>
          <a:ln/>
        </p:spPr>
      </p:sp>
      <p:sp>
        <p:nvSpPr>
          <p:cNvPr id="109" name="Text 106"/>
          <p:cNvSpPr txBox="1"/>
          <p:nvPr/>
        </p:nvSpPr>
        <p:spPr>
          <a:xfrm>
            <a:off x="6391656" y="5908091"/>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110" name="Text 107"/>
          <p:cNvSpPr txBox="1"/>
          <p:nvPr/>
        </p:nvSpPr>
        <p:spPr>
          <a:xfrm>
            <a:off x="7609718" y="5908091"/>
            <a:ext cx="4124777"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Opencast 20.4 and Discourse 3.5, running for real</a:t>
            </a:r>
            <a:endParaRPr lang="en-US" sz="1100" dirty="0"/>
          </a:p>
        </p:txBody>
      </p:sp>
      <p:sp>
        <p:nvSpPr>
          <p:cNvPr id="111" name="Text 10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12" name="Text 10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7528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3753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1 OF 9 · DISCOVER</a:t>
            </a:r>
            <a:endParaRPr lang="en-US" sz="900" dirty="0"/>
          </a:p>
        </p:txBody>
      </p:sp>
      <p:sp>
        <p:nvSpPr>
          <p:cNvPr id="5" name="Shape 2"/>
          <p:cNvSpPr/>
          <p:nvPr/>
        </p:nvSpPr>
        <p:spPr>
          <a:xfrm>
            <a:off x="3897074" y="470916"/>
            <a:ext cx="82296" cy="82296"/>
          </a:xfrm>
          <a:prstGeom prst="ellipse">
            <a:avLst/>
          </a:prstGeom>
          <a:solidFill>
            <a:srgbClr val="F0C96B"/>
          </a:solidFill>
          <a:ln/>
        </p:spPr>
      </p:sp>
      <p:sp>
        <p:nvSpPr>
          <p:cNvPr id="6" name="Shape 3"/>
          <p:cNvSpPr/>
          <p:nvPr/>
        </p:nvSpPr>
        <p:spPr>
          <a:xfrm>
            <a:off x="4038806" y="470916"/>
            <a:ext cx="82296" cy="82296"/>
          </a:xfrm>
          <a:prstGeom prst="ellipse">
            <a:avLst/>
          </a:prstGeom>
          <a:solidFill>
            <a:srgbClr val="34344A"/>
          </a:solidFill>
          <a:ln/>
        </p:spPr>
      </p:sp>
      <p:sp>
        <p:nvSpPr>
          <p:cNvPr id="7" name="Shape 4"/>
          <p:cNvSpPr/>
          <p:nvPr/>
        </p:nvSpPr>
        <p:spPr>
          <a:xfrm>
            <a:off x="4180538" y="470916"/>
            <a:ext cx="82296" cy="82296"/>
          </a:xfrm>
          <a:prstGeom prst="ellipse">
            <a:avLst/>
          </a:prstGeom>
          <a:solidFill>
            <a:srgbClr val="34344A"/>
          </a:solidFill>
          <a:ln/>
        </p:spPr>
      </p:sp>
      <p:sp>
        <p:nvSpPr>
          <p:cNvPr id="8" name="Shape 5"/>
          <p:cNvSpPr/>
          <p:nvPr/>
        </p:nvSpPr>
        <p:spPr>
          <a:xfrm>
            <a:off x="4322270" y="470916"/>
            <a:ext cx="82296" cy="82296"/>
          </a:xfrm>
          <a:prstGeom prst="ellipse">
            <a:avLst/>
          </a:prstGeom>
          <a:solidFill>
            <a:srgbClr val="34344A"/>
          </a:solidFill>
          <a:ln/>
        </p:spPr>
      </p:sp>
      <p:sp>
        <p:nvSpPr>
          <p:cNvPr id="9" name="Shape 6"/>
          <p:cNvSpPr/>
          <p:nvPr/>
        </p:nvSpPr>
        <p:spPr>
          <a:xfrm>
            <a:off x="4464002" y="470916"/>
            <a:ext cx="82296" cy="82296"/>
          </a:xfrm>
          <a:prstGeom prst="ellipse">
            <a:avLst/>
          </a:prstGeom>
          <a:solidFill>
            <a:srgbClr val="34344A"/>
          </a:solidFill>
          <a:ln/>
        </p:spPr>
      </p:sp>
      <p:sp>
        <p:nvSpPr>
          <p:cNvPr id="10" name="Shape 7"/>
          <p:cNvSpPr/>
          <p:nvPr/>
        </p:nvSpPr>
        <p:spPr>
          <a:xfrm>
            <a:off x="4605734" y="470916"/>
            <a:ext cx="82296" cy="82296"/>
          </a:xfrm>
          <a:prstGeom prst="ellipse">
            <a:avLst/>
          </a:prstGeom>
          <a:solidFill>
            <a:srgbClr val="34344A"/>
          </a:solidFill>
          <a:ln/>
        </p:spPr>
      </p:sp>
      <p:sp>
        <p:nvSpPr>
          <p:cNvPr id="11" name="Shape 8"/>
          <p:cNvSpPr/>
          <p:nvPr/>
        </p:nvSpPr>
        <p:spPr>
          <a:xfrm>
            <a:off x="4747466" y="470916"/>
            <a:ext cx="82296" cy="82296"/>
          </a:xfrm>
          <a:prstGeom prst="ellipse">
            <a:avLst/>
          </a:prstGeom>
          <a:solidFill>
            <a:srgbClr val="34344A"/>
          </a:solidFill>
          <a:ln/>
        </p:spPr>
      </p:sp>
      <p:sp>
        <p:nvSpPr>
          <p:cNvPr id="12" name="Shape 9"/>
          <p:cNvSpPr/>
          <p:nvPr/>
        </p:nvSpPr>
        <p:spPr>
          <a:xfrm>
            <a:off x="4889198" y="470916"/>
            <a:ext cx="82296" cy="82296"/>
          </a:xfrm>
          <a:prstGeom prst="ellipse">
            <a:avLst/>
          </a:prstGeom>
          <a:solidFill>
            <a:srgbClr val="34344A"/>
          </a:solidFill>
          <a:ln/>
        </p:spPr>
      </p:sp>
      <p:sp>
        <p:nvSpPr>
          <p:cNvPr id="13" name="Shape 10"/>
          <p:cNvSpPr/>
          <p:nvPr/>
        </p:nvSpPr>
        <p:spPr>
          <a:xfrm>
            <a:off x="5030930" y="470916"/>
            <a:ext cx="82296" cy="82296"/>
          </a:xfrm>
          <a:prstGeom prst="ellipse">
            <a:avLst/>
          </a:prstGeom>
          <a:solidFill>
            <a:srgbClr val="34344A"/>
          </a:solidFill>
          <a:ln/>
        </p:spPr>
      </p:sp>
      <p:sp>
        <p:nvSpPr>
          <p:cNvPr id="14" name="Shape 11"/>
          <p:cNvSpPr/>
          <p:nvPr/>
        </p:nvSpPr>
        <p:spPr>
          <a:xfrm>
            <a:off x="5282390"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437838"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048320" y="384048"/>
            <a:ext cx="368617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a visitor before sign-up</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Discover: one catalogue across every district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Search and filter every track; each card shows district, layer, effort and price</a:t>
            </a:r>
            <a:endParaRPr lang="en-US" sz="1600" dirty="0"/>
          </a:p>
        </p:txBody>
      </p:sp>
      <p:pic>
        <p:nvPicPr>
          <p:cNvPr id="19" name="Image 0" descr="/tmp/claude-0/-home-user-Chronopoli/d7458f57-86b2-5920-914e-8615357fee63/scratchpad/deck-master/framed/catalog.png">    </p:cNvPr>
          <p:cNvPicPr>
            <a:picLocks noChangeAspect="1"/>
          </p:cNvPicPr>
          <p:nvPr/>
        </p:nvPicPr>
        <p:blipFill>
          <a:blip r:embed="rId2"/>
          <a:stretch>
            <a:fillRect/>
          </a:stretch>
        </p:blipFill>
        <p:spPr>
          <a:xfrm>
            <a:off x="303315" y="1752334"/>
            <a:ext cx="5820084" cy="4262856"/>
          </a:xfrm>
          <a:prstGeom prst="rect">
            <a:avLst/>
          </a:prstGeom>
        </p:spPr>
      </p:pic>
      <p:sp>
        <p:nvSpPr>
          <p:cNvPr id="20" name="Shape 16"/>
          <p:cNvSpPr/>
          <p:nvPr/>
        </p:nvSpPr>
        <p:spPr>
          <a:xfrm>
            <a:off x="457200" y="5998464"/>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34D399"/>
          </a:solidFill>
          <a:ln/>
        </p:spPr>
      </p:sp>
      <p:sp>
        <p:nvSpPr>
          <p:cNvPr id="22" name="Text 18"/>
          <p:cNvSpPr txBox="1"/>
          <p:nvPr/>
        </p:nvSpPr>
        <p:spPr>
          <a:xfrm>
            <a:off x="676656" y="5998464"/>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2330033" y="6030468"/>
            <a:ext cx="36394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Catalogue, Tutor 22.0.2 · first 6 of 8 demo courses</a:t>
            </a:r>
            <a:endParaRPr lang="en-US" sz="1000" dirty="0"/>
          </a:p>
        </p:txBody>
      </p:sp>
      <p:sp>
        <p:nvSpPr>
          <p:cNvPr id="24" name="Text 20"/>
          <p:cNvSpPr txBox="1"/>
          <p:nvPr/>
        </p:nvSpPr>
        <p:spPr>
          <a:xfrm>
            <a:off x="6380993" y="1937766"/>
            <a:ext cx="5353502" cy="10226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Search and filters:</a:t>
            </a:r>
            <a:r>
              <a:rPr lang="en-US" sz="1400" dirty="0">
                <a:solidFill>
                  <a:srgbClr val="E8E8F0"/>
                </a:solidFill>
                <a:latin typeface="Arial" pitchFamily="34" charset="0"/>
                <a:ea typeface="Arial" pitchFamily="34" charset="-122"/>
                <a:cs typeface="Arial" pitchFamily="34" charset="-120"/>
              </a:rPr>
              <a:t> full-text search on a real Open edX catalogue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 up once:</a:t>
            </a:r>
            <a:r>
              <a:rPr lang="en-US" sz="1400" dirty="0">
                <a:solidFill>
                  <a:srgbClr val="E8E8F0"/>
                </a:solidFill>
                <a:latin typeface="Arial" pitchFamily="34" charset="0"/>
                <a:ea typeface="Arial" pitchFamily="34" charset="-122"/>
                <a:cs typeface="Arial" pitchFamily="34" charset="-120"/>
              </a:rPr>
              <a:t> one account also signs in to the district forums (Discourse SSO)</a:t>
            </a:r>
            <a:endParaRPr lang="en-US" sz="1400" dirty="0"/>
          </a:p>
        </p:txBody>
      </p:sp>
      <p:sp>
        <p:nvSpPr>
          <p:cNvPr id="25" name="Text 21"/>
          <p:cNvSpPr txBox="1"/>
          <p:nvPr/>
        </p:nvSpPr>
        <p:spPr>
          <a:xfrm>
            <a:off x="6380993" y="3143250"/>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ZOOM ON THE SAME SCREEN: ONE CARD IMAGE</a:t>
            </a:r>
            <a:endParaRPr lang="en-US" sz="850" dirty="0"/>
          </a:p>
        </p:txBody>
      </p:sp>
      <p:pic>
        <p:nvPicPr>
          <p:cNvPr id="26" name="Image 1" descr="/tmp/claude-0/-home-user-Chronopoli/d7458f57-86b2-5920-914e-8615357fee63/scratchpad/deck-master/framed/catalog_card301.png">    </p:cNvPr>
          <p:cNvPicPr>
            <a:picLocks noChangeAspect="1"/>
          </p:cNvPicPr>
          <p:nvPr/>
        </p:nvPicPr>
        <p:blipFill>
          <a:blip r:embed="rId3"/>
          <a:stretch>
            <a:fillRect/>
          </a:stretch>
        </p:blipFill>
        <p:spPr>
          <a:xfrm>
            <a:off x="6293211" y="3302356"/>
            <a:ext cx="3101645" cy="1536192"/>
          </a:xfrm>
          <a:prstGeom prst="rect">
            <a:avLst/>
          </a:prstGeom>
        </p:spPr>
      </p:pic>
      <p:sp>
        <p:nvSpPr>
          <p:cNvPr id="27" name="Text 22"/>
          <p:cNvSpPr txBox="1"/>
          <p:nvPr/>
        </p:nvSpPr>
        <p:spPr>
          <a:xfrm>
            <a:off x="9535673" y="3773272"/>
            <a:ext cx="2198822" cy="630936"/>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On every card image: </a:t>
            </a:r>
            <a:r>
              <a:rPr lang="en-US" sz="1300" dirty="0">
                <a:solidFill>
                  <a:srgbClr val="E8E8F0"/>
                </a:solidFill>
                <a:latin typeface="Arial" pitchFamily="34" charset="0"/>
                <a:ea typeface="Arial" pitchFamily="34" charset="-122"/>
                <a:cs typeface="Arial" pitchFamily="34" charset="-120"/>
              </a:rPr>
              <a:t>district, layer, effort and price</a:t>
            </a:r>
            <a:endParaRPr lang="en-US" sz="1300" dirty="0"/>
          </a:p>
        </p:txBody>
      </p:sp>
      <p:sp>
        <p:nvSpPr>
          <p:cNvPr id="28" name="Text 23"/>
          <p:cNvSpPr txBox="1"/>
          <p:nvPr/>
        </p:nvSpPr>
        <p:spPr>
          <a:xfrm>
            <a:off x="6380993" y="4988509"/>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ALL EIGHT DEMO TRACKS (ILLUSTRATIVE)</a:t>
            </a:r>
            <a:endParaRPr lang="en-US" sz="850" dirty="0"/>
          </a:p>
        </p:txBody>
      </p:sp>
      <p:sp>
        <p:nvSpPr>
          <p:cNvPr id="29" name="Shape 24"/>
          <p:cNvSpPr/>
          <p:nvPr/>
        </p:nvSpPr>
        <p:spPr>
          <a:xfrm>
            <a:off x="6380993" y="5235397"/>
            <a:ext cx="1256079" cy="438912"/>
          </a:xfrm>
          <a:prstGeom prst="roundRect">
            <a:avLst>
              <a:gd name="adj" fmla="val 16667"/>
            </a:avLst>
          </a:prstGeom>
          <a:solidFill>
            <a:srgbClr val="171722"/>
          </a:solidFill>
          <a:ln w="9525">
            <a:solidFill>
              <a:srgbClr val="2C2C3E"/>
            </a:solidFill>
            <a:prstDash val="solid"/>
          </a:ln>
        </p:spPr>
      </p:sp>
      <p:sp>
        <p:nvSpPr>
          <p:cNvPr id="30" name="Shape 25"/>
          <p:cNvSpPr/>
          <p:nvPr/>
        </p:nvSpPr>
        <p:spPr>
          <a:xfrm>
            <a:off x="6490721" y="5354269"/>
            <a:ext cx="73152" cy="73152"/>
          </a:xfrm>
          <a:prstGeom prst="ellipse">
            <a:avLst/>
          </a:prstGeom>
          <a:solidFill>
            <a:srgbClr val="F59E0B"/>
          </a:solidFill>
          <a:ln/>
        </p:spPr>
      </p:sp>
      <p:sp>
        <p:nvSpPr>
          <p:cNvPr id="31" name="Text 26"/>
          <p:cNvSpPr txBox="1"/>
          <p:nvPr/>
        </p:nvSpPr>
        <p:spPr>
          <a:xfrm>
            <a:off x="6618737"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USDT-101</a:t>
            </a:r>
            <a:endParaRPr lang="en-US" sz="1100" dirty="0"/>
          </a:p>
        </p:txBody>
      </p:sp>
      <p:sp>
        <p:nvSpPr>
          <p:cNvPr id="32" name="Text 27"/>
          <p:cNvSpPr txBox="1"/>
          <p:nvPr/>
        </p:nvSpPr>
        <p:spPr>
          <a:xfrm>
            <a:off x="6618737"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Free</a:t>
            </a:r>
            <a:endParaRPr lang="en-US" sz="1100" dirty="0"/>
          </a:p>
        </p:txBody>
      </p:sp>
      <p:sp>
        <p:nvSpPr>
          <p:cNvPr id="33" name="Shape 28"/>
          <p:cNvSpPr/>
          <p:nvPr/>
        </p:nvSpPr>
        <p:spPr>
          <a:xfrm>
            <a:off x="7746801" y="5235397"/>
            <a:ext cx="1256079" cy="438912"/>
          </a:xfrm>
          <a:prstGeom prst="roundRect">
            <a:avLst>
              <a:gd name="adj" fmla="val 16667"/>
            </a:avLst>
          </a:prstGeom>
          <a:solidFill>
            <a:srgbClr val="171722"/>
          </a:solidFill>
          <a:ln w="9525">
            <a:solidFill>
              <a:srgbClr val="2C2C3E"/>
            </a:solidFill>
            <a:prstDash val="solid"/>
          </a:ln>
        </p:spPr>
      </p:sp>
      <p:sp>
        <p:nvSpPr>
          <p:cNvPr id="34" name="Shape 29"/>
          <p:cNvSpPr/>
          <p:nvPr/>
        </p:nvSpPr>
        <p:spPr>
          <a:xfrm>
            <a:off x="7856529" y="5354269"/>
            <a:ext cx="73152" cy="73152"/>
          </a:xfrm>
          <a:prstGeom prst="ellipse">
            <a:avLst/>
          </a:prstGeom>
          <a:solidFill>
            <a:srgbClr val="F59E0B"/>
          </a:solidFill>
          <a:ln/>
        </p:spPr>
      </p:sp>
      <p:sp>
        <p:nvSpPr>
          <p:cNvPr id="35" name="Text 30"/>
          <p:cNvSpPr txBox="1"/>
          <p:nvPr/>
        </p:nvSpPr>
        <p:spPr>
          <a:xfrm>
            <a:off x="7984545"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USDT-102</a:t>
            </a:r>
            <a:endParaRPr lang="en-US" sz="1100" dirty="0"/>
          </a:p>
        </p:txBody>
      </p:sp>
      <p:sp>
        <p:nvSpPr>
          <p:cNvPr id="36" name="Text 31"/>
          <p:cNvSpPr txBox="1"/>
          <p:nvPr/>
        </p:nvSpPr>
        <p:spPr>
          <a:xfrm>
            <a:off x="7984545"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$149</a:t>
            </a:r>
            <a:endParaRPr lang="en-US" sz="1100" dirty="0"/>
          </a:p>
        </p:txBody>
      </p:sp>
      <p:sp>
        <p:nvSpPr>
          <p:cNvPr id="37" name="Shape 32"/>
          <p:cNvSpPr/>
          <p:nvPr/>
        </p:nvSpPr>
        <p:spPr>
          <a:xfrm>
            <a:off x="9112608" y="5235397"/>
            <a:ext cx="1256079" cy="438912"/>
          </a:xfrm>
          <a:prstGeom prst="roundRect">
            <a:avLst>
              <a:gd name="adj" fmla="val 16667"/>
            </a:avLst>
          </a:prstGeom>
          <a:solidFill>
            <a:srgbClr val="171722"/>
          </a:solidFill>
          <a:ln w="9525">
            <a:solidFill>
              <a:srgbClr val="2C2C3E"/>
            </a:solidFill>
            <a:prstDash val="solid"/>
          </a:ln>
        </p:spPr>
      </p:sp>
      <p:sp>
        <p:nvSpPr>
          <p:cNvPr id="38" name="Shape 33"/>
          <p:cNvSpPr/>
          <p:nvPr/>
        </p:nvSpPr>
        <p:spPr>
          <a:xfrm>
            <a:off x="9222336" y="5354269"/>
            <a:ext cx="73152" cy="73152"/>
          </a:xfrm>
          <a:prstGeom prst="ellipse">
            <a:avLst/>
          </a:prstGeom>
          <a:solidFill>
            <a:srgbClr val="3B82F6"/>
          </a:solidFill>
          <a:ln/>
        </p:spPr>
      </p:sp>
      <p:sp>
        <p:nvSpPr>
          <p:cNvPr id="39" name="Text 34"/>
          <p:cNvSpPr txBox="1"/>
          <p:nvPr/>
        </p:nvSpPr>
        <p:spPr>
          <a:xfrm>
            <a:off x="9350352"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USDT-201</a:t>
            </a:r>
            <a:endParaRPr lang="en-US" sz="1100" dirty="0"/>
          </a:p>
        </p:txBody>
      </p:sp>
      <p:sp>
        <p:nvSpPr>
          <p:cNvPr id="40" name="Text 35"/>
          <p:cNvSpPr txBox="1"/>
          <p:nvPr/>
        </p:nvSpPr>
        <p:spPr>
          <a:xfrm>
            <a:off x="9350352"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$599</a:t>
            </a:r>
            <a:endParaRPr lang="en-US" sz="1100" dirty="0"/>
          </a:p>
        </p:txBody>
      </p:sp>
      <p:sp>
        <p:nvSpPr>
          <p:cNvPr id="41" name="Shape 36"/>
          <p:cNvSpPr/>
          <p:nvPr/>
        </p:nvSpPr>
        <p:spPr>
          <a:xfrm>
            <a:off x="10478416" y="5235397"/>
            <a:ext cx="1256079" cy="438912"/>
          </a:xfrm>
          <a:prstGeom prst="roundRect">
            <a:avLst>
              <a:gd name="adj" fmla="val 16667"/>
            </a:avLst>
          </a:prstGeom>
          <a:solidFill>
            <a:srgbClr val="171722"/>
          </a:solidFill>
          <a:ln w="9525">
            <a:solidFill>
              <a:srgbClr val="2C2C3E"/>
            </a:solidFill>
            <a:prstDash val="solid"/>
          </a:ln>
        </p:spPr>
      </p:sp>
      <p:sp>
        <p:nvSpPr>
          <p:cNvPr id="42" name="Shape 37"/>
          <p:cNvSpPr/>
          <p:nvPr/>
        </p:nvSpPr>
        <p:spPr>
          <a:xfrm>
            <a:off x="10588144" y="5354269"/>
            <a:ext cx="73152" cy="73152"/>
          </a:xfrm>
          <a:prstGeom prst="ellipse">
            <a:avLst/>
          </a:prstGeom>
          <a:solidFill>
            <a:srgbClr val="8B5CF6"/>
          </a:solidFill>
          <a:ln/>
        </p:spPr>
      </p:sp>
      <p:sp>
        <p:nvSpPr>
          <p:cNvPr id="43" name="Text 38"/>
          <p:cNvSpPr txBox="1"/>
          <p:nvPr/>
        </p:nvSpPr>
        <p:spPr>
          <a:xfrm>
            <a:off x="10716160"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USDT-202</a:t>
            </a:r>
            <a:endParaRPr lang="en-US" sz="1100" dirty="0"/>
          </a:p>
        </p:txBody>
      </p:sp>
      <p:sp>
        <p:nvSpPr>
          <p:cNvPr id="44" name="Text 39"/>
          <p:cNvSpPr txBox="1"/>
          <p:nvPr/>
        </p:nvSpPr>
        <p:spPr>
          <a:xfrm>
            <a:off x="10716160"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$399</a:t>
            </a:r>
            <a:endParaRPr lang="en-US" sz="1100" dirty="0"/>
          </a:p>
        </p:txBody>
      </p:sp>
      <p:sp>
        <p:nvSpPr>
          <p:cNvPr id="45" name="Shape 40"/>
          <p:cNvSpPr/>
          <p:nvPr/>
        </p:nvSpPr>
        <p:spPr>
          <a:xfrm>
            <a:off x="6380993" y="5747461"/>
            <a:ext cx="1256079" cy="438912"/>
          </a:xfrm>
          <a:prstGeom prst="roundRect">
            <a:avLst>
              <a:gd name="adj" fmla="val 16667"/>
            </a:avLst>
          </a:prstGeom>
          <a:solidFill>
            <a:srgbClr val="171722"/>
          </a:solidFill>
          <a:ln w="9525">
            <a:solidFill>
              <a:srgbClr val="2C2C3E"/>
            </a:solidFill>
            <a:prstDash val="solid"/>
          </a:ln>
        </p:spPr>
      </p:sp>
      <p:sp>
        <p:nvSpPr>
          <p:cNvPr id="46" name="Shape 41"/>
          <p:cNvSpPr/>
          <p:nvPr/>
        </p:nvSpPr>
        <p:spPr>
          <a:xfrm>
            <a:off x="6490721" y="5866333"/>
            <a:ext cx="73152" cy="73152"/>
          </a:xfrm>
          <a:prstGeom prst="ellipse">
            <a:avLst/>
          </a:prstGeom>
          <a:solidFill>
            <a:srgbClr val="F59E0B"/>
          </a:solidFill>
          <a:ln/>
        </p:spPr>
      </p:sp>
      <p:sp>
        <p:nvSpPr>
          <p:cNvPr id="47" name="Text 42"/>
          <p:cNvSpPr txBox="1"/>
          <p:nvPr/>
        </p:nvSpPr>
        <p:spPr>
          <a:xfrm>
            <a:off x="6618737"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USDT-203</a:t>
            </a:r>
            <a:endParaRPr lang="en-US" sz="1100" dirty="0"/>
          </a:p>
        </p:txBody>
      </p:sp>
      <p:sp>
        <p:nvSpPr>
          <p:cNvPr id="48" name="Text 43"/>
          <p:cNvSpPr txBox="1"/>
          <p:nvPr/>
        </p:nvSpPr>
        <p:spPr>
          <a:xfrm>
            <a:off x="6618737"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$499</a:t>
            </a:r>
            <a:endParaRPr lang="en-US" sz="1100" dirty="0"/>
          </a:p>
        </p:txBody>
      </p:sp>
      <p:sp>
        <p:nvSpPr>
          <p:cNvPr id="49" name="Shape 44"/>
          <p:cNvSpPr/>
          <p:nvPr/>
        </p:nvSpPr>
        <p:spPr>
          <a:xfrm>
            <a:off x="7746801" y="5747461"/>
            <a:ext cx="1256079" cy="438912"/>
          </a:xfrm>
          <a:prstGeom prst="roundRect">
            <a:avLst>
              <a:gd name="adj" fmla="val 16667"/>
            </a:avLst>
          </a:prstGeom>
          <a:solidFill>
            <a:srgbClr val="171722"/>
          </a:solidFill>
          <a:ln w="9525">
            <a:solidFill>
              <a:srgbClr val="2C2C3E"/>
            </a:solidFill>
            <a:prstDash val="solid"/>
          </a:ln>
        </p:spPr>
      </p:sp>
      <p:sp>
        <p:nvSpPr>
          <p:cNvPr id="50" name="Shape 45"/>
          <p:cNvSpPr/>
          <p:nvPr/>
        </p:nvSpPr>
        <p:spPr>
          <a:xfrm>
            <a:off x="7856529" y="5866333"/>
            <a:ext cx="73152" cy="73152"/>
          </a:xfrm>
          <a:prstGeom prst="ellipse">
            <a:avLst/>
          </a:prstGeom>
          <a:solidFill>
            <a:srgbClr val="EF4444"/>
          </a:solidFill>
          <a:ln/>
        </p:spPr>
      </p:sp>
      <p:sp>
        <p:nvSpPr>
          <p:cNvPr id="51" name="Text 46"/>
          <p:cNvSpPr txBox="1"/>
          <p:nvPr/>
        </p:nvSpPr>
        <p:spPr>
          <a:xfrm>
            <a:off x="7984545"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USDT-301</a:t>
            </a:r>
            <a:endParaRPr lang="en-US" sz="1100" dirty="0"/>
          </a:p>
        </p:txBody>
      </p:sp>
      <p:sp>
        <p:nvSpPr>
          <p:cNvPr id="52" name="Text 47"/>
          <p:cNvSpPr txBox="1"/>
          <p:nvPr/>
        </p:nvSpPr>
        <p:spPr>
          <a:xfrm>
            <a:off x="7984545"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$1,499</a:t>
            </a:r>
            <a:endParaRPr lang="en-US" sz="1100" dirty="0"/>
          </a:p>
        </p:txBody>
      </p:sp>
      <p:sp>
        <p:nvSpPr>
          <p:cNvPr id="53" name="Shape 48"/>
          <p:cNvSpPr/>
          <p:nvPr/>
        </p:nvSpPr>
        <p:spPr>
          <a:xfrm>
            <a:off x="9112608" y="5747461"/>
            <a:ext cx="1256079" cy="438912"/>
          </a:xfrm>
          <a:prstGeom prst="roundRect">
            <a:avLst>
              <a:gd name="adj" fmla="val 16667"/>
            </a:avLst>
          </a:prstGeom>
          <a:solidFill>
            <a:srgbClr val="171722"/>
          </a:solidFill>
          <a:ln w="9525">
            <a:solidFill>
              <a:srgbClr val="2C2C3E"/>
            </a:solidFill>
            <a:prstDash val="solid"/>
          </a:ln>
        </p:spPr>
      </p:sp>
      <p:sp>
        <p:nvSpPr>
          <p:cNvPr id="54" name="Shape 49"/>
          <p:cNvSpPr/>
          <p:nvPr/>
        </p:nvSpPr>
        <p:spPr>
          <a:xfrm>
            <a:off x="9222336" y="5866333"/>
            <a:ext cx="73152" cy="73152"/>
          </a:xfrm>
          <a:prstGeom prst="ellipse">
            <a:avLst/>
          </a:prstGeom>
          <a:solidFill>
            <a:srgbClr val="10B981"/>
          </a:solidFill>
          <a:ln/>
        </p:spPr>
      </p:sp>
      <p:sp>
        <p:nvSpPr>
          <p:cNvPr id="55" name="Text 50"/>
          <p:cNvSpPr txBox="1"/>
          <p:nvPr/>
        </p:nvSpPr>
        <p:spPr>
          <a:xfrm>
            <a:off x="9350352"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USDT-302</a:t>
            </a:r>
            <a:endParaRPr lang="en-US" sz="1100" dirty="0"/>
          </a:p>
        </p:txBody>
      </p:sp>
      <p:sp>
        <p:nvSpPr>
          <p:cNvPr id="56" name="Text 51"/>
          <p:cNvSpPr txBox="1"/>
          <p:nvPr/>
        </p:nvSpPr>
        <p:spPr>
          <a:xfrm>
            <a:off x="9350352"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$1,299</a:t>
            </a:r>
            <a:endParaRPr lang="en-US" sz="1100" dirty="0"/>
          </a:p>
        </p:txBody>
      </p:sp>
      <p:sp>
        <p:nvSpPr>
          <p:cNvPr id="57" name="Shape 52"/>
          <p:cNvSpPr/>
          <p:nvPr/>
        </p:nvSpPr>
        <p:spPr>
          <a:xfrm>
            <a:off x="10478416" y="5747461"/>
            <a:ext cx="1256079" cy="438912"/>
          </a:xfrm>
          <a:prstGeom prst="roundRect">
            <a:avLst>
              <a:gd name="adj" fmla="val 16667"/>
            </a:avLst>
          </a:prstGeom>
          <a:solidFill>
            <a:srgbClr val="171722"/>
          </a:solidFill>
          <a:ln w="9525">
            <a:solidFill>
              <a:srgbClr val="2C2C3E"/>
            </a:solidFill>
            <a:prstDash val="solid"/>
          </a:ln>
        </p:spPr>
      </p:sp>
      <p:sp>
        <p:nvSpPr>
          <p:cNvPr id="58" name="Shape 53"/>
          <p:cNvSpPr/>
          <p:nvPr/>
        </p:nvSpPr>
        <p:spPr>
          <a:xfrm>
            <a:off x="10588144" y="5866333"/>
            <a:ext cx="73152" cy="73152"/>
          </a:xfrm>
          <a:prstGeom prst="ellipse">
            <a:avLst/>
          </a:prstGeom>
          <a:solidFill>
            <a:srgbClr val="F59E0B"/>
          </a:solidFill>
          <a:ln/>
        </p:spPr>
      </p:sp>
      <p:sp>
        <p:nvSpPr>
          <p:cNvPr id="59" name="Text 54"/>
          <p:cNvSpPr txBox="1"/>
          <p:nvPr/>
        </p:nvSpPr>
        <p:spPr>
          <a:xfrm>
            <a:off x="10716160"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USDT-401</a:t>
            </a:r>
            <a:endParaRPr lang="en-US" sz="1100" dirty="0"/>
          </a:p>
        </p:txBody>
      </p:sp>
      <p:sp>
        <p:nvSpPr>
          <p:cNvPr id="60" name="Text 55"/>
          <p:cNvSpPr txBox="1"/>
          <p:nvPr/>
        </p:nvSpPr>
        <p:spPr>
          <a:xfrm>
            <a:off x="10716160"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r>
              <a:rPr lang="en-US" sz="1100" dirty="0">
                <a:solidFill>
                  <a:srgbClr val="B4B4C8"/>
                </a:solidFill>
                <a:latin typeface="Arial" pitchFamily="34" charset="0"/>
                <a:ea typeface="Arial" pitchFamily="34" charset="-122"/>
                <a:cs typeface="Arial" pitchFamily="34" charset="-120"/>
              </a:rPr>
              <a:t>  $4,500</a:t>
            </a:r>
            <a:endParaRPr lang="en-US" sz="1100" dirty="0"/>
          </a:p>
        </p:txBody>
      </p:sp>
      <p:sp>
        <p:nvSpPr>
          <p:cNvPr id="61" name="Text 5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62" name="Text 5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24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47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2 OF 9 · ONBOARDING</a:t>
            </a:r>
            <a:endParaRPr lang="en-US" sz="900" dirty="0"/>
          </a:p>
        </p:txBody>
      </p:sp>
      <p:sp>
        <p:nvSpPr>
          <p:cNvPr id="5" name="Shape 2"/>
          <p:cNvSpPr/>
          <p:nvPr/>
        </p:nvSpPr>
        <p:spPr>
          <a:xfrm>
            <a:off x="4124287" y="470916"/>
            <a:ext cx="82296" cy="82296"/>
          </a:xfrm>
          <a:prstGeom prst="ellipse">
            <a:avLst/>
          </a:prstGeom>
          <a:solidFill>
            <a:srgbClr val="9B7A2E"/>
          </a:solidFill>
          <a:ln/>
        </p:spPr>
      </p:sp>
      <p:sp>
        <p:nvSpPr>
          <p:cNvPr id="6" name="Shape 3"/>
          <p:cNvSpPr/>
          <p:nvPr/>
        </p:nvSpPr>
        <p:spPr>
          <a:xfrm>
            <a:off x="4266019" y="470916"/>
            <a:ext cx="82296" cy="82296"/>
          </a:xfrm>
          <a:prstGeom prst="ellipse">
            <a:avLst/>
          </a:prstGeom>
          <a:solidFill>
            <a:srgbClr val="F0C96B"/>
          </a:solidFill>
          <a:ln/>
        </p:spPr>
      </p:sp>
      <p:sp>
        <p:nvSpPr>
          <p:cNvPr id="7" name="Shape 4"/>
          <p:cNvSpPr/>
          <p:nvPr/>
        </p:nvSpPr>
        <p:spPr>
          <a:xfrm>
            <a:off x="4407751" y="470916"/>
            <a:ext cx="82296" cy="82296"/>
          </a:xfrm>
          <a:prstGeom prst="ellipse">
            <a:avLst/>
          </a:prstGeom>
          <a:solidFill>
            <a:srgbClr val="34344A"/>
          </a:solidFill>
          <a:ln/>
        </p:spPr>
      </p:sp>
      <p:sp>
        <p:nvSpPr>
          <p:cNvPr id="8" name="Shape 5"/>
          <p:cNvSpPr/>
          <p:nvPr/>
        </p:nvSpPr>
        <p:spPr>
          <a:xfrm>
            <a:off x="4549483" y="470916"/>
            <a:ext cx="82296" cy="82296"/>
          </a:xfrm>
          <a:prstGeom prst="ellipse">
            <a:avLst/>
          </a:prstGeom>
          <a:solidFill>
            <a:srgbClr val="34344A"/>
          </a:solidFill>
          <a:ln/>
        </p:spPr>
      </p:sp>
      <p:sp>
        <p:nvSpPr>
          <p:cNvPr id="9" name="Shape 6"/>
          <p:cNvSpPr/>
          <p:nvPr/>
        </p:nvSpPr>
        <p:spPr>
          <a:xfrm>
            <a:off x="4691215" y="470916"/>
            <a:ext cx="82296" cy="82296"/>
          </a:xfrm>
          <a:prstGeom prst="ellipse">
            <a:avLst/>
          </a:prstGeom>
          <a:solidFill>
            <a:srgbClr val="34344A"/>
          </a:solidFill>
          <a:ln/>
        </p:spPr>
      </p:sp>
      <p:sp>
        <p:nvSpPr>
          <p:cNvPr id="10" name="Shape 7"/>
          <p:cNvSpPr/>
          <p:nvPr/>
        </p:nvSpPr>
        <p:spPr>
          <a:xfrm>
            <a:off x="4832947" y="470916"/>
            <a:ext cx="82296" cy="82296"/>
          </a:xfrm>
          <a:prstGeom prst="ellipse">
            <a:avLst/>
          </a:prstGeom>
          <a:solidFill>
            <a:srgbClr val="34344A"/>
          </a:solidFill>
          <a:ln/>
        </p:spPr>
      </p:sp>
      <p:sp>
        <p:nvSpPr>
          <p:cNvPr id="11" name="Shape 8"/>
          <p:cNvSpPr/>
          <p:nvPr/>
        </p:nvSpPr>
        <p:spPr>
          <a:xfrm>
            <a:off x="4974679" y="470916"/>
            <a:ext cx="82296" cy="82296"/>
          </a:xfrm>
          <a:prstGeom prst="ellipse">
            <a:avLst/>
          </a:prstGeom>
          <a:solidFill>
            <a:srgbClr val="34344A"/>
          </a:solidFill>
          <a:ln/>
        </p:spPr>
      </p:sp>
      <p:sp>
        <p:nvSpPr>
          <p:cNvPr id="12" name="Shape 9"/>
          <p:cNvSpPr/>
          <p:nvPr/>
        </p:nvSpPr>
        <p:spPr>
          <a:xfrm>
            <a:off x="5116411" y="470916"/>
            <a:ext cx="82296" cy="82296"/>
          </a:xfrm>
          <a:prstGeom prst="ellipse">
            <a:avLst/>
          </a:prstGeom>
          <a:solidFill>
            <a:srgbClr val="34344A"/>
          </a:solidFill>
          <a:ln/>
        </p:spPr>
      </p:sp>
      <p:sp>
        <p:nvSpPr>
          <p:cNvPr id="13" name="Shape 10"/>
          <p:cNvSpPr/>
          <p:nvPr/>
        </p:nvSpPr>
        <p:spPr>
          <a:xfrm>
            <a:off x="5258143" y="470916"/>
            <a:ext cx="82296" cy="82296"/>
          </a:xfrm>
          <a:prstGeom prst="ellipse">
            <a:avLst/>
          </a:prstGeom>
          <a:solidFill>
            <a:srgbClr val="34344A"/>
          </a:solidFill>
          <a:ln/>
        </p:spPr>
      </p:sp>
      <p:sp>
        <p:nvSpPr>
          <p:cNvPr id="14" name="Shape 11"/>
          <p:cNvSpPr/>
          <p:nvPr/>
        </p:nvSpPr>
        <p:spPr>
          <a:xfrm>
            <a:off x="550960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505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289818" y="384048"/>
            <a:ext cx="444467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MLRO (fictitious)</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Onboarding: five questions, a personal map of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Focus picks the home district and its two neighbours; role and experience set the starting layer</a:t>
            </a:r>
            <a:endParaRPr lang="en-US" sz="1500" dirty="0"/>
          </a:p>
        </p:txBody>
      </p:sp>
      <p:pic>
        <p:nvPicPr>
          <p:cNvPr id="19" name="Image 0" descr="/tmp/claude-0/-home-user-Chronopoli/d7458f57-86b2-5920-914e-8615357fee63/scratchpad/deck-master/framed/onb_start.png">    </p:cNvPr>
          <p:cNvPicPr>
            <a:picLocks noChangeAspect="1"/>
          </p:cNvPicPr>
          <p:nvPr/>
        </p:nvPicPr>
        <p:blipFill>
          <a:blip r:embed="rId2"/>
          <a:stretch>
            <a:fillRect/>
          </a:stretch>
        </p:blipFill>
        <p:spPr>
          <a:xfrm>
            <a:off x="346731" y="1886671"/>
            <a:ext cx="4119837" cy="4084097"/>
          </a:xfrm>
          <a:prstGeom prst="rect">
            <a:avLst/>
          </a:prstGeom>
        </p:spPr>
      </p:pic>
      <p:sp>
        <p:nvSpPr>
          <p:cNvPr id="20" name="Shape 16"/>
          <p:cNvSpPr/>
          <p:nvPr/>
        </p:nvSpPr>
        <p:spPr>
          <a:xfrm>
            <a:off x="457200" y="5997459"/>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0611"/>
            <a:ext cx="73152" cy="73152"/>
          </a:xfrm>
          <a:prstGeom prst="ellipse">
            <a:avLst/>
          </a:prstGeom>
          <a:solidFill>
            <a:srgbClr val="F0C96B"/>
          </a:solidFill>
          <a:ln/>
        </p:spPr>
      </p:sp>
      <p:sp>
        <p:nvSpPr>
          <p:cNvPr id="22" name="Text 18"/>
          <p:cNvSpPr txBox="1"/>
          <p:nvPr/>
        </p:nvSpPr>
        <p:spPr>
          <a:xfrm>
            <a:off x="676656" y="5997459"/>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3158724" y="6029463"/>
            <a:ext cx="11973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Question 2 of 5</a:t>
            </a:r>
            <a:endParaRPr lang="en-US" sz="1000" dirty="0"/>
          </a:p>
        </p:txBody>
      </p:sp>
      <p:pic>
        <p:nvPicPr>
          <p:cNvPr id="24" name="Image 1" descr="/tmp/claude-0/-home-user-Chronopoli/d7458f57-86b2-5920-914e-8615357fee63/scratchpad/deck-master/framed/onb_results.png">    </p:cNvPr>
          <p:cNvPicPr>
            <a:picLocks noChangeAspect="1"/>
          </p:cNvPicPr>
          <p:nvPr/>
        </p:nvPicPr>
        <p:blipFill>
          <a:blip r:embed="rId3"/>
          <a:stretch>
            <a:fillRect/>
          </a:stretch>
        </p:blipFill>
        <p:spPr>
          <a:xfrm>
            <a:off x="4621950" y="1897231"/>
            <a:ext cx="3786306" cy="4062978"/>
          </a:xfrm>
          <a:prstGeom prst="rect">
            <a:avLst/>
          </a:prstGeom>
        </p:spPr>
      </p:pic>
      <p:sp>
        <p:nvSpPr>
          <p:cNvPr id="25" name="Shape 20"/>
          <p:cNvSpPr/>
          <p:nvPr/>
        </p:nvSpPr>
        <p:spPr>
          <a:xfrm>
            <a:off x="4721859" y="5997459"/>
            <a:ext cx="2591796"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813299" y="6070611"/>
            <a:ext cx="73152" cy="73152"/>
          </a:xfrm>
          <a:prstGeom prst="ellipse">
            <a:avLst/>
          </a:prstGeom>
          <a:solidFill>
            <a:srgbClr val="F0C96B"/>
          </a:solidFill>
          <a:ln/>
        </p:spPr>
      </p:sp>
      <p:sp>
        <p:nvSpPr>
          <p:cNvPr id="27" name="Text 22"/>
          <p:cNvSpPr txBox="1"/>
          <p:nvPr/>
        </p:nvSpPr>
        <p:spPr>
          <a:xfrm>
            <a:off x="4941315" y="5997459"/>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8" name="Text 23"/>
          <p:cNvSpPr txBox="1"/>
          <p:nvPr/>
        </p:nvSpPr>
        <p:spPr>
          <a:xfrm>
            <a:off x="7423383" y="6029463"/>
            <a:ext cx="88496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Routing result</a:t>
            </a:r>
            <a:endParaRPr lang="en-US" sz="1000" dirty="0"/>
          </a:p>
        </p:txBody>
      </p:sp>
      <p:sp>
        <p:nvSpPr>
          <p:cNvPr id="29" name="Text 24"/>
          <p:cNvSpPr txBox="1"/>
          <p:nvPr/>
        </p:nvSpPr>
        <p:spPr>
          <a:xfrm>
            <a:off x="8719827" y="2263750"/>
            <a:ext cx="3014669" cy="33848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Layla answers:</a:t>
            </a:r>
            <a:r>
              <a:rPr lang="en-US" sz="1400" dirty="0">
                <a:solidFill>
                  <a:srgbClr val="E8E8F0"/>
                </a:solidFill>
                <a:latin typeface="Arial" pitchFamily="34" charset="0"/>
                <a:ea typeface="Arial" pitchFamily="34" charset="-122"/>
                <a:cs typeface="Arial" pitchFamily="34" charset="-120"/>
              </a:rPr>
              <a:t> crypto exchange · Compliance &amp; AML · experienced · certificate · within weeks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Result:</a:t>
            </a:r>
            <a:r>
              <a:rPr lang="en-US" sz="1400" dirty="0">
                <a:solidFill>
                  <a:srgbClr val="E8E8F0"/>
                </a:solidFill>
                <a:latin typeface="Arial" pitchFamily="34" charset="0"/>
                <a:ea typeface="Arial" pitchFamily="34" charset="-122"/>
                <a:cs typeface="Arial" pitchFamily="34" charset="-120"/>
              </a:rPr>
              <a:t> Compliance District at L2 Professional, with Investigation and Digital Assets as neighbours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Rule-based and explainable:</a:t>
            </a:r>
            <a:r>
              <a:rPr lang="en-US" sz="1400" dirty="0">
                <a:solidFill>
                  <a:srgbClr val="E8E8F0"/>
                </a:solidFill>
                <a:latin typeface="Arial" pitchFamily="34" charset="0"/>
                <a:ea typeface="Arial" pitchFamily="34" charset="-122"/>
                <a:cs typeface="Arial" pitchFamily="34" charset="-120"/>
              </a:rPr>
              <a:t> the home district follows her own focus choice; role and experience set the layer</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Reused by the AI tutor:</a:t>
            </a:r>
            <a:r>
              <a:rPr lang="en-US" sz="1400" dirty="0">
                <a:solidFill>
                  <a:srgbClr val="E8E8F0"/>
                </a:solidFill>
                <a:latin typeface="Arial" pitchFamily="34" charset="0"/>
                <a:ea typeface="Arial" pitchFamily="34" charset="-122"/>
                <a:cs typeface="Arial" pitchFamily="34" charset="-120"/>
              </a:rPr>
              <a:t> stored in her profile to set depth and examples</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4706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0931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3 OF 9 · PARTNER ACADEMY</a:t>
            </a:r>
            <a:endParaRPr lang="en-US" sz="900" dirty="0"/>
          </a:p>
        </p:txBody>
      </p:sp>
      <p:sp>
        <p:nvSpPr>
          <p:cNvPr id="5" name="Shape 2"/>
          <p:cNvSpPr/>
          <p:nvPr/>
        </p:nvSpPr>
        <p:spPr>
          <a:xfrm>
            <a:off x="4568853" y="470916"/>
            <a:ext cx="82296" cy="82296"/>
          </a:xfrm>
          <a:prstGeom prst="ellipse">
            <a:avLst/>
          </a:prstGeom>
          <a:solidFill>
            <a:srgbClr val="9B7A2E"/>
          </a:solidFill>
          <a:ln/>
        </p:spPr>
      </p:sp>
      <p:sp>
        <p:nvSpPr>
          <p:cNvPr id="6" name="Shape 3"/>
          <p:cNvSpPr/>
          <p:nvPr/>
        </p:nvSpPr>
        <p:spPr>
          <a:xfrm>
            <a:off x="4710585" y="470916"/>
            <a:ext cx="82296" cy="82296"/>
          </a:xfrm>
          <a:prstGeom prst="ellipse">
            <a:avLst/>
          </a:prstGeom>
          <a:solidFill>
            <a:srgbClr val="9B7A2E"/>
          </a:solidFill>
          <a:ln/>
        </p:spPr>
      </p:sp>
      <p:sp>
        <p:nvSpPr>
          <p:cNvPr id="7" name="Shape 4"/>
          <p:cNvSpPr/>
          <p:nvPr/>
        </p:nvSpPr>
        <p:spPr>
          <a:xfrm>
            <a:off x="4852317" y="470916"/>
            <a:ext cx="82296" cy="82296"/>
          </a:xfrm>
          <a:prstGeom prst="ellipse">
            <a:avLst/>
          </a:prstGeom>
          <a:solidFill>
            <a:srgbClr val="F0C96B"/>
          </a:solidFill>
          <a:ln/>
        </p:spPr>
      </p:sp>
      <p:sp>
        <p:nvSpPr>
          <p:cNvPr id="8" name="Shape 5"/>
          <p:cNvSpPr/>
          <p:nvPr/>
        </p:nvSpPr>
        <p:spPr>
          <a:xfrm>
            <a:off x="4994049" y="470916"/>
            <a:ext cx="82296" cy="82296"/>
          </a:xfrm>
          <a:prstGeom prst="ellipse">
            <a:avLst/>
          </a:prstGeom>
          <a:solidFill>
            <a:srgbClr val="34344A"/>
          </a:solidFill>
          <a:ln/>
        </p:spPr>
      </p:sp>
      <p:sp>
        <p:nvSpPr>
          <p:cNvPr id="9" name="Shape 6"/>
          <p:cNvSpPr/>
          <p:nvPr/>
        </p:nvSpPr>
        <p:spPr>
          <a:xfrm>
            <a:off x="5135781" y="470916"/>
            <a:ext cx="82296" cy="82296"/>
          </a:xfrm>
          <a:prstGeom prst="ellipse">
            <a:avLst/>
          </a:prstGeom>
          <a:solidFill>
            <a:srgbClr val="34344A"/>
          </a:solidFill>
          <a:ln/>
        </p:spPr>
      </p:sp>
      <p:sp>
        <p:nvSpPr>
          <p:cNvPr id="10" name="Shape 7"/>
          <p:cNvSpPr/>
          <p:nvPr/>
        </p:nvSpPr>
        <p:spPr>
          <a:xfrm>
            <a:off x="5277513" y="470916"/>
            <a:ext cx="82296" cy="82296"/>
          </a:xfrm>
          <a:prstGeom prst="ellipse">
            <a:avLst/>
          </a:prstGeom>
          <a:solidFill>
            <a:srgbClr val="34344A"/>
          </a:solidFill>
          <a:ln/>
        </p:spPr>
      </p:sp>
      <p:sp>
        <p:nvSpPr>
          <p:cNvPr id="11" name="Shape 8"/>
          <p:cNvSpPr/>
          <p:nvPr/>
        </p:nvSpPr>
        <p:spPr>
          <a:xfrm>
            <a:off x="5419245" y="470916"/>
            <a:ext cx="82296" cy="82296"/>
          </a:xfrm>
          <a:prstGeom prst="ellipse">
            <a:avLst/>
          </a:prstGeom>
          <a:solidFill>
            <a:srgbClr val="34344A"/>
          </a:solidFill>
          <a:ln/>
        </p:spPr>
      </p:sp>
      <p:sp>
        <p:nvSpPr>
          <p:cNvPr id="12" name="Shape 9"/>
          <p:cNvSpPr/>
          <p:nvPr/>
        </p:nvSpPr>
        <p:spPr>
          <a:xfrm>
            <a:off x="5560977" y="470916"/>
            <a:ext cx="82296" cy="82296"/>
          </a:xfrm>
          <a:prstGeom prst="ellipse">
            <a:avLst/>
          </a:prstGeom>
          <a:solidFill>
            <a:srgbClr val="34344A"/>
          </a:solidFill>
          <a:ln/>
        </p:spPr>
      </p:sp>
      <p:sp>
        <p:nvSpPr>
          <p:cNvPr id="13" name="Shape 10"/>
          <p:cNvSpPr/>
          <p:nvPr/>
        </p:nvSpPr>
        <p:spPr>
          <a:xfrm>
            <a:off x="5702709" y="470916"/>
            <a:ext cx="82296" cy="82296"/>
          </a:xfrm>
          <a:prstGeom prst="ellipse">
            <a:avLst/>
          </a:prstGeom>
          <a:solidFill>
            <a:srgbClr val="34344A"/>
          </a:solidFill>
          <a:ln/>
        </p:spPr>
      </p:sp>
      <p:sp>
        <p:nvSpPr>
          <p:cNvPr id="14" name="Shape 11"/>
          <p:cNvSpPr/>
          <p:nvPr/>
        </p:nvSpPr>
        <p:spPr>
          <a:xfrm>
            <a:off x="5954169"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09617"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956380" y="384048"/>
            <a:ext cx="277811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browsing</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 academy: a partner's own school inside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Pathways that end in a co-branded badge, next to the partner's open roles, on the partner's own subdomain</a:t>
            </a:r>
            <a:endParaRPr lang="en-US" sz="1500" dirty="0"/>
          </a:p>
        </p:txBody>
      </p:sp>
      <p:pic>
        <p:nvPicPr>
          <p:cNvPr id="19" name="Image 0" descr="/tmp/claude-0/-home-user-Chronopoli/d7458f57-86b2-5920-914e-8615357fee63/scratchpad/deck-master/framed/academy_home.png">    </p:cNvPr>
          <p:cNvPicPr>
            <a:picLocks noChangeAspect="1"/>
          </p:cNvPicPr>
          <p:nvPr/>
        </p:nvPicPr>
        <p:blipFill>
          <a:blip r:embed="rId2"/>
          <a:stretch>
            <a:fillRect/>
          </a:stretch>
        </p:blipFill>
        <p:spPr>
          <a:xfrm>
            <a:off x="4215409" y="1792249"/>
            <a:ext cx="7722973" cy="3994322"/>
          </a:xfrm>
          <a:prstGeom prst="rect">
            <a:avLst/>
          </a:prstGeom>
        </p:spPr>
      </p:pic>
      <p:sp>
        <p:nvSpPr>
          <p:cNvPr id="20" name="Shape 16"/>
          <p:cNvSpPr/>
          <p:nvPr/>
        </p:nvSpPr>
        <p:spPr>
          <a:xfrm>
            <a:off x="4419295" y="5719844"/>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4510735" y="5792996"/>
            <a:ext cx="73152" cy="73152"/>
          </a:xfrm>
          <a:prstGeom prst="ellipse">
            <a:avLst/>
          </a:prstGeom>
          <a:solidFill>
            <a:srgbClr val="F0C96B"/>
          </a:solidFill>
          <a:ln/>
        </p:spPr>
      </p:sp>
      <p:sp>
        <p:nvSpPr>
          <p:cNvPr id="22" name="Text 18"/>
          <p:cNvSpPr txBox="1"/>
          <p:nvPr/>
        </p:nvSpPr>
        <p:spPr>
          <a:xfrm>
            <a:off x="4638751" y="5719844"/>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7120819" y="5751848"/>
            <a:ext cx="46136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home, top of the page (partner colour and logo not yet applied)</a:t>
            </a:r>
            <a:endParaRPr lang="en-US" sz="1000" dirty="0"/>
          </a:p>
        </p:txBody>
      </p:sp>
      <p:sp>
        <p:nvSpPr>
          <p:cNvPr id="24" name="Text 20"/>
          <p:cNvSpPr txBox="1"/>
          <p:nvPr/>
        </p:nvSpPr>
        <p:spPr>
          <a:xfrm>
            <a:off x="457200" y="2570210"/>
            <a:ext cx="3504895" cy="2493264"/>
          </a:xfrm>
          <a:prstGeom prst="rect">
            <a:avLst/>
          </a:prstGeom>
          <a:noFill/>
          <a:ln/>
        </p:spPr>
        <p:txBody>
          <a:bodyPr wrap="square" lIns="0" tIns="0" rIns="0" bIns="0" rtlCol="0" anchor="t"/>
          <a:lstStyle/>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3 pathways:</a:t>
            </a:r>
            <a:r>
              <a:rPr lang="en-US" sz="1400" dirty="0">
                <a:solidFill>
                  <a:srgbClr val="E8E8F0"/>
                </a:solidFill>
                <a:latin typeface="Arial" pitchFamily="34" charset="0"/>
                <a:ea typeface="Arial" pitchFamily="34" charset="-122"/>
                <a:cs typeface="Arial" pitchFamily="34" charset="-120"/>
              </a:rPr>
              <a:t> Stablecoin Compliance Specialist (4 courses, 44 h), Foundations (2 courses, 10 h), Investigator (2 courses, 32 h)</a:t>
            </a:r>
            <a:endParaRPr lang="en-US" sz="1400" dirty="0"/>
          </a:p>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catalogues:</a:t>
            </a:r>
            <a:r>
              <a:rPr lang="en-US" sz="1400" dirty="0">
                <a:solidFill>
                  <a:srgbClr val="E8E8F0"/>
                </a:solidFill>
                <a:latin typeface="Arial" pitchFamily="34" charset="0"/>
                <a:ea typeface="Arial" pitchFamily="34" charset="-122"/>
                <a:cs typeface="Arial" pitchFamily="34" charset="-120"/>
              </a:rPr>
              <a:t> courses stay in their districts, so a partner track also shows up there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Talent pipeline:</a:t>
            </a:r>
            <a:r>
              <a:rPr lang="en-US" sz="1400" dirty="0">
                <a:solidFill>
                  <a:srgbClr val="E8E8F0"/>
                </a:solidFill>
                <a:latin typeface="Arial" pitchFamily="34" charset="0"/>
                <a:ea typeface="Arial" pitchFamily="34" charset="-122"/>
                <a:cs typeface="Arial" pitchFamily="34" charset="-120"/>
              </a:rPr>
              <a:t> the partner's open roles sit on the same page, below the pathways (slide 13)</a:t>
            </a:r>
            <a:endParaRPr lang="en-US" sz="1400" dirty="0"/>
          </a:p>
        </p:txBody>
      </p:sp>
      <p:sp>
        <p:nvSpPr>
          <p:cNvPr id="25"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6"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511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737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4 OF 9 · ENROL &amp; PAY</a:t>
            </a:r>
            <a:endParaRPr lang="en-US" sz="900" dirty="0"/>
          </a:p>
        </p:txBody>
      </p:sp>
      <p:sp>
        <p:nvSpPr>
          <p:cNvPr id="5" name="Shape 2"/>
          <p:cNvSpPr/>
          <p:nvPr/>
        </p:nvSpPr>
        <p:spPr>
          <a:xfrm>
            <a:off x="4126908" y="470916"/>
            <a:ext cx="82296" cy="82296"/>
          </a:xfrm>
          <a:prstGeom prst="ellipse">
            <a:avLst/>
          </a:prstGeom>
          <a:solidFill>
            <a:srgbClr val="9B7A2E"/>
          </a:solidFill>
          <a:ln/>
        </p:spPr>
      </p:sp>
      <p:sp>
        <p:nvSpPr>
          <p:cNvPr id="6" name="Shape 3"/>
          <p:cNvSpPr/>
          <p:nvPr/>
        </p:nvSpPr>
        <p:spPr>
          <a:xfrm>
            <a:off x="4268640" y="470916"/>
            <a:ext cx="82296" cy="82296"/>
          </a:xfrm>
          <a:prstGeom prst="ellipse">
            <a:avLst/>
          </a:prstGeom>
          <a:solidFill>
            <a:srgbClr val="9B7A2E"/>
          </a:solidFill>
          <a:ln/>
        </p:spPr>
      </p:sp>
      <p:sp>
        <p:nvSpPr>
          <p:cNvPr id="7" name="Shape 4"/>
          <p:cNvSpPr/>
          <p:nvPr/>
        </p:nvSpPr>
        <p:spPr>
          <a:xfrm>
            <a:off x="4410372" y="470916"/>
            <a:ext cx="82296" cy="82296"/>
          </a:xfrm>
          <a:prstGeom prst="ellipse">
            <a:avLst/>
          </a:prstGeom>
          <a:solidFill>
            <a:srgbClr val="9B7A2E"/>
          </a:solidFill>
          <a:ln/>
        </p:spPr>
      </p:sp>
      <p:sp>
        <p:nvSpPr>
          <p:cNvPr id="8" name="Shape 5"/>
          <p:cNvSpPr/>
          <p:nvPr/>
        </p:nvSpPr>
        <p:spPr>
          <a:xfrm>
            <a:off x="4552104" y="470916"/>
            <a:ext cx="82296" cy="82296"/>
          </a:xfrm>
          <a:prstGeom prst="ellipse">
            <a:avLst/>
          </a:prstGeom>
          <a:solidFill>
            <a:srgbClr val="F0C96B"/>
          </a:solidFill>
          <a:ln/>
        </p:spPr>
      </p:sp>
      <p:sp>
        <p:nvSpPr>
          <p:cNvPr id="9" name="Shape 6"/>
          <p:cNvSpPr/>
          <p:nvPr/>
        </p:nvSpPr>
        <p:spPr>
          <a:xfrm>
            <a:off x="4693836" y="470916"/>
            <a:ext cx="82296" cy="82296"/>
          </a:xfrm>
          <a:prstGeom prst="ellipse">
            <a:avLst/>
          </a:prstGeom>
          <a:solidFill>
            <a:srgbClr val="34344A"/>
          </a:solidFill>
          <a:ln/>
        </p:spPr>
      </p:sp>
      <p:sp>
        <p:nvSpPr>
          <p:cNvPr id="10" name="Shape 7"/>
          <p:cNvSpPr/>
          <p:nvPr/>
        </p:nvSpPr>
        <p:spPr>
          <a:xfrm>
            <a:off x="4835568" y="470916"/>
            <a:ext cx="82296" cy="82296"/>
          </a:xfrm>
          <a:prstGeom prst="ellipse">
            <a:avLst/>
          </a:prstGeom>
          <a:solidFill>
            <a:srgbClr val="34344A"/>
          </a:solidFill>
          <a:ln/>
        </p:spPr>
      </p:sp>
      <p:sp>
        <p:nvSpPr>
          <p:cNvPr id="11" name="Shape 8"/>
          <p:cNvSpPr/>
          <p:nvPr/>
        </p:nvSpPr>
        <p:spPr>
          <a:xfrm>
            <a:off x="4977300" y="470916"/>
            <a:ext cx="82296" cy="82296"/>
          </a:xfrm>
          <a:prstGeom prst="ellipse">
            <a:avLst/>
          </a:prstGeom>
          <a:solidFill>
            <a:srgbClr val="34344A"/>
          </a:solidFill>
          <a:ln/>
        </p:spPr>
      </p:sp>
      <p:sp>
        <p:nvSpPr>
          <p:cNvPr id="12" name="Shape 9"/>
          <p:cNvSpPr/>
          <p:nvPr/>
        </p:nvSpPr>
        <p:spPr>
          <a:xfrm>
            <a:off x="5119032" y="470916"/>
            <a:ext cx="82296" cy="82296"/>
          </a:xfrm>
          <a:prstGeom prst="ellipse">
            <a:avLst/>
          </a:prstGeom>
          <a:solidFill>
            <a:srgbClr val="34344A"/>
          </a:solidFill>
          <a:ln/>
        </p:spPr>
      </p:sp>
      <p:sp>
        <p:nvSpPr>
          <p:cNvPr id="13" name="Shape 10"/>
          <p:cNvSpPr/>
          <p:nvPr/>
        </p:nvSpPr>
        <p:spPr>
          <a:xfrm>
            <a:off x="5260764" y="470916"/>
            <a:ext cx="82296" cy="82296"/>
          </a:xfrm>
          <a:prstGeom prst="ellipse">
            <a:avLst/>
          </a:prstGeom>
          <a:solidFill>
            <a:srgbClr val="34344A"/>
          </a:solidFill>
          <a:ln/>
        </p:spPr>
      </p:sp>
      <p:sp>
        <p:nvSpPr>
          <p:cNvPr id="14" name="Shape 11"/>
          <p:cNvSpPr/>
          <p:nvPr/>
        </p:nvSpPr>
        <p:spPr>
          <a:xfrm>
            <a:off x="5512224"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7672"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278155" y="384048"/>
            <a:ext cx="345634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Enrol and pay in one checkout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learning layer sets the price, Stripe Checkout takes the payment, and a signed webhook enrols the learner</a:t>
            </a:r>
            <a:endParaRPr lang="en-US" sz="1600" dirty="0"/>
          </a:p>
        </p:txBody>
      </p:sp>
      <p:pic>
        <p:nvPicPr>
          <p:cNvPr id="19" name="Image 0" descr="/tmp/claude-0/-home-user-Chronopoli/d7458f57-86b2-5920-914e-8615357fee63/scratchpad/deck-master/framed/course_about.png">    </p:cNvPr>
          <p:cNvPicPr>
            <a:picLocks noChangeAspect="1"/>
          </p:cNvPicPr>
          <p:nvPr/>
        </p:nvPicPr>
        <p:blipFill>
          <a:blip r:embed="rId2"/>
          <a:stretch>
            <a:fillRect/>
          </a:stretch>
        </p:blipFill>
        <p:spPr>
          <a:xfrm>
            <a:off x="468681" y="1754787"/>
            <a:ext cx="5761665" cy="3553860"/>
          </a:xfrm>
          <a:prstGeom prst="rect">
            <a:avLst/>
          </a:prstGeom>
        </p:spPr>
      </p:pic>
      <p:sp>
        <p:nvSpPr>
          <p:cNvPr id="20" name="Shape 16"/>
          <p:cNvSpPr/>
          <p:nvPr/>
        </p:nvSpPr>
        <p:spPr>
          <a:xfrm>
            <a:off x="621021" y="5293467"/>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712461" y="5366619"/>
            <a:ext cx="73152" cy="73152"/>
          </a:xfrm>
          <a:prstGeom prst="ellipse">
            <a:avLst/>
          </a:prstGeom>
          <a:solidFill>
            <a:srgbClr val="34D399"/>
          </a:solidFill>
          <a:ln/>
        </p:spPr>
      </p:sp>
      <p:sp>
        <p:nvSpPr>
          <p:cNvPr id="22" name="Text 18"/>
          <p:cNvSpPr txBox="1"/>
          <p:nvPr/>
        </p:nvSpPr>
        <p:spPr>
          <a:xfrm>
            <a:off x="840477" y="529346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2493855" y="5325471"/>
            <a:ext cx="358415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page with price</a:t>
            </a:r>
            <a:endParaRPr lang="en-US" sz="1000" dirty="0"/>
          </a:p>
        </p:txBody>
      </p:sp>
      <p:sp>
        <p:nvSpPr>
          <p:cNvPr id="24" name="Text 20"/>
          <p:cNvSpPr txBox="1"/>
          <p:nvPr/>
        </p:nvSpPr>
        <p:spPr>
          <a:xfrm>
            <a:off x="621021" y="5714091"/>
            <a:ext cx="5456983"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Layer sets the price:</a:t>
            </a:r>
            <a:r>
              <a:rPr lang="en-US" sz="1400" dirty="0">
                <a:solidFill>
                  <a:srgbClr val="E8E8F0"/>
                </a:solidFill>
                <a:latin typeface="Arial" pitchFamily="34" charset="0"/>
                <a:ea typeface="Arial" pitchFamily="34" charset="-122"/>
                <a:cs typeface="Arial" pitchFamily="34" charset="-120"/>
              </a:rPr>
              <a:t> L2 Professional, $599</a:t>
            </a:r>
            <a:endParaRPr lang="en-US" sz="1400" dirty="0"/>
          </a:p>
        </p:txBody>
      </p:sp>
      <p:pic>
        <p:nvPicPr>
          <p:cNvPr id="25" name="Image 1" descr="/tmp/claude-0/-home-user-Chronopoli/d7458f57-86b2-5920-914e-8615357fee63/scratchpad/deck-master/framed/checkout_success.png">    </p:cNvPr>
          <p:cNvPicPr>
            <a:picLocks noChangeAspect="1"/>
          </p:cNvPicPr>
          <p:nvPr/>
        </p:nvPicPr>
        <p:blipFill>
          <a:blip r:embed="rId3"/>
          <a:stretch>
            <a:fillRect/>
          </a:stretch>
        </p:blipFill>
        <p:spPr>
          <a:xfrm>
            <a:off x="6300638" y="1764002"/>
            <a:ext cx="5413162" cy="3535431"/>
          </a:xfrm>
          <a:prstGeom prst="rect">
            <a:avLst/>
          </a:prstGeom>
        </p:spPr>
      </p:pic>
      <p:sp>
        <p:nvSpPr>
          <p:cNvPr id="26" name="Shape 21"/>
          <p:cNvSpPr/>
          <p:nvPr/>
        </p:nvSpPr>
        <p:spPr>
          <a:xfrm>
            <a:off x="6443765" y="5293467"/>
            <a:ext cx="1495471"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35205" y="5366619"/>
            <a:ext cx="73152" cy="73152"/>
          </a:xfrm>
          <a:prstGeom prst="ellipse">
            <a:avLst/>
          </a:prstGeom>
          <a:solidFill>
            <a:srgbClr val="A9A9C6"/>
          </a:solidFill>
          <a:ln/>
        </p:spPr>
      </p:sp>
      <p:sp>
        <p:nvSpPr>
          <p:cNvPr id="28" name="Text 23"/>
          <p:cNvSpPr txBox="1"/>
          <p:nvPr/>
        </p:nvSpPr>
        <p:spPr>
          <a:xfrm>
            <a:off x="6663221" y="5293467"/>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9" name="Text 24"/>
          <p:cNvSpPr txBox="1"/>
          <p:nvPr/>
        </p:nvSpPr>
        <p:spPr>
          <a:xfrm>
            <a:off x="8048963" y="5325471"/>
            <a:ext cx="352171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Payment confirmed, auto-enrolled (not yet built)</a:t>
            </a:r>
            <a:endParaRPr lang="en-US" sz="1000" dirty="0"/>
          </a:p>
        </p:txBody>
      </p:sp>
      <p:sp>
        <p:nvSpPr>
          <p:cNvPr id="30" name="Text 25"/>
          <p:cNvSpPr txBox="1"/>
          <p:nvPr/>
        </p:nvSpPr>
        <p:spPr>
          <a:xfrm>
            <a:off x="6443765" y="5714091"/>
            <a:ext cx="5126909"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Hosted checkout:</a:t>
            </a:r>
            <a:r>
              <a:rPr lang="en-US" sz="1400" dirty="0">
                <a:solidFill>
                  <a:srgbClr val="E8E8F0"/>
                </a:solidFill>
                <a:latin typeface="Arial" pitchFamily="34" charset="0"/>
                <a:ea typeface="Arial" pitchFamily="34" charset="-122"/>
                <a:cs typeface="Arial" pitchFamily="34" charset="-120"/>
              </a:rPr>
              <a:t> card data stays with Stripe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Signed webhook:</a:t>
            </a:r>
            <a:r>
              <a:rPr lang="en-US" sz="1400" dirty="0">
                <a:solidFill>
                  <a:srgbClr val="E8E8F0"/>
                </a:solidFill>
                <a:latin typeface="Arial" pitchFamily="34" charset="0"/>
                <a:ea typeface="Arial" pitchFamily="34" charset="-122"/>
                <a:cs typeface="Arial" pitchFamily="34" charset="-120"/>
              </a:rPr>
              <a:t> enrols her once, logs the 70% payout</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02624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78850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5 OF 9 · LEARN</a:t>
            </a:r>
            <a:endParaRPr lang="en-US" sz="900" dirty="0"/>
          </a:p>
        </p:txBody>
      </p:sp>
      <p:sp>
        <p:nvSpPr>
          <p:cNvPr id="5" name="Shape 2"/>
          <p:cNvSpPr/>
          <p:nvPr/>
        </p:nvSpPr>
        <p:spPr>
          <a:xfrm>
            <a:off x="3648037" y="470916"/>
            <a:ext cx="82296" cy="82296"/>
          </a:xfrm>
          <a:prstGeom prst="ellipse">
            <a:avLst/>
          </a:prstGeom>
          <a:solidFill>
            <a:srgbClr val="9B7A2E"/>
          </a:solidFill>
          <a:ln/>
        </p:spPr>
      </p:sp>
      <p:sp>
        <p:nvSpPr>
          <p:cNvPr id="6" name="Shape 3"/>
          <p:cNvSpPr/>
          <p:nvPr/>
        </p:nvSpPr>
        <p:spPr>
          <a:xfrm>
            <a:off x="3789769" y="470916"/>
            <a:ext cx="82296" cy="82296"/>
          </a:xfrm>
          <a:prstGeom prst="ellipse">
            <a:avLst/>
          </a:prstGeom>
          <a:solidFill>
            <a:srgbClr val="9B7A2E"/>
          </a:solidFill>
          <a:ln/>
        </p:spPr>
      </p:sp>
      <p:sp>
        <p:nvSpPr>
          <p:cNvPr id="7" name="Shape 4"/>
          <p:cNvSpPr/>
          <p:nvPr/>
        </p:nvSpPr>
        <p:spPr>
          <a:xfrm>
            <a:off x="3931501" y="470916"/>
            <a:ext cx="82296" cy="82296"/>
          </a:xfrm>
          <a:prstGeom prst="ellipse">
            <a:avLst/>
          </a:prstGeom>
          <a:solidFill>
            <a:srgbClr val="9B7A2E"/>
          </a:solidFill>
          <a:ln/>
        </p:spPr>
      </p:sp>
      <p:sp>
        <p:nvSpPr>
          <p:cNvPr id="8" name="Shape 5"/>
          <p:cNvSpPr/>
          <p:nvPr/>
        </p:nvSpPr>
        <p:spPr>
          <a:xfrm>
            <a:off x="4073233" y="470916"/>
            <a:ext cx="82296" cy="82296"/>
          </a:xfrm>
          <a:prstGeom prst="ellipse">
            <a:avLst/>
          </a:prstGeom>
          <a:solidFill>
            <a:srgbClr val="9B7A2E"/>
          </a:solidFill>
          <a:ln/>
        </p:spPr>
      </p:sp>
      <p:sp>
        <p:nvSpPr>
          <p:cNvPr id="9" name="Shape 6"/>
          <p:cNvSpPr/>
          <p:nvPr/>
        </p:nvSpPr>
        <p:spPr>
          <a:xfrm>
            <a:off x="4214965" y="470916"/>
            <a:ext cx="82296" cy="82296"/>
          </a:xfrm>
          <a:prstGeom prst="ellipse">
            <a:avLst/>
          </a:prstGeom>
          <a:solidFill>
            <a:srgbClr val="F0C96B"/>
          </a:solidFill>
          <a:ln/>
        </p:spPr>
      </p:sp>
      <p:sp>
        <p:nvSpPr>
          <p:cNvPr id="10" name="Shape 7"/>
          <p:cNvSpPr/>
          <p:nvPr/>
        </p:nvSpPr>
        <p:spPr>
          <a:xfrm>
            <a:off x="4356697" y="470916"/>
            <a:ext cx="82296" cy="82296"/>
          </a:xfrm>
          <a:prstGeom prst="ellipse">
            <a:avLst/>
          </a:prstGeom>
          <a:solidFill>
            <a:srgbClr val="34344A"/>
          </a:solidFill>
          <a:ln/>
        </p:spPr>
      </p:sp>
      <p:sp>
        <p:nvSpPr>
          <p:cNvPr id="11" name="Shape 8"/>
          <p:cNvSpPr/>
          <p:nvPr/>
        </p:nvSpPr>
        <p:spPr>
          <a:xfrm>
            <a:off x="4498429" y="470916"/>
            <a:ext cx="82296" cy="82296"/>
          </a:xfrm>
          <a:prstGeom prst="ellipse">
            <a:avLst/>
          </a:prstGeom>
          <a:solidFill>
            <a:srgbClr val="34344A"/>
          </a:solidFill>
          <a:ln/>
        </p:spPr>
      </p:sp>
      <p:sp>
        <p:nvSpPr>
          <p:cNvPr id="12" name="Shape 9"/>
          <p:cNvSpPr/>
          <p:nvPr/>
        </p:nvSpPr>
        <p:spPr>
          <a:xfrm>
            <a:off x="4640161" y="470916"/>
            <a:ext cx="82296" cy="82296"/>
          </a:xfrm>
          <a:prstGeom prst="ellipse">
            <a:avLst/>
          </a:prstGeom>
          <a:solidFill>
            <a:srgbClr val="34344A"/>
          </a:solidFill>
          <a:ln/>
        </p:spPr>
      </p:sp>
      <p:sp>
        <p:nvSpPr>
          <p:cNvPr id="13" name="Shape 10"/>
          <p:cNvSpPr/>
          <p:nvPr/>
        </p:nvSpPr>
        <p:spPr>
          <a:xfrm>
            <a:off x="4781893" y="470916"/>
            <a:ext cx="82296" cy="82296"/>
          </a:xfrm>
          <a:prstGeom prst="ellipse">
            <a:avLst/>
          </a:prstGeom>
          <a:solidFill>
            <a:srgbClr val="34344A"/>
          </a:solidFill>
          <a:ln/>
        </p:spPr>
      </p:sp>
      <p:sp>
        <p:nvSpPr>
          <p:cNvPr id="14" name="Shape 11"/>
          <p:cNvSpPr/>
          <p:nvPr/>
        </p:nvSpPr>
        <p:spPr>
          <a:xfrm>
            <a:off x="503335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18880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6813568" y="384048"/>
            <a:ext cx="492092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course content</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Learn on a proven LMS: lessons and auto-graded checks</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Real Open edX courseware: completion tracking, graded problems, attempts and feedback out of the box</a:t>
            </a:r>
            <a:endParaRPr lang="en-US" sz="1500" dirty="0"/>
          </a:p>
        </p:txBody>
      </p:sp>
      <p:pic>
        <p:nvPicPr>
          <p:cNvPr id="19" name="Image 0" descr="/tmp/claude-0/-home-user-Chronopoli/d7458f57-86b2-5920-914e-8615357fee63/scratchpad/deck-master/framed/unit_lesson.png">    </p:cNvPr>
          <p:cNvPicPr>
            <a:picLocks noChangeAspect="1"/>
          </p:cNvPicPr>
          <p:nvPr/>
        </p:nvPicPr>
        <p:blipFill>
          <a:blip r:embed="rId2"/>
          <a:stretch>
            <a:fillRect/>
          </a:stretch>
        </p:blipFill>
        <p:spPr>
          <a:xfrm>
            <a:off x="299690" y="1968861"/>
            <a:ext cx="5957177" cy="3505190"/>
          </a:xfrm>
          <a:prstGeom prst="rect">
            <a:avLst/>
          </a:prstGeom>
        </p:spPr>
      </p:pic>
      <p:sp>
        <p:nvSpPr>
          <p:cNvPr id="20" name="Shape 16"/>
          <p:cNvSpPr/>
          <p:nvPr/>
        </p:nvSpPr>
        <p:spPr>
          <a:xfrm>
            <a:off x="457200" y="5453700"/>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526852"/>
            <a:ext cx="73152" cy="73152"/>
          </a:xfrm>
          <a:prstGeom prst="ellipse">
            <a:avLst/>
          </a:prstGeom>
          <a:solidFill>
            <a:srgbClr val="34D399"/>
          </a:solidFill>
          <a:ln/>
        </p:spPr>
      </p:sp>
      <p:sp>
        <p:nvSpPr>
          <p:cNvPr id="22" name="Text 18"/>
          <p:cNvSpPr txBox="1"/>
          <p:nvPr/>
        </p:nvSpPr>
        <p:spPr>
          <a:xfrm>
            <a:off x="676656" y="5453700"/>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2330033" y="5485704"/>
            <a:ext cx="376932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Learning MFE · lesson 4.1, the Travel Rule in practice</a:t>
            </a:r>
            <a:endParaRPr lang="en-US" sz="1000" dirty="0"/>
          </a:p>
        </p:txBody>
      </p:sp>
      <p:sp>
        <p:nvSpPr>
          <p:cNvPr id="24" name="Text 20"/>
          <p:cNvSpPr txBox="1"/>
          <p:nvPr/>
        </p:nvSpPr>
        <p:spPr>
          <a:xfrm>
            <a:off x="457200" y="5874324"/>
            <a:ext cx="5642157"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a:t>
            </a:r>
            <a:r>
              <a:rPr lang="en-US" sz="1400" dirty="0">
                <a:solidFill>
                  <a:srgbClr val="E8E8F0"/>
                </a:solidFill>
                <a:latin typeface="Arial" pitchFamily="34" charset="0"/>
                <a:ea typeface="Arial" pitchFamily="34" charset="-122"/>
                <a:cs typeface="Arial" pitchFamily="34" charset="-120"/>
              </a:rPr>
              <a:t> six modules, ending in a graded capstone</a:t>
            </a:r>
            <a:endParaRPr lang="en-US" sz="1400" dirty="0"/>
          </a:p>
        </p:txBody>
      </p:sp>
      <p:pic>
        <p:nvPicPr>
          <p:cNvPr id="25" name="Image 1" descr="/tmp/claude-0/-home-user-Chronopoli/d7458f57-86b2-5920-914e-8615357fee63/scratchpad/deck-master/framed/unit_check.png">    </p:cNvPr>
          <p:cNvPicPr>
            <a:picLocks noChangeAspect="1"/>
          </p:cNvPicPr>
          <p:nvPr/>
        </p:nvPicPr>
        <p:blipFill>
          <a:blip r:embed="rId3"/>
          <a:stretch>
            <a:fillRect/>
          </a:stretch>
        </p:blipFill>
        <p:spPr>
          <a:xfrm>
            <a:off x="6318013" y="1979267"/>
            <a:ext cx="5563585" cy="3484376"/>
          </a:xfrm>
          <a:prstGeom prst="rect">
            <a:avLst/>
          </a:prstGeom>
        </p:spPr>
      </p:pic>
      <p:sp>
        <p:nvSpPr>
          <p:cNvPr id="26" name="Shape 21"/>
          <p:cNvSpPr/>
          <p:nvPr/>
        </p:nvSpPr>
        <p:spPr>
          <a:xfrm>
            <a:off x="6465117" y="5453700"/>
            <a:ext cx="1763105"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56557" y="5526852"/>
            <a:ext cx="73152" cy="73152"/>
          </a:xfrm>
          <a:prstGeom prst="ellipse">
            <a:avLst/>
          </a:prstGeom>
          <a:solidFill>
            <a:srgbClr val="34D399"/>
          </a:solidFill>
          <a:ln/>
        </p:spPr>
      </p:sp>
      <p:sp>
        <p:nvSpPr>
          <p:cNvPr id="28" name="Text 23"/>
          <p:cNvSpPr txBox="1"/>
          <p:nvPr/>
        </p:nvSpPr>
        <p:spPr>
          <a:xfrm>
            <a:off x="6684573" y="5453700"/>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9" name="Text 24"/>
          <p:cNvSpPr txBox="1"/>
          <p:nvPr/>
        </p:nvSpPr>
        <p:spPr>
          <a:xfrm>
            <a:off x="8337950" y="5485704"/>
            <a:ext cx="339654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check 3.2 · correct on attempt 1 of 3</a:t>
            </a:r>
            <a:endParaRPr lang="en-US" sz="1000" dirty="0"/>
          </a:p>
        </p:txBody>
      </p:sp>
      <p:sp>
        <p:nvSpPr>
          <p:cNvPr id="30" name="Text 25"/>
          <p:cNvSpPr txBox="1"/>
          <p:nvPr/>
        </p:nvSpPr>
        <p:spPr>
          <a:xfrm>
            <a:off x="6465117" y="5874324"/>
            <a:ext cx="5269378"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Instant grading:</a:t>
            </a:r>
            <a:r>
              <a:rPr lang="en-US" sz="1400" dirty="0">
                <a:solidFill>
                  <a:srgbClr val="E8E8F0"/>
                </a:solidFill>
                <a:latin typeface="Arial" pitchFamily="34" charset="0"/>
                <a:ea typeface="Arial" pitchFamily="34" charset="-122"/>
                <a:cs typeface="Arial" pitchFamily="34" charset="-120"/>
              </a:rPr>
              <a:t> attempts are tracked (1 of 3 used)</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1794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8020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6 OF 9 · AI TUTOR</a:t>
            </a:r>
            <a:endParaRPr lang="en-US" sz="900" dirty="0"/>
          </a:p>
        </p:txBody>
      </p:sp>
      <p:sp>
        <p:nvSpPr>
          <p:cNvPr id="5" name="Shape 2"/>
          <p:cNvSpPr/>
          <p:nvPr/>
        </p:nvSpPr>
        <p:spPr>
          <a:xfrm>
            <a:off x="3839741" y="470916"/>
            <a:ext cx="82296" cy="82296"/>
          </a:xfrm>
          <a:prstGeom prst="ellipse">
            <a:avLst/>
          </a:prstGeom>
          <a:solidFill>
            <a:srgbClr val="9B7A2E"/>
          </a:solidFill>
          <a:ln/>
        </p:spPr>
      </p:sp>
      <p:sp>
        <p:nvSpPr>
          <p:cNvPr id="6" name="Shape 3"/>
          <p:cNvSpPr/>
          <p:nvPr/>
        </p:nvSpPr>
        <p:spPr>
          <a:xfrm>
            <a:off x="3981473" y="470916"/>
            <a:ext cx="82296" cy="82296"/>
          </a:xfrm>
          <a:prstGeom prst="ellipse">
            <a:avLst/>
          </a:prstGeom>
          <a:solidFill>
            <a:srgbClr val="9B7A2E"/>
          </a:solidFill>
          <a:ln/>
        </p:spPr>
      </p:sp>
      <p:sp>
        <p:nvSpPr>
          <p:cNvPr id="7" name="Shape 4"/>
          <p:cNvSpPr/>
          <p:nvPr/>
        </p:nvSpPr>
        <p:spPr>
          <a:xfrm>
            <a:off x="4123205" y="470916"/>
            <a:ext cx="82296" cy="82296"/>
          </a:xfrm>
          <a:prstGeom prst="ellipse">
            <a:avLst/>
          </a:prstGeom>
          <a:solidFill>
            <a:srgbClr val="9B7A2E"/>
          </a:solidFill>
          <a:ln/>
        </p:spPr>
      </p:sp>
      <p:sp>
        <p:nvSpPr>
          <p:cNvPr id="8" name="Shape 5"/>
          <p:cNvSpPr/>
          <p:nvPr/>
        </p:nvSpPr>
        <p:spPr>
          <a:xfrm>
            <a:off x="4264937" y="470916"/>
            <a:ext cx="82296" cy="82296"/>
          </a:xfrm>
          <a:prstGeom prst="ellipse">
            <a:avLst/>
          </a:prstGeom>
          <a:solidFill>
            <a:srgbClr val="9B7A2E"/>
          </a:solidFill>
          <a:ln/>
        </p:spPr>
      </p:sp>
      <p:sp>
        <p:nvSpPr>
          <p:cNvPr id="9" name="Shape 6"/>
          <p:cNvSpPr/>
          <p:nvPr/>
        </p:nvSpPr>
        <p:spPr>
          <a:xfrm>
            <a:off x="4406669" y="470916"/>
            <a:ext cx="82296" cy="82296"/>
          </a:xfrm>
          <a:prstGeom prst="ellipse">
            <a:avLst/>
          </a:prstGeom>
          <a:solidFill>
            <a:srgbClr val="9B7A2E"/>
          </a:solidFill>
          <a:ln/>
        </p:spPr>
      </p:sp>
      <p:sp>
        <p:nvSpPr>
          <p:cNvPr id="10" name="Shape 7"/>
          <p:cNvSpPr/>
          <p:nvPr/>
        </p:nvSpPr>
        <p:spPr>
          <a:xfrm>
            <a:off x="4548401" y="470916"/>
            <a:ext cx="82296" cy="82296"/>
          </a:xfrm>
          <a:prstGeom prst="ellipse">
            <a:avLst/>
          </a:prstGeom>
          <a:solidFill>
            <a:srgbClr val="F0C96B"/>
          </a:solidFill>
          <a:ln/>
        </p:spPr>
      </p:sp>
      <p:sp>
        <p:nvSpPr>
          <p:cNvPr id="11" name="Shape 8"/>
          <p:cNvSpPr/>
          <p:nvPr/>
        </p:nvSpPr>
        <p:spPr>
          <a:xfrm>
            <a:off x="4690133" y="470916"/>
            <a:ext cx="82296" cy="82296"/>
          </a:xfrm>
          <a:prstGeom prst="ellipse">
            <a:avLst/>
          </a:prstGeom>
          <a:solidFill>
            <a:srgbClr val="34344A"/>
          </a:solidFill>
          <a:ln/>
        </p:spPr>
      </p:sp>
      <p:sp>
        <p:nvSpPr>
          <p:cNvPr id="12" name="Shape 9"/>
          <p:cNvSpPr/>
          <p:nvPr/>
        </p:nvSpPr>
        <p:spPr>
          <a:xfrm>
            <a:off x="4831865" y="470916"/>
            <a:ext cx="82296" cy="82296"/>
          </a:xfrm>
          <a:prstGeom prst="ellipse">
            <a:avLst/>
          </a:prstGeom>
          <a:solidFill>
            <a:srgbClr val="34344A"/>
          </a:solidFill>
          <a:ln/>
        </p:spPr>
      </p:sp>
      <p:sp>
        <p:nvSpPr>
          <p:cNvPr id="13" name="Shape 10"/>
          <p:cNvSpPr/>
          <p:nvPr/>
        </p:nvSpPr>
        <p:spPr>
          <a:xfrm>
            <a:off x="4973597" y="470916"/>
            <a:ext cx="82296" cy="82296"/>
          </a:xfrm>
          <a:prstGeom prst="ellipse">
            <a:avLst/>
          </a:prstGeom>
          <a:solidFill>
            <a:srgbClr val="34344A"/>
          </a:solidFill>
          <a:ln/>
        </p:spPr>
      </p:sp>
      <p:sp>
        <p:nvSpPr>
          <p:cNvPr id="14" name="Shape 11"/>
          <p:cNvSpPr/>
          <p:nvPr/>
        </p:nvSpPr>
        <p:spPr>
          <a:xfrm>
            <a:off x="5225057"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38050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7990987" y="384048"/>
            <a:ext cx="37435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Module 3 · Mock lesson, target theme</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An AI tutor that cites its sources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Claude on Amazon Bedrock answers inside the lesson, from the Chronopoli knowledge base, and shows its sources</a:t>
            </a:r>
            <a:endParaRPr lang="en-US" sz="1600" dirty="0"/>
          </a:p>
        </p:txBody>
      </p:sp>
      <p:pic>
        <p:nvPicPr>
          <p:cNvPr id="19" name="Image 0" descr="/tmp/claude-0/-home-user-Chronopoli/d7458f57-86b2-5920-914e-8615357fee63/scratchpad/deck-master/framed/tutor_widget.png">    </p:cNvPr>
          <p:cNvPicPr>
            <a:picLocks noChangeAspect="1"/>
          </p:cNvPicPr>
          <p:nvPr/>
        </p:nvPicPr>
        <p:blipFill>
          <a:blip r:embed="rId2"/>
          <a:stretch>
            <a:fillRect/>
          </a:stretch>
        </p:blipFill>
        <p:spPr>
          <a:xfrm>
            <a:off x="250982" y="1700001"/>
            <a:ext cx="7799366" cy="4367522"/>
          </a:xfrm>
          <a:prstGeom prst="rect">
            <a:avLst/>
          </a:prstGeom>
        </p:spPr>
      </p:pic>
      <p:sp>
        <p:nvSpPr>
          <p:cNvPr id="20" name="Shape 16"/>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A9A9C6"/>
          </a:solidFill>
          <a:ln/>
        </p:spPr>
      </p:sp>
      <p:sp>
        <p:nvSpPr>
          <p:cNvPr id="22" name="Text 18"/>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3" name="Text 19"/>
          <p:cNvSpPr txBox="1"/>
          <p:nvPr/>
        </p:nvSpPr>
        <p:spPr>
          <a:xfrm>
            <a:off x="2062399" y="6030468"/>
            <a:ext cx="57817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The repo's real tutor widget on a prototype lesson page · scripted answer, Bedrock stubbed</a:t>
            </a:r>
            <a:endParaRPr lang="en-US" sz="1000" dirty="0"/>
          </a:p>
        </p:txBody>
      </p:sp>
      <p:pic>
        <p:nvPicPr>
          <p:cNvPr id="24" name="Image 1" descr="/tmp/claude-0/-home-user-Chronopoli/d7458f57-86b2-5920-914e-8615357fee63/scratchpad/deck-master/framed/tutor_history.png">    </p:cNvPr>
          <p:cNvPicPr>
            <a:picLocks noChangeAspect="1"/>
          </p:cNvPicPr>
          <p:nvPr/>
        </p:nvPicPr>
        <p:blipFill>
          <a:blip r:embed="rId3"/>
          <a:stretch>
            <a:fillRect/>
          </a:stretch>
        </p:blipFill>
        <p:spPr>
          <a:xfrm>
            <a:off x="8157007" y="1807617"/>
            <a:ext cx="3676091" cy="1903780"/>
          </a:xfrm>
          <a:prstGeom prst="rect">
            <a:avLst/>
          </a:prstGeom>
        </p:spPr>
      </p:pic>
      <p:sp>
        <p:nvSpPr>
          <p:cNvPr id="25" name="Shape 20"/>
          <p:cNvSpPr/>
          <p:nvPr/>
        </p:nvSpPr>
        <p:spPr>
          <a:xfrm>
            <a:off x="8255609" y="3749955"/>
            <a:ext cx="1495471"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8347049" y="3823107"/>
            <a:ext cx="73152" cy="73152"/>
          </a:xfrm>
          <a:prstGeom prst="ellipse">
            <a:avLst/>
          </a:prstGeom>
          <a:solidFill>
            <a:srgbClr val="A9A9C6"/>
          </a:solidFill>
          <a:ln/>
        </p:spPr>
      </p:sp>
      <p:sp>
        <p:nvSpPr>
          <p:cNvPr id="27" name="Text 22"/>
          <p:cNvSpPr txBox="1"/>
          <p:nvPr/>
        </p:nvSpPr>
        <p:spPr>
          <a:xfrm>
            <a:off x="8475065" y="3749955"/>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8" name="Text 23"/>
          <p:cNvSpPr txBox="1"/>
          <p:nvPr/>
        </p:nvSpPr>
        <p:spPr>
          <a:xfrm>
            <a:off x="9860808" y="3781959"/>
            <a:ext cx="187368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Tutor history (not yet built)</a:t>
            </a:r>
            <a:endParaRPr lang="en-US" sz="1000" dirty="0"/>
          </a:p>
        </p:txBody>
      </p:sp>
      <p:sp>
        <p:nvSpPr>
          <p:cNvPr id="29" name="Text 24"/>
          <p:cNvSpPr txBox="1"/>
          <p:nvPr/>
        </p:nvSpPr>
        <p:spPr>
          <a:xfrm>
            <a:off x="8255609" y="4152291"/>
            <a:ext cx="3478886" cy="191414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 Module 3:</a:t>
            </a:r>
            <a:r>
              <a:rPr lang="en-US" sz="1400" dirty="0">
                <a:solidFill>
                  <a:srgbClr val="E8E8F0"/>
                </a:solidFill>
                <a:latin typeface="Arial" pitchFamily="34" charset="0"/>
                <a:ea typeface="Arial" pitchFamily="34" charset="-122"/>
                <a:cs typeface="Arial" pitchFamily="34" charset="-120"/>
              </a:rPr>
              <a:t> Layla asks what happens to funds already sent to a sanctioned USDT address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Cited answer:</a:t>
            </a:r>
            <a:r>
              <a:rPr lang="en-US" sz="1400" dirty="0">
                <a:solidFill>
                  <a:srgbClr val="E8E8F0"/>
                </a:solidFill>
                <a:latin typeface="Arial" pitchFamily="34" charset="0"/>
                <a:ea typeface="Arial" pitchFamily="34" charset="-122"/>
                <a:cs typeface="Arial" pitchFamily="34" charset="-120"/>
              </a:rPr>
              <a:t> grounded in USDT-201 Lesson 3.1 and the FATF R.15 summary, at her L2 depth</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 learning aid:</a:t>
            </a:r>
            <a:r>
              <a:rPr lang="en-US" sz="1400" dirty="0">
                <a:solidFill>
                  <a:srgbClr val="E8E8F0"/>
                </a:solidFill>
                <a:latin typeface="Arial" pitchFamily="34" charset="0"/>
                <a:ea typeface="Arial" pitchFamily="34" charset="-122"/>
                <a:cs typeface="Arial" pitchFamily="34" charset="-120"/>
              </a:rPr>
              <a:t> not legal or compliance advice</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0483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56709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7 OF 9 · PASS &amp; PATHWAY</a:t>
            </a:r>
            <a:endParaRPr lang="en-US" sz="900" dirty="0"/>
          </a:p>
        </p:txBody>
      </p:sp>
      <p:sp>
        <p:nvSpPr>
          <p:cNvPr id="5" name="Shape 2"/>
          <p:cNvSpPr/>
          <p:nvPr/>
        </p:nvSpPr>
        <p:spPr>
          <a:xfrm>
            <a:off x="4426626" y="470916"/>
            <a:ext cx="82296" cy="82296"/>
          </a:xfrm>
          <a:prstGeom prst="ellipse">
            <a:avLst/>
          </a:prstGeom>
          <a:solidFill>
            <a:srgbClr val="9B7A2E"/>
          </a:solidFill>
          <a:ln/>
        </p:spPr>
      </p:sp>
      <p:sp>
        <p:nvSpPr>
          <p:cNvPr id="6" name="Shape 3"/>
          <p:cNvSpPr/>
          <p:nvPr/>
        </p:nvSpPr>
        <p:spPr>
          <a:xfrm>
            <a:off x="4568358" y="470916"/>
            <a:ext cx="82296" cy="82296"/>
          </a:xfrm>
          <a:prstGeom prst="ellipse">
            <a:avLst/>
          </a:prstGeom>
          <a:solidFill>
            <a:srgbClr val="9B7A2E"/>
          </a:solidFill>
          <a:ln/>
        </p:spPr>
      </p:sp>
      <p:sp>
        <p:nvSpPr>
          <p:cNvPr id="7" name="Shape 4"/>
          <p:cNvSpPr/>
          <p:nvPr/>
        </p:nvSpPr>
        <p:spPr>
          <a:xfrm>
            <a:off x="4710090" y="470916"/>
            <a:ext cx="82296" cy="82296"/>
          </a:xfrm>
          <a:prstGeom prst="ellipse">
            <a:avLst/>
          </a:prstGeom>
          <a:solidFill>
            <a:srgbClr val="9B7A2E"/>
          </a:solidFill>
          <a:ln/>
        </p:spPr>
      </p:sp>
      <p:sp>
        <p:nvSpPr>
          <p:cNvPr id="8" name="Shape 5"/>
          <p:cNvSpPr/>
          <p:nvPr/>
        </p:nvSpPr>
        <p:spPr>
          <a:xfrm>
            <a:off x="4851822" y="470916"/>
            <a:ext cx="82296" cy="82296"/>
          </a:xfrm>
          <a:prstGeom prst="ellipse">
            <a:avLst/>
          </a:prstGeom>
          <a:solidFill>
            <a:srgbClr val="9B7A2E"/>
          </a:solidFill>
          <a:ln/>
        </p:spPr>
      </p:sp>
      <p:sp>
        <p:nvSpPr>
          <p:cNvPr id="9" name="Shape 6"/>
          <p:cNvSpPr/>
          <p:nvPr/>
        </p:nvSpPr>
        <p:spPr>
          <a:xfrm>
            <a:off x="4993554" y="470916"/>
            <a:ext cx="82296" cy="82296"/>
          </a:xfrm>
          <a:prstGeom prst="ellipse">
            <a:avLst/>
          </a:prstGeom>
          <a:solidFill>
            <a:srgbClr val="9B7A2E"/>
          </a:solidFill>
          <a:ln/>
        </p:spPr>
      </p:sp>
      <p:sp>
        <p:nvSpPr>
          <p:cNvPr id="10" name="Shape 7"/>
          <p:cNvSpPr/>
          <p:nvPr/>
        </p:nvSpPr>
        <p:spPr>
          <a:xfrm>
            <a:off x="5135286" y="470916"/>
            <a:ext cx="82296" cy="82296"/>
          </a:xfrm>
          <a:prstGeom prst="ellipse">
            <a:avLst/>
          </a:prstGeom>
          <a:solidFill>
            <a:srgbClr val="9B7A2E"/>
          </a:solidFill>
          <a:ln/>
        </p:spPr>
      </p:sp>
      <p:sp>
        <p:nvSpPr>
          <p:cNvPr id="11" name="Shape 8"/>
          <p:cNvSpPr/>
          <p:nvPr/>
        </p:nvSpPr>
        <p:spPr>
          <a:xfrm>
            <a:off x="5277018" y="470916"/>
            <a:ext cx="82296" cy="82296"/>
          </a:xfrm>
          <a:prstGeom prst="ellipse">
            <a:avLst/>
          </a:prstGeom>
          <a:solidFill>
            <a:srgbClr val="F0C96B"/>
          </a:solidFill>
          <a:ln/>
        </p:spPr>
      </p:sp>
      <p:sp>
        <p:nvSpPr>
          <p:cNvPr id="12" name="Shape 9"/>
          <p:cNvSpPr/>
          <p:nvPr/>
        </p:nvSpPr>
        <p:spPr>
          <a:xfrm>
            <a:off x="5418750" y="470916"/>
            <a:ext cx="82296" cy="82296"/>
          </a:xfrm>
          <a:prstGeom prst="ellipse">
            <a:avLst/>
          </a:prstGeom>
          <a:solidFill>
            <a:srgbClr val="34344A"/>
          </a:solidFill>
          <a:ln/>
        </p:spPr>
      </p:sp>
      <p:sp>
        <p:nvSpPr>
          <p:cNvPr id="13" name="Shape 10"/>
          <p:cNvSpPr/>
          <p:nvPr/>
        </p:nvSpPr>
        <p:spPr>
          <a:xfrm>
            <a:off x="5560482" y="470916"/>
            <a:ext cx="82296" cy="82296"/>
          </a:xfrm>
          <a:prstGeom prst="ellipse">
            <a:avLst/>
          </a:prstGeom>
          <a:solidFill>
            <a:srgbClr val="34344A"/>
          </a:solidFill>
          <a:ln/>
        </p:spPr>
      </p:sp>
      <p:sp>
        <p:nvSpPr>
          <p:cNvPr id="14" name="Shape 11"/>
          <p:cNvSpPr/>
          <p:nvPr/>
        </p:nvSpPr>
        <p:spPr>
          <a:xfrm>
            <a:off x="5811942"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967390"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814153" y="384048"/>
            <a:ext cx="2920342"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Grades API stubbed</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Pass, then watch the pathway fill up</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Open edX grades each course; the academy reads those grades to track the whole pathway</a:t>
            </a:r>
            <a:endParaRPr lang="en-US" sz="1600" dirty="0"/>
          </a:p>
        </p:txBody>
      </p:sp>
      <p:pic>
        <p:nvPicPr>
          <p:cNvPr id="19" name="Image 0" descr="/tmp/claude-0/-home-user-Chronopoli/d7458f57-86b2-5920-914e-8615357fee63/scratchpad/deck-master/framed/progress.png">    </p:cNvPr>
          <p:cNvPicPr>
            <a:picLocks noChangeAspect="1"/>
          </p:cNvPicPr>
          <p:nvPr/>
        </p:nvPicPr>
        <p:blipFill>
          <a:blip r:embed="rId2"/>
          <a:stretch>
            <a:fillRect/>
          </a:stretch>
        </p:blipFill>
        <p:spPr>
          <a:xfrm>
            <a:off x="1040922" y="1763603"/>
            <a:ext cx="5474819" cy="3612430"/>
          </a:xfrm>
          <a:prstGeom prst="rect">
            <a:avLst/>
          </a:prstGeom>
        </p:spPr>
      </p:pic>
      <p:sp>
        <p:nvSpPr>
          <p:cNvPr id="20" name="Shape 16"/>
          <p:cNvSpPr/>
          <p:nvPr/>
        </p:nvSpPr>
        <p:spPr>
          <a:xfrm>
            <a:off x="1185679" y="5368436"/>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277119" y="5441588"/>
            <a:ext cx="73152" cy="73152"/>
          </a:xfrm>
          <a:prstGeom prst="ellipse">
            <a:avLst/>
          </a:prstGeom>
          <a:solidFill>
            <a:srgbClr val="34D399"/>
          </a:solidFill>
          <a:ln/>
        </p:spPr>
      </p:sp>
      <p:sp>
        <p:nvSpPr>
          <p:cNvPr id="22" name="Text 18"/>
          <p:cNvSpPr txBox="1"/>
          <p:nvPr/>
        </p:nvSpPr>
        <p:spPr>
          <a:xfrm>
            <a:off x="1405135" y="5368436"/>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3" name="Text 19"/>
          <p:cNvSpPr txBox="1"/>
          <p:nvPr/>
        </p:nvSpPr>
        <p:spPr>
          <a:xfrm>
            <a:off x="3058512" y="5400440"/>
            <a:ext cx="331247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Progress page</a:t>
            </a:r>
            <a:endParaRPr lang="en-US" sz="1000" dirty="0"/>
          </a:p>
        </p:txBody>
      </p:sp>
      <p:sp>
        <p:nvSpPr>
          <p:cNvPr id="24" name="Text 20"/>
          <p:cNvSpPr txBox="1"/>
          <p:nvPr/>
        </p:nvSpPr>
        <p:spPr>
          <a:xfrm>
            <a:off x="1185679" y="5789060"/>
            <a:ext cx="518530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 complete:</a:t>
            </a:r>
            <a:r>
              <a:rPr lang="en-US" sz="1400" dirty="0">
                <a:solidFill>
                  <a:srgbClr val="E8E8F0"/>
                </a:solidFill>
                <a:latin typeface="Arial" pitchFamily="34" charset="0"/>
                <a:ea typeface="Arial" pitchFamily="34" charset="-122"/>
                <a:cs typeface="Arial" pitchFamily="34" charset="-120"/>
              </a:rPr>
              <a:t> 85% against a 70% pass mark (weights: knowledge checks 40%, capstone 60%)</a:t>
            </a:r>
            <a:endParaRPr lang="en-US" sz="1400" dirty="0"/>
          </a:p>
        </p:txBody>
      </p:sp>
      <p:pic>
        <p:nvPicPr>
          <p:cNvPr id="25" name="Image 1" descr="/tmp/claude-0/-home-user-Chronopoli/d7458f57-86b2-5920-914e-8615357fee63/scratchpad/deck-master/framed/pathway.png">    </p:cNvPr>
          <p:cNvPicPr>
            <a:picLocks noChangeAspect="1"/>
          </p:cNvPicPr>
          <p:nvPr/>
        </p:nvPicPr>
        <p:blipFill>
          <a:blip r:embed="rId3"/>
          <a:stretch>
            <a:fillRect/>
          </a:stretch>
        </p:blipFill>
        <p:spPr>
          <a:xfrm>
            <a:off x="6618154" y="1789768"/>
            <a:ext cx="4506454" cy="3560098"/>
          </a:xfrm>
          <a:prstGeom prst="rect">
            <a:avLst/>
          </a:prstGeom>
        </p:spPr>
      </p:pic>
      <p:sp>
        <p:nvSpPr>
          <p:cNvPr id="26" name="Shape 21"/>
          <p:cNvSpPr/>
          <p:nvPr/>
        </p:nvSpPr>
        <p:spPr>
          <a:xfrm>
            <a:off x="6736744" y="5368436"/>
            <a:ext cx="2591796"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828184" y="5441588"/>
            <a:ext cx="73152" cy="73152"/>
          </a:xfrm>
          <a:prstGeom prst="ellipse">
            <a:avLst/>
          </a:prstGeom>
          <a:solidFill>
            <a:srgbClr val="F0C96B"/>
          </a:solidFill>
          <a:ln/>
        </p:spPr>
      </p:sp>
      <p:sp>
        <p:nvSpPr>
          <p:cNvPr id="28" name="Text 23"/>
          <p:cNvSpPr txBox="1"/>
          <p:nvPr/>
        </p:nvSpPr>
        <p:spPr>
          <a:xfrm>
            <a:off x="6956200" y="536843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9" name="Text 24"/>
          <p:cNvSpPr txBox="1"/>
          <p:nvPr/>
        </p:nvSpPr>
        <p:spPr>
          <a:xfrm>
            <a:off x="9438268" y="5400440"/>
            <a:ext cx="156774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Pathway page</a:t>
            </a:r>
            <a:endParaRPr lang="en-US" sz="1000" dirty="0"/>
          </a:p>
        </p:txBody>
      </p:sp>
      <p:sp>
        <p:nvSpPr>
          <p:cNvPr id="30" name="Text 25"/>
          <p:cNvSpPr txBox="1"/>
          <p:nvPr/>
        </p:nvSpPr>
        <p:spPr>
          <a:xfrm>
            <a:off x="6736744" y="5789060"/>
            <a:ext cx="426927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Pathway:</a:t>
            </a:r>
            <a:r>
              <a:rPr lang="en-US" sz="1400" dirty="0">
                <a:solidFill>
                  <a:srgbClr val="E8E8F0"/>
                </a:solidFill>
                <a:latin typeface="Arial" pitchFamily="34" charset="0"/>
                <a:ea typeface="Arial" pitchFamily="34" charset="-122"/>
                <a:cs typeface="Arial" pitchFamily="34" charset="-120"/>
              </a:rPr>
              <a:t> four required courses in four districts, all passed; no parallel grade book</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60925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7151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8 OF 9 · BADGE TO JOB</a:t>
            </a:r>
            <a:endParaRPr lang="en-US" sz="900" dirty="0"/>
          </a:p>
        </p:txBody>
      </p:sp>
      <p:sp>
        <p:nvSpPr>
          <p:cNvPr id="5" name="Shape 2"/>
          <p:cNvSpPr/>
          <p:nvPr/>
        </p:nvSpPr>
        <p:spPr>
          <a:xfrm>
            <a:off x="4231051" y="470916"/>
            <a:ext cx="82296" cy="82296"/>
          </a:xfrm>
          <a:prstGeom prst="ellipse">
            <a:avLst/>
          </a:prstGeom>
          <a:solidFill>
            <a:srgbClr val="9B7A2E"/>
          </a:solidFill>
          <a:ln/>
        </p:spPr>
      </p:sp>
      <p:sp>
        <p:nvSpPr>
          <p:cNvPr id="6" name="Shape 3"/>
          <p:cNvSpPr/>
          <p:nvPr/>
        </p:nvSpPr>
        <p:spPr>
          <a:xfrm>
            <a:off x="4372783" y="470916"/>
            <a:ext cx="82296" cy="82296"/>
          </a:xfrm>
          <a:prstGeom prst="ellipse">
            <a:avLst/>
          </a:prstGeom>
          <a:solidFill>
            <a:srgbClr val="9B7A2E"/>
          </a:solidFill>
          <a:ln/>
        </p:spPr>
      </p:sp>
      <p:sp>
        <p:nvSpPr>
          <p:cNvPr id="7" name="Shape 4"/>
          <p:cNvSpPr/>
          <p:nvPr/>
        </p:nvSpPr>
        <p:spPr>
          <a:xfrm>
            <a:off x="4514515" y="470916"/>
            <a:ext cx="82296" cy="82296"/>
          </a:xfrm>
          <a:prstGeom prst="ellipse">
            <a:avLst/>
          </a:prstGeom>
          <a:solidFill>
            <a:srgbClr val="9B7A2E"/>
          </a:solidFill>
          <a:ln/>
        </p:spPr>
      </p:sp>
      <p:sp>
        <p:nvSpPr>
          <p:cNvPr id="8" name="Shape 5"/>
          <p:cNvSpPr/>
          <p:nvPr/>
        </p:nvSpPr>
        <p:spPr>
          <a:xfrm>
            <a:off x="4656247" y="470916"/>
            <a:ext cx="82296" cy="82296"/>
          </a:xfrm>
          <a:prstGeom prst="ellipse">
            <a:avLst/>
          </a:prstGeom>
          <a:solidFill>
            <a:srgbClr val="9B7A2E"/>
          </a:solidFill>
          <a:ln/>
        </p:spPr>
      </p:sp>
      <p:sp>
        <p:nvSpPr>
          <p:cNvPr id="9" name="Shape 6"/>
          <p:cNvSpPr/>
          <p:nvPr/>
        </p:nvSpPr>
        <p:spPr>
          <a:xfrm>
            <a:off x="4797979" y="470916"/>
            <a:ext cx="82296" cy="82296"/>
          </a:xfrm>
          <a:prstGeom prst="ellipse">
            <a:avLst/>
          </a:prstGeom>
          <a:solidFill>
            <a:srgbClr val="9B7A2E"/>
          </a:solidFill>
          <a:ln/>
        </p:spPr>
      </p:sp>
      <p:sp>
        <p:nvSpPr>
          <p:cNvPr id="10" name="Shape 7"/>
          <p:cNvSpPr/>
          <p:nvPr/>
        </p:nvSpPr>
        <p:spPr>
          <a:xfrm>
            <a:off x="4939711" y="470916"/>
            <a:ext cx="82296" cy="82296"/>
          </a:xfrm>
          <a:prstGeom prst="ellipse">
            <a:avLst/>
          </a:prstGeom>
          <a:solidFill>
            <a:srgbClr val="9B7A2E"/>
          </a:solidFill>
          <a:ln/>
        </p:spPr>
      </p:sp>
      <p:sp>
        <p:nvSpPr>
          <p:cNvPr id="11" name="Shape 8"/>
          <p:cNvSpPr/>
          <p:nvPr/>
        </p:nvSpPr>
        <p:spPr>
          <a:xfrm>
            <a:off x="5081443" y="470916"/>
            <a:ext cx="82296" cy="82296"/>
          </a:xfrm>
          <a:prstGeom prst="ellipse">
            <a:avLst/>
          </a:prstGeom>
          <a:solidFill>
            <a:srgbClr val="9B7A2E"/>
          </a:solidFill>
          <a:ln/>
        </p:spPr>
      </p:sp>
      <p:sp>
        <p:nvSpPr>
          <p:cNvPr id="12" name="Shape 9"/>
          <p:cNvSpPr/>
          <p:nvPr/>
        </p:nvSpPr>
        <p:spPr>
          <a:xfrm>
            <a:off x="5223175" y="470916"/>
            <a:ext cx="82296" cy="82296"/>
          </a:xfrm>
          <a:prstGeom prst="ellipse">
            <a:avLst/>
          </a:prstGeom>
          <a:solidFill>
            <a:srgbClr val="F0C96B"/>
          </a:solidFill>
          <a:ln/>
        </p:spPr>
      </p:sp>
      <p:sp>
        <p:nvSpPr>
          <p:cNvPr id="13" name="Shape 10"/>
          <p:cNvSpPr/>
          <p:nvPr/>
        </p:nvSpPr>
        <p:spPr>
          <a:xfrm>
            <a:off x="5364907" y="470916"/>
            <a:ext cx="82296" cy="82296"/>
          </a:xfrm>
          <a:prstGeom prst="ellipse">
            <a:avLst/>
          </a:prstGeom>
          <a:solidFill>
            <a:srgbClr val="34344A"/>
          </a:solidFill>
          <a:ln/>
        </p:spPr>
      </p:sp>
      <p:sp>
        <p:nvSpPr>
          <p:cNvPr id="14" name="Shape 11"/>
          <p:cNvSpPr/>
          <p:nvPr/>
        </p:nvSpPr>
        <p:spPr>
          <a:xfrm>
            <a:off x="5616367"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771815"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618578" y="384048"/>
            <a:ext cx="311591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Fictitious roles</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credential to career</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Finishing a pathway issues a verifiable Open Badge, and partners can require that badge for open roles</a:t>
            </a:r>
            <a:endParaRPr lang="en-US" sz="1600" dirty="0"/>
          </a:p>
        </p:txBody>
      </p:sp>
      <p:pic>
        <p:nvPicPr>
          <p:cNvPr id="19" name="Image 0" descr="/tmp/claude-0/-home-user-Chronopoli/d7458f57-86b2-5920-914e-8615357fee63/scratchpad/deck-master/framed/badge.png">    </p:cNvPr>
          <p:cNvPicPr>
            <a:picLocks noChangeAspect="1"/>
          </p:cNvPicPr>
          <p:nvPr/>
        </p:nvPicPr>
        <p:blipFill>
          <a:blip r:embed="rId2"/>
          <a:stretch>
            <a:fillRect/>
          </a:stretch>
        </p:blipFill>
        <p:spPr>
          <a:xfrm>
            <a:off x="359794" y="1928150"/>
            <a:ext cx="3711416" cy="3911223"/>
          </a:xfrm>
          <a:prstGeom prst="rect">
            <a:avLst/>
          </a:prstGeom>
        </p:spPr>
      </p:pic>
      <p:sp>
        <p:nvSpPr>
          <p:cNvPr id="20" name="Shape 16"/>
          <p:cNvSpPr/>
          <p:nvPr/>
        </p:nvSpPr>
        <p:spPr>
          <a:xfrm>
            <a:off x="457200" y="5879127"/>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952279"/>
            <a:ext cx="73152" cy="73152"/>
          </a:xfrm>
          <a:prstGeom prst="ellipse">
            <a:avLst/>
          </a:prstGeom>
          <a:solidFill>
            <a:srgbClr val="F0C96B"/>
          </a:solidFill>
          <a:ln/>
        </p:spPr>
      </p:sp>
      <p:sp>
        <p:nvSpPr>
          <p:cNvPr id="22" name="Text 18"/>
          <p:cNvSpPr txBox="1"/>
          <p:nvPr/>
        </p:nvSpPr>
        <p:spPr>
          <a:xfrm>
            <a:off x="676656" y="587912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3158724" y="5911131"/>
            <a:ext cx="8150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CSCS badge</a:t>
            </a:r>
            <a:endParaRPr lang="en-US" sz="1000" dirty="0"/>
          </a:p>
        </p:txBody>
      </p:sp>
      <p:pic>
        <p:nvPicPr>
          <p:cNvPr id="24" name="Image 1" descr="/tmp/claude-0/-home-user-Chronopoli/d7458f57-86b2-5920-914e-8615357fee63/scratchpad/deck-master/framed/jobs.png">    </p:cNvPr>
          <p:cNvPicPr>
            <a:picLocks noChangeAspect="1"/>
          </p:cNvPicPr>
          <p:nvPr/>
        </p:nvPicPr>
        <p:blipFill>
          <a:blip r:embed="rId3"/>
          <a:stretch>
            <a:fillRect/>
          </a:stretch>
        </p:blipFill>
        <p:spPr>
          <a:xfrm>
            <a:off x="4214718" y="1900710"/>
            <a:ext cx="4672824" cy="3966104"/>
          </a:xfrm>
          <a:prstGeom prst="rect">
            <a:avLst/>
          </a:prstGeom>
        </p:spPr>
      </p:pic>
      <p:sp>
        <p:nvSpPr>
          <p:cNvPr id="25" name="Shape 20"/>
          <p:cNvSpPr/>
          <p:nvPr/>
        </p:nvSpPr>
        <p:spPr>
          <a:xfrm>
            <a:off x="4339564" y="5879127"/>
            <a:ext cx="2591796"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431004" y="5952279"/>
            <a:ext cx="73152" cy="73152"/>
          </a:xfrm>
          <a:prstGeom prst="ellipse">
            <a:avLst/>
          </a:prstGeom>
          <a:solidFill>
            <a:srgbClr val="F0C96B"/>
          </a:solidFill>
          <a:ln/>
        </p:spPr>
      </p:sp>
      <p:sp>
        <p:nvSpPr>
          <p:cNvPr id="27" name="Text 22"/>
          <p:cNvSpPr txBox="1"/>
          <p:nvPr/>
        </p:nvSpPr>
        <p:spPr>
          <a:xfrm>
            <a:off x="4559020" y="587912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8" name="Text 23"/>
          <p:cNvSpPr txBox="1"/>
          <p:nvPr/>
        </p:nvSpPr>
        <p:spPr>
          <a:xfrm>
            <a:off x="7041088" y="5911131"/>
            <a:ext cx="172160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job board</a:t>
            </a:r>
            <a:endParaRPr lang="en-US" sz="1000" dirty="0"/>
          </a:p>
        </p:txBody>
      </p:sp>
      <p:sp>
        <p:nvSpPr>
          <p:cNvPr id="29" name="Text 24"/>
          <p:cNvSpPr txBox="1"/>
          <p:nvPr/>
        </p:nvSpPr>
        <p:spPr>
          <a:xfrm>
            <a:off x="9174175" y="2595982"/>
            <a:ext cx="2560320" cy="263042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CSCS badge:</a:t>
            </a:r>
            <a:r>
              <a:rPr lang="en-US" sz="1400" dirty="0">
                <a:solidFill>
                  <a:srgbClr val="E8E8F0"/>
                </a:solidFill>
                <a:latin typeface="Arial" pitchFamily="34" charset="0"/>
                <a:ea typeface="Arial" pitchFamily="34" charset="-122"/>
                <a:cs typeface="Arial" pitchFamily="34" charset="-120"/>
              </a:rPr>
              <a:t> Open Badges 2.0, readable by badge wallets and HR systems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Roles can require a badge:</a:t>
            </a:r>
            <a:r>
              <a:rPr lang="en-US" sz="1400" dirty="0">
                <a:solidFill>
                  <a:srgbClr val="E8E8F0"/>
                </a:solidFill>
                <a:latin typeface="Arial" pitchFamily="34" charset="0"/>
                <a:ea typeface="Arial" pitchFamily="34" charset="-122"/>
                <a:cs typeface="Arial" pitchFamily="34" charset="-120"/>
              </a:rPr>
              <a:t> the Stablecoin Compliance Analyst role (Dubai, hybrid) asks for CSCS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Consent first:</a:t>
            </a:r>
            <a:r>
              <a:rPr lang="en-US" sz="1400" dirty="0">
                <a:solidFill>
                  <a:srgbClr val="E8E8F0"/>
                </a:solidFill>
                <a:latin typeface="Arial" pitchFamily="34" charset="0"/>
                <a:ea typeface="Arial" pitchFamily="34" charset="-122"/>
                <a:cs typeface="Arial" pitchFamily="34" charset="-120"/>
              </a:rPr>
              <a:t> learners opt in before partners see their badges (a go-live requirement)</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02193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8419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9 OF 9 · COMMUNITY &amp; VIDEO</a:t>
            </a:r>
            <a:endParaRPr lang="en-US" sz="900" dirty="0"/>
          </a:p>
        </p:txBody>
      </p:sp>
      <p:sp>
        <p:nvSpPr>
          <p:cNvPr id="5" name="Shape 2"/>
          <p:cNvSpPr/>
          <p:nvPr/>
        </p:nvSpPr>
        <p:spPr>
          <a:xfrm>
            <a:off x="4643727" y="470916"/>
            <a:ext cx="82296" cy="82296"/>
          </a:xfrm>
          <a:prstGeom prst="ellipse">
            <a:avLst/>
          </a:prstGeom>
          <a:solidFill>
            <a:srgbClr val="9B7A2E"/>
          </a:solidFill>
          <a:ln/>
        </p:spPr>
      </p:sp>
      <p:sp>
        <p:nvSpPr>
          <p:cNvPr id="6" name="Shape 3"/>
          <p:cNvSpPr/>
          <p:nvPr/>
        </p:nvSpPr>
        <p:spPr>
          <a:xfrm>
            <a:off x="4785459" y="470916"/>
            <a:ext cx="82296" cy="82296"/>
          </a:xfrm>
          <a:prstGeom prst="ellipse">
            <a:avLst/>
          </a:prstGeom>
          <a:solidFill>
            <a:srgbClr val="9B7A2E"/>
          </a:solidFill>
          <a:ln/>
        </p:spPr>
      </p:sp>
      <p:sp>
        <p:nvSpPr>
          <p:cNvPr id="7" name="Shape 4"/>
          <p:cNvSpPr/>
          <p:nvPr/>
        </p:nvSpPr>
        <p:spPr>
          <a:xfrm>
            <a:off x="4927191" y="470916"/>
            <a:ext cx="82296" cy="82296"/>
          </a:xfrm>
          <a:prstGeom prst="ellipse">
            <a:avLst/>
          </a:prstGeom>
          <a:solidFill>
            <a:srgbClr val="9B7A2E"/>
          </a:solidFill>
          <a:ln/>
        </p:spPr>
      </p:sp>
      <p:sp>
        <p:nvSpPr>
          <p:cNvPr id="8" name="Shape 5"/>
          <p:cNvSpPr/>
          <p:nvPr/>
        </p:nvSpPr>
        <p:spPr>
          <a:xfrm>
            <a:off x="5068923" y="470916"/>
            <a:ext cx="82296" cy="82296"/>
          </a:xfrm>
          <a:prstGeom prst="ellipse">
            <a:avLst/>
          </a:prstGeom>
          <a:solidFill>
            <a:srgbClr val="9B7A2E"/>
          </a:solidFill>
          <a:ln/>
        </p:spPr>
      </p:sp>
      <p:sp>
        <p:nvSpPr>
          <p:cNvPr id="9" name="Shape 6"/>
          <p:cNvSpPr/>
          <p:nvPr/>
        </p:nvSpPr>
        <p:spPr>
          <a:xfrm>
            <a:off x="5210655" y="470916"/>
            <a:ext cx="82296" cy="82296"/>
          </a:xfrm>
          <a:prstGeom prst="ellipse">
            <a:avLst/>
          </a:prstGeom>
          <a:solidFill>
            <a:srgbClr val="9B7A2E"/>
          </a:solidFill>
          <a:ln/>
        </p:spPr>
      </p:sp>
      <p:sp>
        <p:nvSpPr>
          <p:cNvPr id="10" name="Shape 7"/>
          <p:cNvSpPr/>
          <p:nvPr/>
        </p:nvSpPr>
        <p:spPr>
          <a:xfrm>
            <a:off x="5352387" y="470916"/>
            <a:ext cx="82296" cy="82296"/>
          </a:xfrm>
          <a:prstGeom prst="ellipse">
            <a:avLst/>
          </a:prstGeom>
          <a:solidFill>
            <a:srgbClr val="9B7A2E"/>
          </a:solidFill>
          <a:ln/>
        </p:spPr>
      </p:sp>
      <p:sp>
        <p:nvSpPr>
          <p:cNvPr id="11" name="Shape 8"/>
          <p:cNvSpPr/>
          <p:nvPr/>
        </p:nvSpPr>
        <p:spPr>
          <a:xfrm>
            <a:off x="5494119" y="470916"/>
            <a:ext cx="82296" cy="82296"/>
          </a:xfrm>
          <a:prstGeom prst="ellipse">
            <a:avLst/>
          </a:prstGeom>
          <a:solidFill>
            <a:srgbClr val="9B7A2E"/>
          </a:solidFill>
          <a:ln/>
        </p:spPr>
      </p:sp>
      <p:sp>
        <p:nvSpPr>
          <p:cNvPr id="12" name="Shape 9"/>
          <p:cNvSpPr/>
          <p:nvPr/>
        </p:nvSpPr>
        <p:spPr>
          <a:xfrm>
            <a:off x="5635851" y="470916"/>
            <a:ext cx="82296" cy="82296"/>
          </a:xfrm>
          <a:prstGeom prst="ellipse">
            <a:avLst/>
          </a:prstGeom>
          <a:solidFill>
            <a:srgbClr val="9B7A2E"/>
          </a:solidFill>
          <a:ln/>
        </p:spPr>
      </p:sp>
      <p:sp>
        <p:nvSpPr>
          <p:cNvPr id="13" name="Shape 10"/>
          <p:cNvSpPr/>
          <p:nvPr/>
        </p:nvSpPr>
        <p:spPr>
          <a:xfrm>
            <a:off x="5777583" y="470916"/>
            <a:ext cx="82296" cy="82296"/>
          </a:xfrm>
          <a:prstGeom prst="ellipse">
            <a:avLst/>
          </a:prstGeom>
          <a:solidFill>
            <a:srgbClr val="F0C96B"/>
          </a:solidFill>
          <a:ln/>
        </p:spPr>
      </p:sp>
      <p:sp>
        <p:nvSpPr>
          <p:cNvPr id="14" name="Shape 11"/>
          <p:cNvSpPr/>
          <p:nvPr/>
        </p:nvSpPr>
        <p:spPr>
          <a:xfrm>
            <a:off x="602904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8449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809258" y="384048"/>
            <a:ext cx="392523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during USDT-201 · Illustrative mock content</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Community and video, in district colours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District forums on Discourse and lecture video on Opencast: both real, both running in our stack</a:t>
            </a:r>
            <a:endParaRPr lang="en-US" sz="1600" dirty="0"/>
          </a:p>
        </p:txBody>
      </p:sp>
      <p:pic>
        <p:nvPicPr>
          <p:cNvPr id="19" name="Image 0" descr="/tmp/claude-0/-home-user-Chronopoli/d7458f57-86b2-5920-914e-8615357fee63/scratchpad/deck-master/framed/discourse_topic.png">    </p:cNvPr>
          <p:cNvPicPr>
            <a:picLocks noChangeAspect="1"/>
          </p:cNvPicPr>
          <p:nvPr/>
        </p:nvPicPr>
        <p:blipFill>
          <a:blip r:embed="rId2"/>
          <a:stretch>
            <a:fillRect/>
          </a:stretch>
        </p:blipFill>
        <p:spPr>
          <a:xfrm>
            <a:off x="1376628" y="1799174"/>
            <a:ext cx="4119672" cy="3327928"/>
          </a:xfrm>
          <a:prstGeom prst="rect">
            <a:avLst/>
          </a:prstGeom>
        </p:spPr>
      </p:pic>
      <p:sp>
        <p:nvSpPr>
          <p:cNvPr id="20" name="Shape 16"/>
          <p:cNvSpPr/>
          <p:nvPr/>
        </p:nvSpPr>
        <p:spPr>
          <a:xfrm>
            <a:off x="1485554" y="5155336"/>
            <a:ext cx="1327790"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576994" y="5228488"/>
            <a:ext cx="73152" cy="73152"/>
          </a:xfrm>
          <a:prstGeom prst="ellipse">
            <a:avLst/>
          </a:prstGeom>
          <a:solidFill>
            <a:srgbClr val="60A5FA"/>
          </a:solidFill>
          <a:ln/>
        </p:spPr>
      </p:sp>
      <p:sp>
        <p:nvSpPr>
          <p:cNvPr id="22" name="Text 18"/>
          <p:cNvSpPr txBox="1"/>
          <p:nvPr/>
        </p:nvSpPr>
        <p:spPr>
          <a:xfrm>
            <a:off x="1705010" y="5155336"/>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23" name="Text 19"/>
          <p:cNvSpPr txBox="1"/>
          <p:nvPr/>
        </p:nvSpPr>
        <p:spPr>
          <a:xfrm>
            <a:off x="2923072" y="5187340"/>
            <a:ext cx="246430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Discourse 3.5 · Travel Rule thread</a:t>
            </a:r>
            <a:endParaRPr lang="en-US" sz="1000" dirty="0"/>
          </a:p>
        </p:txBody>
      </p:sp>
      <p:sp>
        <p:nvSpPr>
          <p:cNvPr id="24" name="Text 20"/>
          <p:cNvSpPr txBox="1"/>
          <p:nvPr/>
        </p:nvSpPr>
        <p:spPr>
          <a:xfrm>
            <a:off x="1485554" y="5575960"/>
            <a:ext cx="390182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Community:</a:t>
            </a:r>
            <a:r>
              <a:rPr lang="en-US" sz="1400" dirty="0">
                <a:solidFill>
                  <a:srgbClr val="E8E8F0"/>
                </a:solidFill>
                <a:latin typeface="Arial" pitchFamily="34" charset="0"/>
                <a:ea typeface="Arial" pitchFamily="34" charset="-122"/>
                <a:cs typeface="Arial" pitchFamily="34" charset="-120"/>
              </a:rPr>
              <a:t> a forum per district, joined via SSO; an MLRO asks, an FIU investigator answers</a:t>
            </a:r>
            <a:endParaRPr lang="en-US" sz="1400" dirty="0"/>
          </a:p>
        </p:txBody>
      </p:sp>
      <p:pic>
        <p:nvPicPr>
          <p:cNvPr id="25" name="Image 1" descr="/tmp/claude-0/-home-user-Chronopoli/d7458f57-86b2-5920-914e-8615357fee63/scratchpad/deck-master/framed/paella.png">    </p:cNvPr>
          <p:cNvPicPr>
            <a:picLocks noChangeAspect="1"/>
          </p:cNvPicPr>
          <p:nvPr/>
        </p:nvPicPr>
        <p:blipFill>
          <a:blip r:embed="rId3"/>
          <a:stretch>
            <a:fillRect/>
          </a:stretch>
        </p:blipFill>
        <p:spPr>
          <a:xfrm>
            <a:off x="5614863" y="1769828"/>
            <a:ext cx="5229551" cy="3386619"/>
          </a:xfrm>
          <a:prstGeom prst="rect">
            <a:avLst/>
          </a:prstGeom>
        </p:spPr>
      </p:pic>
      <p:sp>
        <p:nvSpPr>
          <p:cNvPr id="26" name="Shape 21"/>
          <p:cNvSpPr/>
          <p:nvPr/>
        </p:nvSpPr>
        <p:spPr>
          <a:xfrm>
            <a:off x="5753134" y="5155336"/>
            <a:ext cx="1327790"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5844574" y="5228488"/>
            <a:ext cx="73152" cy="73152"/>
          </a:xfrm>
          <a:prstGeom prst="ellipse">
            <a:avLst/>
          </a:prstGeom>
          <a:solidFill>
            <a:srgbClr val="60A5FA"/>
          </a:solidFill>
          <a:ln/>
        </p:spPr>
      </p:sp>
      <p:sp>
        <p:nvSpPr>
          <p:cNvPr id="28" name="Text 23"/>
          <p:cNvSpPr txBox="1"/>
          <p:nvPr/>
        </p:nvSpPr>
        <p:spPr>
          <a:xfrm>
            <a:off x="5972590" y="5155336"/>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EXTENSION</a:t>
            </a:r>
            <a:endParaRPr lang="en-US" sz="800" dirty="0"/>
          </a:p>
        </p:txBody>
      </p:sp>
      <p:sp>
        <p:nvSpPr>
          <p:cNvPr id="29" name="Text 24"/>
          <p:cNvSpPr txBox="1"/>
          <p:nvPr/>
        </p:nvSpPr>
        <p:spPr>
          <a:xfrm>
            <a:off x="7190652" y="5187340"/>
            <a:ext cx="351549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Opencast 20.4 · Paella player, lecture 4.1</a:t>
            </a:r>
            <a:endParaRPr lang="en-US" sz="1000" dirty="0"/>
          </a:p>
        </p:txBody>
      </p:sp>
      <p:sp>
        <p:nvSpPr>
          <p:cNvPr id="30" name="Text 25"/>
          <p:cNvSpPr txBox="1"/>
          <p:nvPr/>
        </p:nvSpPr>
        <p:spPr>
          <a:xfrm>
            <a:off x="5753134" y="5575960"/>
            <a:ext cx="495300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Video:</a:t>
            </a:r>
            <a:r>
              <a:rPr lang="en-US" sz="1400" dirty="0">
                <a:solidFill>
                  <a:srgbClr val="E8E8F0"/>
                </a:solidFill>
                <a:latin typeface="Arial" pitchFamily="34" charset="0"/>
                <a:ea typeface="Arial" pitchFamily="34" charset="-122"/>
                <a:cs typeface="Arial" pitchFamily="34" charset="-120"/>
              </a:rPr>
              <a:t> Opencast records lectures; Paella adds a slide index so learners jump to any slide</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80881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57106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 2</a:t>
            </a:r>
            <a:endParaRPr lang="en-US" sz="900" dirty="0"/>
          </a:p>
        </p:txBody>
      </p:sp>
      <p:sp>
        <p:nvSpPr>
          <p:cNvPr id="5" name="Text 2"/>
          <p:cNvSpPr txBox="1"/>
          <p:nvPr/>
        </p:nvSpPr>
        <p:spPr>
          <a:xfrm>
            <a:off x="457200" y="1097280"/>
            <a:ext cx="11277295"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partner side: why organisations pay</a:t>
            </a:r>
            <a:endParaRPr lang="en-US" sz="4000" dirty="0"/>
          </a:p>
        </p:txBody>
      </p:sp>
      <p:sp>
        <p:nvSpPr>
          <p:cNvPr id="6" name="Text 3"/>
          <p:cNvSpPr txBox="1"/>
          <p:nvPr/>
        </p:nvSpPr>
        <p:spPr>
          <a:xfrm>
            <a:off x="457200" y="1901952"/>
            <a:ext cx="7863840" cy="822960"/>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Author, run, measure and earn from an academy, plus round tables and expert masterclasses that no catalogue offers</a:t>
            </a:r>
            <a:endParaRPr lang="en-US" sz="1800" dirty="0"/>
          </a:p>
        </p:txBody>
      </p:sp>
      <p:sp>
        <p:nvSpPr>
          <p:cNvPr id="7" name="Shape 4"/>
          <p:cNvSpPr/>
          <p:nvPr/>
        </p:nvSpPr>
        <p:spPr>
          <a:xfrm>
            <a:off x="457200" y="2926080"/>
            <a:ext cx="438912" cy="438912"/>
          </a:xfrm>
          <a:prstGeom prst="ellipse">
            <a:avLst/>
          </a:prstGeom>
          <a:solidFill>
            <a:srgbClr val="1E1A10"/>
          </a:solidFill>
          <a:ln w="9525">
            <a:solidFill>
              <a:srgbClr val="5A4A22"/>
            </a:solidFill>
            <a:prstDash val="solid"/>
          </a:ln>
        </p:spPr>
      </p:sp>
      <p:pic>
        <p:nvPicPr>
          <p:cNvPr id="8" name="Image 0" descr="preencoded.png">    </p:cNvPr>
          <p:cNvPicPr>
            <a:picLocks noChangeAspect="1"/>
          </p:cNvPicPr>
          <p:nvPr/>
        </p:nvPicPr>
        <p:blipFill>
          <a:blip r:embed="rId2"/>
          <a:stretch>
            <a:fillRect/>
          </a:stretch>
        </p:blipFill>
        <p:spPr>
          <a:xfrm>
            <a:off x="566928" y="3035808"/>
            <a:ext cx="219456" cy="219456"/>
          </a:xfrm>
          <a:prstGeom prst="rect">
            <a:avLst/>
          </a:prstGeom>
        </p:spPr>
      </p:pic>
      <p:sp>
        <p:nvSpPr>
          <p:cNvPr id="9" name="Text 5"/>
          <p:cNvSpPr txBox="1"/>
          <p:nvPr/>
        </p:nvSpPr>
        <p:spPr>
          <a:xfrm>
            <a:off x="1097280" y="29260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Authoring in Studio</a:t>
            </a:r>
            <a:endParaRPr lang="en-US" sz="1700" dirty="0"/>
          </a:p>
        </p:txBody>
      </p:sp>
      <p:sp>
        <p:nvSpPr>
          <p:cNvPr id="10" name="Text 6"/>
          <p:cNvSpPr txBox="1"/>
          <p:nvPr/>
        </p:nvSpPr>
        <p:spPr>
          <a:xfrm>
            <a:off x="6263640" y="29260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16</a:t>
            </a:r>
            <a:endParaRPr lang="en-US" sz="1100" dirty="0"/>
          </a:p>
        </p:txBody>
      </p:sp>
      <p:sp>
        <p:nvSpPr>
          <p:cNvPr id="11" name="Shape 7"/>
          <p:cNvSpPr/>
          <p:nvPr/>
        </p:nvSpPr>
        <p:spPr>
          <a:xfrm>
            <a:off x="1097280" y="3427476"/>
            <a:ext cx="6263640" cy="0"/>
          </a:xfrm>
          <a:prstGeom prst="line">
            <a:avLst/>
          </a:prstGeom>
          <a:noFill/>
          <a:ln w="6350">
            <a:solidFill>
              <a:srgbClr val="2C2C3E"/>
            </a:solidFill>
            <a:prstDash val="solid"/>
          </a:ln>
        </p:spPr>
      </p:sp>
      <p:sp>
        <p:nvSpPr>
          <p:cNvPr id="12" name="Shape 8"/>
          <p:cNvSpPr/>
          <p:nvPr/>
        </p:nvSpPr>
        <p:spPr>
          <a:xfrm>
            <a:off x="457200" y="3489960"/>
            <a:ext cx="438912" cy="438912"/>
          </a:xfrm>
          <a:prstGeom prst="ellipse">
            <a:avLst/>
          </a:prstGeom>
          <a:solidFill>
            <a:srgbClr val="1E1A10"/>
          </a:solidFill>
          <a:ln w="9525">
            <a:solidFill>
              <a:srgbClr val="5A4A22"/>
            </a:solidFill>
            <a:prstDash val="solid"/>
          </a:ln>
        </p:spPr>
      </p:sp>
      <p:pic>
        <p:nvPicPr>
          <p:cNvPr id="13" name="Image 1" descr="preencoded.png">    </p:cNvPr>
          <p:cNvPicPr>
            <a:picLocks noChangeAspect="1"/>
          </p:cNvPicPr>
          <p:nvPr/>
        </p:nvPicPr>
        <p:blipFill>
          <a:blip r:embed="rId3"/>
          <a:stretch>
            <a:fillRect/>
          </a:stretch>
        </p:blipFill>
        <p:spPr>
          <a:xfrm>
            <a:off x="566928" y="3599688"/>
            <a:ext cx="219456" cy="219456"/>
          </a:xfrm>
          <a:prstGeom prst="rect">
            <a:avLst/>
          </a:prstGeom>
        </p:spPr>
      </p:pic>
      <p:sp>
        <p:nvSpPr>
          <p:cNvPr id="14" name="Text 9"/>
          <p:cNvSpPr txBox="1"/>
          <p:nvPr/>
        </p:nvSpPr>
        <p:spPr>
          <a:xfrm>
            <a:off x="1097280" y="348996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Partner dashboard and weekly reports</a:t>
            </a:r>
            <a:endParaRPr lang="en-US" sz="1700" dirty="0"/>
          </a:p>
        </p:txBody>
      </p:sp>
      <p:sp>
        <p:nvSpPr>
          <p:cNvPr id="15" name="Text 10"/>
          <p:cNvSpPr txBox="1"/>
          <p:nvPr/>
        </p:nvSpPr>
        <p:spPr>
          <a:xfrm>
            <a:off x="6263640" y="348996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17</a:t>
            </a:r>
            <a:endParaRPr lang="en-US" sz="1100" dirty="0"/>
          </a:p>
        </p:txBody>
      </p:sp>
      <p:sp>
        <p:nvSpPr>
          <p:cNvPr id="16" name="Shape 11"/>
          <p:cNvSpPr/>
          <p:nvPr/>
        </p:nvSpPr>
        <p:spPr>
          <a:xfrm>
            <a:off x="1097280" y="3991356"/>
            <a:ext cx="6263640" cy="0"/>
          </a:xfrm>
          <a:prstGeom prst="line">
            <a:avLst/>
          </a:prstGeom>
          <a:noFill/>
          <a:ln w="6350">
            <a:solidFill>
              <a:srgbClr val="2C2C3E"/>
            </a:solidFill>
            <a:prstDash val="solid"/>
          </a:ln>
        </p:spPr>
      </p:sp>
      <p:sp>
        <p:nvSpPr>
          <p:cNvPr id="17" name="Shape 12"/>
          <p:cNvSpPr/>
          <p:nvPr/>
        </p:nvSpPr>
        <p:spPr>
          <a:xfrm>
            <a:off x="457200" y="4053840"/>
            <a:ext cx="438912" cy="438912"/>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566928" y="4163568"/>
            <a:ext cx="219456" cy="219456"/>
          </a:xfrm>
          <a:prstGeom prst="rect">
            <a:avLst/>
          </a:prstGeom>
        </p:spPr>
      </p:pic>
      <p:sp>
        <p:nvSpPr>
          <p:cNvPr id="19" name="Text 13"/>
          <p:cNvSpPr txBox="1"/>
          <p:nvPr/>
        </p:nvSpPr>
        <p:spPr>
          <a:xfrm>
            <a:off x="1097280" y="405384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Symposia: round tables and the five-output pipeline</a:t>
            </a:r>
            <a:endParaRPr lang="en-US" sz="1700" dirty="0"/>
          </a:p>
        </p:txBody>
      </p:sp>
      <p:sp>
        <p:nvSpPr>
          <p:cNvPr id="20" name="Text 14"/>
          <p:cNvSpPr txBox="1"/>
          <p:nvPr/>
        </p:nvSpPr>
        <p:spPr>
          <a:xfrm>
            <a:off x="6263640" y="405384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18-19</a:t>
            </a:r>
            <a:endParaRPr lang="en-US" sz="1100" dirty="0"/>
          </a:p>
        </p:txBody>
      </p:sp>
      <p:sp>
        <p:nvSpPr>
          <p:cNvPr id="21" name="Shape 15"/>
          <p:cNvSpPr/>
          <p:nvPr/>
        </p:nvSpPr>
        <p:spPr>
          <a:xfrm>
            <a:off x="1097280" y="4555236"/>
            <a:ext cx="6263640" cy="0"/>
          </a:xfrm>
          <a:prstGeom prst="line">
            <a:avLst/>
          </a:prstGeom>
          <a:noFill/>
          <a:ln w="6350">
            <a:solidFill>
              <a:srgbClr val="2C2C3E"/>
            </a:solidFill>
            <a:prstDash val="solid"/>
          </a:ln>
        </p:spPr>
      </p:sp>
      <p:sp>
        <p:nvSpPr>
          <p:cNvPr id="22" name="Shape 16"/>
          <p:cNvSpPr/>
          <p:nvPr/>
        </p:nvSpPr>
        <p:spPr>
          <a:xfrm>
            <a:off x="457200" y="4617720"/>
            <a:ext cx="438912" cy="438912"/>
          </a:xfrm>
          <a:prstGeom prst="ellipse">
            <a:avLst/>
          </a:prstGeom>
          <a:solidFill>
            <a:srgbClr val="1E1A10"/>
          </a:solidFill>
          <a:ln w="9525">
            <a:solidFill>
              <a:srgbClr val="5A4A22"/>
            </a:solidFill>
            <a:prstDash val="solid"/>
          </a:ln>
        </p:spPr>
      </p:sp>
      <p:pic>
        <p:nvPicPr>
          <p:cNvPr id="23" name="Image 3" descr="preencoded.png">    </p:cNvPr>
          <p:cNvPicPr>
            <a:picLocks noChangeAspect="1"/>
          </p:cNvPicPr>
          <p:nvPr/>
        </p:nvPicPr>
        <p:blipFill>
          <a:blip r:embed="rId5"/>
          <a:stretch>
            <a:fillRect/>
          </a:stretch>
        </p:blipFill>
        <p:spPr>
          <a:xfrm>
            <a:off x="566928" y="4727448"/>
            <a:ext cx="219456" cy="219456"/>
          </a:xfrm>
          <a:prstGeom prst="rect">
            <a:avLst/>
          </a:prstGeom>
        </p:spPr>
      </p:pic>
      <p:sp>
        <p:nvSpPr>
          <p:cNvPr id="24" name="Text 17"/>
          <p:cNvSpPr txBox="1"/>
          <p:nvPr/>
        </p:nvSpPr>
        <p:spPr>
          <a:xfrm>
            <a:off x="1097280" y="461772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Open Knowledge: Digital Twin masterclasses</a:t>
            </a:r>
            <a:endParaRPr lang="en-US" sz="1700" dirty="0"/>
          </a:p>
        </p:txBody>
      </p:sp>
      <p:sp>
        <p:nvSpPr>
          <p:cNvPr id="25" name="Text 18"/>
          <p:cNvSpPr txBox="1"/>
          <p:nvPr/>
        </p:nvSpPr>
        <p:spPr>
          <a:xfrm>
            <a:off x="6263640" y="461772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20</a:t>
            </a:r>
            <a:endParaRPr lang="en-US" sz="1100" dirty="0"/>
          </a:p>
        </p:txBody>
      </p:sp>
      <p:sp>
        <p:nvSpPr>
          <p:cNvPr id="26" name="Shape 19"/>
          <p:cNvSpPr/>
          <p:nvPr/>
        </p:nvSpPr>
        <p:spPr>
          <a:xfrm>
            <a:off x="1097280" y="5119116"/>
            <a:ext cx="6263640" cy="0"/>
          </a:xfrm>
          <a:prstGeom prst="line">
            <a:avLst/>
          </a:prstGeom>
          <a:noFill/>
          <a:ln w="6350">
            <a:solidFill>
              <a:srgbClr val="2C2C3E"/>
            </a:solidFill>
            <a:prstDash val="solid"/>
          </a:ln>
        </p:spPr>
      </p:sp>
      <p:sp>
        <p:nvSpPr>
          <p:cNvPr id="27" name="Shape 20"/>
          <p:cNvSpPr/>
          <p:nvPr/>
        </p:nvSpPr>
        <p:spPr>
          <a:xfrm>
            <a:off x="457200" y="5181600"/>
            <a:ext cx="438912" cy="438912"/>
          </a:xfrm>
          <a:prstGeom prst="ellipse">
            <a:avLst/>
          </a:prstGeom>
          <a:solidFill>
            <a:srgbClr val="1E1A10"/>
          </a:solidFill>
          <a:ln w="9525">
            <a:solidFill>
              <a:srgbClr val="5A4A22"/>
            </a:solidFill>
            <a:prstDash val="solid"/>
          </a:ln>
        </p:spPr>
      </p:sp>
      <p:pic>
        <p:nvPicPr>
          <p:cNvPr id="28" name="Image 4" descr="preencoded.png">    </p:cNvPr>
          <p:cNvPicPr>
            <a:picLocks noChangeAspect="1"/>
          </p:cNvPicPr>
          <p:nvPr/>
        </p:nvPicPr>
        <p:blipFill>
          <a:blip r:embed="rId6"/>
          <a:stretch>
            <a:fillRect/>
          </a:stretch>
        </p:blipFill>
        <p:spPr>
          <a:xfrm>
            <a:off x="566928" y="5291328"/>
            <a:ext cx="219456" cy="219456"/>
          </a:xfrm>
          <a:prstGeom prst="rect">
            <a:avLst/>
          </a:prstGeom>
        </p:spPr>
      </p:pic>
      <p:sp>
        <p:nvSpPr>
          <p:cNvPr id="29" name="Text 21"/>
          <p:cNvSpPr txBox="1"/>
          <p:nvPr/>
        </p:nvSpPr>
        <p:spPr>
          <a:xfrm>
            <a:off x="1097280" y="518160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Market, business model, licences and payouts</a:t>
            </a:r>
            <a:endParaRPr lang="en-US" sz="1700" dirty="0"/>
          </a:p>
        </p:txBody>
      </p:sp>
      <p:sp>
        <p:nvSpPr>
          <p:cNvPr id="30" name="Text 22"/>
          <p:cNvSpPr txBox="1"/>
          <p:nvPr/>
        </p:nvSpPr>
        <p:spPr>
          <a:xfrm>
            <a:off x="6263640" y="518160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21-26</a:t>
            </a:r>
            <a:endParaRPr lang="en-US" sz="1100" dirty="0"/>
          </a:p>
        </p:txBody>
      </p:sp>
      <p:sp>
        <p:nvSpPr>
          <p:cNvPr id="31" name="Shape 23"/>
          <p:cNvSpPr/>
          <p:nvPr/>
        </p:nvSpPr>
        <p:spPr>
          <a:xfrm>
            <a:off x="1097280" y="5682996"/>
            <a:ext cx="6263640" cy="0"/>
          </a:xfrm>
          <a:prstGeom prst="line">
            <a:avLst/>
          </a:prstGeom>
          <a:noFill/>
          <a:ln w="6350">
            <a:solidFill>
              <a:srgbClr val="2C2C3E"/>
            </a:solidFill>
            <a:prstDash val="solid"/>
          </a:ln>
        </p:spPr>
      </p:sp>
      <p:sp>
        <p:nvSpPr>
          <p:cNvPr id="32" name="Shape 24"/>
          <p:cNvSpPr/>
          <p:nvPr/>
        </p:nvSpPr>
        <p:spPr>
          <a:xfrm>
            <a:off x="457200" y="5745480"/>
            <a:ext cx="438912" cy="438912"/>
          </a:xfrm>
          <a:prstGeom prst="ellipse">
            <a:avLst/>
          </a:prstGeom>
          <a:solidFill>
            <a:srgbClr val="1E1A10"/>
          </a:solidFill>
          <a:ln w="9525">
            <a:solidFill>
              <a:srgbClr val="5A4A22"/>
            </a:solidFill>
            <a:prstDash val="solid"/>
          </a:ln>
        </p:spPr>
      </p:sp>
      <p:pic>
        <p:nvPicPr>
          <p:cNvPr id="33" name="Image 5" descr="preencoded.png">    </p:cNvPr>
          <p:cNvPicPr>
            <a:picLocks noChangeAspect="1"/>
          </p:cNvPicPr>
          <p:nvPr/>
        </p:nvPicPr>
        <p:blipFill>
          <a:blip r:embed="rId7"/>
          <a:stretch>
            <a:fillRect/>
          </a:stretch>
        </p:blipFill>
        <p:spPr>
          <a:xfrm>
            <a:off x="566928" y="5855208"/>
            <a:ext cx="219456" cy="219456"/>
          </a:xfrm>
          <a:prstGeom prst="rect">
            <a:avLst/>
          </a:prstGeom>
        </p:spPr>
      </p:pic>
      <p:sp>
        <p:nvSpPr>
          <p:cNvPr id="34" name="Text 25"/>
          <p:cNvSpPr txBox="1"/>
          <p:nvPr/>
        </p:nvSpPr>
        <p:spPr>
          <a:xfrm>
            <a:off x="1097280" y="57454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Financials, traction, team, plan and the ask</a:t>
            </a:r>
            <a:endParaRPr lang="en-US" sz="1700" dirty="0"/>
          </a:p>
        </p:txBody>
      </p:sp>
      <p:sp>
        <p:nvSpPr>
          <p:cNvPr id="35" name="Text 26"/>
          <p:cNvSpPr txBox="1"/>
          <p:nvPr/>
        </p:nvSpPr>
        <p:spPr>
          <a:xfrm>
            <a:off x="6263640" y="57454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27-39</a:t>
            </a:r>
            <a:endParaRPr lang="en-US" sz="1100" dirty="0"/>
          </a:p>
        </p:txBody>
      </p:sp>
      <p:sp>
        <p:nvSpPr>
          <p:cNvPr id="36" name="Text 27"/>
          <p:cNvSpPr txBox="1"/>
          <p:nvPr/>
        </p:nvSpPr>
        <p:spPr>
          <a:xfrm>
            <a:off x="8001000" y="2907792"/>
            <a:ext cx="3733495"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NEW PERSONAS (FICTITIOUS)</a:t>
            </a:r>
            <a:endParaRPr lang="en-US" sz="900" dirty="0"/>
          </a:p>
        </p:txBody>
      </p:sp>
      <p:sp>
        <p:nvSpPr>
          <p:cNvPr id="37" name="Shape 28"/>
          <p:cNvSpPr/>
          <p:nvPr/>
        </p:nvSpPr>
        <p:spPr>
          <a:xfrm>
            <a:off x="8001000" y="3255264"/>
            <a:ext cx="3733495" cy="1005840"/>
          </a:xfrm>
          <a:prstGeom prst="roundRect">
            <a:avLst>
              <a:gd name="adj" fmla="val 10909"/>
            </a:avLst>
          </a:prstGeom>
          <a:solidFill>
            <a:srgbClr val="171722"/>
          </a:solidFill>
          <a:ln w="9525">
            <a:solidFill>
              <a:srgbClr val="2C2C3E"/>
            </a:solidFill>
            <a:prstDash val="solid"/>
          </a:ln>
        </p:spPr>
      </p:sp>
      <p:sp>
        <p:nvSpPr>
          <p:cNvPr id="38" name="Shape 29"/>
          <p:cNvSpPr/>
          <p:nvPr/>
        </p:nvSpPr>
        <p:spPr>
          <a:xfrm>
            <a:off x="8229600" y="3511296"/>
            <a:ext cx="493776" cy="493776"/>
          </a:xfrm>
          <a:prstGeom prst="ellipse">
            <a:avLst/>
          </a:prstGeom>
          <a:solidFill>
            <a:srgbClr val="3B82F6"/>
          </a:solidFill>
          <a:ln/>
        </p:spPr>
      </p:sp>
      <p:sp>
        <p:nvSpPr>
          <p:cNvPr id="39" name="Text 30"/>
          <p:cNvSpPr txBox="1"/>
          <p:nvPr/>
        </p:nvSpPr>
        <p:spPr>
          <a:xfrm>
            <a:off x="8229600" y="351129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NK</a:t>
            </a:r>
            <a:endParaRPr lang="en-US" sz="1400" dirty="0"/>
          </a:p>
        </p:txBody>
      </p:sp>
      <p:sp>
        <p:nvSpPr>
          <p:cNvPr id="40" name="Text 31"/>
          <p:cNvSpPr txBox="1"/>
          <p:nvPr/>
        </p:nvSpPr>
        <p:spPr>
          <a:xfrm>
            <a:off x="8869680" y="347472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Nadia Karim</a:t>
            </a:r>
            <a:endParaRPr lang="en-US" sz="1500" dirty="0"/>
          </a:p>
        </p:txBody>
      </p:sp>
      <p:sp>
        <p:nvSpPr>
          <p:cNvPr id="41" name="Text 32"/>
          <p:cNvSpPr txBox="1"/>
          <p:nvPr/>
        </p:nvSpPr>
        <p:spPr>
          <a:xfrm>
            <a:off x="8869680" y="376732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Academy administrator (fictitious)</a:t>
            </a:r>
            <a:endParaRPr lang="en-US" sz="1200" dirty="0"/>
          </a:p>
        </p:txBody>
      </p:sp>
      <p:sp>
        <p:nvSpPr>
          <p:cNvPr id="42" name="Shape 33"/>
          <p:cNvSpPr/>
          <p:nvPr/>
        </p:nvSpPr>
        <p:spPr>
          <a:xfrm>
            <a:off x="8001000" y="4443984"/>
            <a:ext cx="3733495" cy="1005840"/>
          </a:xfrm>
          <a:prstGeom prst="roundRect">
            <a:avLst>
              <a:gd name="adj" fmla="val 10909"/>
            </a:avLst>
          </a:prstGeom>
          <a:solidFill>
            <a:srgbClr val="171722"/>
          </a:solidFill>
          <a:ln w="9525">
            <a:solidFill>
              <a:srgbClr val="2C2C3E"/>
            </a:solidFill>
            <a:prstDash val="solid"/>
          </a:ln>
        </p:spPr>
      </p:sp>
      <p:sp>
        <p:nvSpPr>
          <p:cNvPr id="43" name="Shape 34"/>
          <p:cNvSpPr/>
          <p:nvPr/>
        </p:nvSpPr>
        <p:spPr>
          <a:xfrm>
            <a:off x="8229600" y="4700016"/>
            <a:ext cx="493776" cy="493776"/>
          </a:xfrm>
          <a:prstGeom prst="ellipse">
            <a:avLst/>
          </a:prstGeom>
          <a:solidFill>
            <a:srgbClr val="10B981"/>
          </a:solidFill>
          <a:ln/>
        </p:spPr>
      </p:sp>
      <p:sp>
        <p:nvSpPr>
          <p:cNvPr id="44" name="Text 35"/>
          <p:cNvSpPr txBox="1"/>
          <p:nvPr/>
        </p:nvSpPr>
        <p:spPr>
          <a:xfrm>
            <a:off x="8229600" y="470001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AH</a:t>
            </a:r>
            <a:endParaRPr lang="en-US" sz="1400" dirty="0"/>
          </a:p>
        </p:txBody>
      </p:sp>
      <p:sp>
        <p:nvSpPr>
          <p:cNvPr id="45" name="Text 36"/>
          <p:cNvSpPr txBox="1"/>
          <p:nvPr/>
        </p:nvSpPr>
        <p:spPr>
          <a:xfrm>
            <a:off x="8869680" y="466344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Dr. Amira Haddad</a:t>
            </a:r>
            <a:endParaRPr lang="en-US" sz="1500" dirty="0"/>
          </a:p>
        </p:txBody>
      </p:sp>
      <p:sp>
        <p:nvSpPr>
          <p:cNvPr id="46" name="Text 37"/>
          <p:cNvSpPr txBox="1"/>
          <p:nvPr/>
        </p:nvSpPr>
        <p:spPr>
          <a:xfrm>
            <a:off x="8869680" y="495604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Round-table moderator (fictitious)</a:t>
            </a:r>
            <a:endParaRPr lang="en-US" sz="1200" dirty="0"/>
          </a:p>
        </p:txBody>
      </p:sp>
      <p:sp>
        <p:nvSpPr>
          <p:cNvPr id="47" name="Text 3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7241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3467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AUTHOR</a:t>
            </a:r>
            <a:endParaRPr lang="en-US" sz="900" dirty="0"/>
          </a:p>
        </p:txBody>
      </p:sp>
      <p:sp>
        <p:nvSpPr>
          <p:cNvPr id="5" name="Shape 2"/>
          <p:cNvSpPr/>
          <p:nvPr/>
        </p:nvSpPr>
        <p:spPr>
          <a:xfrm>
            <a:off x="2694211" y="470916"/>
            <a:ext cx="82296" cy="82296"/>
          </a:xfrm>
          <a:prstGeom prst="ellipse">
            <a:avLst/>
          </a:prstGeom>
          <a:solidFill>
            <a:srgbClr val="F0C96B"/>
          </a:solidFill>
          <a:ln/>
        </p:spPr>
      </p:sp>
      <p:sp>
        <p:nvSpPr>
          <p:cNvPr id="6" name="Shape 3"/>
          <p:cNvSpPr/>
          <p:nvPr/>
        </p:nvSpPr>
        <p:spPr>
          <a:xfrm>
            <a:off x="2835943" y="470916"/>
            <a:ext cx="82296" cy="82296"/>
          </a:xfrm>
          <a:prstGeom prst="ellipse">
            <a:avLst/>
          </a:prstGeom>
          <a:solidFill>
            <a:srgbClr val="34344A"/>
          </a:solidFill>
          <a:ln/>
        </p:spPr>
      </p:sp>
      <p:sp>
        <p:nvSpPr>
          <p:cNvPr id="7" name="Shape 4"/>
          <p:cNvSpPr/>
          <p:nvPr/>
        </p:nvSpPr>
        <p:spPr>
          <a:xfrm>
            <a:off x="2977675" y="470916"/>
            <a:ext cx="82296" cy="82296"/>
          </a:xfrm>
          <a:prstGeom prst="ellipse">
            <a:avLst/>
          </a:prstGeom>
          <a:solidFill>
            <a:srgbClr val="34344A"/>
          </a:solidFill>
          <a:ln/>
        </p:spPr>
      </p:sp>
      <p:sp>
        <p:nvSpPr>
          <p:cNvPr id="8" name="Shape 5"/>
          <p:cNvSpPr/>
          <p:nvPr/>
        </p:nvSpPr>
        <p:spPr>
          <a:xfrm>
            <a:off x="3119407" y="470916"/>
            <a:ext cx="82296" cy="82296"/>
          </a:xfrm>
          <a:prstGeom prst="ellipse">
            <a:avLst/>
          </a:prstGeom>
          <a:solidFill>
            <a:srgbClr val="34344A"/>
          </a:solidFill>
          <a:ln/>
        </p:spPr>
      </p:sp>
      <p:sp>
        <p:nvSpPr>
          <p:cNvPr id="9" name="Shape 6"/>
          <p:cNvSpPr/>
          <p:nvPr/>
        </p:nvSpPr>
        <p:spPr>
          <a:xfrm>
            <a:off x="3261139" y="470916"/>
            <a:ext cx="82296" cy="82296"/>
          </a:xfrm>
          <a:prstGeom prst="ellipse">
            <a:avLst/>
          </a:prstGeom>
          <a:solidFill>
            <a:srgbClr val="34344A"/>
          </a:solidFill>
          <a:ln/>
        </p:spPr>
      </p:sp>
      <p:sp>
        <p:nvSpPr>
          <p:cNvPr id="10" name="Shape 7"/>
          <p:cNvSpPr/>
          <p:nvPr/>
        </p:nvSpPr>
        <p:spPr>
          <a:xfrm>
            <a:off x="3402871" y="470916"/>
            <a:ext cx="82296" cy="82296"/>
          </a:xfrm>
          <a:prstGeom prst="ellipse">
            <a:avLst/>
          </a:prstGeom>
          <a:solidFill>
            <a:srgbClr val="34344A"/>
          </a:solidFill>
          <a:ln/>
        </p:spPr>
      </p:sp>
      <p:sp>
        <p:nvSpPr>
          <p:cNvPr id="11" name="Shape 8"/>
          <p:cNvSpPr/>
          <p:nvPr/>
        </p:nvSpPr>
        <p:spPr>
          <a:xfrm>
            <a:off x="3654331" y="384048"/>
            <a:ext cx="1505895"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09779"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3" name="Text 10"/>
          <p:cNvSpPr txBox="1"/>
          <p:nvPr/>
        </p:nvSpPr>
        <p:spPr>
          <a:xfrm>
            <a:off x="5434546" y="384048"/>
            <a:ext cx="629994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course team (admin account)</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Partners author on Open edX Studio: nothing to rebuild</a:t>
            </a:r>
            <a:endParaRPr lang="en-US" sz="3300" dirty="0"/>
          </a:p>
        </p:txBody>
      </p:sp>
      <p:sp>
        <p:nvSpPr>
          <p:cNvPr id="15" name="Text 12"/>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Course outline, rich-text editing, scheduling and grading policies come straight from upstream Open edX</a:t>
            </a:r>
            <a:endParaRPr lang="en-US" sz="1500" dirty="0"/>
          </a:p>
        </p:txBody>
      </p:sp>
      <p:pic>
        <p:nvPicPr>
          <p:cNvPr id="16" name="Image 0" descr="/tmp/claude-0/-home-user-Chronopoli/d7458f57-86b2-5920-914e-8615357fee63/scratchpad/deck-master/framed/studio_outline.png">    </p:cNvPr>
          <p:cNvPicPr>
            <a:picLocks noChangeAspect="1"/>
          </p:cNvPicPr>
          <p:nvPr/>
        </p:nvPicPr>
        <p:blipFill>
          <a:blip r:embed="rId2"/>
          <a:stretch>
            <a:fillRect/>
          </a:stretch>
        </p:blipFill>
        <p:spPr>
          <a:xfrm>
            <a:off x="1312682" y="1889790"/>
            <a:ext cx="4030710" cy="3373771"/>
          </a:xfrm>
          <a:prstGeom prst="rect">
            <a:avLst/>
          </a:prstGeom>
        </p:spPr>
      </p:pic>
      <p:sp>
        <p:nvSpPr>
          <p:cNvPr id="17" name="Shape 13"/>
          <p:cNvSpPr/>
          <p:nvPr/>
        </p:nvSpPr>
        <p:spPr>
          <a:xfrm>
            <a:off x="1419256" y="5294147"/>
            <a:ext cx="1763105"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510696" y="5367299"/>
            <a:ext cx="73152" cy="73152"/>
          </a:xfrm>
          <a:prstGeom prst="ellipse">
            <a:avLst/>
          </a:prstGeom>
          <a:solidFill>
            <a:srgbClr val="34D399"/>
          </a:solidFill>
          <a:ln/>
        </p:spPr>
      </p:sp>
      <p:sp>
        <p:nvSpPr>
          <p:cNvPr id="19" name="Text 15"/>
          <p:cNvSpPr txBox="1"/>
          <p:nvPr/>
        </p:nvSpPr>
        <p:spPr>
          <a:xfrm>
            <a:off x="1638712" y="529414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0" name="Text 16"/>
          <p:cNvSpPr txBox="1"/>
          <p:nvPr/>
        </p:nvSpPr>
        <p:spPr>
          <a:xfrm>
            <a:off x="3292089" y="5326151"/>
            <a:ext cx="194472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outline, 6 modules</a:t>
            </a:r>
            <a:endParaRPr lang="en-US" sz="1000" dirty="0"/>
          </a:p>
        </p:txBody>
      </p:sp>
      <p:sp>
        <p:nvSpPr>
          <p:cNvPr id="21" name="Text 17"/>
          <p:cNvSpPr txBox="1"/>
          <p:nvPr/>
        </p:nvSpPr>
        <p:spPr>
          <a:xfrm>
            <a:off x="1419256" y="5714771"/>
            <a:ext cx="381756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orgs:</a:t>
            </a:r>
            <a:r>
              <a:rPr lang="en-US" sz="1400" dirty="0">
                <a:solidFill>
                  <a:srgbClr val="E8E8F0"/>
                </a:solidFill>
                <a:latin typeface="Arial" pitchFamily="34" charset="0"/>
                <a:ea typeface="Arial" pitchFamily="34" charset="-122"/>
                <a:cs typeface="Arial" pitchFamily="34" charset="-120"/>
              </a:rPr>
              <a:t> courses are built under e.g. CHRON-COMP, then linked to an academy</a:t>
            </a:r>
            <a:endParaRPr lang="en-US" sz="1400" dirty="0"/>
          </a:p>
        </p:txBody>
      </p:sp>
      <p:pic>
        <p:nvPicPr>
          <p:cNvPr id="22" name="Image 1" descr="/tmp/claude-0/-home-user-Chronopoli/d7458f57-86b2-5920-914e-8615357fee63/scratchpad/deck-master/framed/studio_editor.png">    </p:cNvPr>
          <p:cNvPicPr>
            <a:picLocks noChangeAspect="1"/>
          </p:cNvPicPr>
          <p:nvPr/>
        </p:nvPicPr>
        <p:blipFill>
          <a:blip r:embed="rId3"/>
          <a:stretch>
            <a:fillRect/>
          </a:stretch>
        </p:blipFill>
        <p:spPr>
          <a:xfrm>
            <a:off x="5456949" y="1850734"/>
            <a:ext cx="5461121" cy="3451883"/>
          </a:xfrm>
          <a:prstGeom prst="rect">
            <a:avLst/>
          </a:prstGeom>
        </p:spPr>
      </p:pic>
      <p:sp>
        <p:nvSpPr>
          <p:cNvPr id="23" name="Shape 18"/>
          <p:cNvSpPr/>
          <p:nvPr/>
        </p:nvSpPr>
        <p:spPr>
          <a:xfrm>
            <a:off x="5602578" y="5294147"/>
            <a:ext cx="1763105"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5694018" y="5367299"/>
            <a:ext cx="73152" cy="73152"/>
          </a:xfrm>
          <a:prstGeom prst="ellipse">
            <a:avLst/>
          </a:prstGeom>
          <a:solidFill>
            <a:srgbClr val="34D399"/>
          </a:solidFill>
          <a:ln/>
        </p:spPr>
      </p:sp>
      <p:sp>
        <p:nvSpPr>
          <p:cNvPr id="25" name="Text 20"/>
          <p:cNvSpPr txBox="1"/>
          <p:nvPr/>
        </p:nvSpPr>
        <p:spPr>
          <a:xfrm>
            <a:off x="5822034" y="529414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6" name="Text 21"/>
          <p:cNvSpPr txBox="1"/>
          <p:nvPr/>
        </p:nvSpPr>
        <p:spPr>
          <a:xfrm>
            <a:off x="7475412" y="5326151"/>
            <a:ext cx="329702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Rich-text editor, lesson 4.1</a:t>
            </a:r>
            <a:endParaRPr lang="en-US" sz="1000" dirty="0"/>
          </a:p>
        </p:txBody>
      </p:sp>
      <p:sp>
        <p:nvSpPr>
          <p:cNvPr id="27" name="Text 22"/>
          <p:cNvSpPr txBox="1"/>
          <p:nvPr/>
        </p:nvSpPr>
        <p:spPr>
          <a:xfrm>
            <a:off x="5602578" y="5714771"/>
            <a:ext cx="5169861"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Straight from Studio:</a:t>
            </a:r>
            <a:r>
              <a:rPr lang="en-US" sz="1400" dirty="0">
                <a:solidFill>
                  <a:srgbClr val="E8E8F0"/>
                </a:solidFill>
                <a:latin typeface="Arial" pitchFamily="34" charset="0"/>
                <a:ea typeface="Arial" pitchFamily="34" charset="-122"/>
                <a:cs typeface="Arial" pitchFamily="34" charset="-120"/>
              </a:rPr>
              <a:t> outline, editor, dates and grading</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 fork:</a:t>
            </a:r>
            <a:r>
              <a:rPr lang="en-US" sz="1400" dirty="0">
                <a:solidFill>
                  <a:srgbClr val="E8E8F0"/>
                </a:solidFill>
                <a:latin typeface="Arial" pitchFamily="34" charset="0"/>
                <a:ea typeface="Arial" pitchFamily="34" charset="-122"/>
                <a:cs typeface="Arial" pitchFamily="34" charset="-120"/>
              </a:rPr>
              <a:t> every upgrade improves authoring at no cost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703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325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MEASURE</a:t>
            </a:r>
            <a:endParaRPr lang="en-US" sz="900" dirty="0"/>
          </a:p>
        </p:txBody>
      </p:sp>
      <p:sp>
        <p:nvSpPr>
          <p:cNvPr id="5" name="Shape 2"/>
          <p:cNvSpPr/>
          <p:nvPr/>
        </p:nvSpPr>
        <p:spPr>
          <a:xfrm>
            <a:off x="2792113" y="470916"/>
            <a:ext cx="82296" cy="82296"/>
          </a:xfrm>
          <a:prstGeom prst="ellipse">
            <a:avLst/>
          </a:prstGeom>
          <a:solidFill>
            <a:srgbClr val="9B7A2E"/>
          </a:solidFill>
          <a:ln/>
        </p:spPr>
      </p:sp>
      <p:sp>
        <p:nvSpPr>
          <p:cNvPr id="6" name="Shape 3"/>
          <p:cNvSpPr/>
          <p:nvPr/>
        </p:nvSpPr>
        <p:spPr>
          <a:xfrm>
            <a:off x="2933845" y="470916"/>
            <a:ext cx="82296" cy="82296"/>
          </a:xfrm>
          <a:prstGeom prst="ellipse">
            <a:avLst/>
          </a:prstGeom>
          <a:solidFill>
            <a:srgbClr val="F0C96B"/>
          </a:solidFill>
          <a:ln/>
        </p:spPr>
      </p:sp>
      <p:sp>
        <p:nvSpPr>
          <p:cNvPr id="7" name="Shape 4"/>
          <p:cNvSpPr/>
          <p:nvPr/>
        </p:nvSpPr>
        <p:spPr>
          <a:xfrm>
            <a:off x="3075577" y="470916"/>
            <a:ext cx="82296" cy="82296"/>
          </a:xfrm>
          <a:prstGeom prst="ellipse">
            <a:avLst/>
          </a:prstGeom>
          <a:solidFill>
            <a:srgbClr val="34344A"/>
          </a:solidFill>
          <a:ln/>
        </p:spPr>
      </p:sp>
      <p:sp>
        <p:nvSpPr>
          <p:cNvPr id="8" name="Shape 5"/>
          <p:cNvSpPr/>
          <p:nvPr/>
        </p:nvSpPr>
        <p:spPr>
          <a:xfrm>
            <a:off x="3217309" y="470916"/>
            <a:ext cx="82296" cy="82296"/>
          </a:xfrm>
          <a:prstGeom prst="ellipse">
            <a:avLst/>
          </a:prstGeom>
          <a:solidFill>
            <a:srgbClr val="34344A"/>
          </a:solidFill>
          <a:ln/>
        </p:spPr>
      </p:sp>
      <p:sp>
        <p:nvSpPr>
          <p:cNvPr id="9" name="Shape 6"/>
          <p:cNvSpPr/>
          <p:nvPr/>
        </p:nvSpPr>
        <p:spPr>
          <a:xfrm>
            <a:off x="3359041" y="470916"/>
            <a:ext cx="82296" cy="82296"/>
          </a:xfrm>
          <a:prstGeom prst="ellipse">
            <a:avLst/>
          </a:prstGeom>
          <a:solidFill>
            <a:srgbClr val="34344A"/>
          </a:solidFill>
          <a:ln/>
        </p:spPr>
      </p:sp>
      <p:sp>
        <p:nvSpPr>
          <p:cNvPr id="10" name="Shape 7"/>
          <p:cNvSpPr/>
          <p:nvPr/>
        </p:nvSpPr>
        <p:spPr>
          <a:xfrm>
            <a:off x="3500773" y="470916"/>
            <a:ext cx="82296" cy="82296"/>
          </a:xfrm>
          <a:prstGeom prst="ellipse">
            <a:avLst/>
          </a:prstGeom>
          <a:solidFill>
            <a:srgbClr val="34344A"/>
          </a:solidFill>
          <a:ln/>
        </p:spPr>
      </p:sp>
      <p:sp>
        <p:nvSpPr>
          <p:cNvPr id="11" name="Shape 8"/>
          <p:cNvSpPr/>
          <p:nvPr/>
        </p:nvSpPr>
        <p:spPr>
          <a:xfrm>
            <a:off x="3752233" y="384048"/>
            <a:ext cx="2727891"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7681"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3" name="Text 10"/>
          <p:cNvSpPr txBox="1"/>
          <p:nvPr/>
        </p:nvSpPr>
        <p:spPr>
          <a:xfrm>
            <a:off x="6754444" y="384048"/>
            <a:ext cx="498005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academy admin (fictitious)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 live cockpit for every partner</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Enrolments, completions, badges, revenue and intelligence reports, plus a weekly e-mail summary</a:t>
            </a:r>
            <a:endParaRPr lang="en-US" sz="1600" dirty="0"/>
          </a:p>
        </p:txBody>
      </p:sp>
      <p:pic>
        <p:nvPicPr>
          <p:cNvPr id="16" name="Image 0" descr="/tmp/claude-0/-home-user-Chronopoli/d7458f57-86b2-5920-914e-8615357fee63/scratchpad/deck-master/framed/partner_dash.png">    </p:cNvPr>
          <p:cNvPicPr>
            <a:picLocks noChangeAspect="1"/>
          </p:cNvPicPr>
          <p:nvPr/>
        </p:nvPicPr>
        <p:blipFill>
          <a:blip r:embed="rId2"/>
          <a:stretch>
            <a:fillRect/>
          </a:stretch>
        </p:blipFill>
        <p:spPr>
          <a:xfrm>
            <a:off x="289696" y="1738716"/>
            <a:ext cx="6335136" cy="4290092"/>
          </a:xfrm>
          <a:prstGeom prst="rect">
            <a:avLst/>
          </a:prstGeom>
        </p:spPr>
      </p:pic>
      <p:sp>
        <p:nvSpPr>
          <p:cNvPr id="17" name="Shape 13"/>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6071616"/>
            <a:ext cx="73152" cy="73152"/>
          </a:xfrm>
          <a:prstGeom prst="ellipse">
            <a:avLst/>
          </a:prstGeom>
          <a:solidFill>
            <a:srgbClr val="A9A9C6"/>
          </a:solidFill>
          <a:ln/>
        </p:spPr>
      </p:sp>
      <p:sp>
        <p:nvSpPr>
          <p:cNvPr id="19" name="Text 15"/>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0" name="Text 16"/>
          <p:cNvSpPr txBox="1"/>
          <p:nvPr/>
        </p:nvSpPr>
        <p:spPr>
          <a:xfrm>
            <a:off x="2062399" y="6030468"/>
            <a:ext cx="43949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(template not yet built) · Illustrative mock KPIs</a:t>
            </a:r>
            <a:endParaRPr lang="en-US" sz="1000" dirty="0"/>
          </a:p>
        </p:txBody>
      </p:sp>
      <p:pic>
        <p:nvPicPr>
          <p:cNvPr id="21" name="Image 1" descr="/tmp/claude-0/-home-user-Chronopoli/d7458f57-86b2-5920-914e-8615357fee63/scratchpad/deck-master/framed/instructor_dash.png">    </p:cNvPr>
          <p:cNvPicPr>
            <a:picLocks noChangeAspect="1"/>
          </p:cNvPicPr>
          <p:nvPr/>
        </p:nvPicPr>
        <p:blipFill>
          <a:blip r:embed="rId3"/>
          <a:stretch>
            <a:fillRect/>
          </a:stretch>
        </p:blipFill>
        <p:spPr>
          <a:xfrm>
            <a:off x="6732975" y="1770385"/>
            <a:ext cx="5137354" cy="2414597"/>
          </a:xfrm>
          <a:prstGeom prst="rect">
            <a:avLst/>
          </a:prstGeom>
        </p:spPr>
      </p:pic>
      <p:sp>
        <p:nvSpPr>
          <p:cNvPr id="22" name="Shape 17"/>
          <p:cNvSpPr/>
          <p:nvPr/>
        </p:nvSpPr>
        <p:spPr>
          <a:xfrm>
            <a:off x="6868809" y="4186309"/>
            <a:ext cx="1763105"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6960249" y="4259461"/>
            <a:ext cx="73152" cy="73152"/>
          </a:xfrm>
          <a:prstGeom prst="ellipse">
            <a:avLst/>
          </a:prstGeom>
          <a:solidFill>
            <a:srgbClr val="34D399"/>
          </a:solidFill>
          <a:ln/>
        </p:spPr>
      </p:sp>
      <p:sp>
        <p:nvSpPr>
          <p:cNvPr id="24" name="Text 19"/>
          <p:cNvSpPr txBox="1"/>
          <p:nvPr/>
        </p:nvSpPr>
        <p:spPr>
          <a:xfrm>
            <a:off x="7088265" y="4186309"/>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25" name="Text 20"/>
          <p:cNvSpPr txBox="1"/>
          <p:nvPr/>
        </p:nvSpPr>
        <p:spPr>
          <a:xfrm>
            <a:off x="8741642" y="4218313"/>
            <a:ext cx="299285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Instructor dashboard</a:t>
            </a:r>
            <a:endParaRPr lang="en-US" sz="1000" dirty="0"/>
          </a:p>
        </p:txBody>
      </p:sp>
      <p:sp>
        <p:nvSpPr>
          <p:cNvPr id="26" name="Text 21"/>
          <p:cNvSpPr txBox="1"/>
          <p:nvPr/>
        </p:nvSpPr>
        <p:spPr>
          <a:xfrm>
            <a:off x="6868809" y="4606933"/>
            <a:ext cx="4865687" cy="156362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KPIs:</a:t>
            </a:r>
            <a:r>
              <a:rPr lang="en-US" sz="1400" dirty="0">
                <a:solidFill>
                  <a:srgbClr val="E8E8F0"/>
                </a:solidFill>
                <a:latin typeface="Arial" pitchFamily="34" charset="0"/>
                <a:ea typeface="Arial" pitchFamily="34" charset="-122"/>
                <a:cs typeface="Arial" pitchFamily="34" charset="-120"/>
              </a:rPr>
              <a:t> enrolments by course and district, learner funnel</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Reports:</a:t>
            </a:r>
            <a:r>
              <a:rPr lang="en-US" sz="1400" dirty="0">
                <a:solidFill>
                  <a:srgbClr val="E8E8F0"/>
                </a:solidFill>
                <a:latin typeface="Arial" pitchFamily="34" charset="0"/>
                <a:ea typeface="Arial" pitchFamily="34" charset="-122"/>
                <a:cs typeface="Arial" pitchFamily="34" charset="-120"/>
              </a:rPr>
              <a:t> from its districts’ round tables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Weekly summary:</a:t>
            </a:r>
            <a:r>
              <a:rPr lang="en-US" sz="1400" dirty="0">
                <a:solidFill>
                  <a:srgbClr val="E8E8F0"/>
                </a:solidFill>
                <a:latin typeface="Arial" pitchFamily="34" charset="0"/>
                <a:ea typeface="Arial" pitchFamily="34" charset="-122"/>
                <a:cs typeface="Arial" pitchFamily="34" charset="-120"/>
              </a:rPr>
              <a:t> via Amazon SES, plus a JSON API</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From Open edX:</a:t>
            </a:r>
            <a:r>
              <a:rPr lang="en-US" sz="1400" dirty="0">
                <a:solidFill>
                  <a:srgbClr val="E8E8F0"/>
                </a:solidFill>
                <a:latin typeface="Arial" pitchFamily="34" charset="0"/>
                <a:ea typeface="Arial" pitchFamily="34" charset="-122"/>
                <a:cs typeface="Arial" pitchFamily="34" charset="-120"/>
              </a:rPr>
              <a:t> USDT-201 shows 812 enrolled, 520 verified (paid)</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6401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2626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CONVENE</a:t>
            </a:r>
            <a:endParaRPr lang="en-US" sz="900" dirty="0"/>
          </a:p>
        </p:txBody>
      </p:sp>
      <p:sp>
        <p:nvSpPr>
          <p:cNvPr id="5" name="Shape 2"/>
          <p:cNvSpPr/>
          <p:nvPr/>
        </p:nvSpPr>
        <p:spPr>
          <a:xfrm>
            <a:off x="2785803" y="470916"/>
            <a:ext cx="82296" cy="82296"/>
          </a:xfrm>
          <a:prstGeom prst="ellipse">
            <a:avLst/>
          </a:prstGeom>
          <a:solidFill>
            <a:srgbClr val="9B7A2E"/>
          </a:solidFill>
          <a:ln/>
        </p:spPr>
      </p:sp>
      <p:sp>
        <p:nvSpPr>
          <p:cNvPr id="6" name="Shape 3"/>
          <p:cNvSpPr/>
          <p:nvPr/>
        </p:nvSpPr>
        <p:spPr>
          <a:xfrm>
            <a:off x="2927535" y="470916"/>
            <a:ext cx="82296" cy="82296"/>
          </a:xfrm>
          <a:prstGeom prst="ellipse">
            <a:avLst/>
          </a:prstGeom>
          <a:solidFill>
            <a:srgbClr val="9B7A2E"/>
          </a:solidFill>
          <a:ln/>
        </p:spPr>
      </p:sp>
      <p:sp>
        <p:nvSpPr>
          <p:cNvPr id="7" name="Shape 4"/>
          <p:cNvSpPr/>
          <p:nvPr/>
        </p:nvSpPr>
        <p:spPr>
          <a:xfrm>
            <a:off x="3069267" y="470916"/>
            <a:ext cx="82296" cy="82296"/>
          </a:xfrm>
          <a:prstGeom prst="ellipse">
            <a:avLst/>
          </a:prstGeom>
          <a:solidFill>
            <a:srgbClr val="F0C96B"/>
          </a:solidFill>
          <a:ln/>
        </p:spPr>
      </p:sp>
      <p:sp>
        <p:nvSpPr>
          <p:cNvPr id="8" name="Shape 5"/>
          <p:cNvSpPr/>
          <p:nvPr/>
        </p:nvSpPr>
        <p:spPr>
          <a:xfrm>
            <a:off x="3210999" y="470916"/>
            <a:ext cx="82296" cy="82296"/>
          </a:xfrm>
          <a:prstGeom prst="ellipse">
            <a:avLst/>
          </a:prstGeom>
          <a:solidFill>
            <a:srgbClr val="34344A"/>
          </a:solidFill>
          <a:ln/>
        </p:spPr>
      </p:sp>
      <p:sp>
        <p:nvSpPr>
          <p:cNvPr id="9" name="Shape 6"/>
          <p:cNvSpPr/>
          <p:nvPr/>
        </p:nvSpPr>
        <p:spPr>
          <a:xfrm>
            <a:off x="3352731" y="470916"/>
            <a:ext cx="82296" cy="82296"/>
          </a:xfrm>
          <a:prstGeom prst="ellipse">
            <a:avLst/>
          </a:prstGeom>
          <a:solidFill>
            <a:srgbClr val="34344A"/>
          </a:solidFill>
          <a:ln/>
        </p:spPr>
      </p:sp>
      <p:sp>
        <p:nvSpPr>
          <p:cNvPr id="10" name="Shape 7"/>
          <p:cNvSpPr/>
          <p:nvPr/>
        </p:nvSpPr>
        <p:spPr>
          <a:xfrm>
            <a:off x="3494463" y="470916"/>
            <a:ext cx="82296" cy="82296"/>
          </a:xfrm>
          <a:prstGeom prst="ellipse">
            <a:avLst/>
          </a:prstGeom>
          <a:solidFill>
            <a:srgbClr val="34344A"/>
          </a:solidFill>
          <a:ln/>
        </p:spPr>
      </p:sp>
      <p:sp>
        <p:nvSpPr>
          <p:cNvPr id="11" name="Shape 8"/>
          <p:cNvSpPr/>
          <p:nvPr/>
        </p:nvSpPr>
        <p:spPr>
          <a:xfrm>
            <a:off x="3745923"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1371"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912488" y="384048"/>
            <a:ext cx="58220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as observer · 12 Nov 2026, 16:00 GST (12:00 UTC) · Fictitious panel</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Symposia: closed-door round tables as a product</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Curated expert panels under the Chatham House Rule, streamed live on AWS IVS and tied to districts</a:t>
            </a:r>
            <a:endParaRPr lang="en-US" sz="1600" dirty="0"/>
          </a:p>
        </p:txBody>
      </p:sp>
      <p:pic>
        <p:nvPicPr>
          <p:cNvPr id="16" name="Image 0" descr="/tmp/claude-0/-home-user-Chronopoli/d7458f57-86b2-5920-914e-8615357fee63/scratchpad/deck-master/framed/symposia_list.png">    </p:cNvPr>
          <p:cNvPicPr>
            <a:picLocks noChangeAspect="1"/>
          </p:cNvPicPr>
          <p:nvPr/>
        </p:nvPicPr>
        <p:blipFill>
          <a:blip r:embed="rId2"/>
          <a:stretch>
            <a:fillRect/>
          </a:stretch>
        </p:blipFill>
        <p:spPr>
          <a:xfrm>
            <a:off x="340694" y="1865030"/>
            <a:ext cx="4367918" cy="4037464"/>
          </a:xfrm>
          <a:prstGeom prst="rect">
            <a:avLst/>
          </a:prstGeom>
        </p:spPr>
      </p:pic>
      <p:sp>
        <p:nvSpPr>
          <p:cNvPr id="17" name="Shape 13"/>
          <p:cNvSpPr/>
          <p:nvPr/>
        </p:nvSpPr>
        <p:spPr>
          <a:xfrm>
            <a:off x="457200" y="5923148"/>
            <a:ext cx="2591796"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5996300"/>
            <a:ext cx="73152" cy="73152"/>
          </a:xfrm>
          <a:prstGeom prst="ellipse">
            <a:avLst/>
          </a:prstGeom>
          <a:solidFill>
            <a:srgbClr val="F0C96B"/>
          </a:solidFill>
          <a:ln/>
        </p:spPr>
      </p:sp>
      <p:sp>
        <p:nvSpPr>
          <p:cNvPr id="19" name="Text 15"/>
          <p:cNvSpPr txBox="1"/>
          <p:nvPr/>
        </p:nvSpPr>
        <p:spPr>
          <a:xfrm>
            <a:off x="676656" y="592314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0" name="Text 16"/>
          <p:cNvSpPr txBox="1"/>
          <p:nvPr/>
        </p:nvSpPr>
        <p:spPr>
          <a:xfrm>
            <a:off x="3158724" y="5955152"/>
            <a:ext cx="143338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Round-table list</a:t>
            </a:r>
            <a:endParaRPr lang="en-US" sz="1000" dirty="0"/>
          </a:p>
        </p:txBody>
      </p:sp>
      <p:pic>
        <p:nvPicPr>
          <p:cNvPr id="21" name="Image 1" descr="/tmp/claude-0/-home-user-Chronopoli/d7458f57-86b2-5920-914e-8615357fee63/scratchpad/deck-master/framed/symposium_detail.png">    </p:cNvPr>
          <p:cNvPicPr>
            <a:picLocks noChangeAspect="1"/>
          </p:cNvPicPr>
          <p:nvPr/>
        </p:nvPicPr>
        <p:blipFill>
          <a:blip r:embed="rId3"/>
          <a:stretch>
            <a:fillRect/>
          </a:stretch>
        </p:blipFill>
        <p:spPr>
          <a:xfrm>
            <a:off x="4848083" y="1871753"/>
            <a:ext cx="4115834" cy="4024016"/>
          </a:xfrm>
          <a:prstGeom prst="rect">
            <a:avLst/>
          </a:prstGeom>
        </p:spPr>
      </p:pic>
      <p:sp>
        <p:nvSpPr>
          <p:cNvPr id="22" name="Shape 17"/>
          <p:cNvSpPr/>
          <p:nvPr/>
        </p:nvSpPr>
        <p:spPr>
          <a:xfrm>
            <a:off x="4957865" y="5923148"/>
            <a:ext cx="2591796"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5049305" y="5996300"/>
            <a:ext cx="73152" cy="73152"/>
          </a:xfrm>
          <a:prstGeom prst="ellipse">
            <a:avLst/>
          </a:prstGeom>
          <a:solidFill>
            <a:srgbClr val="F0C96B"/>
          </a:solidFill>
          <a:ln/>
        </p:spPr>
      </p:sp>
      <p:sp>
        <p:nvSpPr>
          <p:cNvPr id="24" name="Text 19"/>
          <p:cNvSpPr txBox="1"/>
          <p:nvPr/>
        </p:nvSpPr>
        <p:spPr>
          <a:xfrm>
            <a:off x="5177321" y="592314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5" name="Text 20"/>
          <p:cNvSpPr txBox="1"/>
          <p:nvPr/>
        </p:nvSpPr>
        <p:spPr>
          <a:xfrm>
            <a:off x="7659389" y="5955152"/>
            <a:ext cx="119474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Agenda and panel</a:t>
            </a:r>
            <a:endParaRPr lang="en-US" sz="1000" dirty="0"/>
          </a:p>
        </p:txBody>
      </p:sp>
      <p:sp>
        <p:nvSpPr>
          <p:cNvPr id="26" name="Text 21"/>
          <p:cNvSpPr txBox="1"/>
          <p:nvPr/>
        </p:nvSpPr>
        <p:spPr>
          <a:xfrm>
            <a:off x="9265615" y="2702662"/>
            <a:ext cx="2468880" cy="241706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Lifecycle:</a:t>
            </a:r>
            <a:r>
              <a:rPr lang="en-US" sz="1400" dirty="0">
                <a:solidFill>
                  <a:srgbClr val="E8E8F0"/>
                </a:solidFill>
                <a:latin typeface="Arial" pitchFamily="34" charset="0"/>
                <a:ea typeface="Arial" pitchFamily="34" charset="-122"/>
                <a:cs typeface="Arial" pitchFamily="34" charset="-120"/>
              </a:rPr>
              <a:t> draft, open for invitations, confirmed, live, processing, published</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Invitations:</a:t>
            </a:r>
            <a:r>
              <a:rPr lang="en-US" sz="1400" dirty="0">
                <a:solidFill>
                  <a:srgbClr val="E8E8F0"/>
                </a:solidFill>
                <a:latin typeface="Arial" pitchFamily="34" charset="0"/>
                <a:ea typeface="Arial" pitchFamily="34" charset="-122"/>
                <a:cs typeface="Arial" pitchFamily="34" charset="-120"/>
              </a:rPr>
              <a:t> secure and expiring, with moderator, panelist and observer roles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a:t>
            </a:r>
            <a:r>
              <a:rPr lang="en-US" sz="1400" dirty="0">
                <a:solidFill>
                  <a:srgbClr val="E8E8F0"/>
                </a:solidFill>
                <a:latin typeface="Arial" pitchFamily="34" charset="0"/>
                <a:ea typeface="Arial" pitchFamily="34" charset="-122"/>
                <a:cs typeface="Arial" pitchFamily="34" charset="-120"/>
              </a:rPr>
              <a:t> the sponsor receives one after every session</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0043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6269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PUBLISH</a:t>
            </a:r>
            <a:endParaRPr lang="en-US" sz="900" dirty="0"/>
          </a:p>
        </p:txBody>
      </p:sp>
      <p:sp>
        <p:nvSpPr>
          <p:cNvPr id="5" name="Shape 2"/>
          <p:cNvSpPr/>
          <p:nvPr/>
        </p:nvSpPr>
        <p:spPr>
          <a:xfrm>
            <a:off x="2722230" y="470916"/>
            <a:ext cx="82296" cy="82296"/>
          </a:xfrm>
          <a:prstGeom prst="ellipse">
            <a:avLst/>
          </a:prstGeom>
          <a:solidFill>
            <a:srgbClr val="9B7A2E"/>
          </a:solidFill>
          <a:ln/>
        </p:spPr>
      </p:sp>
      <p:sp>
        <p:nvSpPr>
          <p:cNvPr id="6" name="Shape 3"/>
          <p:cNvSpPr/>
          <p:nvPr/>
        </p:nvSpPr>
        <p:spPr>
          <a:xfrm>
            <a:off x="2863962" y="470916"/>
            <a:ext cx="82296" cy="82296"/>
          </a:xfrm>
          <a:prstGeom prst="ellipse">
            <a:avLst/>
          </a:prstGeom>
          <a:solidFill>
            <a:srgbClr val="9B7A2E"/>
          </a:solidFill>
          <a:ln/>
        </p:spPr>
      </p:sp>
      <p:sp>
        <p:nvSpPr>
          <p:cNvPr id="7" name="Shape 4"/>
          <p:cNvSpPr/>
          <p:nvPr/>
        </p:nvSpPr>
        <p:spPr>
          <a:xfrm>
            <a:off x="3005694" y="470916"/>
            <a:ext cx="82296" cy="82296"/>
          </a:xfrm>
          <a:prstGeom prst="ellipse">
            <a:avLst/>
          </a:prstGeom>
          <a:solidFill>
            <a:srgbClr val="9B7A2E"/>
          </a:solidFill>
          <a:ln/>
        </p:spPr>
      </p:sp>
      <p:sp>
        <p:nvSpPr>
          <p:cNvPr id="8" name="Shape 5"/>
          <p:cNvSpPr/>
          <p:nvPr/>
        </p:nvSpPr>
        <p:spPr>
          <a:xfrm>
            <a:off x="3147426" y="470916"/>
            <a:ext cx="82296" cy="82296"/>
          </a:xfrm>
          <a:prstGeom prst="ellipse">
            <a:avLst/>
          </a:prstGeom>
          <a:solidFill>
            <a:srgbClr val="F0C96B"/>
          </a:solidFill>
          <a:ln/>
        </p:spPr>
      </p:sp>
      <p:sp>
        <p:nvSpPr>
          <p:cNvPr id="9" name="Shape 6"/>
          <p:cNvSpPr/>
          <p:nvPr/>
        </p:nvSpPr>
        <p:spPr>
          <a:xfrm>
            <a:off x="3289158" y="470916"/>
            <a:ext cx="82296" cy="82296"/>
          </a:xfrm>
          <a:prstGeom prst="ellipse">
            <a:avLst/>
          </a:prstGeom>
          <a:solidFill>
            <a:srgbClr val="34344A"/>
          </a:solidFill>
          <a:ln/>
        </p:spPr>
      </p:sp>
      <p:sp>
        <p:nvSpPr>
          <p:cNvPr id="10" name="Shape 7"/>
          <p:cNvSpPr/>
          <p:nvPr/>
        </p:nvSpPr>
        <p:spPr>
          <a:xfrm>
            <a:off x="3430890" y="470916"/>
            <a:ext cx="82296" cy="82296"/>
          </a:xfrm>
          <a:prstGeom prst="ellipse">
            <a:avLst/>
          </a:prstGeom>
          <a:solidFill>
            <a:srgbClr val="34344A"/>
          </a:solidFill>
          <a:ln/>
        </p:spPr>
      </p:sp>
      <p:sp>
        <p:nvSpPr>
          <p:cNvPr id="11" name="Shape 8"/>
          <p:cNvSpPr/>
          <p:nvPr/>
        </p:nvSpPr>
        <p:spPr>
          <a:xfrm>
            <a:off x="3682350"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37798"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848914" y="384048"/>
            <a:ext cx="588558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Dr. Amira Haddad, moderator (fictitious) · Mock output texts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From one round table: opinion paper, LinkedIn posts, Instagram carousel, partner report, AI-tutor update</a:t>
            </a:r>
            <a:endParaRPr lang="en-US" sz="1600" dirty="0"/>
          </a:p>
        </p:txBody>
      </p:sp>
      <p:pic>
        <p:nvPicPr>
          <p:cNvPr id="16" name="Image 0" descr="/tmp/claude-0/-home-user-Chronopoli/d7458f57-86b2-5920-914e-8615357fee63/scratchpad/deck-master/framed/symposium_after.png">    </p:cNvPr>
          <p:cNvPicPr>
            <a:picLocks noChangeAspect="1"/>
          </p:cNvPicPr>
          <p:nvPr/>
        </p:nvPicPr>
        <p:blipFill>
          <a:blip r:embed="rId2"/>
          <a:stretch>
            <a:fillRect/>
          </a:stretch>
        </p:blipFill>
        <p:spPr>
          <a:xfrm>
            <a:off x="3006199" y="1817057"/>
            <a:ext cx="3889698" cy="3292161"/>
          </a:xfrm>
          <a:prstGeom prst="rect">
            <a:avLst/>
          </a:prstGeom>
        </p:spPr>
      </p:pic>
      <p:sp>
        <p:nvSpPr>
          <p:cNvPr id="17" name="Shape 13"/>
          <p:cNvSpPr/>
          <p:nvPr/>
        </p:nvSpPr>
        <p:spPr>
          <a:xfrm>
            <a:off x="3108960" y="5143617"/>
            <a:ext cx="2591796"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3200400" y="5216769"/>
            <a:ext cx="73152" cy="73152"/>
          </a:xfrm>
          <a:prstGeom prst="ellipse">
            <a:avLst/>
          </a:prstGeom>
          <a:solidFill>
            <a:srgbClr val="F0C96B"/>
          </a:solidFill>
          <a:ln/>
        </p:spPr>
      </p:sp>
      <p:sp>
        <p:nvSpPr>
          <p:cNvPr id="19" name="Text 15"/>
          <p:cNvSpPr txBox="1"/>
          <p:nvPr/>
        </p:nvSpPr>
        <p:spPr>
          <a:xfrm>
            <a:off x="3328416" y="514361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0" name="Text 16"/>
          <p:cNvSpPr txBox="1"/>
          <p:nvPr/>
        </p:nvSpPr>
        <p:spPr>
          <a:xfrm>
            <a:off x="5810484" y="5175621"/>
            <a:ext cx="98265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Outputs</a:t>
            </a:r>
            <a:endParaRPr lang="en-US" sz="1000" dirty="0"/>
          </a:p>
        </p:txBody>
      </p:sp>
      <p:sp>
        <p:nvSpPr>
          <p:cNvPr id="21" name="Text 17"/>
          <p:cNvSpPr txBox="1"/>
          <p:nvPr/>
        </p:nvSpPr>
        <p:spPr>
          <a:xfrm>
            <a:off x="3108960" y="5564241"/>
            <a:ext cx="368417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Five outputs:</a:t>
            </a:r>
            <a:r>
              <a:rPr lang="en-US" sz="1400" dirty="0">
                <a:solidFill>
                  <a:srgbClr val="E8E8F0"/>
                </a:solidFill>
                <a:latin typeface="Arial" pitchFamily="34" charset="0"/>
                <a:ea typeface="Arial" pitchFamily="34" charset="-122"/>
                <a:cs typeface="Arial" pitchFamily="34" charset="-120"/>
              </a:rPr>
              <a:t> these four, plus an AI-tutor update once approved</a:t>
            </a:r>
            <a:endParaRPr lang="en-US" sz="1400" dirty="0"/>
          </a:p>
        </p:txBody>
      </p:sp>
      <p:pic>
        <p:nvPicPr>
          <p:cNvPr id="22" name="Image 1" descr="/tmp/claude-0/-home-user-Chronopoli/d7458f57-86b2-5920-914e-8615357fee63/scratchpad/deck-master/framed/approval_queue.png">    </p:cNvPr>
          <p:cNvPicPr>
            <a:picLocks noChangeAspect="1"/>
          </p:cNvPicPr>
          <p:nvPr/>
        </p:nvPicPr>
        <p:blipFill>
          <a:blip r:embed="rId3"/>
          <a:stretch>
            <a:fillRect/>
          </a:stretch>
        </p:blipFill>
        <p:spPr>
          <a:xfrm>
            <a:off x="7031270" y="1792193"/>
            <a:ext cx="4830850" cy="3341889"/>
          </a:xfrm>
          <a:prstGeom prst="rect">
            <a:avLst/>
          </a:prstGeom>
        </p:spPr>
      </p:pic>
      <p:sp>
        <p:nvSpPr>
          <p:cNvPr id="23" name="Shape 18"/>
          <p:cNvSpPr/>
          <p:nvPr/>
        </p:nvSpPr>
        <p:spPr>
          <a:xfrm>
            <a:off x="7158896" y="5143617"/>
            <a:ext cx="2591796"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7250336" y="5216769"/>
            <a:ext cx="73152" cy="73152"/>
          </a:xfrm>
          <a:prstGeom prst="ellipse">
            <a:avLst/>
          </a:prstGeom>
          <a:solidFill>
            <a:srgbClr val="F0C96B"/>
          </a:solidFill>
          <a:ln/>
        </p:spPr>
      </p:sp>
      <p:sp>
        <p:nvSpPr>
          <p:cNvPr id="25" name="Text 20"/>
          <p:cNvSpPr txBox="1"/>
          <p:nvPr/>
        </p:nvSpPr>
        <p:spPr>
          <a:xfrm>
            <a:off x="7378352" y="514361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6" name="Text 21"/>
          <p:cNvSpPr txBox="1"/>
          <p:nvPr/>
        </p:nvSpPr>
        <p:spPr>
          <a:xfrm>
            <a:off x="9860419" y="5175621"/>
            <a:ext cx="18740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Approvals</a:t>
            </a:r>
            <a:endParaRPr lang="en-US" sz="1000" dirty="0"/>
          </a:p>
        </p:txBody>
      </p:sp>
      <p:sp>
        <p:nvSpPr>
          <p:cNvPr id="27" name="Text 22"/>
          <p:cNvSpPr txBox="1"/>
          <p:nvPr/>
        </p:nvSpPr>
        <p:spPr>
          <a:xfrm>
            <a:off x="7158896" y="5564241"/>
            <a:ext cx="457560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One human approves (~10 min):</a:t>
            </a:r>
            <a:r>
              <a:rPr lang="en-US" sz="1400" dirty="0">
                <a:solidFill>
                  <a:srgbClr val="E8E8F0"/>
                </a:solidFill>
                <a:latin typeface="Arial" pitchFamily="34" charset="0"/>
                <a:ea typeface="Arial" pitchFamily="34" charset="-122"/>
                <a:cs typeface="Arial" pitchFamily="34" charset="-120"/>
              </a:rPr>
              <a:t> nothing auto-publishes; Chatham House anonymisation is a go-live requirement</a:t>
            </a:r>
            <a:endParaRPr lang="en-US" sz="1400" dirty="0"/>
          </a:p>
        </p:txBody>
      </p:sp>
      <p:sp>
        <p:nvSpPr>
          <p:cNvPr id="28" name="Text 23"/>
          <p:cNvSpPr txBox="1"/>
          <p:nvPr/>
        </p:nvSpPr>
        <p:spPr>
          <a:xfrm>
            <a:off x="457200" y="1901530"/>
            <a:ext cx="2286000"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PIPELINE STEPS (AWS)</a:t>
            </a:r>
            <a:endParaRPr lang="en-US" sz="850" dirty="0"/>
          </a:p>
        </p:txBody>
      </p:sp>
      <p:sp>
        <p:nvSpPr>
          <p:cNvPr id="29" name="Shape 24"/>
          <p:cNvSpPr/>
          <p:nvPr/>
        </p:nvSpPr>
        <p:spPr>
          <a:xfrm>
            <a:off x="1600200" y="2317582"/>
            <a:ext cx="0" cy="2565431"/>
          </a:xfrm>
          <a:prstGeom prst="line">
            <a:avLst/>
          </a:prstGeom>
          <a:noFill/>
          <a:ln w="15875">
            <a:solidFill>
              <a:srgbClr val="9B7A2E"/>
            </a:solidFill>
            <a:prstDash val="solid"/>
          </a:ln>
        </p:spPr>
      </p:sp>
      <p:sp>
        <p:nvSpPr>
          <p:cNvPr id="30" name="Shape 25"/>
          <p:cNvSpPr/>
          <p:nvPr/>
        </p:nvSpPr>
        <p:spPr>
          <a:xfrm>
            <a:off x="457200" y="2194138"/>
            <a:ext cx="2286000" cy="246888"/>
          </a:xfrm>
          <a:prstGeom prst="roundRect">
            <a:avLst>
              <a:gd name="adj" fmla="val 50000"/>
            </a:avLst>
          </a:prstGeom>
          <a:solidFill>
            <a:srgbClr val="1B1B27"/>
          </a:solidFill>
          <a:ln w="9525">
            <a:solidFill>
              <a:srgbClr val="3A3A50"/>
            </a:solidFill>
            <a:prstDash val="solid"/>
          </a:ln>
        </p:spPr>
      </p:sp>
      <p:sp>
        <p:nvSpPr>
          <p:cNvPr id="31" name="Text 26"/>
          <p:cNvSpPr txBox="1"/>
          <p:nvPr/>
        </p:nvSpPr>
        <p:spPr>
          <a:xfrm>
            <a:off x="457200" y="219413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IVS recording to S3</a:t>
            </a:r>
            <a:endParaRPr lang="en-US" sz="950" dirty="0"/>
          </a:p>
        </p:txBody>
      </p:sp>
      <p:sp>
        <p:nvSpPr>
          <p:cNvPr id="32" name="Shape 27"/>
          <p:cNvSpPr/>
          <p:nvPr/>
        </p:nvSpPr>
        <p:spPr>
          <a:xfrm>
            <a:off x="457200" y="2560628"/>
            <a:ext cx="2286000" cy="246888"/>
          </a:xfrm>
          <a:prstGeom prst="roundRect">
            <a:avLst>
              <a:gd name="adj" fmla="val 50000"/>
            </a:avLst>
          </a:prstGeom>
          <a:solidFill>
            <a:srgbClr val="1B1B27"/>
          </a:solidFill>
          <a:ln w="9525">
            <a:solidFill>
              <a:srgbClr val="3A3A50"/>
            </a:solidFill>
            <a:prstDash val="solid"/>
          </a:ln>
        </p:spPr>
      </p:sp>
      <p:sp>
        <p:nvSpPr>
          <p:cNvPr id="33" name="Text 28"/>
          <p:cNvSpPr txBox="1"/>
          <p:nvPr/>
        </p:nvSpPr>
        <p:spPr>
          <a:xfrm>
            <a:off x="457200" y="256062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EventBridge</a:t>
            </a:r>
            <a:endParaRPr lang="en-US" sz="950" dirty="0"/>
          </a:p>
        </p:txBody>
      </p:sp>
      <p:sp>
        <p:nvSpPr>
          <p:cNvPr id="34" name="Shape 29"/>
          <p:cNvSpPr/>
          <p:nvPr/>
        </p:nvSpPr>
        <p:spPr>
          <a:xfrm>
            <a:off x="457200" y="2927118"/>
            <a:ext cx="2286000" cy="246888"/>
          </a:xfrm>
          <a:prstGeom prst="roundRect">
            <a:avLst>
              <a:gd name="adj" fmla="val 50000"/>
            </a:avLst>
          </a:prstGeom>
          <a:solidFill>
            <a:srgbClr val="1B1B27"/>
          </a:solidFill>
          <a:ln w="9525">
            <a:solidFill>
              <a:srgbClr val="3A3A50"/>
            </a:solidFill>
            <a:prstDash val="solid"/>
          </a:ln>
        </p:spPr>
      </p:sp>
      <p:sp>
        <p:nvSpPr>
          <p:cNvPr id="35" name="Text 30"/>
          <p:cNvSpPr txBox="1"/>
          <p:nvPr/>
        </p:nvSpPr>
        <p:spPr>
          <a:xfrm>
            <a:off x="457200" y="292711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Step Functions</a:t>
            </a:r>
            <a:endParaRPr lang="en-US" sz="950" dirty="0"/>
          </a:p>
        </p:txBody>
      </p:sp>
      <p:sp>
        <p:nvSpPr>
          <p:cNvPr id="36" name="Shape 31"/>
          <p:cNvSpPr/>
          <p:nvPr/>
        </p:nvSpPr>
        <p:spPr>
          <a:xfrm>
            <a:off x="457200" y="3293609"/>
            <a:ext cx="2286000" cy="246888"/>
          </a:xfrm>
          <a:prstGeom prst="roundRect">
            <a:avLst>
              <a:gd name="adj" fmla="val 50000"/>
            </a:avLst>
          </a:prstGeom>
          <a:solidFill>
            <a:srgbClr val="1B1B27"/>
          </a:solidFill>
          <a:ln w="9525">
            <a:solidFill>
              <a:srgbClr val="3A3A50"/>
            </a:solidFill>
            <a:prstDash val="solid"/>
          </a:ln>
        </p:spPr>
      </p:sp>
      <p:sp>
        <p:nvSpPr>
          <p:cNvPr id="37" name="Text 32"/>
          <p:cNvSpPr txBox="1"/>
          <p:nvPr/>
        </p:nvSpPr>
        <p:spPr>
          <a:xfrm>
            <a:off x="457200" y="329360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Amazon Transcribe</a:t>
            </a:r>
            <a:endParaRPr lang="en-US" sz="950" dirty="0"/>
          </a:p>
        </p:txBody>
      </p:sp>
      <p:sp>
        <p:nvSpPr>
          <p:cNvPr id="38" name="Shape 33"/>
          <p:cNvSpPr/>
          <p:nvPr/>
        </p:nvSpPr>
        <p:spPr>
          <a:xfrm>
            <a:off x="457200" y="3660099"/>
            <a:ext cx="2286000" cy="246888"/>
          </a:xfrm>
          <a:prstGeom prst="roundRect">
            <a:avLst>
              <a:gd name="adj" fmla="val 50000"/>
            </a:avLst>
          </a:prstGeom>
          <a:solidFill>
            <a:srgbClr val="1B1B27"/>
          </a:solidFill>
          <a:ln w="9525">
            <a:solidFill>
              <a:srgbClr val="3A3A50"/>
            </a:solidFill>
            <a:prstDash val="solid"/>
          </a:ln>
        </p:spPr>
      </p:sp>
      <p:sp>
        <p:nvSpPr>
          <p:cNvPr id="39" name="Text 34"/>
          <p:cNvSpPr txBox="1"/>
          <p:nvPr/>
        </p:nvSpPr>
        <p:spPr>
          <a:xfrm>
            <a:off x="457200" y="366009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Claude analysis on Bedrock</a:t>
            </a:r>
            <a:endParaRPr lang="en-US" sz="950" dirty="0"/>
          </a:p>
        </p:txBody>
      </p:sp>
      <p:sp>
        <p:nvSpPr>
          <p:cNvPr id="40" name="Shape 35"/>
          <p:cNvSpPr/>
          <p:nvPr/>
        </p:nvSpPr>
        <p:spPr>
          <a:xfrm>
            <a:off x="457200" y="4026589"/>
            <a:ext cx="2286000" cy="246888"/>
          </a:xfrm>
          <a:prstGeom prst="roundRect">
            <a:avLst>
              <a:gd name="adj" fmla="val 50000"/>
            </a:avLst>
          </a:prstGeom>
          <a:solidFill>
            <a:srgbClr val="1B1B27"/>
          </a:solidFill>
          <a:ln w="9525">
            <a:solidFill>
              <a:srgbClr val="3A3A50"/>
            </a:solidFill>
            <a:prstDash val="solid"/>
          </a:ln>
        </p:spPr>
      </p:sp>
      <p:sp>
        <p:nvSpPr>
          <p:cNvPr id="41" name="Text 36"/>
          <p:cNvSpPr txBox="1"/>
          <p:nvPr/>
        </p:nvSpPr>
        <p:spPr>
          <a:xfrm>
            <a:off x="457200" y="402658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4 parallel generators</a:t>
            </a:r>
            <a:endParaRPr lang="en-US" sz="950" dirty="0"/>
          </a:p>
        </p:txBody>
      </p:sp>
      <p:sp>
        <p:nvSpPr>
          <p:cNvPr id="42" name="Shape 37"/>
          <p:cNvSpPr/>
          <p:nvPr/>
        </p:nvSpPr>
        <p:spPr>
          <a:xfrm>
            <a:off x="457200" y="4393079"/>
            <a:ext cx="2286000" cy="246888"/>
          </a:xfrm>
          <a:prstGeom prst="roundRect">
            <a:avLst>
              <a:gd name="adj" fmla="val 50000"/>
            </a:avLst>
          </a:prstGeom>
          <a:solidFill>
            <a:srgbClr val="1B1B27"/>
          </a:solidFill>
          <a:ln w="9525">
            <a:solidFill>
              <a:srgbClr val="3A3A50"/>
            </a:solidFill>
            <a:prstDash val="solid"/>
          </a:ln>
        </p:spPr>
      </p:sp>
      <p:sp>
        <p:nvSpPr>
          <p:cNvPr id="43" name="Text 38"/>
          <p:cNvSpPr txBox="1"/>
          <p:nvPr/>
        </p:nvSpPr>
        <p:spPr>
          <a:xfrm>
            <a:off x="457200" y="439307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SQS approval queue</a:t>
            </a:r>
            <a:endParaRPr lang="en-US" sz="950" dirty="0"/>
          </a:p>
        </p:txBody>
      </p:sp>
      <p:sp>
        <p:nvSpPr>
          <p:cNvPr id="44" name="Shape 39"/>
          <p:cNvSpPr/>
          <p:nvPr/>
        </p:nvSpPr>
        <p:spPr>
          <a:xfrm>
            <a:off x="457200" y="4759569"/>
            <a:ext cx="2286000" cy="246888"/>
          </a:xfrm>
          <a:prstGeom prst="roundRect">
            <a:avLst>
              <a:gd name="adj" fmla="val 50000"/>
            </a:avLst>
          </a:prstGeom>
          <a:solidFill>
            <a:srgbClr val="231E12"/>
          </a:solidFill>
          <a:ln w="9525">
            <a:solidFill>
              <a:srgbClr val="C9A84C"/>
            </a:solidFill>
            <a:prstDash val="solid"/>
          </a:ln>
        </p:spPr>
      </p:sp>
      <p:sp>
        <p:nvSpPr>
          <p:cNvPr id="45" name="Text 40"/>
          <p:cNvSpPr txBox="1"/>
          <p:nvPr/>
        </p:nvSpPr>
        <p:spPr>
          <a:xfrm>
            <a:off x="457200" y="4759569"/>
            <a:ext cx="2286000" cy="246888"/>
          </a:xfrm>
          <a:prstGeom prst="rect">
            <a:avLst/>
          </a:prstGeom>
          <a:noFill/>
          <a:ln/>
        </p:spPr>
        <p:txBody>
          <a:bodyPr wrap="square" lIns="0" tIns="0" rIns="0" bIns="0" rtlCol="0" anchor="ctr"/>
          <a:lstStyle/>
          <a:p>
            <a:pPr algn="ctr" indent="0" marL="0">
              <a:buNone/>
            </a:pPr>
            <a:r>
              <a:rPr lang="en-US" sz="950" b="1" dirty="0">
                <a:solidFill>
                  <a:srgbClr val="F0C96B"/>
                </a:solidFill>
                <a:latin typeface="Arial" pitchFamily="34" charset="0"/>
                <a:ea typeface="Arial" pitchFamily="34" charset="-122"/>
                <a:cs typeface="Arial" pitchFamily="34" charset="-120"/>
              </a:rPr>
              <a:t>One human approves</a:t>
            </a:r>
            <a:endParaRPr lang="en-US" sz="950" dirty="0"/>
          </a:p>
        </p:txBody>
      </p:sp>
      <p:sp>
        <p:nvSpPr>
          <p:cNvPr id="46" name="Text 41"/>
          <p:cNvSpPr txBox="1"/>
          <p:nvPr/>
        </p:nvSpPr>
        <p:spPr>
          <a:xfrm>
            <a:off x="457200" y="5564241"/>
            <a:ext cx="2286000"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Pipeline:</a:t>
            </a:r>
            <a:r>
              <a:rPr lang="en-US" sz="1400" dirty="0">
                <a:solidFill>
                  <a:srgbClr val="E8E8F0"/>
                </a:solidFill>
                <a:latin typeface="Arial" pitchFamily="34" charset="0"/>
                <a:ea typeface="Arial" pitchFamily="34" charset="-122"/>
                <a:cs typeface="Arial" pitchFamily="34" charset="-120"/>
              </a:rPr>
              <a:t> Step Functions runs 8 Lambda functions</a:t>
            </a:r>
            <a:endParaRPr lang="en-US" sz="1400" dirty="0"/>
          </a:p>
        </p:txBody>
      </p:sp>
      <p:sp>
        <p:nvSpPr>
          <p:cNvPr id="47" name="Text 4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5296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2919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MASTERCLASS</a:t>
            </a:r>
            <a:endParaRPr lang="en-US" sz="900" dirty="0"/>
          </a:p>
        </p:txBody>
      </p:sp>
      <p:sp>
        <p:nvSpPr>
          <p:cNvPr id="5" name="Shape 2"/>
          <p:cNvSpPr/>
          <p:nvPr/>
        </p:nvSpPr>
        <p:spPr>
          <a:xfrm>
            <a:off x="3151487" y="470916"/>
            <a:ext cx="82296" cy="82296"/>
          </a:xfrm>
          <a:prstGeom prst="ellipse">
            <a:avLst/>
          </a:prstGeom>
          <a:solidFill>
            <a:srgbClr val="9B7A2E"/>
          </a:solidFill>
          <a:ln/>
        </p:spPr>
      </p:sp>
      <p:sp>
        <p:nvSpPr>
          <p:cNvPr id="6" name="Shape 3"/>
          <p:cNvSpPr/>
          <p:nvPr/>
        </p:nvSpPr>
        <p:spPr>
          <a:xfrm>
            <a:off x="3293219" y="470916"/>
            <a:ext cx="82296" cy="82296"/>
          </a:xfrm>
          <a:prstGeom prst="ellipse">
            <a:avLst/>
          </a:prstGeom>
          <a:solidFill>
            <a:srgbClr val="9B7A2E"/>
          </a:solidFill>
          <a:ln/>
        </p:spPr>
      </p:sp>
      <p:sp>
        <p:nvSpPr>
          <p:cNvPr id="7" name="Shape 4"/>
          <p:cNvSpPr/>
          <p:nvPr/>
        </p:nvSpPr>
        <p:spPr>
          <a:xfrm>
            <a:off x="3434951" y="470916"/>
            <a:ext cx="82296" cy="82296"/>
          </a:xfrm>
          <a:prstGeom prst="ellipse">
            <a:avLst/>
          </a:prstGeom>
          <a:solidFill>
            <a:srgbClr val="9B7A2E"/>
          </a:solidFill>
          <a:ln/>
        </p:spPr>
      </p:sp>
      <p:sp>
        <p:nvSpPr>
          <p:cNvPr id="8" name="Shape 5"/>
          <p:cNvSpPr/>
          <p:nvPr/>
        </p:nvSpPr>
        <p:spPr>
          <a:xfrm>
            <a:off x="3576683" y="470916"/>
            <a:ext cx="82296" cy="82296"/>
          </a:xfrm>
          <a:prstGeom prst="ellipse">
            <a:avLst/>
          </a:prstGeom>
          <a:solidFill>
            <a:srgbClr val="9B7A2E"/>
          </a:solidFill>
          <a:ln/>
        </p:spPr>
      </p:sp>
      <p:sp>
        <p:nvSpPr>
          <p:cNvPr id="9" name="Shape 6"/>
          <p:cNvSpPr/>
          <p:nvPr/>
        </p:nvSpPr>
        <p:spPr>
          <a:xfrm>
            <a:off x="3718415" y="470916"/>
            <a:ext cx="82296" cy="82296"/>
          </a:xfrm>
          <a:prstGeom prst="ellipse">
            <a:avLst/>
          </a:prstGeom>
          <a:solidFill>
            <a:srgbClr val="F0C96B"/>
          </a:solidFill>
          <a:ln/>
        </p:spPr>
      </p:sp>
      <p:sp>
        <p:nvSpPr>
          <p:cNvPr id="10" name="Shape 7"/>
          <p:cNvSpPr/>
          <p:nvPr/>
        </p:nvSpPr>
        <p:spPr>
          <a:xfrm>
            <a:off x="3860147" y="470916"/>
            <a:ext cx="82296" cy="82296"/>
          </a:xfrm>
          <a:prstGeom prst="ellipse">
            <a:avLst/>
          </a:prstGeom>
          <a:solidFill>
            <a:srgbClr val="34344A"/>
          </a:solidFill>
          <a:ln/>
        </p:spPr>
      </p:sp>
      <p:sp>
        <p:nvSpPr>
          <p:cNvPr id="11" name="Shape 8"/>
          <p:cNvSpPr/>
          <p:nvPr/>
        </p:nvSpPr>
        <p:spPr>
          <a:xfrm>
            <a:off x="4111607" y="384048"/>
            <a:ext cx="2491610"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426705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3" name="Text 10"/>
          <p:cNvSpPr txBox="1"/>
          <p:nvPr/>
        </p:nvSpPr>
        <p:spPr>
          <a:xfrm>
            <a:off x="6877538" y="384048"/>
            <a:ext cx="485695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Dr. Amira Haddad (staff), Layla (viewer) · The expert is fictitious</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Digital-twin masterclasses: scale an expert, with consent</a:t>
            </a:r>
            <a:endParaRPr lang="en-US" sz="3300" dirty="0"/>
          </a:p>
        </p:txBody>
      </p:sp>
      <p:sp>
        <p:nvSpPr>
          <p:cNvPr id="15" name="Text 12"/>
          <p:cNvSpPr txBox="1"/>
          <p:nvPr/>
        </p:nvSpPr>
        <p:spPr>
          <a:xfrm>
            <a:off x="8275320" y="770839"/>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An AI twin built from the expert's own published work, which prepares questions for the expert to approve and can teach live</a:t>
            </a:r>
            <a:endParaRPr lang="en-US" sz="1500" dirty="0"/>
          </a:p>
        </p:txBody>
      </p:sp>
      <p:pic>
        <p:nvPicPr>
          <p:cNvPr id="16" name="Image 0" descr="/tmp/claude-0/-home-user-Chronopoli/d7458f57-86b2-5920-914e-8615357fee63/scratchpad/deck-master/framed/digital_twin.png">    </p:cNvPr>
          <p:cNvPicPr>
            <a:picLocks noChangeAspect="1"/>
          </p:cNvPicPr>
          <p:nvPr/>
        </p:nvPicPr>
        <p:blipFill>
          <a:blip r:embed="rId2"/>
          <a:stretch>
            <a:fillRect/>
          </a:stretch>
        </p:blipFill>
        <p:spPr>
          <a:xfrm>
            <a:off x="798483" y="1862238"/>
            <a:ext cx="5212360" cy="3505076"/>
          </a:xfrm>
          <a:prstGeom prst="rect">
            <a:avLst/>
          </a:prstGeom>
        </p:spPr>
      </p:pic>
      <p:sp>
        <p:nvSpPr>
          <p:cNvPr id="17" name="Shape 13"/>
          <p:cNvSpPr/>
          <p:nvPr/>
        </p:nvSpPr>
        <p:spPr>
          <a:xfrm>
            <a:off x="936300" y="5366656"/>
            <a:ext cx="1495471"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027740" y="5439808"/>
            <a:ext cx="73152" cy="73152"/>
          </a:xfrm>
          <a:prstGeom prst="ellipse">
            <a:avLst/>
          </a:prstGeom>
          <a:solidFill>
            <a:srgbClr val="A9A9C6"/>
          </a:solidFill>
          <a:ln/>
        </p:spPr>
      </p:sp>
      <p:sp>
        <p:nvSpPr>
          <p:cNvPr id="19" name="Text 15"/>
          <p:cNvSpPr txBox="1"/>
          <p:nvPr/>
        </p:nvSpPr>
        <p:spPr>
          <a:xfrm>
            <a:off x="1155756" y="5366656"/>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0" name="Text 16"/>
          <p:cNvSpPr txBox="1"/>
          <p:nvPr/>
        </p:nvSpPr>
        <p:spPr>
          <a:xfrm>
            <a:off x="2541499" y="5398660"/>
            <a:ext cx="33315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Twin staff view (template not yet built)</a:t>
            </a:r>
            <a:endParaRPr lang="en-US" sz="1000" dirty="0"/>
          </a:p>
        </p:txBody>
      </p:sp>
      <p:sp>
        <p:nvSpPr>
          <p:cNvPr id="21" name="Text 17"/>
          <p:cNvSpPr txBox="1"/>
          <p:nvPr/>
        </p:nvSpPr>
        <p:spPr>
          <a:xfrm>
            <a:off x="936300" y="5787280"/>
            <a:ext cx="493672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 from the expert's own work:</a:t>
            </a:r>
            <a:r>
              <a:rPr lang="en-US" sz="1400" dirty="0">
                <a:solidFill>
                  <a:srgbClr val="E8E8F0"/>
                </a:solidFill>
                <a:latin typeface="Arial" pitchFamily="34" charset="0"/>
                <a:ea typeface="Arial" pitchFamily="34" charset="-122"/>
                <a:cs typeface="Arial" pitchFamily="34" charset="-120"/>
              </a:rPr>
              <a:t> Textract and Claude map positions; the expert approves every question</a:t>
            </a:r>
            <a:endParaRPr lang="en-US" sz="1400" dirty="0"/>
          </a:p>
        </p:txBody>
      </p:sp>
      <p:pic>
        <p:nvPicPr>
          <p:cNvPr id="22" name="Image 1" descr="/tmp/claude-0/-home-user-Chronopoli/d7458f57-86b2-5920-914e-8615357fee63/scratchpad/deck-master/framed/masterclass.png">    </p:cNvPr>
          <p:cNvPicPr>
            <a:picLocks noChangeAspect="1"/>
          </p:cNvPicPr>
          <p:nvPr/>
        </p:nvPicPr>
        <p:blipFill>
          <a:blip r:embed="rId3"/>
          <a:stretch>
            <a:fillRect/>
          </a:stretch>
        </p:blipFill>
        <p:spPr>
          <a:xfrm>
            <a:off x="6098739" y="1860008"/>
            <a:ext cx="5296703" cy="3509536"/>
          </a:xfrm>
          <a:prstGeom prst="rect">
            <a:avLst/>
          </a:prstGeom>
        </p:spPr>
      </p:pic>
      <p:sp>
        <p:nvSpPr>
          <p:cNvPr id="23" name="Shape 18"/>
          <p:cNvSpPr/>
          <p:nvPr/>
        </p:nvSpPr>
        <p:spPr>
          <a:xfrm>
            <a:off x="6238786" y="5366656"/>
            <a:ext cx="1495471"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6330226" y="5439808"/>
            <a:ext cx="73152" cy="73152"/>
          </a:xfrm>
          <a:prstGeom prst="ellipse">
            <a:avLst/>
          </a:prstGeom>
          <a:solidFill>
            <a:srgbClr val="A9A9C6"/>
          </a:solidFill>
          <a:ln/>
        </p:spPr>
      </p:sp>
      <p:sp>
        <p:nvSpPr>
          <p:cNvPr id="25" name="Text 20"/>
          <p:cNvSpPr txBox="1"/>
          <p:nvPr/>
        </p:nvSpPr>
        <p:spPr>
          <a:xfrm>
            <a:off x="6458242" y="5366656"/>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6" name="Text 21"/>
          <p:cNvSpPr txBox="1"/>
          <p:nvPr/>
        </p:nvSpPr>
        <p:spPr>
          <a:xfrm>
            <a:off x="7843985" y="5398660"/>
            <a:ext cx="341141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Live masterclass, 10 Nov 2026 (template not yet built)</a:t>
            </a:r>
            <a:endParaRPr lang="en-US" sz="1000" dirty="0"/>
          </a:p>
        </p:txBody>
      </p:sp>
      <p:sp>
        <p:nvSpPr>
          <p:cNvPr id="27" name="Text 22"/>
          <p:cNvSpPr txBox="1"/>
          <p:nvPr/>
        </p:nvSpPr>
        <p:spPr>
          <a:xfrm>
            <a:off x="6238786" y="5787280"/>
            <a:ext cx="5016609"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Live with consent:</a:t>
            </a:r>
            <a:r>
              <a:rPr lang="en-US" sz="1400" dirty="0">
                <a:solidFill>
                  <a:srgbClr val="E8E8F0"/>
                </a:solidFill>
                <a:latin typeface="Arial" pitchFamily="34" charset="0"/>
                <a:ea typeface="Arial" pitchFamily="34" charset="-122"/>
                <a:cs typeface="Arial" pitchFamily="34" charset="-120"/>
              </a:rPr>
              <a:t> AI-disclosed voice and avatar; written expert consent (a go-live requirement)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8496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4721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MARKET OPPORTUNITY · INVESTOR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$45B total addressable market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Five fast-growing markets, connected for the first time by one platform</a:t>
            </a:r>
            <a:endParaRPr lang="en-US" sz="1600" dirty="0"/>
          </a:p>
        </p:txBody>
      </p:sp>
      <p:sp>
        <p:nvSpPr>
          <p:cNvPr id="7" name="Shape 4"/>
          <p:cNvSpPr/>
          <p:nvPr/>
        </p:nvSpPr>
        <p:spPr>
          <a:xfrm>
            <a:off x="632308" y="1942795"/>
            <a:ext cx="3856025" cy="3856025"/>
          </a:xfrm>
          <a:prstGeom prst="ellipse">
            <a:avLst/>
          </a:prstGeom>
          <a:solidFill>
            <a:srgbClr val="15151F"/>
          </a:solidFill>
          <a:ln w="12700">
            <a:solidFill>
              <a:srgbClr val="5A4A22"/>
            </a:solidFill>
            <a:prstDash val="solid"/>
          </a:ln>
        </p:spPr>
      </p:sp>
      <p:sp>
        <p:nvSpPr>
          <p:cNvPr id="8" name="Shape 5"/>
          <p:cNvSpPr/>
          <p:nvPr/>
        </p:nvSpPr>
        <p:spPr>
          <a:xfrm>
            <a:off x="1326392" y="3330964"/>
            <a:ext cx="2467856" cy="2467856"/>
          </a:xfrm>
          <a:prstGeom prst="ellipse">
            <a:avLst/>
          </a:prstGeom>
          <a:solidFill>
            <a:srgbClr val="231E12"/>
          </a:solidFill>
          <a:ln w="12700">
            <a:solidFill>
              <a:srgbClr val="9B7A2E"/>
            </a:solidFill>
            <a:prstDash val="solid"/>
          </a:ln>
        </p:spPr>
      </p:sp>
      <p:sp>
        <p:nvSpPr>
          <p:cNvPr id="9" name="Shape 6"/>
          <p:cNvSpPr/>
          <p:nvPr/>
        </p:nvSpPr>
        <p:spPr>
          <a:xfrm>
            <a:off x="1981916" y="4642013"/>
            <a:ext cx="1156807" cy="1156807"/>
          </a:xfrm>
          <a:prstGeom prst="ellipse">
            <a:avLst/>
          </a:prstGeom>
          <a:solidFill>
            <a:srgbClr val="C9A84C"/>
          </a:solidFill>
          <a:ln w="12700">
            <a:solidFill>
              <a:srgbClr val="C9A84C"/>
            </a:solidFill>
            <a:prstDash val="solid"/>
          </a:ln>
        </p:spPr>
      </p:sp>
      <p:sp>
        <p:nvSpPr>
          <p:cNvPr id="10" name="Text 7"/>
          <p:cNvSpPr txBox="1"/>
          <p:nvPr/>
        </p:nvSpPr>
        <p:spPr>
          <a:xfrm>
            <a:off x="1097280" y="2125675"/>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TAM</a:t>
            </a:r>
            <a:endParaRPr lang="en-US" sz="900" dirty="0"/>
          </a:p>
        </p:txBody>
      </p:sp>
      <p:sp>
        <p:nvSpPr>
          <p:cNvPr id="11" name="Text 8"/>
          <p:cNvSpPr txBox="1"/>
          <p:nvPr/>
        </p:nvSpPr>
        <p:spPr>
          <a:xfrm>
            <a:off x="1097280" y="2308555"/>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$45B</a:t>
            </a:r>
            <a:endParaRPr lang="en-US" sz="2600" dirty="0"/>
          </a:p>
        </p:txBody>
      </p:sp>
      <p:sp>
        <p:nvSpPr>
          <p:cNvPr id="12" name="Text 9"/>
          <p:cNvSpPr txBox="1"/>
          <p:nvPr/>
        </p:nvSpPr>
        <p:spPr>
          <a:xfrm>
            <a:off x="1097280" y="2747467"/>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Professional digital-economy training</a:t>
            </a:r>
            <a:endParaRPr lang="en-US" sz="1000" dirty="0"/>
          </a:p>
        </p:txBody>
      </p:sp>
      <p:sp>
        <p:nvSpPr>
          <p:cNvPr id="13" name="Text 10"/>
          <p:cNvSpPr txBox="1"/>
          <p:nvPr/>
        </p:nvSpPr>
        <p:spPr>
          <a:xfrm>
            <a:off x="1097280" y="3495556"/>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SAM</a:t>
            </a:r>
            <a:endParaRPr lang="en-US" sz="900" dirty="0"/>
          </a:p>
        </p:txBody>
      </p:sp>
      <p:sp>
        <p:nvSpPr>
          <p:cNvPr id="14" name="Text 11"/>
          <p:cNvSpPr txBox="1"/>
          <p:nvPr/>
        </p:nvSpPr>
        <p:spPr>
          <a:xfrm>
            <a:off x="1097280" y="3678436"/>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$8.5B</a:t>
            </a:r>
            <a:endParaRPr lang="en-US" sz="2600" dirty="0"/>
          </a:p>
        </p:txBody>
      </p:sp>
      <p:sp>
        <p:nvSpPr>
          <p:cNvPr id="15" name="Text 12"/>
          <p:cNvSpPr txBox="1"/>
          <p:nvPr/>
        </p:nvSpPr>
        <p:spPr>
          <a:xfrm>
            <a:off x="1097280" y="4117348"/>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MENA + Europe, enterprise</a:t>
            </a:r>
            <a:endParaRPr lang="en-US" sz="1000" dirty="0"/>
          </a:p>
        </p:txBody>
      </p:sp>
      <p:sp>
        <p:nvSpPr>
          <p:cNvPr id="16" name="Text 13"/>
          <p:cNvSpPr txBox="1"/>
          <p:nvPr/>
        </p:nvSpPr>
        <p:spPr>
          <a:xfrm>
            <a:off x="1981916" y="4824893"/>
            <a:ext cx="1156807" cy="164592"/>
          </a:xfrm>
          <a:prstGeom prst="rect">
            <a:avLst/>
          </a:prstGeom>
          <a:noFill/>
          <a:ln/>
        </p:spPr>
        <p:txBody>
          <a:bodyPr wrap="square" lIns="0" tIns="0" rIns="0" bIns="0" rtlCol="0" anchor="t"/>
          <a:lstStyle/>
          <a:p>
            <a:pPr algn="ctr" indent="0" marL="0">
              <a:buNone/>
            </a:pPr>
            <a:r>
              <a:rPr lang="en-US" sz="850" b="1" spc="100" kern="0" dirty="0">
                <a:solidFill>
                  <a:srgbClr val="0A0A0F"/>
                </a:solidFill>
                <a:latin typeface="Arial" pitchFamily="34" charset="0"/>
                <a:ea typeface="Arial" pitchFamily="34" charset="-122"/>
                <a:cs typeface="Arial" pitchFamily="34" charset="-120"/>
              </a:rPr>
              <a:t>SOM</a:t>
            </a:r>
            <a:endParaRPr lang="en-US" sz="850" dirty="0"/>
          </a:p>
        </p:txBody>
      </p:sp>
      <p:sp>
        <p:nvSpPr>
          <p:cNvPr id="17" name="Text 14"/>
          <p:cNvSpPr txBox="1"/>
          <p:nvPr/>
        </p:nvSpPr>
        <p:spPr>
          <a:xfrm>
            <a:off x="1981916" y="4989485"/>
            <a:ext cx="1156807" cy="310896"/>
          </a:xfrm>
          <a:prstGeom prst="rect">
            <a:avLst/>
          </a:prstGeom>
          <a:noFill/>
          <a:ln/>
        </p:spPr>
        <p:txBody>
          <a:bodyPr wrap="square" lIns="0" tIns="0" rIns="0" bIns="0" rtlCol="0" anchor="t"/>
          <a:lstStyle/>
          <a:p>
            <a:pPr algn="ctr" indent="0" marL="0">
              <a:buNone/>
            </a:pPr>
            <a:r>
              <a:rPr lang="en-US" sz="1700" b="1" dirty="0">
                <a:solidFill>
                  <a:srgbClr val="0A0A0F"/>
                </a:solidFill>
                <a:latin typeface="Arial" pitchFamily="34" charset="0"/>
                <a:ea typeface="Arial" pitchFamily="34" charset="-122"/>
                <a:cs typeface="Arial" pitchFamily="34" charset="-120"/>
              </a:rPr>
              <a:t>$9.6M</a:t>
            </a:r>
            <a:endParaRPr lang="en-US" sz="1700" dirty="0"/>
          </a:p>
        </p:txBody>
      </p:sp>
      <p:sp>
        <p:nvSpPr>
          <p:cNvPr id="18" name="Text 15"/>
          <p:cNvSpPr txBox="1"/>
          <p:nvPr/>
        </p:nvSpPr>
        <p:spPr>
          <a:xfrm>
            <a:off x="1981916" y="5300381"/>
            <a:ext cx="1156807" cy="164592"/>
          </a:xfrm>
          <a:prstGeom prst="rect">
            <a:avLst/>
          </a:prstGeom>
          <a:noFill/>
          <a:ln/>
        </p:spPr>
        <p:txBody>
          <a:bodyPr wrap="square" lIns="0" tIns="0" rIns="0" bIns="0" rtlCol="0" anchor="t"/>
          <a:lstStyle/>
          <a:p>
            <a:pPr algn="ctr" indent="0" marL="0">
              <a:buNone/>
            </a:pPr>
            <a:r>
              <a:rPr lang="en-US" sz="900" dirty="0">
                <a:solidFill>
                  <a:srgbClr val="0A0A0F"/>
                </a:solidFill>
                <a:latin typeface="Arial" pitchFamily="34" charset="0"/>
                <a:ea typeface="Arial" pitchFamily="34" charset="-122"/>
                <a:cs typeface="Arial" pitchFamily="34" charset="-120"/>
              </a:rPr>
              <a:t>Year 3</a:t>
            </a:r>
            <a:endParaRPr lang="en-US" sz="900" dirty="0"/>
          </a:p>
        </p:txBody>
      </p:sp>
      <p:sp>
        <p:nvSpPr>
          <p:cNvPr id="19" name="Shape 16"/>
          <p:cNvSpPr/>
          <p:nvPr/>
        </p:nvSpPr>
        <p:spPr>
          <a:xfrm>
            <a:off x="5120640" y="1942795"/>
            <a:ext cx="6613855" cy="3901745"/>
          </a:xfrm>
          <a:prstGeom prst="roundRect">
            <a:avLst>
              <a:gd name="adj" fmla="val 2812"/>
            </a:avLst>
          </a:prstGeom>
          <a:solidFill>
            <a:srgbClr val="171722"/>
          </a:solidFill>
          <a:ln w="9525">
            <a:solidFill>
              <a:srgbClr val="2C2C3E"/>
            </a:solidFill>
            <a:prstDash val="solid"/>
          </a:ln>
        </p:spPr>
      </p:sp>
      <p:graphicFrame>
        <p:nvGraphicFramePr>
          <p:cNvPr id="20" name="Chart 0" descr=""/>
          <p:cNvGraphicFramePr/>
          <p:nvPr/>
        </p:nvGraphicFramePr>
        <p:xfrm>
          <a:off x="5257800" y="2034235"/>
          <a:ext cx="6339535" cy="3718865"/>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estimates (March 2026), not independently verified. The segments overlap, so the TAM is not their sum.</a:t>
            </a:r>
            <a:endParaRPr lang="en-US" sz="950" dirty="0"/>
          </a:p>
        </p:txBody>
      </p:sp>
      <p:sp>
        <p:nvSpPr>
          <p:cNvPr id="22"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5307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1532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BUSINESS MODEL</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fund the ecosystem before a single student pays</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788920"/>
                <a:gridCol w="1188720"/>
                <a:gridCol w="1188720"/>
                <a:gridCol w="2057400"/>
              </a:tblGrid>
              <a:tr h="488671">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1</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3</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PRICING</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$825K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Corporate Team Subs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$480K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$280K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$2.8M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Open Marketplace (30%)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$100K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$750K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Creator 70%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Certification Fees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$30K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 / cert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Summit + Research</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$1.0M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From Year 2</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TOTAL REVENUE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$1.72M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$9.59M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67.5% EBITDA (Y1)</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Text 4"/>
          <p:cNvSpPr txBox="1"/>
          <p:nvPr/>
        </p:nvSpPr>
        <p:spPr>
          <a:xfrm>
            <a:off x="457200" y="5980176"/>
            <a:ext cx="7223760"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a:t>
            </a:r>
            <a:endParaRPr lang="en-US" sz="950" dirty="0"/>
          </a:p>
        </p:txBody>
      </p:sp>
      <p:sp>
        <p:nvSpPr>
          <p:cNvPr id="9" name="Shape 5"/>
          <p:cNvSpPr/>
          <p:nvPr/>
        </p:nvSpPr>
        <p:spPr>
          <a:xfrm>
            <a:off x="8092440" y="1942795"/>
            <a:ext cx="3642055" cy="2138172"/>
          </a:xfrm>
          <a:prstGeom prst="roundRect">
            <a:avLst>
              <a:gd name="adj" fmla="val 5132"/>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5989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 as counted in the projections.</a:t>
            </a:r>
            <a:endParaRPr lang="en-US" sz="1250" dirty="0"/>
          </a:p>
        </p:txBody>
      </p:sp>
      <p:sp>
        <p:nvSpPr>
          <p:cNvPr id="12" name="Text 8"/>
          <p:cNvSpPr txBox="1"/>
          <p:nvPr/>
        </p:nvSpPr>
        <p:spPr>
          <a:xfrm>
            <a:off x="8293608" y="31177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23-25):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355287"/>
            <a:ext cx="3642055" cy="1862633"/>
          </a:xfrm>
          <a:prstGeom prst="roundRect">
            <a:avLst>
              <a:gd name="adj" fmla="val 5891"/>
            </a:avLst>
          </a:prstGeom>
          <a:solidFill>
            <a:srgbClr val="231E12"/>
          </a:solidFill>
          <a:ln w="9525">
            <a:solidFill>
              <a:srgbClr val="C9A84C"/>
            </a:solidFill>
            <a:prstDash val="solid"/>
          </a:ln>
        </p:spPr>
      </p:sp>
      <p:sp>
        <p:nvSpPr>
          <p:cNvPr id="14" name="Text 10"/>
          <p:cNvSpPr txBox="1"/>
          <p:nvPr/>
        </p:nvSpPr>
        <p:spPr>
          <a:xfrm>
            <a:off x="8293608" y="45381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A FOUNDING ACADEMY, PER YEAR</a:t>
            </a:r>
            <a:endParaRPr lang="en-US" sz="850" dirty="0"/>
          </a:p>
        </p:txBody>
      </p:sp>
      <p:sp>
        <p:nvSpPr>
          <p:cNvPr id="15" name="Text 11"/>
          <p:cNvSpPr txBox="1"/>
          <p:nvPr/>
        </p:nvSpPr>
        <p:spPr>
          <a:xfrm>
            <a:off x="8293608" y="47576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361127"/>
            <a:ext cx="3239719" cy="765353"/>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Trained staff and regulators, verified credentials, candidates sent to its hiring team, and Intelligence Reports. One recruiter placement costs about $20K.</a:t>
            </a:r>
            <a:endParaRPr lang="en-US" sz="125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 Illustrative mock data</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In the product: how each price is charged</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Layer prices for single purchases, seats for teams, 70/30 on partner courses; academy fees and subscriptions: slide 22</a:t>
            </a:r>
            <a:endParaRPr lang="en-US" sz="1600" dirty="0"/>
          </a:p>
        </p:txBody>
      </p:sp>
      <p:pic>
        <p:nvPicPr>
          <p:cNvPr id="14" name="Image 0" descr="/tmp/claude-0/-home-user-Chronopoli/d7458f57-86b2-5920-914e-8615357fee63/scratchpad/deck-master/framed/course_pricing.png">    </p:cNvPr>
          <p:cNvPicPr>
            <a:picLocks noChangeAspect="1"/>
          </p:cNvPicPr>
          <p:nvPr/>
        </p:nvPicPr>
        <p:blipFill>
          <a:blip r:embed="rId2"/>
          <a:stretch>
            <a:fillRect/>
          </a:stretch>
        </p:blipFill>
        <p:spPr>
          <a:xfrm>
            <a:off x="6123688" y="1753838"/>
            <a:ext cx="5763189" cy="4259847"/>
          </a:xfrm>
          <a:prstGeom prst="rect">
            <a:avLst/>
          </a:prstGeom>
        </p:spPr>
      </p:pic>
      <p:sp>
        <p:nvSpPr>
          <p:cNvPr id="15" name="Shape 11"/>
          <p:cNvSpPr/>
          <p:nvPr/>
        </p:nvSpPr>
        <p:spPr>
          <a:xfrm>
            <a:off x="6276069" y="5998464"/>
            <a:ext cx="1495471"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6367509" y="6071616"/>
            <a:ext cx="73152" cy="73152"/>
          </a:xfrm>
          <a:prstGeom prst="ellipse">
            <a:avLst/>
          </a:prstGeom>
          <a:solidFill>
            <a:srgbClr val="A9A9C6"/>
          </a:solidFill>
          <a:ln/>
        </p:spPr>
      </p:sp>
      <p:sp>
        <p:nvSpPr>
          <p:cNvPr id="17" name="Text 13"/>
          <p:cNvSpPr txBox="1"/>
          <p:nvPr/>
        </p:nvSpPr>
        <p:spPr>
          <a:xfrm>
            <a:off x="6495525"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8" name="Text 14"/>
          <p:cNvSpPr txBox="1"/>
          <p:nvPr/>
        </p:nvSpPr>
        <p:spPr>
          <a:xfrm>
            <a:off x="7881268" y="6030468"/>
            <a:ext cx="38532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page with the L1-L4 price ladder (not yet built)</a:t>
            </a:r>
            <a:endParaRPr lang="en-US" sz="1000" dirty="0"/>
          </a:p>
        </p:txBody>
      </p:sp>
      <p:sp>
        <p:nvSpPr>
          <p:cNvPr id="19" name="Shape 15"/>
          <p:cNvSpPr/>
          <p:nvPr/>
        </p:nvSpPr>
        <p:spPr>
          <a:xfrm>
            <a:off x="457200" y="1906219"/>
            <a:ext cx="2603110" cy="2055266"/>
          </a:xfrm>
          <a:prstGeom prst="roundRect">
            <a:avLst>
              <a:gd name="adj" fmla="val 4449"/>
            </a:avLst>
          </a:prstGeom>
          <a:solidFill>
            <a:srgbClr val="171722"/>
          </a:solidFill>
          <a:ln w="9525">
            <a:solidFill>
              <a:srgbClr val="2C2C3E"/>
            </a:solidFill>
            <a:prstDash val="solid"/>
          </a:ln>
        </p:spPr>
      </p:sp>
      <p:sp>
        <p:nvSpPr>
          <p:cNvPr id="20" name="Text 16"/>
          <p:cNvSpPr txBox="1"/>
          <p:nvPr/>
        </p:nvSpPr>
        <p:spPr>
          <a:xfrm>
            <a:off x="621792" y="2052523"/>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SINGLE-COURSE PURCHASE</a:t>
            </a:r>
            <a:endParaRPr lang="en-US" sz="850" dirty="0"/>
          </a:p>
        </p:txBody>
      </p:sp>
      <p:sp>
        <p:nvSpPr>
          <p:cNvPr id="21" name="Text 17"/>
          <p:cNvSpPr txBox="1"/>
          <p:nvPr/>
        </p:nvSpPr>
        <p:spPr>
          <a:xfrm>
            <a:off x="621792" y="2290267"/>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$0–$2,499</a:t>
            </a:r>
            <a:endParaRPr lang="en-US" sz="2200" dirty="0"/>
          </a:p>
        </p:txBody>
      </p:sp>
      <p:sp>
        <p:nvSpPr>
          <p:cNvPr id="22" name="Text 18"/>
          <p:cNvSpPr txBox="1"/>
          <p:nvPr/>
        </p:nvSpPr>
        <p:spPr>
          <a:xfrm>
            <a:off x="621792" y="2753563"/>
            <a:ext cx="2273926" cy="1116482"/>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L1 Entry: $0–$149</a:t>
            </a:r>
            <a:endParaRPr lang="en-US" sz="1300" dirty="0"/>
          </a:p>
          <a:p>
            <a:pPr indent="0" marL="0">
              <a:buNone/>
            </a:pPr>
            <a:r>
              <a:rPr lang="en-US" sz="1300" dirty="0">
                <a:solidFill>
                  <a:srgbClr val="B4B4C8"/>
                </a:solidFill>
                <a:latin typeface="Arial" pitchFamily="34" charset="0"/>
                <a:ea typeface="Arial" pitchFamily="34" charset="-122"/>
                <a:cs typeface="Arial" pitchFamily="34" charset="-120"/>
              </a:rPr>
              <a:t>L2 Professional: $299–$799</a:t>
            </a:r>
            <a:endParaRPr lang="en-US" sz="1300" dirty="0"/>
          </a:p>
          <a:p>
            <a:pPr indent="0" marL="0">
              <a:buNone/>
            </a:pPr>
            <a:r>
              <a:rPr lang="en-US" sz="1300" dirty="0">
                <a:solidFill>
                  <a:srgbClr val="B4B4C8"/>
                </a:solidFill>
                <a:latin typeface="Arial" pitchFamily="34" charset="0"/>
                <a:ea typeface="Arial" pitchFamily="34" charset="-122"/>
                <a:cs typeface="Arial" pitchFamily="34" charset="-120"/>
              </a:rPr>
              <a:t>L3 Institutional: $999–$2,499</a:t>
            </a:r>
            <a:endParaRPr lang="en-US" sz="1300" dirty="0"/>
          </a:p>
        </p:txBody>
      </p:sp>
      <p:sp>
        <p:nvSpPr>
          <p:cNvPr id="23" name="Shape 19"/>
          <p:cNvSpPr/>
          <p:nvPr/>
        </p:nvSpPr>
        <p:spPr>
          <a:xfrm>
            <a:off x="3261478" y="1906219"/>
            <a:ext cx="2603110" cy="2055266"/>
          </a:xfrm>
          <a:prstGeom prst="roundRect">
            <a:avLst>
              <a:gd name="adj" fmla="val 4449"/>
            </a:avLst>
          </a:prstGeom>
          <a:solidFill>
            <a:srgbClr val="171722"/>
          </a:solidFill>
          <a:ln w="9525">
            <a:solidFill>
              <a:srgbClr val="2C2C3E"/>
            </a:solidFill>
            <a:prstDash val="solid"/>
          </a:ln>
        </p:spPr>
      </p:sp>
      <p:sp>
        <p:nvSpPr>
          <p:cNvPr id="24" name="Text 20"/>
          <p:cNvSpPr txBox="1"/>
          <p:nvPr/>
        </p:nvSpPr>
        <p:spPr>
          <a:xfrm>
            <a:off x="3426070" y="2052523"/>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CORPORATE TEAM SUBS</a:t>
            </a:r>
            <a:endParaRPr lang="en-US" sz="850" dirty="0"/>
          </a:p>
        </p:txBody>
      </p:sp>
      <p:sp>
        <p:nvSpPr>
          <p:cNvPr id="25" name="Text 21"/>
          <p:cNvSpPr txBox="1"/>
          <p:nvPr/>
        </p:nvSpPr>
        <p:spPr>
          <a:xfrm>
            <a:off x="3426070" y="2290267"/>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$1,500 / seat / yr</a:t>
            </a:r>
            <a:endParaRPr lang="en-US" sz="2200" dirty="0"/>
          </a:p>
        </p:txBody>
      </p:sp>
      <p:sp>
        <p:nvSpPr>
          <p:cNvPr id="26" name="Text 22"/>
          <p:cNvSpPr txBox="1"/>
          <p:nvPr/>
        </p:nvSpPr>
        <p:spPr>
          <a:xfrm>
            <a:off x="3426070" y="2753563"/>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$125 per seat per month; employers license seats for digital-asset, risk and compliance teams</a:t>
            </a:r>
            <a:endParaRPr lang="en-US" sz="1400" dirty="0"/>
          </a:p>
        </p:txBody>
      </p:sp>
      <p:sp>
        <p:nvSpPr>
          <p:cNvPr id="27" name="Shape 23"/>
          <p:cNvSpPr/>
          <p:nvPr/>
        </p:nvSpPr>
        <p:spPr>
          <a:xfrm>
            <a:off x="457200" y="4162654"/>
            <a:ext cx="2603110" cy="2055266"/>
          </a:xfrm>
          <a:prstGeom prst="roundRect">
            <a:avLst>
              <a:gd name="adj" fmla="val 4449"/>
            </a:avLst>
          </a:prstGeom>
          <a:solidFill>
            <a:srgbClr val="171722"/>
          </a:solidFill>
          <a:ln w="9525">
            <a:solidFill>
              <a:srgbClr val="2C2C3E"/>
            </a:solidFill>
            <a:prstDash val="solid"/>
          </a:ln>
        </p:spPr>
      </p:sp>
      <p:sp>
        <p:nvSpPr>
          <p:cNvPr id="28" name="Text 24"/>
          <p:cNvSpPr txBox="1"/>
          <p:nvPr/>
        </p:nvSpPr>
        <p:spPr>
          <a:xfrm>
            <a:off x="621792" y="4308958"/>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MARKETPLACE SPLIT</a:t>
            </a:r>
            <a:endParaRPr lang="en-US" sz="850" dirty="0"/>
          </a:p>
        </p:txBody>
      </p:sp>
      <p:sp>
        <p:nvSpPr>
          <p:cNvPr id="29" name="Text 25"/>
          <p:cNvSpPr txBox="1"/>
          <p:nvPr/>
        </p:nvSpPr>
        <p:spPr>
          <a:xfrm>
            <a:off x="621792" y="4546702"/>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70 / 30</a:t>
            </a:r>
            <a:endParaRPr lang="en-US" sz="2200" dirty="0"/>
          </a:p>
        </p:txBody>
      </p:sp>
      <p:sp>
        <p:nvSpPr>
          <p:cNvPr id="30" name="Text 26"/>
          <p:cNvSpPr txBox="1"/>
          <p:nvPr/>
        </p:nvSpPr>
        <p:spPr>
          <a:xfrm>
            <a:off x="621792" y="5009998"/>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Every partner-course sale splits at checkout, creator 70%, paid out via Stripe Connect</a:t>
            </a:r>
            <a:endParaRPr lang="en-US" sz="1400" dirty="0"/>
          </a:p>
        </p:txBody>
      </p:sp>
      <p:sp>
        <p:nvSpPr>
          <p:cNvPr id="31" name="Shape 27"/>
          <p:cNvSpPr/>
          <p:nvPr/>
        </p:nvSpPr>
        <p:spPr>
          <a:xfrm>
            <a:off x="3261478" y="4162654"/>
            <a:ext cx="2603110" cy="2055266"/>
          </a:xfrm>
          <a:prstGeom prst="roundRect">
            <a:avLst>
              <a:gd name="adj" fmla="val 4449"/>
            </a:avLst>
          </a:prstGeom>
          <a:solidFill>
            <a:srgbClr val="171722"/>
          </a:solidFill>
          <a:ln w="9525">
            <a:solidFill>
              <a:srgbClr val="2C2C3E"/>
            </a:solidFill>
            <a:prstDash val="solid"/>
          </a:ln>
        </p:spPr>
      </p:sp>
      <p:sp>
        <p:nvSpPr>
          <p:cNvPr id="32" name="Text 28"/>
          <p:cNvSpPr txBox="1"/>
          <p:nvPr/>
        </p:nvSpPr>
        <p:spPr>
          <a:xfrm>
            <a:off x="3426070" y="4308958"/>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L4 LIVE FORMATS &amp; TIERS</a:t>
            </a:r>
            <a:endParaRPr lang="en-US" sz="850" dirty="0"/>
          </a:p>
        </p:txBody>
      </p:sp>
      <p:sp>
        <p:nvSpPr>
          <p:cNvPr id="33" name="Text 29"/>
          <p:cNvSpPr txBox="1"/>
          <p:nvPr/>
        </p:nvSpPr>
        <p:spPr>
          <a:xfrm>
            <a:off x="3426070" y="4546702"/>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$3,000–$8,000</a:t>
            </a:r>
            <a:endParaRPr lang="en-US" sz="2200" dirty="0"/>
          </a:p>
        </p:txBody>
      </p:sp>
      <p:sp>
        <p:nvSpPr>
          <p:cNvPr id="34" name="Text 30"/>
          <p:cNvSpPr txBox="1"/>
          <p:nvPr/>
        </p:nvSpPr>
        <p:spPr>
          <a:xfrm>
            <a:off x="3426070" y="5009998"/>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Influence cohorts, round tables and masterclasses; the partner tier (slide 36) sets the benefits</a:t>
            </a:r>
            <a:endParaRPr lang="en-US" sz="1400" dirty="0"/>
          </a:p>
        </p:txBody>
      </p:sp>
      <p:sp>
        <p:nvSpPr>
          <p:cNvPr id="35" name="Text 3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6" name="Text 3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Nadia Karim in the admin (left), Layla as billing contact (right)</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Prices sit in Open edX; companies buy seats</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run carries its price as an Open edX course mode, and employers license seats for whole teams</a:t>
            </a:r>
            <a:endParaRPr lang="en-US" sz="1600" dirty="0"/>
          </a:p>
        </p:txBody>
      </p:sp>
      <p:pic>
        <p:nvPicPr>
          <p:cNvPr id="14" name="Image 0" descr="/tmp/claude-0/-home-user-Chronopoli/d7458f57-86b2-5920-914e-8615357fee63/scratchpad/deck-master/framed/course_modes.png">    </p:cNvPr>
          <p:cNvPicPr>
            <a:picLocks noChangeAspect="1"/>
          </p:cNvPicPr>
          <p:nvPr/>
        </p:nvPicPr>
        <p:blipFill>
          <a:blip r:embed="rId2"/>
          <a:stretch>
            <a:fillRect/>
          </a:stretch>
        </p:blipFill>
        <p:spPr>
          <a:xfrm>
            <a:off x="291203" y="1784742"/>
            <a:ext cx="6278146" cy="3530528"/>
          </a:xfrm>
          <a:prstGeom prst="rect">
            <a:avLst/>
          </a:prstGeom>
        </p:spPr>
      </p:pic>
      <p:sp>
        <p:nvSpPr>
          <p:cNvPr id="15" name="Shape 11"/>
          <p:cNvSpPr/>
          <p:nvPr/>
        </p:nvSpPr>
        <p:spPr>
          <a:xfrm>
            <a:off x="457200" y="5286433"/>
            <a:ext cx="1763105"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5359585"/>
            <a:ext cx="73152" cy="73152"/>
          </a:xfrm>
          <a:prstGeom prst="ellipse">
            <a:avLst/>
          </a:prstGeom>
          <a:solidFill>
            <a:srgbClr val="34D399"/>
          </a:solidFill>
          <a:ln/>
        </p:spPr>
      </p:sp>
      <p:sp>
        <p:nvSpPr>
          <p:cNvPr id="17" name="Text 13"/>
          <p:cNvSpPr txBox="1"/>
          <p:nvPr/>
        </p:nvSpPr>
        <p:spPr>
          <a:xfrm>
            <a:off x="676656" y="5286433"/>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OPEN EDX SCREEN</a:t>
            </a:r>
            <a:endParaRPr lang="en-US" sz="800" dirty="0"/>
          </a:p>
        </p:txBody>
      </p:sp>
      <p:sp>
        <p:nvSpPr>
          <p:cNvPr id="18" name="Text 14"/>
          <p:cNvSpPr txBox="1"/>
          <p:nvPr/>
        </p:nvSpPr>
        <p:spPr>
          <a:xfrm>
            <a:off x="2330033" y="5318437"/>
            <a:ext cx="407331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Back-office course modes and prices</a:t>
            </a:r>
            <a:endParaRPr lang="en-US" sz="1000" dirty="0"/>
          </a:p>
        </p:txBody>
      </p:sp>
      <p:sp>
        <p:nvSpPr>
          <p:cNvPr id="19" name="Text 15"/>
          <p:cNvSpPr txBox="1"/>
          <p:nvPr/>
        </p:nvSpPr>
        <p:spPr>
          <a:xfrm>
            <a:off x="457200" y="5670481"/>
            <a:ext cx="5946152"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Course modes:</a:t>
            </a:r>
            <a:r>
              <a:rPr lang="en-US" sz="1400" dirty="0">
                <a:solidFill>
                  <a:srgbClr val="E8E8F0"/>
                </a:solidFill>
                <a:latin typeface="Arial" pitchFamily="34" charset="0"/>
                <a:ea typeface="Arial" pitchFamily="34" charset="-122"/>
                <a:cs typeface="Arial" pitchFamily="34" charset="-120"/>
              </a:rPr>
              <a:t> from $0 (USDT-101) to $4,500 (USDT-401)</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Next:</a:t>
            </a:r>
            <a:r>
              <a:rPr lang="en-US" sz="1400" dirty="0">
                <a:solidFill>
                  <a:srgbClr val="E8E8F0"/>
                </a:solidFill>
                <a:latin typeface="Arial" pitchFamily="34" charset="0"/>
                <a:ea typeface="Arial" pitchFamily="34" charset="-122"/>
                <a:cs typeface="Arial" pitchFamily="34" charset="-120"/>
              </a:rPr>
              <a:t> the same paid modes let Open edX enforce payment (R-12)</a:t>
            </a:r>
            <a:endParaRPr lang="en-US" sz="1400" dirty="0"/>
          </a:p>
        </p:txBody>
      </p:sp>
      <p:pic>
        <p:nvPicPr>
          <p:cNvPr id="20" name="Image 1" descr="/tmp/claude-0/-home-user-Chronopoli/d7458f57-86b2-5920-914e-8615357fee63/scratchpad/deck-master/framed/team_licence.png">    </p:cNvPr>
          <p:cNvPicPr>
            <a:picLocks noChangeAspect="1"/>
          </p:cNvPicPr>
          <p:nvPr/>
        </p:nvPicPr>
        <p:blipFill>
          <a:blip r:embed="rId3"/>
          <a:stretch>
            <a:fillRect/>
          </a:stretch>
        </p:blipFill>
        <p:spPr>
          <a:xfrm>
            <a:off x="6630495" y="1812122"/>
            <a:ext cx="5242617" cy="3475768"/>
          </a:xfrm>
          <a:prstGeom prst="rect">
            <a:avLst/>
          </a:prstGeom>
        </p:spPr>
      </p:pic>
      <p:sp>
        <p:nvSpPr>
          <p:cNvPr id="21" name="Shape 16"/>
          <p:cNvSpPr/>
          <p:nvPr/>
        </p:nvSpPr>
        <p:spPr>
          <a:xfrm>
            <a:off x="6769112" y="5286433"/>
            <a:ext cx="1495471"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6860552" y="5359585"/>
            <a:ext cx="73152" cy="73152"/>
          </a:xfrm>
          <a:prstGeom prst="ellipse">
            <a:avLst/>
          </a:prstGeom>
          <a:solidFill>
            <a:srgbClr val="A9A9C6"/>
          </a:solidFill>
          <a:ln/>
        </p:spPr>
      </p:sp>
      <p:sp>
        <p:nvSpPr>
          <p:cNvPr id="23" name="Text 18"/>
          <p:cNvSpPr txBox="1"/>
          <p:nvPr/>
        </p:nvSpPr>
        <p:spPr>
          <a:xfrm>
            <a:off x="6988568" y="5286433"/>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4" name="Text 19"/>
          <p:cNvSpPr txBox="1"/>
          <p:nvPr/>
        </p:nvSpPr>
        <p:spPr>
          <a:xfrm>
            <a:off x="8374311" y="5318437"/>
            <a:ext cx="336018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Team licence page (not yet built)</a:t>
            </a:r>
            <a:endParaRPr lang="en-US" sz="1000" dirty="0"/>
          </a:p>
        </p:txBody>
      </p:sp>
      <p:sp>
        <p:nvSpPr>
          <p:cNvPr id="25" name="Text 20"/>
          <p:cNvSpPr txBox="1"/>
          <p:nvPr/>
        </p:nvSpPr>
        <p:spPr>
          <a:xfrm>
            <a:off x="6769112" y="5670481"/>
            <a:ext cx="4965383"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Gulf Digital Exchange:</a:t>
            </a:r>
            <a:r>
              <a:rPr lang="en-US" sz="1400" dirty="0">
                <a:solidFill>
                  <a:srgbClr val="E8E8F0"/>
                </a:solidFill>
                <a:latin typeface="Arial" pitchFamily="34" charset="0"/>
                <a:ea typeface="Arial" pitchFamily="34" charset="-122"/>
                <a:cs typeface="Arial" pitchFamily="34" charset="-120"/>
              </a:rPr>
              <a:t> 25 seats × $125 = $3,125 a month</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 Illustrative mock data</a:t>
            </a:r>
            <a:endParaRPr lang="en-US" sz="1050" dirty="0"/>
          </a:p>
        </p:txBody>
      </p:sp>
      <p:sp>
        <p:nvSpPr>
          <p:cNvPr id="12" name="Text 9"/>
          <p:cNvSpPr txBox="1"/>
          <p:nvPr/>
        </p:nvSpPr>
        <p:spPr>
          <a:xfrm>
            <a:off x="457200" y="768096"/>
            <a:ext cx="11277295"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70% of every partner-course sale goes to the partner, automatically</a:t>
            </a:r>
            <a:endParaRPr lang="en-US" sz="3600" dirty="0"/>
          </a:p>
        </p:txBody>
      </p:sp>
      <p:pic>
        <p:nvPicPr>
          <p:cNvPr id="13" name="Image 0" descr="/tmp/claude-0/-home-user-Chronopoli/d7458f57-86b2-5920-914e-8615357fee63/scratchpad/deck-master/framed/payouts.png">    </p:cNvPr>
          <p:cNvPicPr>
            <a:picLocks noChangeAspect="1"/>
          </p:cNvPicPr>
          <p:nvPr/>
        </p:nvPicPr>
        <p:blipFill>
          <a:blip r:embed="rId2"/>
          <a:stretch>
            <a:fillRect/>
          </a:stretch>
        </p:blipFill>
        <p:spPr>
          <a:xfrm>
            <a:off x="288995" y="1894682"/>
            <a:ext cx="6361659" cy="4134827"/>
          </a:xfrm>
          <a:prstGeom prst="rect">
            <a:avLst/>
          </a:prstGeom>
        </p:spPr>
      </p:pic>
      <p:sp>
        <p:nvSpPr>
          <p:cNvPr id="14" name="Shape 10"/>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5" name="Shape 11"/>
          <p:cNvSpPr/>
          <p:nvPr/>
        </p:nvSpPr>
        <p:spPr>
          <a:xfrm>
            <a:off x="548640" y="6071616"/>
            <a:ext cx="73152" cy="73152"/>
          </a:xfrm>
          <a:prstGeom prst="ellipse">
            <a:avLst/>
          </a:prstGeom>
          <a:solidFill>
            <a:srgbClr val="A9A9C6"/>
          </a:solidFill>
          <a:ln/>
        </p:spPr>
      </p:sp>
      <p:sp>
        <p:nvSpPr>
          <p:cNvPr id="16" name="Text 12"/>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3"/>
          <p:cNvSpPr txBox="1"/>
          <p:nvPr/>
        </p:nvSpPr>
        <p:spPr>
          <a:xfrm>
            <a:off x="2062399" y="6030468"/>
            <a:ext cx="442005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payouts view (not yet built)</a:t>
            </a:r>
            <a:endParaRPr lang="en-US" sz="1000" dirty="0"/>
          </a:p>
        </p:txBody>
      </p:sp>
      <p:sp>
        <p:nvSpPr>
          <p:cNvPr id="18" name="Text 14"/>
          <p:cNvSpPr txBox="1"/>
          <p:nvPr/>
        </p:nvSpPr>
        <p:spPr>
          <a:xfrm>
            <a:off x="6939649" y="2159203"/>
            <a:ext cx="4794846" cy="57607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Stripe Connect splits each checkout at the moment of payment</a:t>
            </a:r>
            <a:endParaRPr lang="en-US" sz="1800" dirty="0"/>
          </a:p>
        </p:txBody>
      </p:sp>
      <p:sp>
        <p:nvSpPr>
          <p:cNvPr id="19" name="Text 15"/>
          <p:cNvSpPr txBox="1"/>
          <p:nvPr/>
        </p:nvSpPr>
        <p:spPr>
          <a:xfrm>
            <a:off x="6939649" y="3073603"/>
            <a:ext cx="4794846" cy="45720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Illustrative Q3: $1,108,440 gross from 1,610 paid enrolments</a:t>
            </a:r>
            <a:endParaRPr lang="en-US" sz="1400" dirty="0"/>
          </a:p>
        </p:txBody>
      </p:sp>
      <p:sp>
        <p:nvSpPr>
          <p:cNvPr id="20" name="Shape 16"/>
          <p:cNvSpPr/>
          <p:nvPr/>
        </p:nvSpPr>
        <p:spPr>
          <a:xfrm>
            <a:off x="6939649" y="3701491"/>
            <a:ext cx="3338104" cy="146304"/>
          </a:xfrm>
          <a:prstGeom prst="rect">
            <a:avLst/>
          </a:prstGeom>
          <a:solidFill>
            <a:srgbClr val="C9A84C"/>
          </a:solidFill>
          <a:ln/>
        </p:spPr>
      </p:sp>
      <p:sp>
        <p:nvSpPr>
          <p:cNvPr id="21" name="Shape 17"/>
          <p:cNvSpPr/>
          <p:nvPr/>
        </p:nvSpPr>
        <p:spPr>
          <a:xfrm>
            <a:off x="10296041" y="3701491"/>
            <a:ext cx="1438454" cy="146304"/>
          </a:xfrm>
          <a:prstGeom prst="rect">
            <a:avLst/>
          </a:prstGeom>
          <a:solidFill>
            <a:srgbClr val="5A5A6E"/>
          </a:solidFill>
          <a:ln/>
        </p:spPr>
      </p:sp>
      <p:sp>
        <p:nvSpPr>
          <p:cNvPr id="22" name="Text 18"/>
          <p:cNvSpPr txBox="1"/>
          <p:nvPr/>
        </p:nvSpPr>
        <p:spPr>
          <a:xfrm>
            <a:off x="6939649" y="4012387"/>
            <a:ext cx="2305983" cy="530352"/>
          </a:xfrm>
          <a:prstGeom prst="rect">
            <a:avLst/>
          </a:prstGeom>
          <a:noFill/>
          <a:ln/>
        </p:spPr>
        <p:txBody>
          <a:bodyPr wrap="square" lIns="0" tIns="0" rIns="0" bIns="0" rtlCol="0" anchor="t"/>
          <a:lstStyle/>
          <a:p>
            <a:pPr indent="0" marL="0">
              <a:buNone/>
            </a:pPr>
            <a:r>
              <a:rPr lang="en-US" sz="3200" b="1" dirty="0">
                <a:solidFill>
                  <a:srgbClr val="F0C96B"/>
                </a:solidFill>
                <a:latin typeface="Arial" pitchFamily="34" charset="0"/>
                <a:ea typeface="Arial" pitchFamily="34" charset="-122"/>
                <a:cs typeface="Arial" pitchFamily="34" charset="-120"/>
              </a:rPr>
              <a:t>$775,908</a:t>
            </a:r>
            <a:endParaRPr lang="en-US" sz="3200" dirty="0"/>
          </a:p>
        </p:txBody>
      </p:sp>
      <p:sp>
        <p:nvSpPr>
          <p:cNvPr id="23" name="Text 19"/>
          <p:cNvSpPr txBox="1"/>
          <p:nvPr/>
        </p:nvSpPr>
        <p:spPr>
          <a:xfrm>
            <a:off x="6939649"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the partner (70%)</a:t>
            </a:r>
            <a:endParaRPr lang="en-US" sz="1300" dirty="0"/>
          </a:p>
        </p:txBody>
      </p:sp>
      <p:sp>
        <p:nvSpPr>
          <p:cNvPr id="24" name="Text 20"/>
          <p:cNvSpPr txBox="1"/>
          <p:nvPr/>
        </p:nvSpPr>
        <p:spPr>
          <a:xfrm>
            <a:off x="9337072" y="4012387"/>
            <a:ext cx="2305983" cy="530352"/>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$332,532</a:t>
            </a:r>
            <a:endParaRPr lang="en-US" sz="3200" dirty="0"/>
          </a:p>
        </p:txBody>
      </p:sp>
      <p:sp>
        <p:nvSpPr>
          <p:cNvPr id="25" name="Text 21"/>
          <p:cNvSpPr txBox="1"/>
          <p:nvPr/>
        </p:nvSpPr>
        <p:spPr>
          <a:xfrm>
            <a:off x="9337072"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Chronopoli (30%)</a:t>
            </a:r>
            <a:endParaRPr lang="en-US" sz="1300" dirty="0"/>
          </a:p>
        </p:txBody>
      </p:sp>
      <p:sp>
        <p:nvSpPr>
          <p:cNvPr id="26" name="Shape 22"/>
          <p:cNvSpPr/>
          <p:nvPr/>
        </p:nvSpPr>
        <p:spPr>
          <a:xfrm>
            <a:off x="6939649" y="5109667"/>
            <a:ext cx="4794846" cy="0"/>
          </a:xfrm>
          <a:prstGeom prst="line">
            <a:avLst/>
          </a:prstGeom>
          <a:noFill/>
          <a:ln w="9525">
            <a:solidFill>
              <a:srgbClr val="2C2C3E"/>
            </a:solidFill>
            <a:prstDash val="solid"/>
          </a:ln>
        </p:spPr>
      </p:sp>
      <p:sp>
        <p:nvSpPr>
          <p:cNvPr id="27" name="Text 23"/>
          <p:cNvSpPr txBox="1"/>
          <p:nvPr/>
        </p:nvSpPr>
        <p:spPr>
          <a:xfrm>
            <a:off x="6939649" y="5338267"/>
            <a:ext cx="4794846" cy="481584"/>
          </a:xfrm>
          <a:prstGeom prst="rect">
            <a:avLst/>
          </a:prstGeom>
          <a:noFill/>
          <a:ln/>
        </p:spPr>
        <p:txBody>
          <a:bodyPr wrap="square" lIns="0" tIns="0" rIns="0" bIns="0" rtlCol="0" anchor="t"/>
          <a:lstStyle/>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payout record per purchase, split by course; buyer emails are masked for partners</a:t>
            </a:r>
            <a:endParaRPr lang="en-US" sz="1400" dirty="0"/>
          </a:p>
        </p:txBody>
      </p:sp>
      <p:sp>
        <p:nvSpPr>
          <p:cNvPr id="28"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573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196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SCENARIO · ONE ACADEMY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one academy could look like (illustrative)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Fictitious Tether scenario, Q3 2026: demo numbers that show the mechanics, not traction</a:t>
            </a:r>
            <a:endParaRPr lang="en-US" sz="1600" dirty="0"/>
          </a:p>
        </p:txBody>
      </p:sp>
      <p:sp>
        <p:nvSpPr>
          <p:cNvPr id="7" name="Shape 4"/>
          <p:cNvSpPr/>
          <p:nvPr/>
        </p:nvSpPr>
        <p:spPr>
          <a:xfrm>
            <a:off x="457200" y="1906219"/>
            <a:ext cx="6766560" cy="4311701"/>
          </a:xfrm>
          <a:prstGeom prst="roundRect">
            <a:avLst>
              <a:gd name="adj" fmla="val 2545"/>
            </a:avLst>
          </a:prstGeom>
          <a:solidFill>
            <a:srgbClr val="171722"/>
          </a:solidFill>
          <a:ln w="9525">
            <a:solidFill>
              <a:srgbClr val="2C2C3E"/>
            </a:solidFill>
            <a:prstDash val="solid"/>
          </a:ln>
        </p:spPr>
      </p:sp>
      <p:graphicFrame>
        <p:nvGraphicFramePr>
          <p:cNvPr id="8" name="Chart 0" descr=""/>
          <p:cNvGraphicFramePr/>
          <p:nvPr/>
        </p:nvGraphicFramePr>
        <p:xfrm>
          <a:off x="594360" y="1997659"/>
          <a:ext cx="6492240" cy="3744773"/>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1762963" y="2766548"/>
            <a:ext cx="82296" cy="255032"/>
          </a:xfrm>
          <a:prstGeom prst="rect">
            <a:avLst/>
          </a:prstGeom>
          <a:solidFill>
            <a:srgbClr val="171722"/>
          </a:solidFill>
          <a:ln w="9525">
            <a:solidFill>
              <a:srgbClr val="C9A84C"/>
            </a:solidFill>
            <a:prstDash val="dash"/>
          </a:ln>
        </p:spPr>
      </p:sp>
      <p:sp>
        <p:nvSpPr>
          <p:cNvPr id="10" name="Text 6"/>
          <p:cNvSpPr txBox="1"/>
          <p:nvPr/>
        </p:nvSpPr>
        <p:spPr>
          <a:xfrm>
            <a:off x="1927555" y="2766548"/>
            <a:ext cx="3108960" cy="255032"/>
          </a:xfrm>
          <a:prstGeom prst="rect">
            <a:avLst/>
          </a:prstGeom>
          <a:noFill/>
          <a:ln/>
        </p:spPr>
        <p:txBody>
          <a:bodyPr wrap="square" lIns="0" tIns="0" rIns="0" bIns="0" rtlCol="0" anchor="ctr"/>
          <a:lstStyle/>
          <a:p>
            <a:pPr indent="0" marL="0">
              <a:buNone/>
            </a:pPr>
            <a:r>
              <a:rPr lang="en-US" sz="950" dirty="0">
                <a:solidFill>
                  <a:srgbClr val="F0C96B"/>
                </a:solidFill>
                <a:latin typeface="Arial" pitchFamily="34" charset="0"/>
                <a:ea typeface="Arial" pitchFamily="34" charset="-122"/>
                <a:cs typeface="Arial" pitchFamily="34" charset="-120"/>
              </a:rPr>
              <a:t>Free · 2,140 enrolments · $0 revenue</a:t>
            </a:r>
            <a:endParaRPr lang="en-US" sz="950" dirty="0"/>
          </a:p>
        </p:txBody>
      </p:sp>
      <p:sp>
        <p:nvSpPr>
          <p:cNvPr id="11" name="Text 7"/>
          <p:cNvSpPr txBox="1"/>
          <p:nvPr/>
        </p:nvSpPr>
        <p:spPr>
          <a:xfrm>
            <a:off x="685800" y="5760720"/>
            <a:ext cx="6309360" cy="182880"/>
          </a:xfrm>
          <a:prstGeom prst="rect">
            <a:avLst/>
          </a:prstGeom>
          <a:noFill/>
          <a:ln/>
        </p:spPr>
        <p:txBody>
          <a:bodyPr wrap="square" lIns="0" tIns="0" rIns="0" bIns="0" rtlCol="0" anchor="t"/>
          <a:lstStyle/>
          <a:p>
            <a:pPr indent="0" marL="0">
              <a:buNone/>
            </a:pPr>
            <a:r>
              <a:rPr lang="en-US" sz="1050" dirty="0">
                <a:solidFill>
                  <a:srgbClr val="F0C96B"/>
                </a:solidFill>
                <a:latin typeface="Arial" pitchFamily="34" charset="0"/>
                <a:ea typeface="Arial" pitchFamily="34" charset="-122"/>
                <a:cs typeface="Arial" pitchFamily="34" charset="-120"/>
              </a:rPr>
              <a:t>The free USDT-101 is the funnel: 2,140 of 4,812 enrolments (44%)</a:t>
            </a:r>
            <a:endParaRPr lang="en-US" sz="1050" dirty="0"/>
          </a:p>
        </p:txBody>
      </p:sp>
      <p:sp>
        <p:nvSpPr>
          <p:cNvPr id="12" name="Text 8"/>
          <p:cNvSpPr txBox="1"/>
          <p:nvPr/>
        </p:nvSpPr>
        <p:spPr>
          <a:xfrm>
            <a:off x="685800" y="5961888"/>
            <a:ext cx="6309360" cy="164592"/>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Source: illustrative scenario, paid enrolments × list price · segments under $20k unlabelled</a:t>
            </a:r>
            <a:endParaRPr lang="en-US" sz="900" dirty="0"/>
          </a:p>
        </p:txBody>
      </p:sp>
      <p:sp>
        <p:nvSpPr>
          <p:cNvPr id="13" name="Shape 9"/>
          <p:cNvSpPr/>
          <p:nvPr/>
        </p:nvSpPr>
        <p:spPr>
          <a:xfrm>
            <a:off x="7543800" y="1906219"/>
            <a:ext cx="2003908" cy="932688"/>
          </a:xfrm>
          <a:prstGeom prst="roundRect">
            <a:avLst>
              <a:gd name="adj" fmla="val 9804"/>
            </a:avLst>
          </a:prstGeom>
          <a:solidFill>
            <a:srgbClr val="171722"/>
          </a:solidFill>
          <a:ln w="9525">
            <a:solidFill>
              <a:srgbClr val="2C2C3E"/>
            </a:solidFill>
            <a:prstDash val="solid"/>
          </a:ln>
        </p:spPr>
      </p:sp>
      <p:sp>
        <p:nvSpPr>
          <p:cNvPr id="14" name="Text 10"/>
          <p:cNvSpPr txBox="1"/>
          <p:nvPr/>
        </p:nvSpPr>
        <p:spPr>
          <a:xfrm>
            <a:off x="7708392"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5" name="Text 11"/>
          <p:cNvSpPr txBox="1"/>
          <p:nvPr/>
        </p:nvSpPr>
        <p:spPr>
          <a:xfrm>
            <a:off x="7708392"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6" name="Text 12"/>
          <p:cNvSpPr txBox="1"/>
          <p:nvPr/>
        </p:nvSpPr>
        <p:spPr>
          <a:xfrm>
            <a:off x="7708392" y="2601163"/>
            <a:ext cx="1729588"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7" name="Shape 13"/>
          <p:cNvSpPr/>
          <p:nvPr/>
        </p:nvSpPr>
        <p:spPr>
          <a:xfrm>
            <a:off x="9730588" y="1906219"/>
            <a:ext cx="2003908" cy="932688"/>
          </a:xfrm>
          <a:prstGeom prst="roundRect">
            <a:avLst>
              <a:gd name="adj" fmla="val 9804"/>
            </a:avLst>
          </a:prstGeom>
          <a:solidFill>
            <a:srgbClr val="171722"/>
          </a:solidFill>
          <a:ln w="9525">
            <a:solidFill>
              <a:srgbClr val="2C2C3E"/>
            </a:solidFill>
            <a:prstDash val="solid"/>
          </a:ln>
        </p:spPr>
      </p:sp>
      <p:sp>
        <p:nvSpPr>
          <p:cNvPr id="18" name="Text 14"/>
          <p:cNvSpPr txBox="1"/>
          <p:nvPr/>
        </p:nvSpPr>
        <p:spPr>
          <a:xfrm>
            <a:off x="9895180"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9" name="Text 15"/>
          <p:cNvSpPr txBox="1"/>
          <p:nvPr/>
        </p:nvSpPr>
        <p:spPr>
          <a:xfrm>
            <a:off x="9895180"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20" name="Text 16"/>
          <p:cNvSpPr txBox="1"/>
          <p:nvPr/>
        </p:nvSpPr>
        <p:spPr>
          <a:xfrm>
            <a:off x="9895180" y="2601163"/>
            <a:ext cx="1729588"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21" name="Shape 17"/>
          <p:cNvSpPr/>
          <p:nvPr/>
        </p:nvSpPr>
        <p:spPr>
          <a:xfrm>
            <a:off x="7543800" y="3021787"/>
            <a:ext cx="2003908" cy="932688"/>
          </a:xfrm>
          <a:prstGeom prst="roundRect">
            <a:avLst>
              <a:gd name="adj" fmla="val 9804"/>
            </a:avLst>
          </a:prstGeom>
          <a:solidFill>
            <a:srgbClr val="171722"/>
          </a:solidFill>
          <a:ln w="9525">
            <a:solidFill>
              <a:srgbClr val="2C2C3E"/>
            </a:solidFill>
            <a:prstDash val="solid"/>
          </a:ln>
        </p:spPr>
      </p:sp>
      <p:sp>
        <p:nvSpPr>
          <p:cNvPr id="22" name="Text 18"/>
          <p:cNvSpPr txBox="1"/>
          <p:nvPr/>
        </p:nvSpPr>
        <p:spPr>
          <a:xfrm>
            <a:off x="7708392"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 ISSUED</a:t>
            </a:r>
            <a:endParaRPr lang="en-US" sz="850" dirty="0"/>
          </a:p>
        </p:txBody>
      </p:sp>
      <p:sp>
        <p:nvSpPr>
          <p:cNvPr id="23" name="Text 19"/>
          <p:cNvSpPr txBox="1"/>
          <p:nvPr/>
        </p:nvSpPr>
        <p:spPr>
          <a:xfrm>
            <a:off x="7708392" y="3350971"/>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4" name="Shape 20"/>
          <p:cNvSpPr/>
          <p:nvPr/>
        </p:nvSpPr>
        <p:spPr>
          <a:xfrm>
            <a:off x="9730588" y="3021787"/>
            <a:ext cx="2003908" cy="932688"/>
          </a:xfrm>
          <a:prstGeom prst="roundRect">
            <a:avLst>
              <a:gd name="adj" fmla="val 9804"/>
            </a:avLst>
          </a:prstGeom>
          <a:solidFill>
            <a:srgbClr val="171722"/>
          </a:solidFill>
          <a:ln w="9525">
            <a:solidFill>
              <a:srgbClr val="2C2C3E"/>
            </a:solidFill>
            <a:prstDash val="solid"/>
          </a:ln>
        </p:spPr>
      </p:sp>
      <p:sp>
        <p:nvSpPr>
          <p:cNvPr id="25" name="Text 21"/>
          <p:cNvSpPr txBox="1"/>
          <p:nvPr/>
        </p:nvSpPr>
        <p:spPr>
          <a:xfrm>
            <a:off x="9895180"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SHARE</a:t>
            </a:r>
            <a:endParaRPr lang="en-US" sz="850" dirty="0"/>
          </a:p>
        </p:txBody>
      </p:sp>
      <p:sp>
        <p:nvSpPr>
          <p:cNvPr id="26" name="Text 22"/>
          <p:cNvSpPr txBox="1"/>
          <p:nvPr/>
        </p:nvSpPr>
        <p:spPr>
          <a:xfrm>
            <a:off x="9895180" y="3350971"/>
            <a:ext cx="1729588" cy="384048"/>
          </a:xfrm>
          <a:prstGeom prst="rect">
            <a:avLst/>
          </a:prstGeom>
          <a:noFill/>
          <a:ln/>
        </p:spPr>
        <p:txBody>
          <a:bodyPr wrap="square" lIns="0" tIns="0" rIns="0" bIns="0" rtlCol="0" anchor="t"/>
          <a:lstStyle/>
          <a:p>
            <a:pPr indent="0" marL="0">
              <a:buNone/>
            </a:pPr>
            <a:r>
              <a:rPr lang="en-US" sz="2400" b="1" dirty="0">
                <a:solidFill>
                  <a:srgbClr val="F0C96B"/>
                </a:solidFill>
                <a:latin typeface="Arial" pitchFamily="34" charset="0"/>
                <a:ea typeface="Arial" pitchFamily="34" charset="-122"/>
                <a:cs typeface="Arial" pitchFamily="34" charset="-120"/>
              </a:rPr>
              <a:t>$775,908</a:t>
            </a:r>
            <a:endParaRPr lang="en-US" sz="2400" dirty="0"/>
          </a:p>
        </p:txBody>
      </p:sp>
      <p:sp>
        <p:nvSpPr>
          <p:cNvPr id="27" name="Text 23"/>
          <p:cNvSpPr txBox="1"/>
          <p:nvPr/>
        </p:nvSpPr>
        <p:spPr>
          <a:xfrm>
            <a:off x="7543800" y="4100779"/>
            <a:ext cx="4190695" cy="13248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Gross:</a:t>
            </a:r>
            <a:r>
              <a:rPr lang="en-US" sz="1400" dirty="0">
                <a:solidFill>
                  <a:srgbClr val="E8E8F0"/>
                </a:solidFill>
                <a:latin typeface="Arial" pitchFamily="34" charset="0"/>
                <a:ea typeface="Arial" pitchFamily="34" charset="-122"/>
                <a:cs typeface="Arial" pitchFamily="34" charset="-120"/>
              </a:rPr>
              <a:t> $1,108,440 individual sales · $775,908 partner (70%) · $332,532 platform (30%)</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Depth pays:</a:t>
            </a:r>
            <a:r>
              <a:rPr lang="en-US" sz="1400" dirty="0">
                <a:solidFill>
                  <a:srgbClr val="E8E8F0"/>
                </a:solidFill>
                <a:latin typeface="Arial" pitchFamily="34" charset="0"/>
                <a:ea typeface="Arial" pitchFamily="34" charset="-122"/>
                <a:cs typeface="Arial" pitchFamily="34" charset="-120"/>
              </a:rPr>
              <a:t> L3/L4 courses bring about 50% of gross from about 17% of paid enrolments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included:</a:t>
            </a:r>
            <a:r>
              <a:rPr lang="en-US" sz="1400" dirty="0">
                <a:solidFill>
                  <a:srgbClr val="E8E8F0"/>
                </a:solidFill>
                <a:latin typeface="Arial" pitchFamily="34" charset="0"/>
                <a:ea typeface="Arial" pitchFamily="34" charset="-122"/>
                <a:cs typeface="Arial" pitchFamily="34" charset="-120"/>
              </a:rPr>
              <a:t> team-licence revenue</a:t>
            </a:r>
            <a:endParaRPr lang="en-US" sz="1400" dirty="0"/>
          </a:p>
        </p:txBody>
      </p:sp>
      <p:sp>
        <p:nvSpPr>
          <p:cNvPr id="28" name="Shape 24"/>
          <p:cNvSpPr/>
          <p:nvPr/>
        </p:nvSpPr>
        <p:spPr>
          <a:xfrm>
            <a:off x="7543800" y="5687568"/>
            <a:ext cx="1873971" cy="219456"/>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635240" y="5760720"/>
            <a:ext cx="73152" cy="73152"/>
          </a:xfrm>
          <a:prstGeom prst="ellipse">
            <a:avLst/>
          </a:prstGeom>
          <a:solidFill>
            <a:srgbClr val="F0C96B"/>
          </a:solidFill>
          <a:ln/>
        </p:spPr>
      </p:sp>
      <p:sp>
        <p:nvSpPr>
          <p:cNvPr id="30" name="Text 26"/>
          <p:cNvSpPr txBox="1"/>
          <p:nvPr/>
        </p:nvSpPr>
        <p:spPr>
          <a:xfrm>
            <a:off x="7763256" y="5687568"/>
            <a:ext cx="16179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ILLUSTRATIVE MOCK DATA</a:t>
            </a:r>
            <a:endParaRPr lang="en-US" sz="800" dirty="0"/>
          </a:p>
        </p:txBody>
      </p:sp>
      <p:sp>
        <p:nvSpPr>
          <p:cNvPr id="31" name="Text 27"/>
          <p:cNvSpPr txBox="1"/>
          <p:nvPr/>
        </p:nvSpPr>
        <p:spPr>
          <a:xfrm>
            <a:off x="7543800" y="5961888"/>
            <a:ext cx="419069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academy; no partnership or real traction implied</a:t>
            </a:r>
            <a:endParaRPr lang="en-US" sz="1000" dirty="0"/>
          </a:p>
        </p:txBody>
      </p:sp>
      <p:sp>
        <p:nvSpPr>
          <p:cNvPr id="32"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3"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0236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86462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FINANCIAL HIGHLIGHTS · PROJECTIONS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Projected profitable from month 5</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Chronopoli Master Document projections: zero licensing, $374/mo AWS to start, companies fund everything</a:t>
            </a:r>
            <a:endParaRPr lang="en-US" sz="1600" dirty="0"/>
          </a:p>
        </p:txBody>
      </p:sp>
      <p:sp>
        <p:nvSpPr>
          <p:cNvPr id="7" name="Shape 4"/>
          <p:cNvSpPr/>
          <p:nvPr/>
        </p:nvSpPr>
        <p:spPr>
          <a:xfrm>
            <a:off x="457200" y="1924507"/>
            <a:ext cx="2109155" cy="1097280"/>
          </a:xfrm>
          <a:prstGeom prst="roundRect">
            <a:avLst>
              <a:gd name="adj" fmla="val 8333"/>
            </a:avLst>
          </a:prstGeom>
          <a:solidFill>
            <a:srgbClr val="171722"/>
          </a:solidFill>
          <a:ln w="9525">
            <a:solidFill>
              <a:srgbClr val="2C2C3E"/>
            </a:solidFill>
            <a:prstDash val="solid"/>
          </a:ln>
        </p:spPr>
      </p:sp>
      <p:sp>
        <p:nvSpPr>
          <p:cNvPr id="8" name="Text 5"/>
          <p:cNvSpPr txBox="1"/>
          <p:nvPr/>
        </p:nvSpPr>
        <p:spPr>
          <a:xfrm>
            <a:off x="62179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$1.72M</a:t>
            </a:r>
            <a:endParaRPr lang="en-US" sz="2800" dirty="0"/>
          </a:p>
        </p:txBody>
      </p:sp>
      <p:sp>
        <p:nvSpPr>
          <p:cNvPr id="9" name="Text 6"/>
          <p:cNvSpPr txBox="1"/>
          <p:nvPr/>
        </p:nvSpPr>
        <p:spPr>
          <a:xfrm>
            <a:off x="62179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1 revenue</a:t>
            </a:r>
            <a:endParaRPr lang="en-US" sz="1200" dirty="0"/>
          </a:p>
        </p:txBody>
      </p:sp>
      <p:sp>
        <p:nvSpPr>
          <p:cNvPr id="10" name="Text 7"/>
          <p:cNvSpPr txBox="1"/>
          <p:nvPr/>
        </p:nvSpPr>
        <p:spPr>
          <a:xfrm>
            <a:off x="62179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 partners + subscriptions</a:t>
            </a:r>
            <a:endParaRPr lang="en-US" sz="1000" dirty="0"/>
          </a:p>
        </p:txBody>
      </p:sp>
      <p:sp>
        <p:nvSpPr>
          <p:cNvPr id="11" name="Shape 8"/>
          <p:cNvSpPr/>
          <p:nvPr/>
        </p:nvSpPr>
        <p:spPr>
          <a:xfrm>
            <a:off x="2749235" y="1924507"/>
            <a:ext cx="2109155" cy="1097280"/>
          </a:xfrm>
          <a:prstGeom prst="roundRect">
            <a:avLst>
              <a:gd name="adj" fmla="val 8333"/>
            </a:avLst>
          </a:prstGeom>
          <a:solidFill>
            <a:srgbClr val="171722"/>
          </a:solidFill>
          <a:ln w="9525">
            <a:solidFill>
              <a:srgbClr val="2C2C3E"/>
            </a:solidFill>
            <a:prstDash val="solid"/>
          </a:ln>
        </p:spPr>
      </p:sp>
      <p:sp>
        <p:nvSpPr>
          <p:cNvPr id="12" name="Text 9"/>
          <p:cNvSpPr txBox="1"/>
          <p:nvPr/>
        </p:nvSpPr>
        <p:spPr>
          <a:xfrm>
            <a:off x="291382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67.5%</a:t>
            </a:r>
            <a:endParaRPr lang="en-US" sz="2800" dirty="0"/>
          </a:p>
        </p:txBody>
      </p:sp>
      <p:sp>
        <p:nvSpPr>
          <p:cNvPr id="13" name="Text 10"/>
          <p:cNvSpPr txBox="1"/>
          <p:nvPr/>
        </p:nvSpPr>
        <p:spPr>
          <a:xfrm>
            <a:off x="291382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EBITDA margin Y1</a:t>
            </a:r>
            <a:endParaRPr lang="en-US" sz="1200" dirty="0"/>
          </a:p>
        </p:txBody>
      </p:sp>
      <p:sp>
        <p:nvSpPr>
          <p:cNvPr id="14" name="Text 11"/>
          <p:cNvSpPr txBox="1"/>
          <p:nvPr/>
        </p:nvSpPr>
        <p:spPr>
          <a:xfrm>
            <a:off x="291382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$1.09M net income Y1</a:t>
            </a:r>
            <a:endParaRPr lang="en-US" sz="1000" dirty="0"/>
          </a:p>
        </p:txBody>
      </p:sp>
      <p:sp>
        <p:nvSpPr>
          <p:cNvPr id="15" name="Shape 12"/>
          <p:cNvSpPr/>
          <p:nvPr/>
        </p:nvSpPr>
        <p:spPr>
          <a:xfrm>
            <a:off x="5041270" y="1924507"/>
            <a:ext cx="2109155" cy="1097280"/>
          </a:xfrm>
          <a:prstGeom prst="roundRect">
            <a:avLst>
              <a:gd name="adj" fmla="val 8333"/>
            </a:avLst>
          </a:prstGeom>
          <a:solidFill>
            <a:srgbClr val="171722"/>
          </a:solidFill>
          <a:ln w="9525">
            <a:solidFill>
              <a:srgbClr val="2C2C3E"/>
            </a:solidFill>
            <a:prstDash val="solid"/>
          </a:ln>
        </p:spPr>
      </p:sp>
      <p:sp>
        <p:nvSpPr>
          <p:cNvPr id="16" name="Text 13"/>
          <p:cNvSpPr txBox="1"/>
          <p:nvPr/>
        </p:nvSpPr>
        <p:spPr>
          <a:xfrm>
            <a:off x="520586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$9.59M</a:t>
            </a:r>
            <a:endParaRPr lang="en-US" sz="2800" dirty="0"/>
          </a:p>
        </p:txBody>
      </p:sp>
      <p:sp>
        <p:nvSpPr>
          <p:cNvPr id="17" name="Text 14"/>
          <p:cNvSpPr txBox="1"/>
          <p:nvPr/>
        </p:nvSpPr>
        <p:spPr>
          <a:xfrm>
            <a:off x="520586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3 revenue</a:t>
            </a:r>
            <a:endParaRPr lang="en-US" sz="1200" dirty="0"/>
          </a:p>
        </p:txBody>
      </p:sp>
      <p:sp>
        <p:nvSpPr>
          <p:cNvPr id="18" name="Text 15"/>
          <p:cNvSpPr txBox="1"/>
          <p:nvPr/>
        </p:nvSpPr>
        <p:spPr>
          <a:xfrm>
            <a:off x="520586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Master Document estimate</a:t>
            </a:r>
            <a:endParaRPr lang="en-US" sz="1000" dirty="0"/>
          </a:p>
        </p:txBody>
      </p:sp>
      <p:sp>
        <p:nvSpPr>
          <p:cNvPr id="19" name="Shape 16"/>
          <p:cNvSpPr/>
          <p:nvPr/>
        </p:nvSpPr>
        <p:spPr>
          <a:xfrm>
            <a:off x="7333305" y="1924507"/>
            <a:ext cx="2109155" cy="1097280"/>
          </a:xfrm>
          <a:prstGeom prst="roundRect">
            <a:avLst>
              <a:gd name="adj" fmla="val 8333"/>
            </a:avLst>
          </a:prstGeom>
          <a:solidFill>
            <a:srgbClr val="171722"/>
          </a:solidFill>
          <a:ln w="9525">
            <a:solidFill>
              <a:srgbClr val="2C2C3E"/>
            </a:solidFill>
            <a:prstDash val="solid"/>
          </a:ln>
        </p:spPr>
      </p:sp>
      <p:sp>
        <p:nvSpPr>
          <p:cNvPr id="20" name="Text 17"/>
          <p:cNvSpPr txBox="1"/>
          <p:nvPr/>
        </p:nvSpPr>
        <p:spPr>
          <a:xfrm>
            <a:off x="749789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$44.9M</a:t>
            </a:r>
            <a:endParaRPr lang="en-US" sz="2800" dirty="0"/>
          </a:p>
        </p:txBody>
      </p:sp>
      <p:sp>
        <p:nvSpPr>
          <p:cNvPr id="21" name="Text 18"/>
          <p:cNvSpPr txBox="1"/>
          <p:nvPr/>
        </p:nvSpPr>
        <p:spPr>
          <a:xfrm>
            <a:off x="749789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Cash in Year 5</a:t>
            </a:r>
            <a:endParaRPr lang="en-US" sz="1200" dirty="0"/>
          </a:p>
        </p:txBody>
      </p:sp>
      <p:sp>
        <p:nvSpPr>
          <p:cNvPr id="22" name="Text 19"/>
          <p:cNvSpPr txBox="1"/>
          <p:nvPr/>
        </p:nvSpPr>
        <p:spPr>
          <a:xfrm>
            <a:off x="749789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Debt-free model</a:t>
            </a:r>
            <a:endParaRPr lang="en-US" sz="1000" dirty="0"/>
          </a:p>
        </p:txBody>
      </p:sp>
      <p:sp>
        <p:nvSpPr>
          <p:cNvPr id="23" name="Shape 20"/>
          <p:cNvSpPr/>
          <p:nvPr/>
        </p:nvSpPr>
        <p:spPr>
          <a:xfrm>
            <a:off x="9625340" y="1924507"/>
            <a:ext cx="2109155" cy="1097280"/>
          </a:xfrm>
          <a:prstGeom prst="roundRect">
            <a:avLst>
              <a:gd name="adj" fmla="val 8333"/>
            </a:avLst>
          </a:prstGeom>
          <a:solidFill>
            <a:srgbClr val="171722"/>
          </a:solidFill>
          <a:ln w="9525">
            <a:solidFill>
              <a:srgbClr val="2C2C3E"/>
            </a:solidFill>
            <a:prstDash val="solid"/>
          </a:ln>
        </p:spPr>
      </p:sp>
      <p:sp>
        <p:nvSpPr>
          <p:cNvPr id="24" name="Text 21"/>
          <p:cNvSpPr txBox="1"/>
          <p:nvPr/>
        </p:nvSpPr>
        <p:spPr>
          <a:xfrm>
            <a:off x="978993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$0</a:t>
            </a:r>
            <a:endParaRPr lang="en-US" sz="2800" dirty="0"/>
          </a:p>
        </p:txBody>
      </p:sp>
      <p:sp>
        <p:nvSpPr>
          <p:cNvPr id="25" name="Text 22"/>
          <p:cNvSpPr txBox="1"/>
          <p:nvPr/>
        </p:nvSpPr>
        <p:spPr>
          <a:xfrm>
            <a:off x="978993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Licensing</a:t>
            </a:r>
            <a:endParaRPr lang="en-US" sz="1200" dirty="0"/>
          </a:p>
        </p:txBody>
      </p:sp>
      <p:sp>
        <p:nvSpPr>
          <p:cNvPr id="26" name="Text 23"/>
          <p:cNvSpPr txBox="1"/>
          <p:nvPr/>
        </p:nvSpPr>
        <p:spPr>
          <a:xfrm>
            <a:off x="978993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Full open-source stack</a:t>
            </a:r>
            <a:endParaRPr lang="en-US" sz="1000" dirty="0"/>
          </a:p>
        </p:txBody>
      </p:sp>
      <p:sp>
        <p:nvSpPr>
          <p:cNvPr id="27" name="Shape 24"/>
          <p:cNvSpPr/>
          <p:nvPr/>
        </p:nvSpPr>
        <p:spPr>
          <a:xfrm>
            <a:off x="457200" y="3296107"/>
            <a:ext cx="6858000" cy="2630729"/>
          </a:xfrm>
          <a:prstGeom prst="roundRect">
            <a:avLst>
              <a:gd name="adj" fmla="val 4171"/>
            </a:avLst>
          </a:prstGeom>
          <a:solidFill>
            <a:srgbClr val="171722"/>
          </a:solidFill>
          <a:ln w="9525">
            <a:solidFill>
              <a:srgbClr val="2C2C3E"/>
            </a:solidFill>
            <a:prstDash val="solid"/>
          </a:ln>
        </p:spPr>
      </p:sp>
      <p:graphicFrame>
        <p:nvGraphicFramePr>
          <p:cNvPr id="28" name="Chart 0" descr=""/>
          <p:cNvGraphicFramePr/>
          <p:nvPr/>
        </p:nvGraphicFramePr>
        <p:xfrm>
          <a:off x="548640" y="3369259"/>
          <a:ext cx="6675120" cy="2484425"/>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7589520" y="3296107"/>
            <a:ext cx="4144975" cy="2630729"/>
          </a:xfrm>
          <a:prstGeom prst="roundRect">
            <a:avLst>
              <a:gd name="adj" fmla="val 4171"/>
            </a:avLst>
          </a:prstGeom>
          <a:solidFill>
            <a:srgbClr val="171722"/>
          </a:solidFill>
          <a:ln w="9525">
            <a:solidFill>
              <a:srgbClr val="2C2C3E"/>
            </a:solidFill>
            <a:prstDash val="solid"/>
          </a:ln>
        </p:spPr>
      </p:sp>
      <p:sp>
        <p:nvSpPr>
          <p:cNvPr id="30" name="Text 26"/>
          <p:cNvSpPr txBox="1"/>
          <p:nvPr/>
        </p:nvSpPr>
        <p:spPr>
          <a:xfrm>
            <a:off x="7790688" y="3478987"/>
            <a:ext cx="374263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SERVER &amp; API COSTS</a:t>
            </a:r>
            <a:endParaRPr lang="en-US" sz="850" dirty="0"/>
          </a:p>
        </p:txBody>
      </p:sp>
      <p:sp>
        <p:nvSpPr>
          <p:cNvPr id="31" name="Text 27"/>
          <p:cNvSpPr txBox="1"/>
          <p:nvPr/>
        </p:nvSpPr>
        <p:spPr>
          <a:xfrm>
            <a:off x="7790688" y="3771595"/>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AWS infrastructure Y1</a:t>
            </a:r>
            <a:endParaRPr lang="en-US" sz="1200" dirty="0"/>
          </a:p>
        </p:txBody>
      </p:sp>
      <p:sp>
        <p:nvSpPr>
          <p:cNvPr id="32" name="Text 28"/>
          <p:cNvSpPr txBox="1"/>
          <p:nvPr/>
        </p:nvSpPr>
        <p:spPr>
          <a:xfrm>
            <a:off x="9662008" y="3771595"/>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$4,572 / yr</a:t>
            </a:r>
            <a:endParaRPr lang="en-US" sz="1200" dirty="0"/>
          </a:p>
        </p:txBody>
      </p:sp>
      <p:sp>
        <p:nvSpPr>
          <p:cNvPr id="33" name="Shape 29"/>
          <p:cNvSpPr/>
          <p:nvPr/>
        </p:nvSpPr>
        <p:spPr>
          <a:xfrm>
            <a:off x="7790688" y="4175211"/>
            <a:ext cx="3742639" cy="0"/>
          </a:xfrm>
          <a:prstGeom prst="line">
            <a:avLst/>
          </a:prstGeom>
          <a:noFill/>
          <a:ln w="6350">
            <a:solidFill>
              <a:srgbClr val="2C2C3E"/>
            </a:solidFill>
            <a:prstDash val="solid"/>
          </a:ln>
        </p:spPr>
      </p:sp>
      <p:sp>
        <p:nvSpPr>
          <p:cNvPr id="34" name="Text 30"/>
          <p:cNvSpPr txBox="1"/>
          <p:nvPr/>
        </p:nvSpPr>
        <p:spPr>
          <a:xfrm>
            <a:off x="7790688" y="4175211"/>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Claude API Y1</a:t>
            </a:r>
            <a:endParaRPr lang="en-US" sz="1200" dirty="0"/>
          </a:p>
        </p:txBody>
      </p:sp>
      <p:sp>
        <p:nvSpPr>
          <p:cNvPr id="35" name="Text 31"/>
          <p:cNvSpPr txBox="1"/>
          <p:nvPr/>
        </p:nvSpPr>
        <p:spPr>
          <a:xfrm>
            <a:off x="9662008" y="4175211"/>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$3,300 / yr</a:t>
            </a:r>
            <a:endParaRPr lang="en-US" sz="1200" dirty="0"/>
          </a:p>
        </p:txBody>
      </p:sp>
      <p:sp>
        <p:nvSpPr>
          <p:cNvPr id="36" name="Shape 32"/>
          <p:cNvSpPr/>
          <p:nvPr/>
        </p:nvSpPr>
        <p:spPr>
          <a:xfrm>
            <a:off x="7790688" y="4578828"/>
            <a:ext cx="3742639" cy="0"/>
          </a:xfrm>
          <a:prstGeom prst="line">
            <a:avLst/>
          </a:prstGeom>
          <a:noFill/>
          <a:ln w="6350">
            <a:solidFill>
              <a:srgbClr val="2C2C3E"/>
            </a:solidFill>
            <a:prstDash val="solid"/>
          </a:ln>
        </p:spPr>
      </p:sp>
      <p:sp>
        <p:nvSpPr>
          <p:cNvPr id="37" name="Text 33"/>
          <p:cNvSpPr txBox="1"/>
          <p:nvPr/>
        </p:nvSpPr>
        <p:spPr>
          <a:xfrm>
            <a:off x="7790688" y="4578828"/>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ElevenLabs + HeyGen Y1</a:t>
            </a:r>
            <a:endParaRPr lang="en-US" sz="1200" dirty="0"/>
          </a:p>
        </p:txBody>
      </p:sp>
      <p:sp>
        <p:nvSpPr>
          <p:cNvPr id="38" name="Text 34"/>
          <p:cNvSpPr txBox="1"/>
          <p:nvPr/>
        </p:nvSpPr>
        <p:spPr>
          <a:xfrm>
            <a:off x="9662008" y="4578828"/>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$612 / yr</a:t>
            </a:r>
            <a:endParaRPr lang="en-US" sz="1200" dirty="0"/>
          </a:p>
        </p:txBody>
      </p:sp>
      <p:sp>
        <p:nvSpPr>
          <p:cNvPr id="39" name="Shape 35"/>
          <p:cNvSpPr/>
          <p:nvPr/>
        </p:nvSpPr>
        <p:spPr>
          <a:xfrm>
            <a:off x="7790688" y="4982444"/>
            <a:ext cx="3742639" cy="0"/>
          </a:xfrm>
          <a:prstGeom prst="line">
            <a:avLst/>
          </a:prstGeom>
          <a:noFill/>
          <a:ln w="6350">
            <a:solidFill>
              <a:srgbClr val="2C2C3E"/>
            </a:solidFill>
            <a:prstDash val="solid"/>
          </a:ln>
        </p:spPr>
      </p:sp>
      <p:sp>
        <p:nvSpPr>
          <p:cNvPr id="40" name="Text 36"/>
          <p:cNvSpPr txBox="1"/>
          <p:nvPr/>
        </p:nvSpPr>
        <p:spPr>
          <a:xfrm>
            <a:off x="7790688" y="4982444"/>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Total cost of revenue Y1</a:t>
            </a:r>
            <a:endParaRPr lang="en-US" sz="1200" dirty="0"/>
          </a:p>
        </p:txBody>
      </p:sp>
      <p:sp>
        <p:nvSpPr>
          <p:cNvPr id="41" name="Text 37"/>
          <p:cNvSpPr txBox="1"/>
          <p:nvPr/>
        </p:nvSpPr>
        <p:spPr>
          <a:xfrm>
            <a:off x="9662008" y="4982444"/>
            <a:ext cx="1871320" cy="403616"/>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&lt; 1.5% of revenue</a:t>
            </a:r>
            <a:endParaRPr lang="en-US" sz="1200" dirty="0"/>
          </a:p>
        </p:txBody>
      </p:sp>
      <p:sp>
        <p:nvSpPr>
          <p:cNvPr id="42" name="Shape 38"/>
          <p:cNvSpPr/>
          <p:nvPr/>
        </p:nvSpPr>
        <p:spPr>
          <a:xfrm>
            <a:off x="7790688" y="5386060"/>
            <a:ext cx="3742639" cy="0"/>
          </a:xfrm>
          <a:prstGeom prst="line">
            <a:avLst/>
          </a:prstGeom>
          <a:noFill/>
          <a:ln w="6350">
            <a:solidFill>
              <a:srgbClr val="2C2C3E"/>
            </a:solidFill>
            <a:prstDash val="solid"/>
          </a:ln>
        </p:spPr>
      </p:sp>
      <p:sp>
        <p:nvSpPr>
          <p:cNvPr id="43" name="Text 39"/>
          <p:cNvSpPr txBox="1"/>
          <p:nvPr/>
        </p:nvSpPr>
        <p:spPr>
          <a:xfrm>
            <a:off x="7790688" y="5386060"/>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AWS as % of revenue Y5</a:t>
            </a:r>
            <a:endParaRPr lang="en-US" sz="1200" dirty="0"/>
          </a:p>
        </p:txBody>
      </p:sp>
      <p:sp>
        <p:nvSpPr>
          <p:cNvPr id="44" name="Text 40"/>
          <p:cNvSpPr txBox="1"/>
          <p:nvPr/>
        </p:nvSpPr>
        <p:spPr>
          <a:xfrm>
            <a:off x="9662008" y="5386060"/>
            <a:ext cx="1871320" cy="403616"/>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0.53%</a:t>
            </a:r>
            <a:endParaRPr lang="en-US" sz="1200" dirty="0"/>
          </a:p>
        </p:txBody>
      </p:sp>
      <p:sp>
        <p:nvSpPr>
          <p:cNvPr id="45" name="Text 41"/>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 not audited. Month 5 counts from the commercial launch, which follows the six-sprint go-live plan (slide 34).</a:t>
            </a:r>
            <a:endParaRPr lang="en-US" sz="950" dirty="0"/>
          </a:p>
        </p:txBody>
      </p:sp>
      <p:sp>
        <p:nvSpPr>
          <p:cNvPr id="46" name="Text 4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Code-complete. Anchor confirmed.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Code-complete across 15 development phases: 90 requirements, 100% mapped; not yet deployed (slide 33)</a:t>
            </a:r>
            <a:endParaRPr lang="en-US" sz="1600" dirty="0"/>
          </a:p>
        </p:txBody>
      </p:sp>
      <p:sp>
        <p:nvSpPr>
          <p:cNvPr id="7" name="Shape 4"/>
          <p:cNvSpPr/>
          <p:nvPr/>
        </p:nvSpPr>
        <p:spPr>
          <a:xfrm>
            <a:off x="457200" y="1942795"/>
            <a:ext cx="3576218" cy="1643786"/>
          </a:xfrm>
          <a:prstGeom prst="roundRect">
            <a:avLst>
              <a:gd name="adj" fmla="val 6675"/>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86156" y="2235403"/>
            <a:ext cx="618663"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86156"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12" name="Text 8"/>
          <p:cNvSpPr txBox="1"/>
          <p:nvPr/>
        </p:nvSpPr>
        <p:spPr>
          <a:xfrm>
            <a:off x="1243584"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 STATUS</a:t>
            </a:r>
            <a:endParaRPr lang="en-US" sz="850" dirty="0"/>
          </a:p>
        </p:txBody>
      </p:sp>
      <p:sp>
        <p:nvSpPr>
          <p:cNvPr id="13" name="Text 9"/>
          <p:cNvSpPr txBox="1"/>
          <p:nvPr/>
        </p:nvSpPr>
        <p:spPr>
          <a:xfrm>
            <a:off x="685800"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Code-complete</a:t>
            </a:r>
            <a:endParaRPr lang="en-US" sz="2200" dirty="0"/>
          </a:p>
        </p:txBody>
      </p:sp>
      <p:sp>
        <p:nvSpPr>
          <p:cNvPr id="14" name="Text 10"/>
          <p:cNvSpPr txBox="1"/>
          <p:nvPr/>
        </p:nvSpPr>
        <p:spPr>
          <a:xfrm>
            <a:off x="685800"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 GSD phases · 90 requirements · 0 unmapped</a:t>
            </a:r>
            <a:endParaRPr lang="en-US" sz="1200" dirty="0"/>
          </a:p>
        </p:txBody>
      </p:sp>
      <p:sp>
        <p:nvSpPr>
          <p:cNvPr id="15" name="Shape 11"/>
          <p:cNvSpPr/>
          <p:nvPr/>
        </p:nvSpPr>
        <p:spPr>
          <a:xfrm>
            <a:off x="4307738" y="1942795"/>
            <a:ext cx="3576218" cy="1643786"/>
          </a:xfrm>
          <a:prstGeom prst="roundRect">
            <a:avLst>
              <a:gd name="adj" fmla="val 6675"/>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AWS DEPLOYMENT</a:t>
            </a:r>
            <a:endParaRPr lang="en-US" sz="850" dirty="0"/>
          </a:p>
        </p:txBody>
      </p:sp>
      <p:sp>
        <p:nvSpPr>
          <p:cNvPr id="21" name="Text 16"/>
          <p:cNvSpPr txBox="1"/>
          <p:nvPr/>
        </p:nvSpPr>
        <p:spPr>
          <a:xfrm>
            <a:off x="4536338" y="2674315"/>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Terraform-ready</a:t>
            </a:r>
            <a:endParaRPr lang="en-US" sz="2200" dirty="0"/>
          </a:p>
        </p:txBody>
      </p:sp>
      <p:sp>
        <p:nvSpPr>
          <p:cNvPr id="22" name="Text 17"/>
          <p:cNvSpPr txBox="1"/>
          <p:nvPr/>
        </p:nvSpPr>
        <p:spPr>
          <a:xfrm>
            <a:off x="4536338"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17 Terraform files · me-central-1 (UAE) · go-live after the six-sprint plan (slide 34)</a:t>
            </a:r>
            <a:endParaRPr lang="en-US" sz="1200" dirty="0"/>
          </a:p>
        </p:txBody>
      </p:sp>
      <p:sp>
        <p:nvSpPr>
          <p:cNvPr id="23" name="Shape 18"/>
          <p:cNvSpPr/>
          <p:nvPr/>
        </p:nvSpPr>
        <p:spPr>
          <a:xfrm>
            <a:off x="8158277" y="1942795"/>
            <a:ext cx="3576218" cy="1643786"/>
          </a:xfrm>
          <a:prstGeom prst="roundRect">
            <a:avLst>
              <a:gd name="adj" fmla="val 6675"/>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60902"/>
            <a:ext cx="3576218" cy="1643786"/>
          </a:xfrm>
          <a:prstGeom prst="roundRect">
            <a:avLst>
              <a:gd name="adj" fmla="val 6675"/>
            </a:avLst>
          </a:prstGeom>
          <a:solidFill>
            <a:srgbClr val="171722"/>
          </a:solidFill>
          <a:ln w="9525">
            <a:solidFill>
              <a:srgbClr val="2C2C3E"/>
            </a:solidFill>
            <a:prstDash val="solid"/>
          </a:ln>
        </p:spPr>
      </p:sp>
      <p:sp>
        <p:nvSpPr>
          <p:cNvPr id="32" name="Shape 26"/>
          <p:cNvSpPr/>
          <p:nvPr/>
        </p:nvSpPr>
        <p:spPr>
          <a:xfrm>
            <a:off x="685800" y="4062070"/>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67226"/>
            <a:ext cx="210312" cy="210312"/>
          </a:xfrm>
          <a:prstGeom prst="rect">
            <a:avLst/>
          </a:prstGeom>
        </p:spPr>
      </p:pic>
      <p:sp>
        <p:nvSpPr>
          <p:cNvPr id="34" name="Shape 27"/>
          <p:cNvSpPr/>
          <p:nvPr/>
        </p:nvSpPr>
        <p:spPr>
          <a:xfrm>
            <a:off x="2685105" y="4153510"/>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53510"/>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80942"/>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30 CPD credits/year recognition</a:t>
            </a:r>
            <a:endParaRPr lang="en-US" sz="1200" dirty="0"/>
          </a:p>
        </p:txBody>
      </p:sp>
      <p:sp>
        <p:nvSpPr>
          <p:cNvPr id="39" name="Shape 32"/>
          <p:cNvSpPr/>
          <p:nvPr/>
        </p:nvSpPr>
        <p:spPr>
          <a:xfrm>
            <a:off x="4307738" y="3860902"/>
            <a:ext cx="3576218" cy="1643786"/>
          </a:xfrm>
          <a:prstGeom prst="roundRect">
            <a:avLst>
              <a:gd name="adj" fmla="val 6675"/>
            </a:avLst>
          </a:prstGeom>
          <a:solidFill>
            <a:srgbClr val="171722"/>
          </a:solidFill>
          <a:ln w="9525">
            <a:solidFill>
              <a:srgbClr val="2C2C3E"/>
            </a:solidFill>
            <a:prstDash val="solid"/>
          </a:ln>
        </p:spPr>
      </p:sp>
      <p:sp>
        <p:nvSpPr>
          <p:cNvPr id="40" name="Shape 33"/>
          <p:cNvSpPr/>
          <p:nvPr/>
        </p:nvSpPr>
        <p:spPr>
          <a:xfrm>
            <a:off x="4536338" y="4062070"/>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67226"/>
            <a:ext cx="210312" cy="210312"/>
          </a:xfrm>
          <a:prstGeom prst="rect">
            <a:avLst/>
          </a:prstGeom>
        </p:spPr>
      </p:pic>
      <p:sp>
        <p:nvSpPr>
          <p:cNvPr id="42" name="Shape 34"/>
          <p:cNvSpPr/>
          <p:nvPr/>
        </p:nvSpPr>
        <p:spPr>
          <a:xfrm>
            <a:off x="6887180" y="4153510"/>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53510"/>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80942"/>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TETHER</a:t>
            </a:r>
            <a:endParaRPr lang="en-US" sz="850" dirty="0"/>
          </a:p>
        </p:txBody>
      </p:sp>
      <p:sp>
        <p:nvSpPr>
          <p:cNvPr id="45" name="Text 37"/>
          <p:cNvSpPr txBox="1"/>
          <p:nvPr/>
        </p:nvSpPr>
        <p:spPr>
          <a:xfrm>
            <a:off x="4536338"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Strategic partner</a:t>
            </a:r>
            <a:endParaRPr lang="en-US" sz="2200" dirty="0"/>
          </a:p>
        </p:txBody>
      </p:sp>
      <p:sp>
        <p:nvSpPr>
          <p:cNvPr id="46" name="Text 38"/>
          <p:cNvSpPr txBox="1"/>
          <p:nvPr/>
        </p:nvSpPr>
        <p:spPr>
          <a:xfrm>
            <a:off x="4536338"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Demo academy built around it (slide 8) · illustrative, no partnership</a:t>
            </a:r>
            <a:endParaRPr lang="en-US" sz="1200" dirty="0"/>
          </a:p>
        </p:txBody>
      </p:sp>
      <p:sp>
        <p:nvSpPr>
          <p:cNvPr id="47" name="Shape 39"/>
          <p:cNvSpPr/>
          <p:nvPr/>
        </p:nvSpPr>
        <p:spPr>
          <a:xfrm>
            <a:off x="8158277" y="3860902"/>
            <a:ext cx="3576218" cy="1643786"/>
          </a:xfrm>
          <a:prstGeom prst="roundRect">
            <a:avLst>
              <a:gd name="adj" fmla="val 6675"/>
            </a:avLst>
          </a:prstGeom>
          <a:solidFill>
            <a:srgbClr val="171722"/>
          </a:solidFill>
          <a:ln w="9525">
            <a:solidFill>
              <a:srgbClr val="2C2C3E"/>
            </a:solidFill>
            <a:prstDash val="solid"/>
          </a:ln>
        </p:spPr>
      </p:sp>
      <p:sp>
        <p:nvSpPr>
          <p:cNvPr id="48" name="Shape 40"/>
          <p:cNvSpPr/>
          <p:nvPr/>
        </p:nvSpPr>
        <p:spPr>
          <a:xfrm>
            <a:off x="8386877" y="4062070"/>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67226"/>
            <a:ext cx="210312" cy="210312"/>
          </a:xfrm>
          <a:prstGeom prst="rect">
            <a:avLst/>
          </a:prstGeom>
        </p:spPr>
      </p:pic>
      <p:sp>
        <p:nvSpPr>
          <p:cNvPr id="50" name="Shape 41"/>
          <p:cNvSpPr/>
          <p:nvPr/>
        </p:nvSpPr>
        <p:spPr>
          <a:xfrm>
            <a:off x="10909808" y="4153510"/>
            <a:ext cx="596087"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909808" y="4153510"/>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52" name="Text 43"/>
          <p:cNvSpPr txBox="1"/>
          <p:nvPr/>
        </p:nvSpPr>
        <p:spPr>
          <a:xfrm>
            <a:off x="8944661" y="4180942"/>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FOUNDING PARTNERS</a:t>
            </a:r>
            <a:endParaRPr lang="en-US" sz="850" dirty="0"/>
          </a:p>
        </p:txBody>
      </p:sp>
      <p:sp>
        <p:nvSpPr>
          <p:cNvPr id="53" name="Text 44"/>
          <p:cNvSpPr txBox="1"/>
          <p:nvPr/>
        </p:nvSpPr>
        <p:spPr>
          <a:xfrm>
            <a:off x="8386877"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Two seats open</a:t>
            </a:r>
            <a:endParaRPr lang="en-US" sz="2200" dirty="0"/>
          </a:p>
        </p:txBody>
      </p:sp>
      <p:sp>
        <p:nvSpPr>
          <p:cNvPr id="54" name="Text 45"/>
          <p:cNvSpPr txBox="1"/>
          <p:nvPr/>
        </p:nvSpPr>
        <p:spPr>
          <a:xfrm>
            <a:off x="8386877"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each · to close before public launch (slide 35)</a:t>
            </a:r>
            <a:endParaRPr lang="en-US" sz="1200" dirty="0"/>
          </a:p>
        </p:txBody>
      </p:sp>
      <p:sp>
        <p:nvSpPr>
          <p:cNvPr id="55" name="Shape 46"/>
          <p:cNvSpPr/>
          <p:nvPr/>
        </p:nvSpPr>
        <p:spPr>
          <a:xfrm>
            <a:off x="457200" y="5779008"/>
            <a:ext cx="11277295" cy="438912"/>
          </a:xfrm>
          <a:prstGeom prst="roundRect">
            <a:avLst>
              <a:gd name="adj" fmla="val 2083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97880"/>
            <a:ext cx="201168" cy="201168"/>
          </a:xfrm>
          <a:prstGeom prst="rect">
            <a:avLst/>
          </a:prstGeom>
        </p:spPr>
      </p:pic>
      <p:sp>
        <p:nvSpPr>
          <p:cNvPr id="57" name="Text 47"/>
          <p:cNvSpPr txBox="1"/>
          <p:nvPr/>
        </p:nvSpPr>
        <p:spPr>
          <a:xfrm>
            <a:off x="914400" y="5779008"/>
            <a:ext cx="10728655" cy="438912"/>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is signed. Tether is a target partner, and the Tether academy in the product tour is illustrative mock data (slide 8).</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817925"/>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71310"/>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71310"/>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71310"/>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3878"/>
            <a:ext cx="237744" cy="237744"/>
          </a:xfrm>
          <a:prstGeom prst="rect">
            <a:avLst/>
          </a:prstGeom>
        </p:spPr>
      </p:pic>
      <p:sp>
        <p:nvSpPr>
          <p:cNvPr id="20" name="Text 13"/>
          <p:cNvSpPr txBox="1"/>
          <p:nvPr/>
        </p:nvSpPr>
        <p:spPr>
          <a:xfrm>
            <a:off x="10652760" y="227197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19</a:t>
            </a:r>
            <a:endParaRPr lang="en-US" sz="1050" dirty="0"/>
          </a:p>
        </p:txBody>
      </p:sp>
      <p:sp>
        <p:nvSpPr>
          <p:cNvPr id="21" name="Shape 14"/>
          <p:cNvSpPr/>
          <p:nvPr/>
        </p:nvSpPr>
        <p:spPr>
          <a:xfrm>
            <a:off x="457200" y="2653521"/>
            <a:ext cx="11277295" cy="0"/>
          </a:xfrm>
          <a:prstGeom prst="line">
            <a:avLst/>
          </a:prstGeom>
          <a:noFill/>
          <a:ln w="6350">
            <a:solidFill>
              <a:srgbClr val="2C2C3E"/>
            </a:solidFill>
            <a:prstDash val="solid"/>
          </a:ln>
        </p:spPr>
      </p:sp>
      <p:sp>
        <p:nvSpPr>
          <p:cNvPr id="22" name="Text 15"/>
          <p:cNvSpPr txBox="1"/>
          <p:nvPr/>
        </p:nvSpPr>
        <p:spPr>
          <a:xfrm>
            <a:off x="566928" y="2653521"/>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52852"/>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52852"/>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52852"/>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25420"/>
            <a:ext cx="237744" cy="237744"/>
          </a:xfrm>
          <a:prstGeom prst="rect">
            <a:avLst/>
          </a:prstGeom>
        </p:spPr>
      </p:pic>
      <p:sp>
        <p:nvSpPr>
          <p:cNvPr id="27" name="Text 16"/>
          <p:cNvSpPr txBox="1"/>
          <p:nvPr/>
        </p:nvSpPr>
        <p:spPr>
          <a:xfrm>
            <a:off x="10652760" y="2653521"/>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18, 19</a:t>
            </a:r>
            <a:endParaRPr lang="en-US" sz="1050" dirty="0"/>
          </a:p>
        </p:txBody>
      </p:sp>
      <p:sp>
        <p:nvSpPr>
          <p:cNvPr id="28" name="Shape 17"/>
          <p:cNvSpPr/>
          <p:nvPr/>
        </p:nvSpPr>
        <p:spPr>
          <a:xfrm>
            <a:off x="457200" y="3035063"/>
            <a:ext cx="11277295" cy="0"/>
          </a:xfrm>
          <a:prstGeom prst="line">
            <a:avLst/>
          </a:prstGeom>
          <a:noFill/>
          <a:ln w="6350">
            <a:solidFill>
              <a:srgbClr val="2C2C3E"/>
            </a:solidFill>
            <a:prstDash val="solid"/>
          </a:ln>
        </p:spPr>
      </p:sp>
      <p:sp>
        <p:nvSpPr>
          <p:cNvPr id="29" name="Text 18"/>
          <p:cNvSpPr txBox="1"/>
          <p:nvPr/>
        </p:nvSpPr>
        <p:spPr>
          <a:xfrm>
            <a:off x="566928" y="3035063"/>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34394"/>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34394"/>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34394"/>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106962"/>
            <a:ext cx="237744" cy="237744"/>
          </a:xfrm>
          <a:prstGeom prst="rect">
            <a:avLst/>
          </a:prstGeom>
        </p:spPr>
      </p:pic>
      <p:sp>
        <p:nvSpPr>
          <p:cNvPr id="34" name="Text 19"/>
          <p:cNvSpPr txBox="1"/>
          <p:nvPr/>
        </p:nvSpPr>
        <p:spPr>
          <a:xfrm>
            <a:off x="10652760" y="3035063"/>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20</a:t>
            </a:r>
            <a:endParaRPr lang="en-US" sz="1050" dirty="0"/>
          </a:p>
        </p:txBody>
      </p:sp>
      <p:sp>
        <p:nvSpPr>
          <p:cNvPr id="35" name="Shape 20"/>
          <p:cNvSpPr/>
          <p:nvPr/>
        </p:nvSpPr>
        <p:spPr>
          <a:xfrm>
            <a:off x="457200" y="3416605"/>
            <a:ext cx="11277295" cy="0"/>
          </a:xfrm>
          <a:prstGeom prst="line">
            <a:avLst/>
          </a:prstGeom>
          <a:noFill/>
          <a:ln w="6350">
            <a:solidFill>
              <a:srgbClr val="2C2C3E"/>
            </a:solidFill>
            <a:prstDash val="solid"/>
          </a:ln>
        </p:spPr>
      </p:sp>
      <p:sp>
        <p:nvSpPr>
          <p:cNvPr id="36" name="Text 21"/>
          <p:cNvSpPr txBox="1"/>
          <p:nvPr/>
        </p:nvSpPr>
        <p:spPr>
          <a:xfrm>
            <a:off x="566928" y="3416605"/>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15936"/>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15936"/>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15936"/>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88504"/>
            <a:ext cx="237744" cy="237744"/>
          </a:xfrm>
          <a:prstGeom prst="rect">
            <a:avLst/>
          </a:prstGeom>
        </p:spPr>
      </p:pic>
      <p:sp>
        <p:nvSpPr>
          <p:cNvPr id="41" name="Text 22"/>
          <p:cNvSpPr txBox="1"/>
          <p:nvPr/>
        </p:nvSpPr>
        <p:spPr>
          <a:xfrm>
            <a:off x="10652760" y="3416605"/>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3</a:t>
            </a:r>
            <a:endParaRPr lang="en-US" sz="1050" dirty="0"/>
          </a:p>
        </p:txBody>
      </p:sp>
      <p:sp>
        <p:nvSpPr>
          <p:cNvPr id="42" name="Shape 23"/>
          <p:cNvSpPr/>
          <p:nvPr/>
        </p:nvSpPr>
        <p:spPr>
          <a:xfrm>
            <a:off x="457200" y="3798147"/>
            <a:ext cx="11277295" cy="0"/>
          </a:xfrm>
          <a:prstGeom prst="line">
            <a:avLst/>
          </a:prstGeom>
          <a:noFill/>
          <a:ln w="6350">
            <a:solidFill>
              <a:srgbClr val="2C2C3E"/>
            </a:solidFill>
            <a:prstDash val="solid"/>
          </a:ln>
        </p:spPr>
      </p:sp>
      <p:sp>
        <p:nvSpPr>
          <p:cNvPr id="43" name="Text 24"/>
          <p:cNvSpPr txBox="1"/>
          <p:nvPr/>
        </p:nvSpPr>
        <p:spPr>
          <a:xfrm>
            <a:off x="566928" y="3798147"/>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97478"/>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97478"/>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97478"/>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70046"/>
            <a:ext cx="237744" cy="237744"/>
          </a:xfrm>
          <a:prstGeom prst="rect">
            <a:avLst/>
          </a:prstGeom>
        </p:spPr>
      </p:pic>
      <p:sp>
        <p:nvSpPr>
          <p:cNvPr id="48" name="Text 25"/>
          <p:cNvSpPr txBox="1"/>
          <p:nvPr/>
        </p:nvSpPr>
        <p:spPr>
          <a:xfrm>
            <a:off x="10652760" y="3798147"/>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49" name="Shape 26"/>
          <p:cNvSpPr/>
          <p:nvPr/>
        </p:nvSpPr>
        <p:spPr>
          <a:xfrm>
            <a:off x="457200" y="4179689"/>
            <a:ext cx="11277295" cy="0"/>
          </a:xfrm>
          <a:prstGeom prst="line">
            <a:avLst/>
          </a:prstGeom>
          <a:noFill/>
          <a:ln w="6350">
            <a:solidFill>
              <a:srgbClr val="2C2C3E"/>
            </a:solidFill>
            <a:prstDash val="solid"/>
          </a:ln>
        </p:spPr>
      </p:sp>
      <p:sp>
        <p:nvSpPr>
          <p:cNvPr id="50" name="Text 27"/>
          <p:cNvSpPr txBox="1"/>
          <p:nvPr/>
        </p:nvSpPr>
        <p:spPr>
          <a:xfrm>
            <a:off x="566928" y="417968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79019"/>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79019"/>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79019"/>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51587"/>
            <a:ext cx="237744" cy="237744"/>
          </a:xfrm>
          <a:prstGeom prst="rect">
            <a:avLst/>
          </a:prstGeom>
        </p:spPr>
      </p:pic>
      <p:sp>
        <p:nvSpPr>
          <p:cNvPr id="55" name="Text 28"/>
          <p:cNvSpPr txBox="1"/>
          <p:nvPr/>
        </p:nvSpPr>
        <p:spPr>
          <a:xfrm>
            <a:off x="10652760" y="417968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56" name="Shape 29"/>
          <p:cNvSpPr/>
          <p:nvPr/>
        </p:nvSpPr>
        <p:spPr>
          <a:xfrm>
            <a:off x="457200" y="4561230"/>
            <a:ext cx="11277295" cy="0"/>
          </a:xfrm>
          <a:prstGeom prst="line">
            <a:avLst/>
          </a:prstGeom>
          <a:noFill/>
          <a:ln w="6350">
            <a:solidFill>
              <a:srgbClr val="2C2C3E"/>
            </a:solidFill>
            <a:prstDash val="solid"/>
          </a:ln>
        </p:spPr>
      </p:sp>
      <p:sp>
        <p:nvSpPr>
          <p:cNvPr id="57" name="Text 30"/>
          <p:cNvSpPr txBox="1"/>
          <p:nvPr/>
        </p:nvSpPr>
        <p:spPr>
          <a:xfrm>
            <a:off x="566928" y="4561230"/>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60561"/>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60561"/>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60561"/>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33129"/>
            <a:ext cx="237744" cy="237744"/>
          </a:xfrm>
          <a:prstGeom prst="rect">
            <a:avLst/>
          </a:prstGeom>
        </p:spPr>
      </p:pic>
      <p:sp>
        <p:nvSpPr>
          <p:cNvPr id="62" name="Text 31"/>
          <p:cNvSpPr txBox="1"/>
          <p:nvPr/>
        </p:nvSpPr>
        <p:spPr>
          <a:xfrm>
            <a:off x="10652760" y="4561230"/>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17, 19</a:t>
            </a:r>
            <a:endParaRPr lang="en-US" sz="1050" dirty="0"/>
          </a:p>
        </p:txBody>
      </p:sp>
      <p:sp>
        <p:nvSpPr>
          <p:cNvPr id="63" name="Shape 32"/>
          <p:cNvSpPr/>
          <p:nvPr/>
        </p:nvSpPr>
        <p:spPr>
          <a:xfrm>
            <a:off x="457200" y="4942772"/>
            <a:ext cx="11277295" cy="0"/>
          </a:xfrm>
          <a:prstGeom prst="line">
            <a:avLst/>
          </a:prstGeom>
          <a:noFill/>
          <a:ln w="6350">
            <a:solidFill>
              <a:srgbClr val="2C2C3E"/>
            </a:solidFill>
            <a:prstDash val="solid"/>
          </a:ln>
        </p:spPr>
      </p:sp>
      <p:sp>
        <p:nvSpPr>
          <p:cNvPr id="64" name="Text 33"/>
          <p:cNvSpPr txBox="1"/>
          <p:nvPr/>
        </p:nvSpPr>
        <p:spPr>
          <a:xfrm>
            <a:off x="566928" y="4942772"/>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4210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4210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4210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5014671"/>
            <a:ext cx="237744" cy="237744"/>
          </a:xfrm>
          <a:prstGeom prst="rect">
            <a:avLst/>
          </a:prstGeom>
        </p:spPr>
      </p:pic>
      <p:sp>
        <p:nvSpPr>
          <p:cNvPr id="69" name="Text 34"/>
          <p:cNvSpPr txBox="1"/>
          <p:nvPr/>
        </p:nvSpPr>
        <p:spPr>
          <a:xfrm>
            <a:off x="10652760" y="4942772"/>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16, 19</a:t>
            </a:r>
            <a:endParaRPr lang="en-US" sz="1050" dirty="0"/>
          </a:p>
        </p:txBody>
      </p:sp>
      <p:sp>
        <p:nvSpPr>
          <p:cNvPr id="70" name="Shape 35"/>
          <p:cNvSpPr/>
          <p:nvPr/>
        </p:nvSpPr>
        <p:spPr>
          <a:xfrm>
            <a:off x="457200" y="5324314"/>
            <a:ext cx="11277295" cy="0"/>
          </a:xfrm>
          <a:prstGeom prst="line">
            <a:avLst/>
          </a:prstGeom>
          <a:noFill/>
          <a:ln w="6350">
            <a:solidFill>
              <a:srgbClr val="2C2C3E"/>
            </a:solidFill>
            <a:prstDash val="solid"/>
          </a:ln>
        </p:spPr>
      </p:sp>
      <p:sp>
        <p:nvSpPr>
          <p:cNvPr id="71" name="Text 36"/>
          <p:cNvSpPr txBox="1"/>
          <p:nvPr/>
        </p:nvSpPr>
        <p:spPr>
          <a:xfrm>
            <a:off x="566928" y="5324314"/>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423645"/>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423645"/>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423645"/>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96213"/>
            <a:ext cx="237744" cy="237744"/>
          </a:xfrm>
          <a:prstGeom prst="rect">
            <a:avLst/>
          </a:prstGeom>
        </p:spPr>
      </p:pic>
      <p:sp>
        <p:nvSpPr>
          <p:cNvPr id="76" name="Text 37"/>
          <p:cNvSpPr txBox="1"/>
          <p:nvPr/>
        </p:nvSpPr>
        <p:spPr>
          <a:xfrm>
            <a:off x="10652760" y="5324314"/>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3, 36</a:t>
            </a:r>
            <a:endParaRPr lang="en-US" sz="1050" dirty="0"/>
          </a:p>
        </p:txBody>
      </p:sp>
      <p:sp>
        <p:nvSpPr>
          <p:cNvPr id="77" name="Shape 38"/>
          <p:cNvSpPr/>
          <p:nvPr/>
        </p:nvSpPr>
        <p:spPr>
          <a:xfrm>
            <a:off x="457200" y="5705856"/>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61888"/>
            <a:ext cx="182880" cy="182880"/>
          </a:xfrm>
          <a:prstGeom prst="rect">
            <a:avLst/>
          </a:prstGeom>
        </p:spPr>
      </p:pic>
      <p:sp>
        <p:nvSpPr>
          <p:cNvPr id="79" name="Text 39"/>
          <p:cNvSpPr txBox="1"/>
          <p:nvPr/>
        </p:nvSpPr>
        <p:spPr>
          <a:xfrm>
            <a:off x="694944"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61888"/>
            <a:ext cx="182880" cy="182880"/>
          </a:xfrm>
          <a:prstGeom prst="rect">
            <a:avLst/>
          </a:prstGeom>
        </p:spPr>
      </p:pic>
      <p:sp>
        <p:nvSpPr>
          <p:cNvPr id="81" name="Text 40"/>
          <p:cNvSpPr txBox="1"/>
          <p:nvPr/>
        </p:nvSpPr>
        <p:spPr>
          <a:xfrm>
            <a:off x="1414527"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61888"/>
            <a:ext cx="182880" cy="182880"/>
          </a:xfrm>
          <a:prstGeom prst="rect">
            <a:avLst/>
          </a:prstGeom>
        </p:spPr>
      </p:pic>
      <p:sp>
        <p:nvSpPr>
          <p:cNvPr id="83" name="Text 41"/>
          <p:cNvSpPr txBox="1"/>
          <p:nvPr/>
        </p:nvSpPr>
        <p:spPr>
          <a:xfrm>
            <a:off x="2289810"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2895349" y="5907024"/>
            <a:ext cx="8839147" cy="292608"/>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Document. Chronopoli column: built in code, going live with the six-sprint plan; the 48-hour update is a design target.</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8919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5144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MOATS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Four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three: the longer the platform runs, the harder it is to replicate</a:t>
            </a:r>
            <a:endParaRPr lang="en-US" sz="1600" dirty="0"/>
          </a:p>
        </p:txBody>
      </p:sp>
      <p:sp>
        <p:nvSpPr>
          <p:cNvPr id="7" name="Shape 4"/>
          <p:cNvSpPr/>
          <p:nvPr/>
        </p:nvSpPr>
        <p:spPr>
          <a:xfrm>
            <a:off x="457200" y="1942795"/>
            <a:ext cx="5501488" cy="2000402"/>
          </a:xfrm>
          <a:prstGeom prst="roundRect">
            <a:avLst>
              <a:gd name="adj" fmla="val 5485"/>
            </a:avLst>
          </a:prstGeom>
          <a:solidFill>
            <a:srgbClr val="171722"/>
          </a:solidFill>
          <a:ln w="9525">
            <a:solidFill>
              <a:srgbClr val="2C2C3E"/>
            </a:solidFill>
            <a:prstDash val="solid"/>
          </a:ln>
        </p:spPr>
      </p:sp>
      <p:sp>
        <p:nvSpPr>
          <p:cNvPr id="8" name="Shape 5"/>
          <p:cNvSpPr/>
          <p:nvPr/>
        </p:nvSpPr>
        <p:spPr>
          <a:xfrm>
            <a:off x="713232" y="2180539"/>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299411"/>
            <a:ext cx="237744" cy="237744"/>
          </a:xfrm>
          <a:prstGeom prst="rect">
            <a:avLst/>
          </a:prstGeom>
        </p:spPr>
      </p:pic>
      <p:sp>
        <p:nvSpPr>
          <p:cNvPr id="10" name="Text 6"/>
          <p:cNvSpPr txBox="1"/>
          <p:nvPr/>
        </p:nvSpPr>
        <p:spPr>
          <a:xfrm>
            <a:off x="1335024" y="2180539"/>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Proprietary Knowledge Moat</a:t>
            </a:r>
            <a:endParaRPr lang="en-US" sz="1800" dirty="0"/>
          </a:p>
        </p:txBody>
      </p:sp>
      <p:sp>
        <p:nvSpPr>
          <p:cNvPr id="11" name="Text 7"/>
          <p:cNvSpPr txBox="1"/>
          <p:nvPr/>
        </p:nvSpPr>
        <p:spPr>
          <a:xfrm>
            <a:off x="713232" y="2820619"/>
            <a:ext cx="4989424" cy="85039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Every round table, opinion paper and masterclass feeds the AI Tutor. After 12 months, no external AI, not ChatGPT, not Gemini, has access to this knowledge base. It compounds like interest.</a:t>
            </a:r>
            <a:endParaRPr lang="en-US" sz="1350" dirty="0"/>
          </a:p>
        </p:txBody>
      </p:sp>
      <p:sp>
        <p:nvSpPr>
          <p:cNvPr id="12" name="Text 8"/>
          <p:cNvSpPr txBox="1"/>
          <p:nvPr/>
        </p:nvSpPr>
        <p:spPr>
          <a:xfrm>
            <a:off x="713232" y="3577438"/>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11, 19</a:t>
            </a:r>
            <a:endParaRPr lang="en-US" sz="1050" dirty="0"/>
          </a:p>
        </p:txBody>
      </p:sp>
      <p:sp>
        <p:nvSpPr>
          <p:cNvPr id="13" name="Shape 9"/>
          <p:cNvSpPr/>
          <p:nvPr/>
        </p:nvSpPr>
        <p:spPr>
          <a:xfrm>
            <a:off x="6233008" y="1942795"/>
            <a:ext cx="5501488" cy="2000402"/>
          </a:xfrm>
          <a:prstGeom prst="roundRect">
            <a:avLst>
              <a:gd name="adj" fmla="val 5485"/>
            </a:avLst>
          </a:prstGeom>
          <a:solidFill>
            <a:srgbClr val="171722"/>
          </a:solidFill>
          <a:ln w="9525">
            <a:solidFill>
              <a:srgbClr val="2C2C3E"/>
            </a:solidFill>
            <a:prstDash val="solid"/>
          </a:ln>
        </p:spPr>
      </p:sp>
      <p:sp>
        <p:nvSpPr>
          <p:cNvPr id="14" name="Shape 10"/>
          <p:cNvSpPr/>
          <p:nvPr/>
        </p:nvSpPr>
        <p:spPr>
          <a:xfrm>
            <a:off x="6489040" y="2180539"/>
            <a:ext cx="475488" cy="47548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6607912" y="2299411"/>
            <a:ext cx="237744" cy="237744"/>
          </a:xfrm>
          <a:prstGeom prst="rect">
            <a:avLst/>
          </a:prstGeom>
        </p:spPr>
      </p:pic>
      <p:sp>
        <p:nvSpPr>
          <p:cNvPr id="16" name="Text 11"/>
          <p:cNvSpPr txBox="1"/>
          <p:nvPr/>
        </p:nvSpPr>
        <p:spPr>
          <a:xfrm>
            <a:off x="7110832" y="2180539"/>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Partner Lock-in Moat</a:t>
            </a:r>
            <a:endParaRPr lang="en-US" sz="1800" dirty="0"/>
          </a:p>
        </p:txBody>
      </p:sp>
      <p:sp>
        <p:nvSpPr>
          <p:cNvPr id="17" name="Text 12"/>
          <p:cNvSpPr txBox="1"/>
          <p:nvPr/>
        </p:nvSpPr>
        <p:spPr>
          <a:xfrm>
            <a:off x="6489040" y="2820619"/>
            <a:ext cx="4989424" cy="85039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Leaving means giving up its own institutional knowledge base.</a:t>
            </a:r>
            <a:endParaRPr lang="en-US" sz="1350" dirty="0"/>
          </a:p>
        </p:txBody>
      </p:sp>
      <p:sp>
        <p:nvSpPr>
          <p:cNvPr id="18" name="Text 13"/>
          <p:cNvSpPr txBox="1"/>
          <p:nvPr/>
        </p:nvSpPr>
        <p:spPr>
          <a:xfrm>
            <a:off x="6489040" y="3577438"/>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8, 13</a:t>
            </a:r>
            <a:endParaRPr lang="en-US" sz="1050" dirty="0"/>
          </a:p>
        </p:txBody>
      </p:sp>
      <p:sp>
        <p:nvSpPr>
          <p:cNvPr id="19" name="Shape 14"/>
          <p:cNvSpPr/>
          <p:nvPr/>
        </p:nvSpPr>
        <p:spPr>
          <a:xfrm>
            <a:off x="457200" y="4217518"/>
            <a:ext cx="5501488" cy="2000402"/>
          </a:xfrm>
          <a:prstGeom prst="roundRect">
            <a:avLst>
              <a:gd name="adj" fmla="val 5485"/>
            </a:avLst>
          </a:prstGeom>
          <a:solidFill>
            <a:srgbClr val="171722"/>
          </a:solidFill>
          <a:ln w="9525">
            <a:solidFill>
              <a:srgbClr val="2C2C3E"/>
            </a:solidFill>
            <a:prstDash val="solid"/>
          </a:ln>
        </p:spPr>
      </p:sp>
      <p:sp>
        <p:nvSpPr>
          <p:cNvPr id="20" name="Shape 15"/>
          <p:cNvSpPr/>
          <p:nvPr/>
        </p:nvSpPr>
        <p:spPr>
          <a:xfrm>
            <a:off x="713232" y="4455262"/>
            <a:ext cx="475488" cy="475488"/>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832104" y="4574134"/>
            <a:ext cx="237744" cy="237744"/>
          </a:xfrm>
          <a:prstGeom prst="rect">
            <a:avLst/>
          </a:prstGeom>
        </p:spPr>
      </p:pic>
      <p:sp>
        <p:nvSpPr>
          <p:cNvPr id="22" name="Text 16"/>
          <p:cNvSpPr txBox="1"/>
          <p:nvPr/>
        </p:nvSpPr>
        <p:spPr>
          <a:xfrm>
            <a:off x="1335024" y="4455262"/>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Network Effects Moat</a:t>
            </a:r>
            <a:endParaRPr lang="en-US" sz="1800" dirty="0"/>
          </a:p>
        </p:txBody>
      </p:sp>
      <p:sp>
        <p:nvSpPr>
          <p:cNvPr id="23" name="Text 17"/>
          <p:cNvSpPr txBox="1"/>
          <p:nvPr/>
        </p:nvSpPr>
        <p:spPr>
          <a:xfrm>
            <a:off x="713232" y="5095342"/>
            <a:ext cx="4989424" cy="64465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marketplace flywheel in a high-value niche.</a:t>
            </a:r>
            <a:endParaRPr lang="en-US" sz="1350" dirty="0"/>
          </a:p>
        </p:txBody>
      </p:sp>
      <p:sp>
        <p:nvSpPr>
          <p:cNvPr id="24" name="Text 18"/>
          <p:cNvSpPr txBox="1"/>
          <p:nvPr/>
        </p:nvSpPr>
        <p:spPr>
          <a:xfrm>
            <a:off x="713232" y="5852160"/>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4, 18</a:t>
            </a:r>
            <a:endParaRPr lang="en-US" sz="1050" dirty="0"/>
          </a:p>
        </p:txBody>
      </p:sp>
      <p:sp>
        <p:nvSpPr>
          <p:cNvPr id="25" name="Shape 19"/>
          <p:cNvSpPr/>
          <p:nvPr/>
        </p:nvSpPr>
        <p:spPr>
          <a:xfrm>
            <a:off x="6233008" y="4217518"/>
            <a:ext cx="5501488" cy="2000402"/>
          </a:xfrm>
          <a:prstGeom prst="roundRect">
            <a:avLst>
              <a:gd name="adj" fmla="val 5485"/>
            </a:avLst>
          </a:prstGeom>
          <a:solidFill>
            <a:srgbClr val="171722"/>
          </a:solidFill>
          <a:ln w="9525">
            <a:solidFill>
              <a:srgbClr val="2C2C3E"/>
            </a:solidFill>
            <a:prstDash val="solid"/>
          </a:ln>
        </p:spPr>
      </p:sp>
      <p:sp>
        <p:nvSpPr>
          <p:cNvPr id="26" name="Shape 20"/>
          <p:cNvSpPr/>
          <p:nvPr/>
        </p:nvSpPr>
        <p:spPr>
          <a:xfrm>
            <a:off x="6489040" y="4455262"/>
            <a:ext cx="475488" cy="475488"/>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6607912" y="4574134"/>
            <a:ext cx="237744" cy="237744"/>
          </a:xfrm>
          <a:prstGeom prst="rect">
            <a:avLst/>
          </a:prstGeom>
        </p:spPr>
      </p:pic>
      <p:sp>
        <p:nvSpPr>
          <p:cNvPr id="28" name="Text 21"/>
          <p:cNvSpPr txBox="1"/>
          <p:nvPr/>
        </p:nvSpPr>
        <p:spPr>
          <a:xfrm>
            <a:off x="7110832" y="4455262"/>
            <a:ext cx="434934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Cost Structure Moat</a:t>
            </a:r>
            <a:endParaRPr lang="en-US" sz="1800" dirty="0"/>
          </a:p>
        </p:txBody>
      </p:sp>
      <p:sp>
        <p:nvSpPr>
          <p:cNvPr id="29" name="Text 22"/>
          <p:cNvSpPr txBox="1"/>
          <p:nvPr/>
        </p:nvSpPr>
        <p:spPr>
          <a:xfrm>
            <a:off x="6489040" y="5095342"/>
            <a:ext cx="4989424" cy="64465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$374 a month of AWS infrastructure to start, zero licensing, an open-source stack. VC-funded SaaS competitors cannot undercut this pricing without operating at a loss.</a:t>
            </a:r>
            <a:endParaRPr lang="en-US" sz="1350" dirty="0"/>
          </a:p>
        </p:txBody>
      </p:sp>
      <p:sp>
        <p:nvSpPr>
          <p:cNvPr id="30" name="Text 23"/>
          <p:cNvSpPr txBox="1"/>
          <p:nvPr/>
        </p:nvSpPr>
        <p:spPr>
          <a:xfrm>
            <a:off x="6489040" y="5852160"/>
            <a:ext cx="498942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27, 32</a:t>
            </a:r>
            <a:endParaRPr lang="en-US" sz="1050" dirty="0"/>
          </a:p>
        </p:txBody>
      </p:sp>
      <p:sp>
        <p:nvSpPr>
          <p:cNvPr id="31"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695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57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TEAM</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The right people at the right time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Compliance expertise + defence tech + blockchain infrastructure + UAE institutional access</a:t>
            </a:r>
            <a:endParaRPr lang="en-US" sz="1600" dirty="0"/>
          </a:p>
        </p:txBody>
      </p:sp>
      <p:sp>
        <p:nvSpPr>
          <p:cNvPr id="7" name="Shape 4"/>
          <p:cNvSpPr/>
          <p:nvPr/>
        </p:nvSpPr>
        <p:spPr>
          <a:xfrm>
            <a:off x="457200" y="1942795"/>
            <a:ext cx="5501488" cy="3488741"/>
          </a:xfrm>
          <a:prstGeom prst="roundRect">
            <a:avLst>
              <a:gd name="adj" fmla="val 3145"/>
            </a:avLst>
          </a:prstGeom>
          <a:solidFill>
            <a:srgbClr val="171722"/>
          </a:solidFill>
          <a:ln w="9525">
            <a:solidFill>
              <a:srgbClr val="5A4A22"/>
            </a:solidFill>
            <a:prstDash val="solid"/>
          </a:ln>
        </p:spPr>
      </p:sp>
      <p:sp>
        <p:nvSpPr>
          <p:cNvPr id="8" name="Shape 5"/>
          <p:cNvSpPr/>
          <p:nvPr/>
        </p:nvSpPr>
        <p:spPr>
          <a:xfrm>
            <a:off x="713232" y="2198827"/>
            <a:ext cx="731520" cy="7315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96112" y="2381707"/>
            <a:ext cx="365760" cy="365760"/>
          </a:xfrm>
          <a:prstGeom prst="rect">
            <a:avLst/>
          </a:prstGeom>
        </p:spPr>
      </p:pic>
      <p:sp>
        <p:nvSpPr>
          <p:cNvPr id="10" name="Text 6"/>
          <p:cNvSpPr txBox="1"/>
          <p:nvPr/>
        </p:nvSpPr>
        <p:spPr>
          <a:xfrm>
            <a:off x="1627632" y="2198827"/>
            <a:ext cx="407502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Chris</a:t>
            </a:r>
            <a:endParaRPr lang="en-US" sz="2000" dirty="0"/>
          </a:p>
        </p:txBody>
      </p:sp>
      <p:sp>
        <p:nvSpPr>
          <p:cNvPr id="11" name="Text 7"/>
          <p:cNvSpPr txBox="1"/>
          <p:nvPr/>
        </p:nvSpPr>
        <p:spPr>
          <a:xfrm>
            <a:off x="1627632"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&amp; COO · Regulatory Client Manager, Bank Frick</a:t>
            </a:r>
            <a:endParaRPr lang="en-US" sz="1250" dirty="0"/>
          </a:p>
        </p:txBody>
      </p:sp>
      <p:sp>
        <p:nvSpPr>
          <p:cNvPr id="12" name="Shape 8"/>
          <p:cNvSpPr/>
          <p:nvPr/>
        </p:nvSpPr>
        <p:spPr>
          <a:xfrm>
            <a:off x="713232" y="3268675"/>
            <a:ext cx="4989424" cy="0"/>
          </a:xfrm>
          <a:prstGeom prst="line">
            <a:avLst/>
          </a:prstGeom>
          <a:noFill/>
          <a:ln w="9525">
            <a:solidFill>
              <a:srgbClr val="2C2C3E"/>
            </a:solidFill>
            <a:prstDash val="solid"/>
          </a:ln>
        </p:spPr>
      </p:sp>
      <p:sp>
        <p:nvSpPr>
          <p:cNvPr id="13" name="Text 9"/>
          <p:cNvSpPr txBox="1"/>
          <p:nvPr/>
        </p:nvSpPr>
        <p:spPr>
          <a:xfrm>
            <a:off x="713232"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14" name="Text 10"/>
          <p:cNvSpPr txBox="1"/>
          <p:nvPr/>
        </p:nvSpPr>
        <p:spPr>
          <a:xfrm>
            <a:off x="713232" y="3689299"/>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KYC/AML/EDD expert · FMA Liechtenstein · FINMA Switzerland · UAE VARA · digital-assets compliance across 5+ jurisdictions</a:t>
            </a:r>
            <a:endParaRPr lang="en-US" sz="1300" dirty="0"/>
          </a:p>
        </p:txBody>
      </p:sp>
      <p:sp>
        <p:nvSpPr>
          <p:cNvPr id="15" name="Text 11"/>
          <p:cNvSpPr txBox="1"/>
          <p:nvPr/>
        </p:nvSpPr>
        <p:spPr>
          <a:xfrm>
            <a:off x="713232" y="435985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16" name="Text 12"/>
          <p:cNvSpPr txBox="1"/>
          <p:nvPr/>
        </p:nvSpPr>
        <p:spPr>
          <a:xfrm>
            <a:off x="713232" y="459760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Co-Founder PHLX AG (Swiss defence tech) · WorldBitEnergy · Dubai Blockchain Center</a:t>
            </a:r>
            <a:endParaRPr lang="en-US" sz="1300" dirty="0"/>
          </a:p>
        </p:txBody>
      </p:sp>
      <p:sp>
        <p:nvSpPr>
          <p:cNvPr id="17" name="Shape 13"/>
          <p:cNvSpPr/>
          <p:nvPr/>
        </p:nvSpPr>
        <p:spPr>
          <a:xfrm>
            <a:off x="6233008" y="1942795"/>
            <a:ext cx="5501488" cy="3488741"/>
          </a:xfrm>
          <a:prstGeom prst="roundRect">
            <a:avLst>
              <a:gd name="adj" fmla="val 3145"/>
            </a:avLst>
          </a:prstGeom>
          <a:solidFill>
            <a:srgbClr val="171722"/>
          </a:solidFill>
          <a:ln w="9525">
            <a:solidFill>
              <a:srgbClr val="2C2C3E"/>
            </a:solidFill>
            <a:prstDash val="solid"/>
          </a:ln>
        </p:spPr>
      </p:sp>
      <p:sp>
        <p:nvSpPr>
          <p:cNvPr id="18" name="Shape 14"/>
          <p:cNvSpPr/>
          <p:nvPr/>
        </p:nvSpPr>
        <p:spPr>
          <a:xfrm>
            <a:off x="6489040" y="2198827"/>
            <a:ext cx="731520" cy="73152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6671920" y="2381707"/>
            <a:ext cx="365760" cy="365760"/>
          </a:xfrm>
          <a:prstGeom prst="rect">
            <a:avLst/>
          </a:prstGeom>
        </p:spPr>
      </p:pic>
      <p:sp>
        <p:nvSpPr>
          <p:cNvPr id="20" name="Text 15"/>
          <p:cNvSpPr txBox="1"/>
          <p:nvPr/>
        </p:nvSpPr>
        <p:spPr>
          <a:xfrm>
            <a:off x="7403440" y="2198827"/>
            <a:ext cx="4075024" cy="365760"/>
          </a:xfrm>
          <a:prstGeom prst="rect">
            <a:avLst/>
          </a:prstGeom>
          <a:noFill/>
          <a:ln/>
        </p:spPr>
        <p:txBody>
          <a:bodyPr wrap="square" lIns="0" tIns="0" rIns="0" bIns="0" rtlCol="0" anchor="t"/>
          <a:lstStyle/>
          <a:p>
            <a:pPr indent="0" marL="0">
              <a:buNone/>
            </a:pPr>
            <a:r>
              <a:rPr lang="en-US" sz="2000" b="1" dirty="0">
                <a:solidFill>
                  <a:srgbClr val="B4B4C8"/>
                </a:solidFill>
                <a:latin typeface="Arial" pitchFamily="34" charset="0"/>
                <a:ea typeface="Arial" pitchFamily="34" charset="-122"/>
                <a:cs typeface="Arial" pitchFamily="34" charset="-120"/>
              </a:rPr>
              <a:t>CTO (to be confirmed)</a:t>
            </a:r>
            <a:endParaRPr lang="en-US" sz="2000" dirty="0"/>
          </a:p>
        </p:txBody>
      </p:sp>
      <p:sp>
        <p:nvSpPr>
          <p:cNvPr id="21" name="Text 16"/>
          <p:cNvSpPr txBox="1"/>
          <p:nvPr/>
        </p:nvSpPr>
        <p:spPr>
          <a:xfrm>
            <a:off x="7403440"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 platform &amp; infrastructure lead</a:t>
            </a:r>
            <a:endParaRPr lang="en-US" sz="1250" dirty="0"/>
          </a:p>
        </p:txBody>
      </p:sp>
      <p:sp>
        <p:nvSpPr>
          <p:cNvPr id="22" name="Shape 17"/>
          <p:cNvSpPr/>
          <p:nvPr/>
        </p:nvSpPr>
        <p:spPr>
          <a:xfrm>
            <a:off x="6489040" y="3268675"/>
            <a:ext cx="4989424" cy="0"/>
          </a:xfrm>
          <a:prstGeom prst="line">
            <a:avLst/>
          </a:prstGeom>
          <a:noFill/>
          <a:ln w="9525">
            <a:solidFill>
              <a:srgbClr val="2C2C3E"/>
            </a:solidFill>
            <a:prstDash val="solid"/>
          </a:ln>
        </p:spPr>
      </p:sp>
      <p:sp>
        <p:nvSpPr>
          <p:cNvPr id="23" name="Text 18"/>
          <p:cNvSpPr txBox="1"/>
          <p:nvPr/>
        </p:nvSpPr>
        <p:spPr>
          <a:xfrm>
            <a:off x="6489040"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24" name="Text 19"/>
          <p:cNvSpPr txBox="1"/>
          <p:nvPr/>
        </p:nvSpPr>
        <p:spPr>
          <a:xfrm>
            <a:off x="6489040" y="3689299"/>
            <a:ext cx="4989424"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Open edX · AWS · Python/Django · AI-pipeline architecture. Search in progress for a world-class technical co-founder with MENA experience</a:t>
            </a:r>
            <a:endParaRPr lang="en-US" sz="1300" dirty="0"/>
          </a:p>
        </p:txBody>
      </p:sp>
      <p:sp>
        <p:nvSpPr>
          <p:cNvPr id="25" name="Text 20"/>
          <p:cNvSpPr txBox="1"/>
          <p:nvPr/>
        </p:nvSpPr>
        <p:spPr>
          <a:xfrm>
            <a:off x="6489040" y="455797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26" name="Text 21"/>
          <p:cNvSpPr txBox="1"/>
          <p:nvPr/>
        </p:nvSpPr>
        <p:spPr>
          <a:xfrm>
            <a:off x="6489040" y="479572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Platform code-complete via the GSD framework: 15 phases, 90 requirements. What go-live still needs: slide 33</a:t>
            </a:r>
            <a:endParaRPr lang="en-US" sz="1300" dirty="0"/>
          </a:p>
        </p:txBody>
      </p:sp>
      <p:sp>
        <p:nvSpPr>
          <p:cNvPr id="27" name="Shape 22"/>
          <p:cNvSpPr/>
          <p:nvPr/>
        </p:nvSpPr>
        <p:spPr>
          <a:xfrm>
            <a:off x="457200" y="5705856"/>
            <a:ext cx="11277295" cy="512064"/>
          </a:xfrm>
          <a:prstGeom prst="roundRect">
            <a:avLst>
              <a:gd name="adj" fmla="val 17857"/>
            </a:avLst>
          </a:prstGeom>
          <a:solidFill>
            <a:srgbClr val="15151F"/>
          </a:solidFill>
          <a:ln w="9525">
            <a:solidFill>
              <a:srgbClr val="5A4A22"/>
            </a:solidFill>
            <a:prstDash val="solid"/>
          </a:ln>
        </p:spPr>
      </p:sp>
      <p:sp>
        <p:nvSpPr>
          <p:cNvPr id="28" name="Text 23"/>
          <p:cNvSpPr txBox="1"/>
          <p:nvPr/>
        </p:nvSpPr>
        <p:spPr>
          <a:xfrm>
            <a:off x="685800" y="5705856"/>
            <a:ext cx="10911535" cy="512064"/>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ADVISORS   </a:t>
            </a:r>
            <a:r>
              <a:rPr lang="en-US" sz="1300" dirty="0">
                <a:solidFill>
                  <a:srgbClr val="E8E8F0"/>
                </a:solidFill>
                <a:latin typeface="Arial" pitchFamily="34" charset="0"/>
                <a:ea typeface="Arial" pitchFamily="34" charset="-122"/>
                <a:cs typeface="Arial" pitchFamily="34" charset="-120"/>
              </a:rPr>
              <a:t>Maria Papadaki (BUiD, academic partner) · DBCC leadership · Compliance advisor (TBC) · Regional investor (TBC)</a:t>
            </a:r>
            <a:endParaRPr lang="en-US" sz="13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6975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3200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TECHNOLOGY</a:t>
            </a:r>
            <a:endParaRPr lang="en-US" sz="900" dirty="0"/>
          </a:p>
        </p:txBody>
      </p:sp>
      <p:sp>
        <p:nvSpPr>
          <p:cNvPr id="5" name="Text 2"/>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Technology: Open edX at the core, AWS around it, no fork</a:t>
            </a:r>
            <a:endParaRPr lang="en-US" sz="3300" dirty="0"/>
          </a:p>
        </p:txBody>
      </p:sp>
      <p:sp>
        <p:nvSpPr>
          <p:cNvPr id="6" name="Text 3"/>
          <p:cNvSpPr txBox="1"/>
          <p:nvPr/>
        </p:nvSpPr>
        <p:spPr>
          <a:xfrm>
            <a:off x="8275320" y="770839"/>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Tutor 22 (Verawood), a Chronopoli Tutor plugin and 8 Django apps; upstream updates arrive with “tutor upgrade”</a:t>
            </a:r>
            <a:endParaRPr lang="en-US" sz="1500" dirty="0"/>
          </a:p>
        </p:txBody>
      </p:sp>
      <p:sp>
        <p:nvSpPr>
          <p:cNvPr id="7" name="Shape 4"/>
          <p:cNvSpPr/>
          <p:nvPr/>
        </p:nvSpPr>
        <p:spPr>
          <a:xfrm>
            <a:off x="457200" y="1996135"/>
            <a:ext cx="11277295" cy="463715"/>
          </a:xfrm>
          <a:prstGeom prst="roundRect">
            <a:avLst>
              <a:gd name="adj" fmla="val 15775"/>
            </a:avLst>
          </a:prstGeom>
          <a:solidFill>
            <a:srgbClr val="171722"/>
          </a:solidFill>
          <a:ln w="9525">
            <a:solidFill>
              <a:srgbClr val="2C2C3E"/>
            </a:solidFill>
            <a:prstDash val="solid"/>
          </a:ln>
        </p:spPr>
      </p:sp>
      <p:sp>
        <p:nvSpPr>
          <p:cNvPr id="8" name="Shape 5"/>
          <p:cNvSpPr/>
          <p:nvPr/>
        </p:nvSpPr>
        <p:spPr>
          <a:xfrm>
            <a:off x="585216" y="2063401"/>
            <a:ext cx="329184" cy="32918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67512" y="2145697"/>
            <a:ext cx="164592" cy="164592"/>
          </a:xfrm>
          <a:prstGeom prst="rect">
            <a:avLst/>
          </a:prstGeom>
        </p:spPr>
      </p:pic>
      <p:sp>
        <p:nvSpPr>
          <p:cNvPr id="10" name="Text 6"/>
          <p:cNvSpPr txBox="1"/>
          <p:nvPr/>
        </p:nvSpPr>
        <p:spPr>
          <a:xfrm>
            <a:off x="1024128" y="1996135"/>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Edge</a:t>
            </a:r>
            <a:endParaRPr lang="en-US" sz="1300" dirty="0"/>
          </a:p>
        </p:txBody>
      </p:sp>
      <p:sp>
        <p:nvSpPr>
          <p:cNvPr id="11" name="Text 7"/>
          <p:cNvSpPr txBox="1"/>
          <p:nvPr/>
        </p:nvSpPr>
        <p:spPr>
          <a:xfrm>
            <a:off x="3035808" y="1996135"/>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Route53 (5 subdomains + wildcard) · CloudFront · ACM/TLS · Amazon SES</a:t>
            </a:r>
            <a:endParaRPr lang="en-US" sz="1200" dirty="0"/>
          </a:p>
        </p:txBody>
      </p:sp>
      <p:sp>
        <p:nvSpPr>
          <p:cNvPr id="12" name="Text 8"/>
          <p:cNvSpPr txBox="1"/>
          <p:nvPr/>
        </p:nvSpPr>
        <p:spPr>
          <a:xfrm>
            <a:off x="10372039" y="1996135"/>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SERVICES</a:t>
            </a:r>
            <a:endParaRPr lang="en-US" sz="800" dirty="0"/>
          </a:p>
        </p:txBody>
      </p:sp>
      <p:sp>
        <p:nvSpPr>
          <p:cNvPr id="13" name="Shape 9"/>
          <p:cNvSpPr/>
          <p:nvPr/>
        </p:nvSpPr>
        <p:spPr>
          <a:xfrm>
            <a:off x="457200" y="2533002"/>
            <a:ext cx="11277295" cy="463715"/>
          </a:xfrm>
          <a:prstGeom prst="roundRect">
            <a:avLst>
              <a:gd name="adj" fmla="val 15775"/>
            </a:avLst>
          </a:prstGeom>
          <a:solidFill>
            <a:srgbClr val="171722"/>
          </a:solidFill>
          <a:ln w="9525">
            <a:solidFill>
              <a:srgbClr val="2C2C3E"/>
            </a:solidFill>
            <a:prstDash val="solid"/>
          </a:ln>
        </p:spPr>
      </p:sp>
      <p:sp>
        <p:nvSpPr>
          <p:cNvPr id="14" name="Shape 10"/>
          <p:cNvSpPr/>
          <p:nvPr/>
        </p:nvSpPr>
        <p:spPr>
          <a:xfrm>
            <a:off x="585216" y="2600268"/>
            <a:ext cx="329184" cy="329184"/>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667512" y="2682564"/>
            <a:ext cx="164592" cy="164592"/>
          </a:xfrm>
          <a:prstGeom prst="rect">
            <a:avLst/>
          </a:prstGeom>
        </p:spPr>
      </p:pic>
      <p:sp>
        <p:nvSpPr>
          <p:cNvPr id="16" name="Text 11"/>
          <p:cNvSpPr txBox="1"/>
          <p:nvPr/>
        </p:nvSpPr>
        <p:spPr>
          <a:xfrm>
            <a:off x="1024128" y="2533002"/>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LMS core</a:t>
            </a:r>
            <a:endParaRPr lang="en-US" sz="1300" dirty="0"/>
          </a:p>
        </p:txBody>
      </p:sp>
      <p:sp>
        <p:nvSpPr>
          <p:cNvPr id="17" name="Text 12"/>
          <p:cNvSpPr txBox="1"/>
          <p:nvPr/>
        </p:nvSpPr>
        <p:spPr>
          <a:xfrm>
            <a:off x="3035808" y="2533002"/>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Open edX LMS, Studio and MFEs on Tutor 22 · Celery workers · Caddy</a:t>
            </a:r>
            <a:endParaRPr lang="en-US" sz="1200" dirty="0"/>
          </a:p>
        </p:txBody>
      </p:sp>
      <p:sp>
        <p:nvSpPr>
          <p:cNvPr id="18" name="Text 13"/>
          <p:cNvSpPr txBox="1"/>
          <p:nvPr/>
        </p:nvSpPr>
        <p:spPr>
          <a:xfrm>
            <a:off x="10372039" y="2533002"/>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UPSTREAM</a:t>
            </a:r>
            <a:endParaRPr lang="en-US" sz="800" dirty="0"/>
          </a:p>
        </p:txBody>
      </p:sp>
      <p:sp>
        <p:nvSpPr>
          <p:cNvPr id="19" name="Shape 14"/>
          <p:cNvSpPr/>
          <p:nvPr/>
        </p:nvSpPr>
        <p:spPr>
          <a:xfrm>
            <a:off x="457200" y="3069869"/>
            <a:ext cx="11277295" cy="463715"/>
          </a:xfrm>
          <a:prstGeom prst="roundRect">
            <a:avLst>
              <a:gd name="adj" fmla="val 15775"/>
            </a:avLst>
          </a:prstGeom>
          <a:solidFill>
            <a:srgbClr val="231E12"/>
          </a:solidFill>
          <a:ln w="15875">
            <a:solidFill>
              <a:srgbClr val="C9A84C"/>
            </a:solidFill>
            <a:prstDash val="solid"/>
          </a:ln>
        </p:spPr>
      </p:sp>
      <p:sp>
        <p:nvSpPr>
          <p:cNvPr id="20" name="Shape 15"/>
          <p:cNvSpPr/>
          <p:nvPr/>
        </p:nvSpPr>
        <p:spPr>
          <a:xfrm>
            <a:off x="585216" y="3137135"/>
            <a:ext cx="329184" cy="329184"/>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667512" y="3219431"/>
            <a:ext cx="164592" cy="164592"/>
          </a:xfrm>
          <a:prstGeom prst="rect">
            <a:avLst/>
          </a:prstGeom>
        </p:spPr>
      </p:pic>
      <p:sp>
        <p:nvSpPr>
          <p:cNvPr id="22" name="Text 16"/>
          <p:cNvSpPr txBox="1"/>
          <p:nvPr/>
        </p:nvSpPr>
        <p:spPr>
          <a:xfrm>
            <a:off x="1024128" y="3069869"/>
            <a:ext cx="1920240" cy="463715"/>
          </a:xfrm>
          <a:prstGeom prst="rect">
            <a:avLst/>
          </a:prstGeom>
          <a:noFill/>
          <a:ln/>
        </p:spPr>
        <p:txBody>
          <a:bodyPr wrap="square" lIns="0" tIns="0" rIns="0" bIns="0" rtlCol="0" anchor="ctr"/>
          <a:lstStyle/>
          <a:p>
            <a:pPr indent="0" marL="0">
              <a:buNone/>
            </a:pPr>
            <a:r>
              <a:rPr lang="en-US" sz="1300" b="1" dirty="0">
                <a:solidFill>
                  <a:srgbClr val="F0C96B"/>
                </a:solidFill>
                <a:latin typeface="Arial" pitchFamily="34" charset="0"/>
                <a:ea typeface="Arial" pitchFamily="34" charset="-122"/>
                <a:cs typeface="Arial" pitchFamily="34" charset="-120"/>
              </a:rPr>
              <a:t>Chronopoli apps</a:t>
            </a:r>
            <a:endParaRPr lang="en-US" sz="1300" dirty="0"/>
          </a:p>
        </p:txBody>
      </p:sp>
      <p:sp>
        <p:nvSpPr>
          <p:cNvPr id="23" name="Text 17"/>
          <p:cNvSpPr txBox="1"/>
          <p:nvPr/>
        </p:nvSpPr>
        <p:spPr>
          <a:xfrm>
            <a:off x="3035808" y="3069869"/>
            <a:ext cx="7235647" cy="463715"/>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onboarding · partners · discourse_sso · ecommerce · symposia · academy · ai_tutor · masterclass</a:t>
            </a:r>
            <a:endParaRPr lang="en-US" sz="1200" dirty="0"/>
          </a:p>
        </p:txBody>
      </p:sp>
      <p:sp>
        <p:nvSpPr>
          <p:cNvPr id="24" name="Text 18"/>
          <p:cNvSpPr txBox="1"/>
          <p:nvPr/>
        </p:nvSpPr>
        <p:spPr>
          <a:xfrm>
            <a:off x="10372039" y="3069869"/>
            <a:ext cx="1234440" cy="463715"/>
          </a:xfrm>
          <a:prstGeom prst="rect">
            <a:avLst/>
          </a:prstGeom>
          <a:noFill/>
          <a:ln/>
        </p:spPr>
        <p:txBody>
          <a:bodyPr wrap="square" lIns="0" tIns="0" rIns="0" bIns="0" rtlCol="0" anchor="ctr"/>
          <a:lstStyle/>
          <a:p>
            <a:pPr algn="r" indent="0" marL="0">
              <a:buNone/>
            </a:pPr>
            <a:r>
              <a:rPr lang="en-US" sz="800" b="1" spc="80" kern="0" dirty="0">
                <a:solidFill>
                  <a:srgbClr val="F0C96B"/>
                </a:solidFill>
                <a:latin typeface="Arial" pitchFamily="34" charset="0"/>
                <a:ea typeface="Arial" pitchFamily="34" charset="-122"/>
                <a:cs typeface="Arial" pitchFamily="34" charset="-120"/>
              </a:rPr>
              <a:t>OUR CODE</a:t>
            </a:r>
            <a:endParaRPr lang="en-US" sz="800" dirty="0"/>
          </a:p>
        </p:txBody>
      </p:sp>
      <p:sp>
        <p:nvSpPr>
          <p:cNvPr id="25" name="Shape 19"/>
          <p:cNvSpPr/>
          <p:nvPr/>
        </p:nvSpPr>
        <p:spPr>
          <a:xfrm>
            <a:off x="457200" y="3606737"/>
            <a:ext cx="11277295" cy="463715"/>
          </a:xfrm>
          <a:prstGeom prst="roundRect">
            <a:avLst>
              <a:gd name="adj" fmla="val 15775"/>
            </a:avLst>
          </a:prstGeom>
          <a:solidFill>
            <a:srgbClr val="171722"/>
          </a:solidFill>
          <a:ln w="9525">
            <a:solidFill>
              <a:srgbClr val="2C2C3E"/>
            </a:solidFill>
            <a:prstDash val="solid"/>
          </a:ln>
        </p:spPr>
      </p:sp>
      <p:sp>
        <p:nvSpPr>
          <p:cNvPr id="26" name="Shape 20"/>
          <p:cNvSpPr/>
          <p:nvPr/>
        </p:nvSpPr>
        <p:spPr>
          <a:xfrm>
            <a:off x="585216" y="3674002"/>
            <a:ext cx="329184" cy="32918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667512" y="3756298"/>
            <a:ext cx="164592" cy="164592"/>
          </a:xfrm>
          <a:prstGeom prst="rect">
            <a:avLst/>
          </a:prstGeom>
        </p:spPr>
      </p:pic>
      <p:sp>
        <p:nvSpPr>
          <p:cNvPr id="28" name="Text 21"/>
          <p:cNvSpPr txBox="1"/>
          <p:nvPr/>
        </p:nvSpPr>
        <p:spPr>
          <a:xfrm>
            <a:off x="1024128" y="3606737"/>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&amp; media</a:t>
            </a:r>
            <a:endParaRPr lang="en-US" sz="1300" dirty="0"/>
          </a:p>
        </p:txBody>
      </p:sp>
      <p:sp>
        <p:nvSpPr>
          <p:cNvPr id="29" name="Text 22"/>
          <p:cNvSpPr txBox="1"/>
          <p:nvPr/>
        </p:nvSpPr>
        <p:spPr>
          <a:xfrm>
            <a:off x="3035808" y="3606737"/>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Bedrock (Claude Sonnet 4.6 + Knowledge Base) · Transcribe · Textract · IVS</a:t>
            </a:r>
            <a:endParaRPr lang="en-US" sz="1200" dirty="0"/>
          </a:p>
        </p:txBody>
      </p:sp>
      <p:sp>
        <p:nvSpPr>
          <p:cNvPr id="30" name="Text 23"/>
          <p:cNvSpPr txBox="1"/>
          <p:nvPr/>
        </p:nvSpPr>
        <p:spPr>
          <a:xfrm>
            <a:off x="10372039" y="3606737"/>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SERVICES</a:t>
            </a:r>
            <a:endParaRPr lang="en-US" sz="800" dirty="0"/>
          </a:p>
        </p:txBody>
      </p:sp>
      <p:sp>
        <p:nvSpPr>
          <p:cNvPr id="31" name="Shape 24"/>
          <p:cNvSpPr/>
          <p:nvPr/>
        </p:nvSpPr>
        <p:spPr>
          <a:xfrm>
            <a:off x="457200" y="4143604"/>
            <a:ext cx="11277295" cy="463715"/>
          </a:xfrm>
          <a:prstGeom prst="roundRect">
            <a:avLst>
              <a:gd name="adj" fmla="val 15775"/>
            </a:avLst>
          </a:prstGeom>
          <a:solidFill>
            <a:srgbClr val="171722"/>
          </a:solidFill>
          <a:ln w="9525">
            <a:solidFill>
              <a:srgbClr val="2C2C3E"/>
            </a:solidFill>
            <a:prstDash val="solid"/>
          </a:ln>
        </p:spPr>
      </p:sp>
      <p:sp>
        <p:nvSpPr>
          <p:cNvPr id="32" name="Shape 25"/>
          <p:cNvSpPr/>
          <p:nvPr/>
        </p:nvSpPr>
        <p:spPr>
          <a:xfrm>
            <a:off x="585216" y="4210869"/>
            <a:ext cx="329184" cy="329184"/>
          </a:xfrm>
          <a:prstGeom prst="ellipse">
            <a:avLst/>
          </a:prstGeom>
          <a:solidFill>
            <a:srgbClr val="1E1A10"/>
          </a:solidFill>
          <a:ln w="9525">
            <a:solidFill>
              <a:srgbClr val="5A4A22"/>
            </a:solidFill>
            <a:prstDash val="solid"/>
          </a:ln>
        </p:spPr>
      </p:sp>
      <p:pic>
        <p:nvPicPr>
          <p:cNvPr id="33" name="Image 4" descr="preencoded.png">    </p:cNvPr>
          <p:cNvPicPr>
            <a:picLocks noChangeAspect="1"/>
          </p:cNvPicPr>
          <p:nvPr/>
        </p:nvPicPr>
        <p:blipFill>
          <a:blip r:embed="rId6"/>
          <a:stretch>
            <a:fillRect/>
          </a:stretch>
        </p:blipFill>
        <p:spPr>
          <a:xfrm>
            <a:off x="667512" y="4293165"/>
            <a:ext cx="164592" cy="164592"/>
          </a:xfrm>
          <a:prstGeom prst="rect">
            <a:avLst/>
          </a:prstGeom>
        </p:spPr>
      </p:pic>
      <p:sp>
        <p:nvSpPr>
          <p:cNvPr id="34" name="Text 26"/>
          <p:cNvSpPr txBox="1"/>
          <p:nvPr/>
        </p:nvSpPr>
        <p:spPr>
          <a:xfrm>
            <a:off x="1024128" y="4143604"/>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Pipeline</a:t>
            </a:r>
            <a:endParaRPr lang="en-US" sz="1300" dirty="0"/>
          </a:p>
        </p:txBody>
      </p:sp>
      <p:sp>
        <p:nvSpPr>
          <p:cNvPr id="35" name="Text 27"/>
          <p:cNvSpPr txBox="1"/>
          <p:nvPr/>
        </p:nvSpPr>
        <p:spPr>
          <a:xfrm>
            <a:off x="3035808" y="4143604"/>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EventBridge, then Step Functions, 8 Python 3.13 Lambdas and an SQS approval queue</a:t>
            </a:r>
            <a:endParaRPr lang="en-US" sz="1200" dirty="0"/>
          </a:p>
        </p:txBody>
      </p:sp>
      <p:sp>
        <p:nvSpPr>
          <p:cNvPr id="36" name="Text 28"/>
          <p:cNvSpPr txBox="1"/>
          <p:nvPr/>
        </p:nvSpPr>
        <p:spPr>
          <a:xfrm>
            <a:off x="10372039" y="4143604"/>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SERVERLESS</a:t>
            </a:r>
            <a:endParaRPr lang="en-US" sz="800" dirty="0"/>
          </a:p>
        </p:txBody>
      </p:sp>
      <p:sp>
        <p:nvSpPr>
          <p:cNvPr id="37" name="Shape 29"/>
          <p:cNvSpPr/>
          <p:nvPr/>
        </p:nvSpPr>
        <p:spPr>
          <a:xfrm>
            <a:off x="457200" y="4680471"/>
            <a:ext cx="11277295" cy="463715"/>
          </a:xfrm>
          <a:prstGeom prst="roundRect">
            <a:avLst>
              <a:gd name="adj" fmla="val 15775"/>
            </a:avLst>
          </a:prstGeom>
          <a:solidFill>
            <a:srgbClr val="171722"/>
          </a:solidFill>
          <a:ln w="9525">
            <a:solidFill>
              <a:srgbClr val="2C2C3E"/>
            </a:solidFill>
            <a:prstDash val="solid"/>
          </a:ln>
        </p:spPr>
      </p:sp>
      <p:sp>
        <p:nvSpPr>
          <p:cNvPr id="38" name="Shape 30"/>
          <p:cNvSpPr/>
          <p:nvPr/>
        </p:nvSpPr>
        <p:spPr>
          <a:xfrm>
            <a:off x="585216" y="4747736"/>
            <a:ext cx="329184" cy="329184"/>
          </a:xfrm>
          <a:prstGeom prst="ellipse">
            <a:avLst/>
          </a:prstGeom>
          <a:solidFill>
            <a:srgbClr val="1E1A10"/>
          </a:solidFill>
          <a:ln w="9525">
            <a:solidFill>
              <a:srgbClr val="5A4A22"/>
            </a:solidFill>
            <a:prstDash val="solid"/>
          </a:ln>
        </p:spPr>
      </p:sp>
      <p:pic>
        <p:nvPicPr>
          <p:cNvPr id="39" name="Image 5" descr="preencoded.png">    </p:cNvPr>
          <p:cNvPicPr>
            <a:picLocks noChangeAspect="1"/>
          </p:cNvPicPr>
          <p:nvPr/>
        </p:nvPicPr>
        <p:blipFill>
          <a:blip r:embed="rId7"/>
          <a:stretch>
            <a:fillRect/>
          </a:stretch>
        </p:blipFill>
        <p:spPr>
          <a:xfrm>
            <a:off x="667512" y="4830032"/>
            <a:ext cx="164592" cy="164592"/>
          </a:xfrm>
          <a:prstGeom prst="rect">
            <a:avLst/>
          </a:prstGeom>
        </p:spPr>
      </p:pic>
      <p:sp>
        <p:nvSpPr>
          <p:cNvPr id="40" name="Text 31"/>
          <p:cNvSpPr txBox="1"/>
          <p:nvPr/>
        </p:nvSpPr>
        <p:spPr>
          <a:xfrm>
            <a:off x="1024128" y="4680471"/>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Data</a:t>
            </a:r>
            <a:endParaRPr lang="en-US" sz="1300" dirty="0"/>
          </a:p>
        </p:txBody>
      </p:sp>
      <p:sp>
        <p:nvSpPr>
          <p:cNvPr id="41" name="Text 32"/>
          <p:cNvSpPr txBox="1"/>
          <p:nvPr/>
        </p:nvSpPr>
        <p:spPr>
          <a:xfrm>
            <a:off x="3035808" y="4680471"/>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RDS MySQL 8.4 · Redis · MongoDB · S3 (media, static, backups, knowledge)</a:t>
            </a:r>
            <a:endParaRPr lang="en-US" sz="1200" dirty="0"/>
          </a:p>
        </p:txBody>
      </p:sp>
      <p:sp>
        <p:nvSpPr>
          <p:cNvPr id="42" name="Text 33"/>
          <p:cNvSpPr txBox="1"/>
          <p:nvPr/>
        </p:nvSpPr>
        <p:spPr>
          <a:xfrm>
            <a:off x="10372039" y="4680471"/>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AWS MANAGED</a:t>
            </a:r>
            <a:endParaRPr lang="en-US" sz="800" dirty="0"/>
          </a:p>
        </p:txBody>
      </p:sp>
      <p:sp>
        <p:nvSpPr>
          <p:cNvPr id="43" name="Shape 34"/>
          <p:cNvSpPr/>
          <p:nvPr/>
        </p:nvSpPr>
        <p:spPr>
          <a:xfrm>
            <a:off x="457200" y="5217338"/>
            <a:ext cx="11277295" cy="463715"/>
          </a:xfrm>
          <a:prstGeom prst="roundRect">
            <a:avLst>
              <a:gd name="adj" fmla="val 15775"/>
            </a:avLst>
          </a:prstGeom>
          <a:solidFill>
            <a:srgbClr val="171722"/>
          </a:solidFill>
          <a:ln w="9525">
            <a:solidFill>
              <a:srgbClr val="2C2C3E"/>
            </a:solidFill>
            <a:prstDash val="solid"/>
          </a:ln>
        </p:spPr>
      </p:sp>
      <p:sp>
        <p:nvSpPr>
          <p:cNvPr id="44" name="Shape 35"/>
          <p:cNvSpPr/>
          <p:nvPr/>
        </p:nvSpPr>
        <p:spPr>
          <a:xfrm>
            <a:off x="585216" y="5284603"/>
            <a:ext cx="329184" cy="329184"/>
          </a:xfrm>
          <a:prstGeom prst="ellipse">
            <a:avLst/>
          </a:prstGeom>
          <a:solidFill>
            <a:srgbClr val="1E1A10"/>
          </a:solidFill>
          <a:ln w="9525">
            <a:solidFill>
              <a:srgbClr val="5A4A22"/>
            </a:solidFill>
            <a:prstDash val="solid"/>
          </a:ln>
        </p:spPr>
      </p:sp>
      <p:pic>
        <p:nvPicPr>
          <p:cNvPr id="45" name="Image 6" descr="preencoded.png">    </p:cNvPr>
          <p:cNvPicPr>
            <a:picLocks noChangeAspect="1"/>
          </p:cNvPicPr>
          <p:nvPr/>
        </p:nvPicPr>
        <p:blipFill>
          <a:blip r:embed="rId8"/>
          <a:stretch>
            <a:fillRect/>
          </a:stretch>
        </p:blipFill>
        <p:spPr>
          <a:xfrm>
            <a:off x="667512" y="5366899"/>
            <a:ext cx="164592" cy="164592"/>
          </a:xfrm>
          <a:prstGeom prst="rect">
            <a:avLst/>
          </a:prstGeom>
        </p:spPr>
      </p:pic>
      <p:sp>
        <p:nvSpPr>
          <p:cNvPr id="46" name="Text 36"/>
          <p:cNvSpPr txBox="1"/>
          <p:nvPr/>
        </p:nvSpPr>
        <p:spPr>
          <a:xfrm>
            <a:off x="1024128" y="5217338"/>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Extensions</a:t>
            </a:r>
            <a:endParaRPr lang="en-US" sz="1300" dirty="0"/>
          </a:p>
        </p:txBody>
      </p:sp>
      <p:sp>
        <p:nvSpPr>
          <p:cNvPr id="47" name="Text 37"/>
          <p:cNvSpPr txBox="1"/>
          <p:nvPr/>
        </p:nvSpPr>
        <p:spPr>
          <a:xfrm>
            <a:off x="3035808" y="5217338"/>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Discourse 3.5 · Opencast 20.4 · Presenton, behind nginx</a:t>
            </a:r>
            <a:endParaRPr lang="en-US" sz="1200" dirty="0"/>
          </a:p>
        </p:txBody>
      </p:sp>
      <p:sp>
        <p:nvSpPr>
          <p:cNvPr id="48" name="Text 38"/>
          <p:cNvSpPr txBox="1"/>
          <p:nvPr/>
        </p:nvSpPr>
        <p:spPr>
          <a:xfrm>
            <a:off x="10372039" y="5217338"/>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SELF-HOSTED</a:t>
            </a:r>
            <a:endParaRPr lang="en-US" sz="800" dirty="0"/>
          </a:p>
        </p:txBody>
      </p:sp>
      <p:sp>
        <p:nvSpPr>
          <p:cNvPr id="49" name="Shape 39"/>
          <p:cNvSpPr/>
          <p:nvPr/>
        </p:nvSpPr>
        <p:spPr>
          <a:xfrm>
            <a:off x="457200" y="5754205"/>
            <a:ext cx="11277295" cy="463715"/>
          </a:xfrm>
          <a:prstGeom prst="roundRect">
            <a:avLst>
              <a:gd name="adj" fmla="val 15775"/>
            </a:avLst>
          </a:prstGeom>
          <a:solidFill>
            <a:srgbClr val="171722"/>
          </a:solidFill>
          <a:ln w="9525">
            <a:solidFill>
              <a:srgbClr val="2C2C3E"/>
            </a:solidFill>
            <a:prstDash val="solid"/>
          </a:ln>
        </p:spPr>
      </p:sp>
      <p:sp>
        <p:nvSpPr>
          <p:cNvPr id="50" name="Shape 40"/>
          <p:cNvSpPr/>
          <p:nvPr/>
        </p:nvSpPr>
        <p:spPr>
          <a:xfrm>
            <a:off x="585216" y="5821470"/>
            <a:ext cx="329184" cy="329184"/>
          </a:xfrm>
          <a:prstGeom prst="ellipse">
            <a:avLst/>
          </a:prstGeom>
          <a:solidFill>
            <a:srgbClr val="1E1A10"/>
          </a:solidFill>
          <a:ln w="9525">
            <a:solidFill>
              <a:srgbClr val="5A4A22"/>
            </a:solidFill>
            <a:prstDash val="solid"/>
          </a:ln>
        </p:spPr>
      </p:sp>
      <p:pic>
        <p:nvPicPr>
          <p:cNvPr id="51" name="Image 7" descr="preencoded.png">    </p:cNvPr>
          <p:cNvPicPr>
            <a:picLocks noChangeAspect="1"/>
          </p:cNvPicPr>
          <p:nvPr/>
        </p:nvPicPr>
        <p:blipFill>
          <a:blip r:embed="rId9"/>
          <a:stretch>
            <a:fillRect/>
          </a:stretch>
        </p:blipFill>
        <p:spPr>
          <a:xfrm>
            <a:off x="667512" y="5903766"/>
            <a:ext cx="164592" cy="164592"/>
          </a:xfrm>
          <a:prstGeom prst="rect">
            <a:avLst/>
          </a:prstGeom>
        </p:spPr>
      </p:pic>
      <p:sp>
        <p:nvSpPr>
          <p:cNvPr id="52" name="Text 41"/>
          <p:cNvSpPr txBox="1"/>
          <p:nvPr/>
        </p:nvSpPr>
        <p:spPr>
          <a:xfrm>
            <a:off x="1024128" y="5754205"/>
            <a:ext cx="1920240" cy="463715"/>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Ops</a:t>
            </a:r>
            <a:endParaRPr lang="en-US" sz="1300" dirty="0"/>
          </a:p>
        </p:txBody>
      </p:sp>
      <p:sp>
        <p:nvSpPr>
          <p:cNvPr id="53" name="Text 42"/>
          <p:cNvSpPr txBox="1"/>
          <p:nvPr/>
        </p:nvSpPr>
        <p:spPr>
          <a:xfrm>
            <a:off x="3035808" y="5754205"/>
            <a:ext cx="7235647" cy="463715"/>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Terraform · GitHub Actions · me-central-1 · EC2 from $374/mo to EKS $600–$2,000/mo</a:t>
            </a:r>
            <a:endParaRPr lang="en-US" sz="1200" dirty="0"/>
          </a:p>
        </p:txBody>
      </p:sp>
      <p:sp>
        <p:nvSpPr>
          <p:cNvPr id="54" name="Text 43"/>
          <p:cNvSpPr txBox="1"/>
          <p:nvPr/>
        </p:nvSpPr>
        <p:spPr>
          <a:xfrm>
            <a:off x="10372039" y="5754205"/>
            <a:ext cx="1234440" cy="463715"/>
          </a:xfrm>
          <a:prstGeom prst="rect">
            <a:avLst/>
          </a:prstGeom>
          <a:noFill/>
          <a:ln/>
        </p:spPr>
        <p:txBody>
          <a:bodyPr wrap="square" lIns="0" tIns="0" rIns="0" bIns="0" rtlCol="0" anchor="ctr"/>
          <a:lstStyle/>
          <a:p>
            <a:pPr algn="r" indent="0" marL="0">
              <a:buNone/>
            </a:pPr>
            <a:r>
              <a:rPr lang="en-US" sz="800" b="1" spc="80" kern="0" dirty="0">
                <a:solidFill>
                  <a:srgbClr val="8E8EA2"/>
                </a:solidFill>
                <a:latin typeface="Arial" pitchFamily="34" charset="0"/>
                <a:ea typeface="Arial" pitchFamily="34" charset="-122"/>
                <a:cs typeface="Arial" pitchFamily="34" charset="-120"/>
              </a:rPr>
              <a:t>INFRA AS CODE</a:t>
            </a:r>
            <a:endParaRPr lang="en-US" sz="800" dirty="0"/>
          </a:p>
        </p:txBody>
      </p:sp>
      <p:sp>
        <p:nvSpPr>
          <p:cNvPr id="55"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9746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7368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STATUS · HONEST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Where we are: code complete, not yet live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September 2026 technical review of the full codebase found 37 verified issues, and fixing has begun</a:t>
            </a:r>
            <a:endParaRPr lang="en-US" sz="1600" dirty="0"/>
          </a:p>
        </p:txBody>
      </p:sp>
      <p:sp>
        <p:nvSpPr>
          <p:cNvPr id="7" name="Shape 4"/>
          <p:cNvSpPr/>
          <p:nvPr/>
        </p:nvSpPr>
        <p:spPr>
          <a:xfrm>
            <a:off x="457200" y="1942795"/>
            <a:ext cx="2613584" cy="2743200"/>
          </a:xfrm>
          <a:prstGeom prst="roundRect">
            <a:avLst>
              <a:gd name="adj" fmla="val 4198"/>
            </a:avLst>
          </a:prstGeom>
          <a:solidFill>
            <a:srgbClr val="171722"/>
          </a:solidFill>
          <a:ln w="9525">
            <a:solidFill>
              <a:srgbClr val="2C2C3E"/>
            </a:solidFill>
            <a:prstDash val="solid"/>
          </a:ln>
        </p:spPr>
      </p:sp>
      <p:sp>
        <p:nvSpPr>
          <p:cNvPr id="8" name="Text 5"/>
          <p:cNvSpPr txBox="1"/>
          <p:nvPr/>
        </p:nvSpPr>
        <p:spPr>
          <a:xfrm>
            <a:off x="685800"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37</a:t>
            </a:r>
            <a:endParaRPr lang="en-US" sz="5000" dirty="0"/>
          </a:p>
        </p:txBody>
      </p:sp>
      <p:sp>
        <p:nvSpPr>
          <p:cNvPr id="9" name="Text 6"/>
          <p:cNvSpPr txBox="1"/>
          <p:nvPr/>
        </p:nvSpPr>
        <p:spPr>
          <a:xfrm>
            <a:off x="685800"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verified findings</a:t>
            </a:r>
            <a:endParaRPr lang="en-US" sz="1500" dirty="0"/>
          </a:p>
        </p:txBody>
      </p:sp>
      <p:sp>
        <p:nvSpPr>
          <p:cNvPr id="10" name="Text 7"/>
          <p:cNvSpPr txBox="1"/>
          <p:nvPr/>
        </p:nvSpPr>
        <p:spPr>
          <a:xfrm>
            <a:off x="685800" y="3222955"/>
            <a:ext cx="2156384" cy="612648"/>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Each one confirmed by reading the code or running a check</a:t>
            </a:r>
            <a:endParaRPr lang="en-US" sz="1100" dirty="0"/>
          </a:p>
        </p:txBody>
      </p:sp>
      <p:sp>
        <p:nvSpPr>
          <p:cNvPr id="11" name="Shape 8"/>
          <p:cNvSpPr/>
          <p:nvPr/>
        </p:nvSpPr>
        <p:spPr>
          <a:xfrm>
            <a:off x="3345104" y="1942795"/>
            <a:ext cx="2613584" cy="2743200"/>
          </a:xfrm>
          <a:prstGeom prst="roundRect">
            <a:avLst>
              <a:gd name="adj" fmla="val 4198"/>
            </a:avLst>
          </a:prstGeom>
          <a:solidFill>
            <a:srgbClr val="171722"/>
          </a:solidFill>
          <a:ln w="9525">
            <a:solidFill>
              <a:srgbClr val="2C2C3E"/>
            </a:solidFill>
            <a:prstDash val="solid"/>
          </a:ln>
        </p:spPr>
      </p:sp>
      <p:sp>
        <p:nvSpPr>
          <p:cNvPr id="12" name="Text 9"/>
          <p:cNvSpPr txBox="1"/>
          <p:nvPr/>
        </p:nvSpPr>
        <p:spPr>
          <a:xfrm>
            <a:off x="3573704"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8 + 3</a:t>
            </a:r>
            <a:endParaRPr lang="en-US" sz="5000" dirty="0"/>
          </a:p>
        </p:txBody>
      </p:sp>
      <p:sp>
        <p:nvSpPr>
          <p:cNvPr id="13" name="Text 10"/>
          <p:cNvSpPr txBox="1"/>
          <p:nvPr/>
        </p:nvSpPr>
        <p:spPr>
          <a:xfrm>
            <a:off x="3573704"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fixed + partly fixed</a:t>
            </a:r>
            <a:endParaRPr lang="en-US" sz="1500" dirty="0"/>
          </a:p>
        </p:txBody>
      </p:sp>
      <p:sp>
        <p:nvSpPr>
          <p:cNvPr id="14" name="Text 11"/>
          <p:cNvSpPr txBox="1"/>
          <p:nvPr/>
        </p:nvSpPr>
        <p:spPr>
          <a:xfrm>
            <a:off x="3573704" y="3222955"/>
            <a:ext cx="2156384" cy="612648"/>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26 open: the six sprints close 22 of them and finish all 3 partly fixed</a:t>
            </a:r>
            <a:endParaRPr lang="en-US" sz="1100" dirty="0"/>
          </a:p>
        </p:txBody>
      </p:sp>
      <p:sp>
        <p:nvSpPr>
          <p:cNvPr id="15" name="Shape 12"/>
          <p:cNvSpPr/>
          <p:nvPr/>
        </p:nvSpPr>
        <p:spPr>
          <a:xfrm>
            <a:off x="6233008" y="1942795"/>
            <a:ext cx="2613584" cy="2743200"/>
          </a:xfrm>
          <a:prstGeom prst="roundRect">
            <a:avLst>
              <a:gd name="adj" fmla="val 4198"/>
            </a:avLst>
          </a:prstGeom>
          <a:solidFill>
            <a:srgbClr val="171722"/>
          </a:solidFill>
          <a:ln w="9525">
            <a:solidFill>
              <a:srgbClr val="2C2C3E"/>
            </a:solidFill>
            <a:prstDash val="solid"/>
          </a:ln>
        </p:spPr>
      </p:sp>
      <p:sp>
        <p:nvSpPr>
          <p:cNvPr id="16" name="Text 13"/>
          <p:cNvSpPr txBox="1"/>
          <p:nvPr/>
        </p:nvSpPr>
        <p:spPr>
          <a:xfrm>
            <a:off x="6461608"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15</a:t>
            </a:r>
            <a:endParaRPr lang="en-US" sz="5000" dirty="0"/>
          </a:p>
        </p:txBody>
      </p:sp>
      <p:sp>
        <p:nvSpPr>
          <p:cNvPr id="17" name="Text 14"/>
          <p:cNvSpPr txBox="1"/>
          <p:nvPr/>
        </p:nvSpPr>
        <p:spPr>
          <a:xfrm>
            <a:off x="6461608"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update commits</a:t>
            </a:r>
            <a:endParaRPr lang="en-US" sz="1500" dirty="0"/>
          </a:p>
        </p:txBody>
      </p:sp>
      <p:sp>
        <p:nvSpPr>
          <p:cNvPr id="18" name="Text 15"/>
          <p:cNvSpPr txBox="1"/>
          <p:nvPr/>
        </p:nvSpPr>
        <p:spPr>
          <a:xfrm>
            <a:off x="6461608" y="3222955"/>
            <a:ext cx="2156384" cy="96012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 the review branch, e.g. the Bedrock model swap, the AI-tutor chat-history fix and the Terraform stack refresh</a:t>
            </a:r>
            <a:endParaRPr lang="en-US" sz="1100" dirty="0"/>
          </a:p>
        </p:txBody>
      </p:sp>
      <p:sp>
        <p:nvSpPr>
          <p:cNvPr id="19" name="Shape 16"/>
          <p:cNvSpPr/>
          <p:nvPr/>
        </p:nvSpPr>
        <p:spPr>
          <a:xfrm>
            <a:off x="9120911" y="1942795"/>
            <a:ext cx="2613584" cy="2743200"/>
          </a:xfrm>
          <a:prstGeom prst="roundRect">
            <a:avLst>
              <a:gd name="adj" fmla="val 4198"/>
            </a:avLst>
          </a:prstGeom>
          <a:solidFill>
            <a:srgbClr val="171722"/>
          </a:solidFill>
          <a:ln w="9525">
            <a:solidFill>
              <a:srgbClr val="2C2C3E"/>
            </a:solidFill>
            <a:prstDash val="solid"/>
          </a:ln>
        </p:spPr>
      </p:sp>
      <p:sp>
        <p:nvSpPr>
          <p:cNvPr id="20" name="Text 17"/>
          <p:cNvSpPr txBox="1"/>
          <p:nvPr/>
        </p:nvSpPr>
        <p:spPr>
          <a:xfrm>
            <a:off x="9349511" y="2125675"/>
            <a:ext cx="2156384" cy="77724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16</a:t>
            </a:r>
            <a:endParaRPr lang="en-US" sz="5000" dirty="0"/>
          </a:p>
        </p:txBody>
      </p:sp>
      <p:sp>
        <p:nvSpPr>
          <p:cNvPr id="21" name="Text 18"/>
          <p:cNvSpPr txBox="1"/>
          <p:nvPr/>
        </p:nvSpPr>
        <p:spPr>
          <a:xfrm>
            <a:off x="9349511" y="2902915"/>
            <a:ext cx="2156384"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stack updates</a:t>
            </a:r>
            <a:endParaRPr lang="en-US" sz="1500" dirty="0"/>
          </a:p>
        </p:txBody>
      </p:sp>
      <p:sp>
        <p:nvSpPr>
          <p:cNvPr id="22" name="Text 19"/>
          <p:cNvSpPr txBox="1"/>
          <p:nvPr/>
        </p:nvSpPr>
        <p:spPr>
          <a:xfrm>
            <a:off x="9349511" y="3222955"/>
            <a:ext cx="2156384" cy="105156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Including:</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Tutor 22 (Verawood)</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MySQL 8.4 · Ubuntu 24.04</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Python 3.13 Lambdas</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Claude Sonnet 4.6</a:t>
            </a:r>
            <a:endParaRPr lang="en-US" sz="1100" dirty="0"/>
          </a:p>
          <a:p>
            <a:pPr indent="0" marL="0">
              <a:buNone/>
            </a:pPr>
            <a:r>
              <a:rPr lang="en-US" sz="1100" dirty="0">
                <a:solidFill>
                  <a:srgbClr val="B4B4C8"/>
                </a:solidFill>
                <a:latin typeface="Arial" pitchFamily="34" charset="0"/>
                <a:ea typeface="Arial" pitchFamily="34" charset="-122"/>
                <a:cs typeface="Arial" pitchFamily="34" charset="-120"/>
              </a:rPr>
              <a:t>Pinned Opencast and Presenton</a:t>
            </a:r>
            <a:endParaRPr lang="en-US" sz="1100" dirty="0"/>
          </a:p>
        </p:txBody>
      </p:sp>
      <p:sp>
        <p:nvSpPr>
          <p:cNvPr id="23" name="Shape 20"/>
          <p:cNvSpPr/>
          <p:nvPr/>
        </p:nvSpPr>
        <p:spPr>
          <a:xfrm>
            <a:off x="685800" y="4228795"/>
            <a:ext cx="331396" cy="91440"/>
          </a:xfrm>
          <a:prstGeom prst="rect">
            <a:avLst/>
          </a:prstGeom>
          <a:solidFill>
            <a:srgbClr val="EF4444"/>
          </a:solidFill>
          <a:ln/>
        </p:spPr>
      </p:sp>
      <p:sp>
        <p:nvSpPr>
          <p:cNvPr id="24" name="Shape 21"/>
          <p:cNvSpPr/>
          <p:nvPr/>
        </p:nvSpPr>
        <p:spPr>
          <a:xfrm>
            <a:off x="1035484" y="4228795"/>
            <a:ext cx="1030764" cy="91440"/>
          </a:xfrm>
          <a:prstGeom prst="rect">
            <a:avLst/>
          </a:prstGeom>
          <a:solidFill>
            <a:srgbClr val="F59E0B"/>
          </a:solidFill>
          <a:ln/>
        </p:spPr>
      </p:sp>
      <p:sp>
        <p:nvSpPr>
          <p:cNvPr id="25" name="Shape 22"/>
          <p:cNvSpPr/>
          <p:nvPr/>
        </p:nvSpPr>
        <p:spPr>
          <a:xfrm>
            <a:off x="2084535" y="4228795"/>
            <a:ext cx="739360" cy="91440"/>
          </a:xfrm>
          <a:prstGeom prst="rect">
            <a:avLst/>
          </a:prstGeom>
          <a:solidFill>
            <a:srgbClr val="8E8EA2"/>
          </a:solidFill>
          <a:ln/>
        </p:spPr>
      </p:sp>
      <p:sp>
        <p:nvSpPr>
          <p:cNvPr id="26" name="Text 23"/>
          <p:cNvSpPr txBox="1"/>
          <p:nvPr/>
        </p:nvSpPr>
        <p:spPr>
          <a:xfrm>
            <a:off x="685800" y="4375099"/>
            <a:ext cx="2156384" cy="182880"/>
          </a:xfrm>
          <a:prstGeom prst="rect">
            <a:avLst/>
          </a:prstGeom>
          <a:noFill/>
          <a:ln/>
        </p:spPr>
        <p:txBody>
          <a:bodyPr wrap="square" lIns="0" tIns="0" rIns="0" bIns="0" rtlCol="0" anchor="t"/>
          <a:lstStyle/>
          <a:p>
            <a:pPr indent="0" marL="0">
              <a:buNone/>
            </a:pPr>
            <a:r>
              <a:rPr lang="en-US" sz="900" dirty="0">
                <a:solidFill>
                  <a:srgbClr val="EF4444"/>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6 critical   </a:t>
            </a:r>
            <a:r>
              <a:rPr lang="en-US" sz="900" dirty="0">
                <a:solidFill>
                  <a:srgbClr val="F59E0B"/>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18 high   </a:t>
            </a:r>
            <a:r>
              <a:rPr lang="en-US" sz="900" dirty="0">
                <a:solidFill>
                  <a:srgbClr val="8E8EA2"/>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13 medium</a:t>
            </a:r>
            <a:endParaRPr lang="en-US" sz="900" dirty="0"/>
          </a:p>
        </p:txBody>
      </p:sp>
      <p:sp>
        <p:nvSpPr>
          <p:cNvPr id="27" name="Shape 24"/>
          <p:cNvSpPr/>
          <p:nvPr/>
        </p:nvSpPr>
        <p:spPr>
          <a:xfrm>
            <a:off x="3573704" y="4228795"/>
            <a:ext cx="447957" cy="91440"/>
          </a:xfrm>
          <a:prstGeom prst="rect">
            <a:avLst/>
          </a:prstGeom>
          <a:solidFill>
            <a:srgbClr val="34D399"/>
          </a:solidFill>
          <a:ln/>
        </p:spPr>
      </p:sp>
      <p:sp>
        <p:nvSpPr>
          <p:cNvPr id="28" name="Shape 25"/>
          <p:cNvSpPr/>
          <p:nvPr/>
        </p:nvSpPr>
        <p:spPr>
          <a:xfrm>
            <a:off x="4039949" y="4228795"/>
            <a:ext cx="156554" cy="91440"/>
          </a:xfrm>
          <a:prstGeom prst="rect">
            <a:avLst/>
          </a:prstGeom>
          <a:solidFill>
            <a:srgbClr val="F0C96B"/>
          </a:solidFill>
          <a:ln/>
        </p:spPr>
      </p:sp>
      <p:sp>
        <p:nvSpPr>
          <p:cNvPr id="29" name="Shape 26"/>
          <p:cNvSpPr/>
          <p:nvPr/>
        </p:nvSpPr>
        <p:spPr>
          <a:xfrm>
            <a:off x="4214791" y="4228795"/>
            <a:ext cx="1497009" cy="91440"/>
          </a:xfrm>
          <a:prstGeom prst="rect">
            <a:avLst/>
          </a:prstGeom>
          <a:solidFill>
            <a:srgbClr val="5A5A70"/>
          </a:solidFill>
          <a:ln/>
        </p:spPr>
      </p:sp>
      <p:sp>
        <p:nvSpPr>
          <p:cNvPr id="30" name="Text 27"/>
          <p:cNvSpPr txBox="1"/>
          <p:nvPr/>
        </p:nvSpPr>
        <p:spPr>
          <a:xfrm>
            <a:off x="3573704" y="4375099"/>
            <a:ext cx="2156384" cy="182880"/>
          </a:xfrm>
          <a:prstGeom prst="rect">
            <a:avLst/>
          </a:prstGeom>
          <a:noFill/>
          <a:ln/>
        </p:spPr>
        <p:txBody>
          <a:bodyPr wrap="square" lIns="0" tIns="0" rIns="0" bIns="0" rtlCol="0" anchor="t"/>
          <a:lstStyle/>
          <a:p>
            <a:pPr indent="0" marL="0">
              <a:buNone/>
            </a:pPr>
            <a:r>
              <a:rPr lang="en-US" sz="900" dirty="0">
                <a:solidFill>
                  <a:srgbClr val="34D399"/>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8 fixed   </a:t>
            </a:r>
            <a:r>
              <a:rPr lang="en-US" sz="900" dirty="0">
                <a:solidFill>
                  <a:srgbClr val="F0C96B"/>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3 partly   </a:t>
            </a:r>
            <a:r>
              <a:rPr lang="en-US" sz="900" dirty="0">
                <a:solidFill>
                  <a:srgbClr val="5A5A70"/>
                </a:solidFill>
                <a:latin typeface="Arial" pitchFamily="34" charset="0"/>
                <a:ea typeface="Arial" pitchFamily="34" charset="-122"/>
                <a:cs typeface="Arial" pitchFamily="34" charset="-120"/>
              </a:rPr>
              <a:t>● </a:t>
            </a:r>
            <a:r>
              <a:rPr lang="en-US" sz="900" dirty="0">
                <a:solidFill>
                  <a:srgbClr val="8E8EA2"/>
                </a:solidFill>
                <a:latin typeface="Arial" pitchFamily="34" charset="0"/>
                <a:ea typeface="Arial" pitchFamily="34" charset="-122"/>
                <a:cs typeface="Arial" pitchFamily="34" charset="-120"/>
              </a:rPr>
              <a:t>26 open</a:t>
            </a:r>
            <a:endParaRPr lang="en-US" sz="900" dirty="0"/>
          </a:p>
        </p:txBody>
      </p:sp>
      <p:sp>
        <p:nvSpPr>
          <p:cNvPr id="31" name="Text 28"/>
          <p:cNvSpPr txBox="1"/>
          <p:nvPr/>
        </p:nvSpPr>
        <p:spPr>
          <a:xfrm>
            <a:off x="457200" y="5143195"/>
            <a:ext cx="2613584"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live yet:</a:t>
            </a:r>
            <a:r>
              <a:rPr lang="en-US" sz="1400" dirty="0">
                <a:solidFill>
                  <a:srgbClr val="E8E8F0"/>
                </a:solidFill>
                <a:latin typeface="Arial" pitchFamily="34" charset="0"/>
                <a:ea typeface="Arial" pitchFamily="34" charset="-122"/>
                <a:cs typeface="Arial" pitchFamily="34" charset="-120"/>
              </a:rPr>
              <a:t> all feature code is written; the platform isn't deployed</a:t>
            </a:r>
            <a:endParaRPr lang="en-US" sz="1400" dirty="0"/>
          </a:p>
        </p:txBody>
      </p:sp>
      <p:sp>
        <p:nvSpPr>
          <p:cNvPr id="32" name="Text 29"/>
          <p:cNvSpPr txBox="1"/>
          <p:nvPr/>
        </p:nvSpPr>
        <p:spPr>
          <a:xfrm>
            <a:off x="3345104" y="5143195"/>
            <a:ext cx="5501488"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What the screens are:</a:t>
            </a:r>
            <a:r>
              <a:rPr lang="en-US" sz="1400" dirty="0">
                <a:solidFill>
                  <a:srgbClr val="E8E8F0"/>
                </a:solidFill>
                <a:latin typeface="Arial" pitchFamily="34" charset="0"/>
                <a:ea typeface="Arial" pitchFamily="34" charset="-122"/>
                <a:cs typeface="Arial" pitchFamily="34" charset="-120"/>
              </a:rPr>
              <a:t> real Open edX that ran, real Chronopoli templates in a test harness, design prototypes for pages still to be built, real Opencast and Discourse</a:t>
            </a:r>
            <a:endParaRPr lang="en-US" sz="1400" dirty="0"/>
          </a:p>
        </p:txBody>
      </p:sp>
      <p:sp>
        <p:nvSpPr>
          <p:cNvPr id="33" name="Text 30"/>
          <p:cNvSpPr txBox="1"/>
          <p:nvPr/>
        </p:nvSpPr>
        <p:spPr>
          <a:xfrm>
            <a:off x="9120911" y="5143195"/>
            <a:ext cx="2613584"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Biggest blocker:</a:t>
            </a:r>
            <a:r>
              <a:rPr lang="en-US" sz="1400" dirty="0">
                <a:solidFill>
                  <a:srgbClr val="E8E8F0"/>
                </a:solidFill>
                <a:latin typeface="Arial" pitchFamily="34" charset="0"/>
                <a:ea typeface="Arial" pitchFamily="34" charset="-122"/>
                <a:cs typeface="Arial" pitchFamily="34" charset="-120"/>
              </a:rPr>
              <a:t> packaging the apps as edx-platform plugins (R-1, R-2)</a:t>
            </a:r>
            <a:endParaRPr lang="en-US" sz="1400" dirty="0"/>
          </a:p>
        </p:txBody>
      </p:sp>
      <p:sp>
        <p:nvSpPr>
          <p:cNvPr id="34" name="Text 3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4042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0267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GO-LIVE PLAN · ORDER OF WORK, NOT DATES</a:t>
            </a:r>
            <a:endParaRPr lang="en-US" sz="900" dirty="0"/>
          </a:p>
        </p:txBody>
      </p:sp>
      <p:sp>
        <p:nvSpPr>
          <p:cNvPr id="5" name="Text 2"/>
          <p:cNvSpPr txBox="1"/>
          <p:nvPr/>
        </p:nvSpPr>
        <p:spPr>
          <a:xfrm>
            <a:off x="4271940" y="384048"/>
            <a:ext cx="7462556"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Chips: review findings · gold = partly fixed, finished in that sprint</a:t>
            </a:r>
            <a:endParaRPr lang="en-US" sz="1050" dirty="0"/>
          </a:p>
        </p:txBody>
      </p:sp>
      <p:sp>
        <p:nvSpPr>
          <p:cNvPr id="6" name="Text 3"/>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Road to go-live: six sprints</a:t>
            </a:r>
            <a:endParaRPr lang="en-US" sz="3600" dirty="0"/>
          </a:p>
        </p:txBody>
      </p:sp>
      <p:sp>
        <p:nvSpPr>
          <p:cNvPr id="7" name="Text 4"/>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sprint closes a named set of review findings, then terraform apply and the first partner academy</a:t>
            </a:r>
            <a:endParaRPr lang="en-US" sz="1600" dirty="0"/>
          </a:p>
        </p:txBody>
      </p:sp>
      <p:sp>
        <p:nvSpPr>
          <p:cNvPr id="8" name="Shape 5"/>
          <p:cNvSpPr/>
          <p:nvPr/>
        </p:nvSpPr>
        <p:spPr>
          <a:xfrm>
            <a:off x="685800" y="2171395"/>
            <a:ext cx="9397746" cy="0"/>
          </a:xfrm>
          <a:prstGeom prst="line">
            <a:avLst/>
          </a:prstGeom>
          <a:noFill/>
          <a:ln w="15875">
            <a:solidFill>
              <a:srgbClr val="9B7A2E"/>
            </a:solidFill>
            <a:prstDash val="solid"/>
          </a:ln>
        </p:spPr>
      </p:sp>
      <p:sp>
        <p:nvSpPr>
          <p:cNvPr id="9" name="Shape 6"/>
          <p:cNvSpPr/>
          <p:nvPr/>
        </p:nvSpPr>
        <p:spPr>
          <a:xfrm>
            <a:off x="457200" y="1942795"/>
            <a:ext cx="457200" cy="457200"/>
          </a:xfrm>
          <a:prstGeom prst="ellipse">
            <a:avLst/>
          </a:prstGeom>
          <a:solidFill>
            <a:srgbClr val="1E1A10"/>
          </a:solidFill>
          <a:ln w="15875">
            <a:solidFill>
              <a:srgbClr val="C9A84C"/>
            </a:solidFill>
            <a:prstDash val="solid"/>
          </a:ln>
        </p:spPr>
      </p:sp>
      <p:sp>
        <p:nvSpPr>
          <p:cNvPr id="10" name="Text 7"/>
          <p:cNvSpPr txBox="1"/>
          <p:nvPr/>
        </p:nvSpPr>
        <p:spPr>
          <a:xfrm>
            <a:off x="457200"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457200"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Boot</a:t>
            </a:r>
            <a:endParaRPr lang="en-US" sz="1600" dirty="0"/>
          </a:p>
        </p:txBody>
      </p:sp>
      <p:sp>
        <p:nvSpPr>
          <p:cNvPr id="12" name="Text 9"/>
          <p:cNvSpPr txBox="1"/>
          <p:nvPr/>
        </p:nvSpPr>
        <p:spPr>
          <a:xfrm>
            <a:off x="457200"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Package the apps as edx-platform plugins; fix routing, templates and init</a:t>
            </a:r>
            <a:endParaRPr lang="en-US" sz="1200" dirty="0"/>
          </a:p>
        </p:txBody>
      </p:sp>
      <p:sp>
        <p:nvSpPr>
          <p:cNvPr id="13" name="Shape 10"/>
          <p:cNvSpPr/>
          <p:nvPr/>
        </p:nvSpPr>
        <p:spPr>
          <a:xfrm>
            <a:off x="457200" y="3917899"/>
            <a:ext cx="367063" cy="201168"/>
          </a:xfrm>
          <a:prstGeom prst="roundRect">
            <a:avLst>
              <a:gd name="adj" fmla="val 50000"/>
            </a:avLst>
          </a:prstGeom>
          <a:solidFill>
            <a:srgbClr val="1B1B27"/>
          </a:solidFill>
          <a:ln w="9525">
            <a:solidFill>
              <a:srgbClr val="3A3A50"/>
            </a:solidFill>
            <a:prstDash val="solid"/>
          </a:ln>
        </p:spPr>
      </p:sp>
      <p:sp>
        <p:nvSpPr>
          <p:cNvPr id="14" name="Text 11"/>
          <p:cNvSpPr txBox="1"/>
          <p:nvPr/>
        </p:nvSpPr>
        <p:spPr>
          <a:xfrm>
            <a:off x="457200"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a:t>
            </a:r>
            <a:endParaRPr lang="en-US" sz="900" dirty="0"/>
          </a:p>
        </p:txBody>
      </p:sp>
      <p:sp>
        <p:nvSpPr>
          <p:cNvPr id="15" name="Shape 12"/>
          <p:cNvSpPr/>
          <p:nvPr/>
        </p:nvSpPr>
        <p:spPr>
          <a:xfrm>
            <a:off x="879127" y="3917899"/>
            <a:ext cx="367063" cy="201168"/>
          </a:xfrm>
          <a:prstGeom prst="roundRect">
            <a:avLst>
              <a:gd name="adj" fmla="val 50000"/>
            </a:avLst>
          </a:prstGeom>
          <a:solidFill>
            <a:srgbClr val="1B1B27"/>
          </a:solidFill>
          <a:ln w="9525">
            <a:solidFill>
              <a:srgbClr val="3A3A50"/>
            </a:solidFill>
            <a:prstDash val="solid"/>
          </a:ln>
        </p:spPr>
      </p:sp>
      <p:sp>
        <p:nvSpPr>
          <p:cNvPr id="16" name="Text 13"/>
          <p:cNvSpPr txBox="1"/>
          <p:nvPr/>
        </p:nvSpPr>
        <p:spPr>
          <a:xfrm>
            <a:off x="879127"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a:t>
            </a:r>
            <a:endParaRPr lang="en-US" sz="900" dirty="0"/>
          </a:p>
        </p:txBody>
      </p:sp>
      <p:sp>
        <p:nvSpPr>
          <p:cNvPr id="17" name="Shape 14"/>
          <p:cNvSpPr/>
          <p:nvPr/>
        </p:nvSpPr>
        <p:spPr>
          <a:xfrm>
            <a:off x="1301054" y="3917899"/>
            <a:ext cx="367063" cy="201168"/>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1301054"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R-9</a:t>
            </a:r>
            <a:endParaRPr lang="en-US" sz="900" dirty="0"/>
          </a:p>
        </p:txBody>
      </p:sp>
      <p:sp>
        <p:nvSpPr>
          <p:cNvPr id="19" name="Shape 16"/>
          <p:cNvSpPr/>
          <p:nvPr/>
        </p:nvSpPr>
        <p:spPr>
          <a:xfrm>
            <a:off x="457200" y="4173931"/>
            <a:ext cx="430637" cy="201168"/>
          </a:xfrm>
          <a:prstGeom prst="roundRect">
            <a:avLst>
              <a:gd name="adj" fmla="val 50000"/>
            </a:avLst>
          </a:prstGeom>
          <a:solidFill>
            <a:srgbClr val="1B1B27"/>
          </a:solidFill>
          <a:ln w="9525">
            <a:solidFill>
              <a:srgbClr val="3A3A50"/>
            </a:solidFill>
            <a:prstDash val="solid"/>
          </a:ln>
        </p:spPr>
      </p:sp>
      <p:sp>
        <p:nvSpPr>
          <p:cNvPr id="20" name="Text 17"/>
          <p:cNvSpPr txBox="1"/>
          <p:nvPr/>
        </p:nvSpPr>
        <p:spPr>
          <a:xfrm>
            <a:off x="457200"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R-10</a:t>
            </a:r>
            <a:endParaRPr lang="en-US" sz="900" dirty="0"/>
          </a:p>
        </p:txBody>
      </p:sp>
      <p:sp>
        <p:nvSpPr>
          <p:cNvPr id="21" name="Shape 18"/>
          <p:cNvSpPr/>
          <p:nvPr/>
        </p:nvSpPr>
        <p:spPr>
          <a:xfrm>
            <a:off x="942701" y="4173931"/>
            <a:ext cx="430637" cy="201168"/>
          </a:xfrm>
          <a:prstGeom prst="roundRect">
            <a:avLst>
              <a:gd name="adj" fmla="val 50000"/>
            </a:avLst>
          </a:prstGeom>
          <a:solidFill>
            <a:srgbClr val="1B1B27"/>
          </a:solidFill>
          <a:ln w="9525">
            <a:solidFill>
              <a:srgbClr val="3A3A50"/>
            </a:solidFill>
            <a:prstDash val="solid"/>
          </a:ln>
        </p:spPr>
      </p:sp>
      <p:sp>
        <p:nvSpPr>
          <p:cNvPr id="22" name="Text 19"/>
          <p:cNvSpPr txBox="1"/>
          <p:nvPr/>
        </p:nvSpPr>
        <p:spPr>
          <a:xfrm>
            <a:off x="942701"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R-31</a:t>
            </a:r>
            <a:endParaRPr lang="en-US" sz="900" dirty="0"/>
          </a:p>
        </p:txBody>
      </p:sp>
      <p:sp>
        <p:nvSpPr>
          <p:cNvPr id="23" name="Shape 20"/>
          <p:cNvSpPr/>
          <p:nvPr/>
        </p:nvSpPr>
        <p:spPr>
          <a:xfrm>
            <a:off x="2336749" y="1942795"/>
            <a:ext cx="457200" cy="457200"/>
          </a:xfrm>
          <a:prstGeom prst="ellipse">
            <a:avLst/>
          </a:prstGeom>
          <a:solidFill>
            <a:srgbClr val="1E1A10"/>
          </a:solidFill>
          <a:ln w="15875">
            <a:solidFill>
              <a:srgbClr val="C9A84C"/>
            </a:solidFill>
            <a:prstDash val="solid"/>
          </a:ln>
        </p:spPr>
      </p:sp>
      <p:sp>
        <p:nvSpPr>
          <p:cNvPr id="24" name="Text 21"/>
          <p:cNvSpPr txBox="1"/>
          <p:nvPr/>
        </p:nvSpPr>
        <p:spPr>
          <a:xfrm>
            <a:off x="2336749"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25" name="Text 22"/>
          <p:cNvSpPr txBox="1"/>
          <p:nvPr/>
        </p:nvSpPr>
        <p:spPr>
          <a:xfrm>
            <a:off x="2336749"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Secure</a:t>
            </a:r>
            <a:endParaRPr lang="en-US" sz="1600" dirty="0"/>
          </a:p>
        </p:txBody>
      </p:sp>
      <p:sp>
        <p:nvSpPr>
          <p:cNvPr id="26" name="Text 23"/>
          <p:cNvSpPr txBox="1"/>
          <p:nvPr/>
        </p:nvSpPr>
        <p:spPr>
          <a:xfrm>
            <a:off x="2336749"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Private media and exports, least-privilege IAM, partner access model, consent</a:t>
            </a:r>
            <a:endParaRPr lang="en-US" sz="1200" dirty="0"/>
          </a:p>
        </p:txBody>
      </p:sp>
      <p:sp>
        <p:nvSpPr>
          <p:cNvPr id="27" name="Shape 24"/>
          <p:cNvSpPr/>
          <p:nvPr/>
        </p:nvSpPr>
        <p:spPr>
          <a:xfrm>
            <a:off x="2336749" y="3917899"/>
            <a:ext cx="367063" cy="201168"/>
          </a:xfrm>
          <a:prstGeom prst="roundRect">
            <a:avLst>
              <a:gd name="adj" fmla="val 50000"/>
            </a:avLst>
          </a:prstGeom>
          <a:solidFill>
            <a:srgbClr val="1B1B27"/>
          </a:solidFill>
          <a:ln w="9525">
            <a:solidFill>
              <a:srgbClr val="3A3A50"/>
            </a:solidFill>
            <a:prstDash val="solid"/>
          </a:ln>
        </p:spPr>
      </p:sp>
      <p:sp>
        <p:nvSpPr>
          <p:cNvPr id="28" name="Text 25"/>
          <p:cNvSpPr txBox="1"/>
          <p:nvPr/>
        </p:nvSpPr>
        <p:spPr>
          <a:xfrm>
            <a:off x="2336749"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R-6</a:t>
            </a:r>
            <a:endParaRPr lang="en-US" sz="900" dirty="0"/>
          </a:p>
        </p:txBody>
      </p:sp>
      <p:sp>
        <p:nvSpPr>
          <p:cNvPr id="29" name="Shape 26"/>
          <p:cNvSpPr/>
          <p:nvPr/>
        </p:nvSpPr>
        <p:spPr>
          <a:xfrm>
            <a:off x="2758676" y="3917899"/>
            <a:ext cx="430637" cy="201168"/>
          </a:xfrm>
          <a:prstGeom prst="roundRect">
            <a:avLst>
              <a:gd name="adj" fmla="val 50000"/>
            </a:avLst>
          </a:prstGeom>
          <a:solidFill>
            <a:srgbClr val="1B1B27"/>
          </a:solidFill>
          <a:ln w="9525">
            <a:solidFill>
              <a:srgbClr val="3A3A50"/>
            </a:solidFill>
            <a:prstDash val="solid"/>
          </a:ln>
        </p:spPr>
      </p:sp>
      <p:sp>
        <p:nvSpPr>
          <p:cNvPr id="30" name="Text 27"/>
          <p:cNvSpPr txBox="1"/>
          <p:nvPr/>
        </p:nvSpPr>
        <p:spPr>
          <a:xfrm>
            <a:off x="2758676"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R-17</a:t>
            </a:r>
            <a:endParaRPr lang="en-US" sz="900" dirty="0"/>
          </a:p>
        </p:txBody>
      </p:sp>
      <p:sp>
        <p:nvSpPr>
          <p:cNvPr id="31" name="Shape 28"/>
          <p:cNvSpPr/>
          <p:nvPr/>
        </p:nvSpPr>
        <p:spPr>
          <a:xfrm>
            <a:off x="3244177" y="3917899"/>
            <a:ext cx="430637" cy="201168"/>
          </a:xfrm>
          <a:prstGeom prst="roundRect">
            <a:avLst>
              <a:gd name="adj" fmla="val 50000"/>
            </a:avLst>
          </a:prstGeom>
          <a:solidFill>
            <a:srgbClr val="1E1A10"/>
          </a:solidFill>
          <a:ln w="9525">
            <a:solidFill>
              <a:srgbClr val="C9A84C"/>
            </a:solidFill>
            <a:prstDash val="solid"/>
          </a:ln>
        </p:spPr>
      </p:sp>
      <p:sp>
        <p:nvSpPr>
          <p:cNvPr id="32" name="Text 29"/>
          <p:cNvSpPr txBox="1"/>
          <p:nvPr/>
        </p:nvSpPr>
        <p:spPr>
          <a:xfrm>
            <a:off x="3244177"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R-25</a:t>
            </a:r>
            <a:endParaRPr lang="en-US" sz="900" dirty="0"/>
          </a:p>
        </p:txBody>
      </p:sp>
      <p:sp>
        <p:nvSpPr>
          <p:cNvPr id="33" name="Shape 30"/>
          <p:cNvSpPr/>
          <p:nvPr/>
        </p:nvSpPr>
        <p:spPr>
          <a:xfrm>
            <a:off x="2336749" y="4173931"/>
            <a:ext cx="430637" cy="201168"/>
          </a:xfrm>
          <a:prstGeom prst="roundRect">
            <a:avLst>
              <a:gd name="adj" fmla="val 50000"/>
            </a:avLst>
          </a:prstGeom>
          <a:solidFill>
            <a:srgbClr val="1B1B27"/>
          </a:solidFill>
          <a:ln w="9525">
            <a:solidFill>
              <a:srgbClr val="3A3A50"/>
            </a:solidFill>
            <a:prstDash val="solid"/>
          </a:ln>
        </p:spPr>
      </p:sp>
      <p:sp>
        <p:nvSpPr>
          <p:cNvPr id="34" name="Text 31"/>
          <p:cNvSpPr txBox="1"/>
          <p:nvPr/>
        </p:nvSpPr>
        <p:spPr>
          <a:xfrm>
            <a:off x="2336749"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R-26</a:t>
            </a:r>
            <a:endParaRPr lang="en-US" sz="900" dirty="0"/>
          </a:p>
        </p:txBody>
      </p:sp>
      <p:sp>
        <p:nvSpPr>
          <p:cNvPr id="35" name="Shape 32"/>
          <p:cNvSpPr/>
          <p:nvPr/>
        </p:nvSpPr>
        <p:spPr>
          <a:xfrm>
            <a:off x="2822250" y="4173931"/>
            <a:ext cx="430637" cy="201168"/>
          </a:xfrm>
          <a:prstGeom prst="roundRect">
            <a:avLst>
              <a:gd name="adj" fmla="val 50000"/>
            </a:avLst>
          </a:prstGeom>
          <a:solidFill>
            <a:srgbClr val="1B1B27"/>
          </a:solidFill>
          <a:ln w="9525">
            <a:solidFill>
              <a:srgbClr val="3A3A50"/>
            </a:solidFill>
            <a:prstDash val="solid"/>
          </a:ln>
        </p:spPr>
      </p:sp>
      <p:sp>
        <p:nvSpPr>
          <p:cNvPr id="36" name="Text 33"/>
          <p:cNvSpPr txBox="1"/>
          <p:nvPr/>
        </p:nvSpPr>
        <p:spPr>
          <a:xfrm>
            <a:off x="2822250"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R-29</a:t>
            </a:r>
            <a:endParaRPr lang="en-US" sz="900" dirty="0"/>
          </a:p>
        </p:txBody>
      </p:sp>
      <p:sp>
        <p:nvSpPr>
          <p:cNvPr id="37" name="Shape 34"/>
          <p:cNvSpPr/>
          <p:nvPr/>
        </p:nvSpPr>
        <p:spPr>
          <a:xfrm>
            <a:off x="3307751" y="4173931"/>
            <a:ext cx="430637" cy="201168"/>
          </a:xfrm>
          <a:prstGeom prst="roundRect">
            <a:avLst>
              <a:gd name="adj" fmla="val 50000"/>
            </a:avLst>
          </a:prstGeom>
          <a:solidFill>
            <a:srgbClr val="1B1B27"/>
          </a:solidFill>
          <a:ln w="9525">
            <a:solidFill>
              <a:srgbClr val="3A3A50"/>
            </a:solidFill>
            <a:prstDash val="solid"/>
          </a:ln>
        </p:spPr>
      </p:sp>
      <p:sp>
        <p:nvSpPr>
          <p:cNvPr id="38" name="Text 35"/>
          <p:cNvSpPr txBox="1"/>
          <p:nvPr/>
        </p:nvSpPr>
        <p:spPr>
          <a:xfrm>
            <a:off x="3307751"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R-37</a:t>
            </a:r>
            <a:endParaRPr lang="en-US" sz="900" dirty="0"/>
          </a:p>
        </p:txBody>
      </p:sp>
      <p:sp>
        <p:nvSpPr>
          <p:cNvPr id="39" name="Shape 36"/>
          <p:cNvSpPr/>
          <p:nvPr/>
        </p:nvSpPr>
        <p:spPr>
          <a:xfrm>
            <a:off x="4216298" y="1942795"/>
            <a:ext cx="457200" cy="457200"/>
          </a:xfrm>
          <a:prstGeom prst="ellipse">
            <a:avLst/>
          </a:prstGeom>
          <a:solidFill>
            <a:srgbClr val="1E1A10"/>
          </a:solidFill>
          <a:ln w="15875">
            <a:solidFill>
              <a:srgbClr val="C9A84C"/>
            </a:solidFill>
            <a:prstDash val="solid"/>
          </a:ln>
        </p:spPr>
      </p:sp>
      <p:sp>
        <p:nvSpPr>
          <p:cNvPr id="40" name="Text 37"/>
          <p:cNvSpPr txBox="1"/>
          <p:nvPr/>
        </p:nvSpPr>
        <p:spPr>
          <a:xfrm>
            <a:off x="4216298"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41" name="Text 38"/>
          <p:cNvSpPr txBox="1"/>
          <p:nvPr/>
        </p:nvSpPr>
        <p:spPr>
          <a:xfrm>
            <a:off x="4216298"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Commerce</a:t>
            </a:r>
            <a:endParaRPr lang="en-US" sz="1600" dirty="0"/>
          </a:p>
        </p:txBody>
      </p:sp>
      <p:sp>
        <p:nvSpPr>
          <p:cNvPr id="42" name="Text 39"/>
          <p:cNvSpPr txBox="1"/>
          <p:nvPr/>
        </p:nvSpPr>
        <p:spPr>
          <a:xfrm>
            <a:off x="4216298"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Paid course modes, refunds, payout status, webhook hardening</a:t>
            </a:r>
            <a:endParaRPr lang="en-US" sz="1200" dirty="0"/>
          </a:p>
        </p:txBody>
      </p:sp>
      <p:sp>
        <p:nvSpPr>
          <p:cNvPr id="43" name="Shape 40"/>
          <p:cNvSpPr/>
          <p:nvPr/>
        </p:nvSpPr>
        <p:spPr>
          <a:xfrm>
            <a:off x="4216298" y="3917899"/>
            <a:ext cx="430637" cy="201168"/>
          </a:xfrm>
          <a:prstGeom prst="roundRect">
            <a:avLst>
              <a:gd name="adj" fmla="val 50000"/>
            </a:avLst>
          </a:prstGeom>
          <a:solidFill>
            <a:srgbClr val="1B1B27"/>
          </a:solidFill>
          <a:ln w="9525">
            <a:solidFill>
              <a:srgbClr val="3A3A50"/>
            </a:solidFill>
            <a:prstDash val="solid"/>
          </a:ln>
        </p:spPr>
      </p:sp>
      <p:sp>
        <p:nvSpPr>
          <p:cNvPr id="44" name="Text 41"/>
          <p:cNvSpPr txBox="1"/>
          <p:nvPr/>
        </p:nvSpPr>
        <p:spPr>
          <a:xfrm>
            <a:off x="4216298"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R-12</a:t>
            </a:r>
            <a:endParaRPr lang="en-US" sz="900" dirty="0"/>
          </a:p>
        </p:txBody>
      </p:sp>
      <p:sp>
        <p:nvSpPr>
          <p:cNvPr id="45" name="Shape 42"/>
          <p:cNvSpPr/>
          <p:nvPr/>
        </p:nvSpPr>
        <p:spPr>
          <a:xfrm>
            <a:off x="4701799" y="3917899"/>
            <a:ext cx="430637" cy="201168"/>
          </a:xfrm>
          <a:prstGeom prst="roundRect">
            <a:avLst>
              <a:gd name="adj" fmla="val 50000"/>
            </a:avLst>
          </a:prstGeom>
          <a:solidFill>
            <a:srgbClr val="1E1A10"/>
          </a:solidFill>
          <a:ln w="9525">
            <a:solidFill>
              <a:srgbClr val="C9A84C"/>
            </a:solidFill>
            <a:prstDash val="solid"/>
          </a:ln>
        </p:spPr>
      </p:sp>
      <p:sp>
        <p:nvSpPr>
          <p:cNvPr id="46" name="Text 43"/>
          <p:cNvSpPr txBox="1"/>
          <p:nvPr/>
        </p:nvSpPr>
        <p:spPr>
          <a:xfrm>
            <a:off x="4701799"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R-13</a:t>
            </a:r>
            <a:endParaRPr lang="en-US" sz="900" dirty="0"/>
          </a:p>
        </p:txBody>
      </p:sp>
      <p:sp>
        <p:nvSpPr>
          <p:cNvPr id="47" name="Shape 44"/>
          <p:cNvSpPr/>
          <p:nvPr/>
        </p:nvSpPr>
        <p:spPr>
          <a:xfrm>
            <a:off x="5187300" y="3917899"/>
            <a:ext cx="430637" cy="201168"/>
          </a:xfrm>
          <a:prstGeom prst="roundRect">
            <a:avLst>
              <a:gd name="adj" fmla="val 50000"/>
            </a:avLst>
          </a:prstGeom>
          <a:solidFill>
            <a:srgbClr val="1E1A10"/>
          </a:solidFill>
          <a:ln w="9525">
            <a:solidFill>
              <a:srgbClr val="C9A84C"/>
            </a:solidFill>
            <a:prstDash val="solid"/>
          </a:ln>
        </p:spPr>
      </p:sp>
      <p:sp>
        <p:nvSpPr>
          <p:cNvPr id="48" name="Text 45"/>
          <p:cNvSpPr txBox="1"/>
          <p:nvPr/>
        </p:nvSpPr>
        <p:spPr>
          <a:xfrm>
            <a:off x="5187300" y="3917899"/>
            <a:ext cx="430637" cy="201168"/>
          </a:xfrm>
          <a:prstGeom prst="rect">
            <a:avLst/>
          </a:prstGeom>
          <a:noFill/>
          <a:ln/>
        </p:spPr>
        <p:txBody>
          <a:bodyPr wrap="square" lIns="0" tIns="0" rIns="0" bIns="0" rtlCol="0" anchor="ctr"/>
          <a:lstStyle/>
          <a:p>
            <a:pPr algn="ctr" indent="0" marL="0">
              <a:buNone/>
            </a:pPr>
            <a:r>
              <a:rPr lang="en-US" sz="900" b="1" dirty="0">
                <a:solidFill>
                  <a:srgbClr val="F0C96B"/>
                </a:solidFill>
                <a:latin typeface="Arial" pitchFamily="34" charset="0"/>
                <a:ea typeface="Arial" pitchFamily="34" charset="-122"/>
                <a:cs typeface="Arial" pitchFamily="34" charset="-120"/>
              </a:rPr>
              <a:t>R-14</a:t>
            </a:r>
            <a:endParaRPr lang="en-US" sz="900" dirty="0"/>
          </a:p>
        </p:txBody>
      </p:sp>
      <p:sp>
        <p:nvSpPr>
          <p:cNvPr id="49" name="Shape 46"/>
          <p:cNvSpPr/>
          <p:nvPr/>
        </p:nvSpPr>
        <p:spPr>
          <a:xfrm>
            <a:off x="6095848" y="1942795"/>
            <a:ext cx="457200" cy="457200"/>
          </a:xfrm>
          <a:prstGeom prst="ellipse">
            <a:avLst/>
          </a:prstGeom>
          <a:solidFill>
            <a:srgbClr val="1E1A10"/>
          </a:solidFill>
          <a:ln w="15875">
            <a:solidFill>
              <a:srgbClr val="C9A84C"/>
            </a:solidFill>
            <a:prstDash val="solid"/>
          </a:ln>
        </p:spPr>
      </p:sp>
      <p:sp>
        <p:nvSpPr>
          <p:cNvPr id="50" name="Text 47"/>
          <p:cNvSpPr txBox="1"/>
          <p:nvPr/>
        </p:nvSpPr>
        <p:spPr>
          <a:xfrm>
            <a:off x="6095848"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51" name="Text 48"/>
          <p:cNvSpPr txBox="1"/>
          <p:nvPr/>
        </p:nvSpPr>
        <p:spPr>
          <a:xfrm>
            <a:off x="6095848"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Pipeline</a:t>
            </a:r>
            <a:endParaRPr lang="en-US" sz="1600" dirty="0"/>
          </a:p>
        </p:txBody>
      </p:sp>
      <p:sp>
        <p:nvSpPr>
          <p:cNvPr id="52" name="Text 49"/>
          <p:cNvSpPr txBox="1"/>
          <p:nvPr/>
        </p:nvSpPr>
        <p:spPr>
          <a:xfrm>
            <a:off x="6095848"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IVS recording, event mapping, task tokens, container Lambda for PDFs</a:t>
            </a:r>
            <a:endParaRPr lang="en-US" sz="1200" dirty="0"/>
          </a:p>
        </p:txBody>
      </p:sp>
      <p:sp>
        <p:nvSpPr>
          <p:cNvPr id="53" name="Shape 50"/>
          <p:cNvSpPr/>
          <p:nvPr/>
        </p:nvSpPr>
        <p:spPr>
          <a:xfrm>
            <a:off x="6095848" y="3917899"/>
            <a:ext cx="367063" cy="201168"/>
          </a:xfrm>
          <a:prstGeom prst="roundRect">
            <a:avLst>
              <a:gd name="adj" fmla="val 50000"/>
            </a:avLst>
          </a:prstGeom>
          <a:solidFill>
            <a:srgbClr val="1B1B27"/>
          </a:solidFill>
          <a:ln w="9525">
            <a:solidFill>
              <a:srgbClr val="3A3A50"/>
            </a:solidFill>
            <a:prstDash val="solid"/>
          </a:ln>
        </p:spPr>
      </p:sp>
      <p:sp>
        <p:nvSpPr>
          <p:cNvPr id="54" name="Text 51"/>
          <p:cNvSpPr txBox="1"/>
          <p:nvPr/>
        </p:nvSpPr>
        <p:spPr>
          <a:xfrm>
            <a:off x="6095848"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R-4</a:t>
            </a:r>
            <a:endParaRPr lang="en-US" sz="900" dirty="0"/>
          </a:p>
        </p:txBody>
      </p:sp>
      <p:sp>
        <p:nvSpPr>
          <p:cNvPr id="55" name="Shape 52"/>
          <p:cNvSpPr/>
          <p:nvPr/>
        </p:nvSpPr>
        <p:spPr>
          <a:xfrm>
            <a:off x="6517775" y="3917899"/>
            <a:ext cx="367063" cy="201168"/>
          </a:xfrm>
          <a:prstGeom prst="roundRect">
            <a:avLst>
              <a:gd name="adj" fmla="val 50000"/>
            </a:avLst>
          </a:prstGeom>
          <a:solidFill>
            <a:srgbClr val="1B1B27"/>
          </a:solidFill>
          <a:ln w="9525">
            <a:solidFill>
              <a:srgbClr val="3A3A50"/>
            </a:solidFill>
            <a:prstDash val="solid"/>
          </a:ln>
        </p:spPr>
      </p:sp>
      <p:sp>
        <p:nvSpPr>
          <p:cNvPr id="56" name="Text 53"/>
          <p:cNvSpPr txBox="1"/>
          <p:nvPr/>
        </p:nvSpPr>
        <p:spPr>
          <a:xfrm>
            <a:off x="6517775" y="3917899"/>
            <a:ext cx="367063"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R-5</a:t>
            </a:r>
            <a:endParaRPr lang="en-US" sz="900" dirty="0"/>
          </a:p>
        </p:txBody>
      </p:sp>
      <p:sp>
        <p:nvSpPr>
          <p:cNvPr id="57" name="Shape 54"/>
          <p:cNvSpPr/>
          <p:nvPr/>
        </p:nvSpPr>
        <p:spPr>
          <a:xfrm>
            <a:off x="6939702" y="3917899"/>
            <a:ext cx="430637" cy="201168"/>
          </a:xfrm>
          <a:prstGeom prst="roundRect">
            <a:avLst>
              <a:gd name="adj" fmla="val 50000"/>
            </a:avLst>
          </a:prstGeom>
          <a:solidFill>
            <a:srgbClr val="1B1B27"/>
          </a:solidFill>
          <a:ln w="9525">
            <a:solidFill>
              <a:srgbClr val="3A3A50"/>
            </a:solidFill>
            <a:prstDash val="solid"/>
          </a:ln>
        </p:spPr>
      </p:sp>
      <p:sp>
        <p:nvSpPr>
          <p:cNvPr id="58" name="Text 55"/>
          <p:cNvSpPr txBox="1"/>
          <p:nvPr/>
        </p:nvSpPr>
        <p:spPr>
          <a:xfrm>
            <a:off x="6939702"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R-20</a:t>
            </a:r>
            <a:endParaRPr lang="en-US" sz="900" dirty="0"/>
          </a:p>
        </p:txBody>
      </p:sp>
      <p:sp>
        <p:nvSpPr>
          <p:cNvPr id="59" name="Shape 56"/>
          <p:cNvSpPr/>
          <p:nvPr/>
        </p:nvSpPr>
        <p:spPr>
          <a:xfrm>
            <a:off x="6095848" y="4173931"/>
            <a:ext cx="430637" cy="201168"/>
          </a:xfrm>
          <a:prstGeom prst="roundRect">
            <a:avLst>
              <a:gd name="adj" fmla="val 50000"/>
            </a:avLst>
          </a:prstGeom>
          <a:solidFill>
            <a:srgbClr val="1B1B27"/>
          </a:solidFill>
          <a:ln w="9525">
            <a:solidFill>
              <a:srgbClr val="3A3A50"/>
            </a:solidFill>
            <a:prstDash val="solid"/>
          </a:ln>
        </p:spPr>
      </p:sp>
      <p:sp>
        <p:nvSpPr>
          <p:cNvPr id="60" name="Text 57"/>
          <p:cNvSpPr txBox="1"/>
          <p:nvPr/>
        </p:nvSpPr>
        <p:spPr>
          <a:xfrm>
            <a:off x="6095848"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R-24</a:t>
            </a:r>
            <a:endParaRPr lang="en-US" sz="900" dirty="0"/>
          </a:p>
        </p:txBody>
      </p:sp>
      <p:sp>
        <p:nvSpPr>
          <p:cNvPr id="61" name="Shape 58"/>
          <p:cNvSpPr/>
          <p:nvPr/>
        </p:nvSpPr>
        <p:spPr>
          <a:xfrm>
            <a:off x="7975397" y="1942795"/>
            <a:ext cx="457200" cy="457200"/>
          </a:xfrm>
          <a:prstGeom prst="ellipse">
            <a:avLst/>
          </a:prstGeom>
          <a:solidFill>
            <a:srgbClr val="1E1A10"/>
          </a:solidFill>
          <a:ln w="15875">
            <a:solidFill>
              <a:srgbClr val="C9A84C"/>
            </a:solidFill>
            <a:prstDash val="solid"/>
          </a:ln>
        </p:spPr>
      </p:sp>
      <p:sp>
        <p:nvSpPr>
          <p:cNvPr id="62" name="Text 59"/>
          <p:cNvSpPr txBox="1"/>
          <p:nvPr/>
        </p:nvSpPr>
        <p:spPr>
          <a:xfrm>
            <a:off x="7975397"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63" name="Text 60"/>
          <p:cNvSpPr txBox="1"/>
          <p:nvPr/>
        </p:nvSpPr>
        <p:spPr>
          <a:xfrm>
            <a:off x="7975397"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AI &amp; data</a:t>
            </a:r>
            <a:endParaRPr lang="en-US" sz="1600" dirty="0"/>
          </a:p>
        </p:txBody>
      </p:sp>
      <p:sp>
        <p:nvSpPr>
          <p:cNvPr id="64" name="Text 61"/>
          <p:cNvSpPr txBox="1"/>
          <p:nvPr/>
        </p:nvSpPr>
        <p:spPr>
          <a:xfrm>
            <a:off x="7975397"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Knowledge-base index and access policy, embeddings region, quotas</a:t>
            </a:r>
            <a:endParaRPr lang="en-US" sz="1200" dirty="0"/>
          </a:p>
        </p:txBody>
      </p:sp>
      <p:sp>
        <p:nvSpPr>
          <p:cNvPr id="65" name="Shape 62"/>
          <p:cNvSpPr/>
          <p:nvPr/>
        </p:nvSpPr>
        <p:spPr>
          <a:xfrm>
            <a:off x="7975397" y="3917899"/>
            <a:ext cx="430637" cy="201168"/>
          </a:xfrm>
          <a:prstGeom prst="roundRect">
            <a:avLst>
              <a:gd name="adj" fmla="val 50000"/>
            </a:avLst>
          </a:prstGeom>
          <a:solidFill>
            <a:srgbClr val="1B1B27"/>
          </a:solidFill>
          <a:ln w="9525">
            <a:solidFill>
              <a:srgbClr val="3A3A50"/>
            </a:solidFill>
            <a:prstDash val="solid"/>
          </a:ln>
        </p:spPr>
      </p:sp>
      <p:sp>
        <p:nvSpPr>
          <p:cNvPr id="66" name="Text 63"/>
          <p:cNvSpPr txBox="1"/>
          <p:nvPr/>
        </p:nvSpPr>
        <p:spPr>
          <a:xfrm>
            <a:off x="797539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R-18</a:t>
            </a:r>
            <a:endParaRPr lang="en-US" sz="900" dirty="0"/>
          </a:p>
        </p:txBody>
      </p:sp>
      <p:sp>
        <p:nvSpPr>
          <p:cNvPr id="67" name="Shape 64"/>
          <p:cNvSpPr/>
          <p:nvPr/>
        </p:nvSpPr>
        <p:spPr>
          <a:xfrm>
            <a:off x="8460897" y="3917899"/>
            <a:ext cx="430637" cy="201168"/>
          </a:xfrm>
          <a:prstGeom prst="roundRect">
            <a:avLst>
              <a:gd name="adj" fmla="val 50000"/>
            </a:avLst>
          </a:prstGeom>
          <a:solidFill>
            <a:srgbClr val="1B1B27"/>
          </a:solidFill>
          <a:ln w="9525">
            <a:solidFill>
              <a:srgbClr val="3A3A50"/>
            </a:solidFill>
            <a:prstDash val="solid"/>
          </a:ln>
        </p:spPr>
      </p:sp>
      <p:sp>
        <p:nvSpPr>
          <p:cNvPr id="68" name="Text 65"/>
          <p:cNvSpPr txBox="1"/>
          <p:nvPr/>
        </p:nvSpPr>
        <p:spPr>
          <a:xfrm>
            <a:off x="846089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R-30</a:t>
            </a:r>
            <a:endParaRPr lang="en-US" sz="900" dirty="0"/>
          </a:p>
        </p:txBody>
      </p:sp>
      <p:sp>
        <p:nvSpPr>
          <p:cNvPr id="69" name="Shape 66"/>
          <p:cNvSpPr/>
          <p:nvPr/>
        </p:nvSpPr>
        <p:spPr>
          <a:xfrm>
            <a:off x="8946398" y="3917899"/>
            <a:ext cx="430637" cy="201168"/>
          </a:xfrm>
          <a:prstGeom prst="roundRect">
            <a:avLst>
              <a:gd name="adj" fmla="val 50000"/>
            </a:avLst>
          </a:prstGeom>
          <a:solidFill>
            <a:srgbClr val="1B1B27"/>
          </a:solidFill>
          <a:ln w="9525">
            <a:solidFill>
              <a:srgbClr val="3A3A50"/>
            </a:solidFill>
            <a:prstDash val="solid"/>
          </a:ln>
        </p:spPr>
      </p:sp>
      <p:sp>
        <p:nvSpPr>
          <p:cNvPr id="70" name="Text 67"/>
          <p:cNvSpPr txBox="1"/>
          <p:nvPr/>
        </p:nvSpPr>
        <p:spPr>
          <a:xfrm>
            <a:off x="8946398"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R-32</a:t>
            </a:r>
            <a:endParaRPr lang="en-US" sz="900" dirty="0"/>
          </a:p>
        </p:txBody>
      </p:sp>
      <p:sp>
        <p:nvSpPr>
          <p:cNvPr id="71" name="Shape 68"/>
          <p:cNvSpPr/>
          <p:nvPr/>
        </p:nvSpPr>
        <p:spPr>
          <a:xfrm>
            <a:off x="9854946" y="1942795"/>
            <a:ext cx="457200" cy="457200"/>
          </a:xfrm>
          <a:prstGeom prst="ellipse">
            <a:avLst/>
          </a:prstGeom>
          <a:solidFill>
            <a:srgbClr val="1E1A10"/>
          </a:solidFill>
          <a:ln w="15875">
            <a:solidFill>
              <a:srgbClr val="C9A84C"/>
            </a:solidFill>
            <a:prstDash val="solid"/>
          </a:ln>
        </p:spPr>
      </p:sp>
      <p:sp>
        <p:nvSpPr>
          <p:cNvPr id="72" name="Text 69"/>
          <p:cNvSpPr txBox="1"/>
          <p:nvPr/>
        </p:nvSpPr>
        <p:spPr>
          <a:xfrm>
            <a:off x="9854946" y="1942795"/>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73" name="Text 70"/>
          <p:cNvSpPr txBox="1"/>
          <p:nvPr/>
        </p:nvSpPr>
        <p:spPr>
          <a:xfrm>
            <a:off x="9854946" y="2528011"/>
            <a:ext cx="1605229"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Launch</a:t>
            </a:r>
            <a:endParaRPr lang="en-US" sz="1600" dirty="0"/>
          </a:p>
        </p:txBody>
      </p:sp>
      <p:sp>
        <p:nvSpPr>
          <p:cNvPr id="74" name="Text 71"/>
          <p:cNvSpPr txBox="1"/>
          <p:nvPr/>
        </p:nvSpPr>
        <p:spPr>
          <a:xfrm>
            <a:off x="9854946" y="2875483"/>
            <a:ext cx="1605229" cy="950976"/>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CloudFront DNS origin, wildcard academies, CI migrations, AWS provider 6.x</a:t>
            </a:r>
            <a:endParaRPr lang="en-US" sz="1200" dirty="0"/>
          </a:p>
        </p:txBody>
      </p:sp>
      <p:sp>
        <p:nvSpPr>
          <p:cNvPr id="75" name="Shape 72"/>
          <p:cNvSpPr/>
          <p:nvPr/>
        </p:nvSpPr>
        <p:spPr>
          <a:xfrm>
            <a:off x="9854946" y="3917899"/>
            <a:ext cx="430637" cy="201168"/>
          </a:xfrm>
          <a:prstGeom prst="roundRect">
            <a:avLst>
              <a:gd name="adj" fmla="val 50000"/>
            </a:avLst>
          </a:prstGeom>
          <a:solidFill>
            <a:srgbClr val="1B1B27"/>
          </a:solidFill>
          <a:ln w="9525">
            <a:solidFill>
              <a:srgbClr val="3A3A50"/>
            </a:solidFill>
            <a:prstDash val="solid"/>
          </a:ln>
        </p:spPr>
      </p:sp>
      <p:sp>
        <p:nvSpPr>
          <p:cNvPr id="76" name="Text 73"/>
          <p:cNvSpPr txBox="1"/>
          <p:nvPr/>
        </p:nvSpPr>
        <p:spPr>
          <a:xfrm>
            <a:off x="9854946"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R-19</a:t>
            </a:r>
            <a:endParaRPr lang="en-US" sz="900" dirty="0"/>
          </a:p>
        </p:txBody>
      </p:sp>
      <p:sp>
        <p:nvSpPr>
          <p:cNvPr id="77" name="Shape 74"/>
          <p:cNvSpPr/>
          <p:nvPr/>
        </p:nvSpPr>
        <p:spPr>
          <a:xfrm>
            <a:off x="10340447" y="3917899"/>
            <a:ext cx="430637" cy="201168"/>
          </a:xfrm>
          <a:prstGeom prst="roundRect">
            <a:avLst>
              <a:gd name="adj" fmla="val 50000"/>
            </a:avLst>
          </a:prstGeom>
          <a:solidFill>
            <a:srgbClr val="1B1B27"/>
          </a:solidFill>
          <a:ln w="9525">
            <a:solidFill>
              <a:srgbClr val="3A3A50"/>
            </a:solidFill>
            <a:prstDash val="solid"/>
          </a:ln>
        </p:spPr>
      </p:sp>
      <p:sp>
        <p:nvSpPr>
          <p:cNvPr id="78" name="Text 75"/>
          <p:cNvSpPr txBox="1"/>
          <p:nvPr/>
        </p:nvSpPr>
        <p:spPr>
          <a:xfrm>
            <a:off x="1034044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R-23</a:t>
            </a:r>
            <a:endParaRPr lang="en-US" sz="900" dirty="0"/>
          </a:p>
        </p:txBody>
      </p:sp>
      <p:sp>
        <p:nvSpPr>
          <p:cNvPr id="79" name="Shape 76"/>
          <p:cNvSpPr/>
          <p:nvPr/>
        </p:nvSpPr>
        <p:spPr>
          <a:xfrm>
            <a:off x="10825947" y="3917899"/>
            <a:ext cx="430637" cy="201168"/>
          </a:xfrm>
          <a:prstGeom prst="roundRect">
            <a:avLst>
              <a:gd name="adj" fmla="val 50000"/>
            </a:avLst>
          </a:prstGeom>
          <a:solidFill>
            <a:srgbClr val="1B1B27"/>
          </a:solidFill>
          <a:ln w="9525">
            <a:solidFill>
              <a:srgbClr val="3A3A50"/>
            </a:solidFill>
            <a:prstDash val="solid"/>
          </a:ln>
        </p:spPr>
      </p:sp>
      <p:sp>
        <p:nvSpPr>
          <p:cNvPr id="80" name="Text 77"/>
          <p:cNvSpPr txBox="1"/>
          <p:nvPr/>
        </p:nvSpPr>
        <p:spPr>
          <a:xfrm>
            <a:off x="10825947" y="3917899"/>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R-35</a:t>
            </a:r>
            <a:endParaRPr lang="en-US" sz="900" dirty="0"/>
          </a:p>
        </p:txBody>
      </p:sp>
      <p:sp>
        <p:nvSpPr>
          <p:cNvPr id="81" name="Shape 78"/>
          <p:cNvSpPr/>
          <p:nvPr/>
        </p:nvSpPr>
        <p:spPr>
          <a:xfrm>
            <a:off x="9854946" y="4173931"/>
            <a:ext cx="430637" cy="201168"/>
          </a:xfrm>
          <a:prstGeom prst="roundRect">
            <a:avLst>
              <a:gd name="adj" fmla="val 50000"/>
            </a:avLst>
          </a:prstGeom>
          <a:solidFill>
            <a:srgbClr val="1B1B27"/>
          </a:solidFill>
          <a:ln w="9525">
            <a:solidFill>
              <a:srgbClr val="3A3A50"/>
            </a:solidFill>
            <a:prstDash val="solid"/>
          </a:ln>
        </p:spPr>
      </p:sp>
      <p:sp>
        <p:nvSpPr>
          <p:cNvPr id="82" name="Text 79"/>
          <p:cNvSpPr txBox="1"/>
          <p:nvPr/>
        </p:nvSpPr>
        <p:spPr>
          <a:xfrm>
            <a:off x="9854946" y="4173931"/>
            <a:ext cx="430637" cy="201168"/>
          </a:xfrm>
          <a:prstGeom prst="rect">
            <a:avLst/>
          </a:prstGeom>
          <a:noFill/>
          <a:ln/>
        </p:spPr>
        <p:txBody>
          <a:bodyPr wrap="square" lIns="0" tIns="0" rIns="0" bIns="0" rtlCol="0" anchor="ctr"/>
          <a:lstStyle/>
          <a:p>
            <a:pPr algn="ctr" indent="0" marL="0">
              <a:buNone/>
            </a:pPr>
            <a:r>
              <a:rPr lang="en-US" sz="900" b="1" dirty="0">
                <a:solidFill>
                  <a:srgbClr val="E8E8F0"/>
                </a:solidFill>
                <a:latin typeface="Arial" pitchFamily="34" charset="0"/>
                <a:ea typeface="Arial" pitchFamily="34" charset="-122"/>
                <a:cs typeface="Arial" pitchFamily="34" charset="-120"/>
              </a:rPr>
              <a:t>R-36</a:t>
            </a:r>
            <a:endParaRPr lang="en-US" sz="900" dirty="0"/>
          </a:p>
        </p:txBody>
      </p:sp>
      <p:sp>
        <p:nvSpPr>
          <p:cNvPr id="83" name="Shape 80"/>
          <p:cNvSpPr/>
          <p:nvPr/>
        </p:nvSpPr>
        <p:spPr>
          <a:xfrm>
            <a:off x="457200" y="4631131"/>
            <a:ext cx="11277295" cy="420624"/>
          </a:xfrm>
          <a:prstGeom prst="roundRect">
            <a:avLst>
              <a:gd name="adj" fmla="val 21739"/>
            </a:avLst>
          </a:prstGeom>
          <a:solidFill>
            <a:srgbClr val="231E12"/>
          </a:solidFill>
          <a:ln w="9525">
            <a:solidFill>
              <a:srgbClr val="C9A84C"/>
            </a:solidFill>
            <a:prstDash val="solid"/>
          </a:ln>
        </p:spPr>
      </p:sp>
      <p:pic>
        <p:nvPicPr>
          <p:cNvPr id="84" name="Image 0" descr="preencoded.png">    </p:cNvPr>
          <p:cNvPicPr>
            <a:picLocks noChangeAspect="1"/>
          </p:cNvPicPr>
          <p:nvPr/>
        </p:nvPicPr>
        <p:blipFill>
          <a:blip r:embed="rId2"/>
          <a:stretch>
            <a:fillRect/>
          </a:stretch>
        </p:blipFill>
        <p:spPr>
          <a:xfrm>
            <a:off x="640080" y="4722571"/>
            <a:ext cx="237744" cy="237744"/>
          </a:xfrm>
          <a:prstGeom prst="rect">
            <a:avLst/>
          </a:prstGeom>
        </p:spPr>
      </p:pic>
      <p:sp>
        <p:nvSpPr>
          <p:cNvPr id="85" name="Text 81"/>
          <p:cNvSpPr txBox="1"/>
          <p:nvPr/>
        </p:nvSpPr>
        <p:spPr>
          <a:xfrm>
            <a:off x="1005840" y="4631131"/>
            <a:ext cx="10545775" cy="420624"/>
          </a:xfrm>
          <a:prstGeom prst="rect">
            <a:avLst/>
          </a:prstGeom>
          <a:noFill/>
          <a:ln/>
        </p:spPr>
        <p:txBody>
          <a:bodyPr wrap="square" lIns="0" tIns="0" rIns="0" bIns="0" rtlCol="0" anchor="ctr"/>
          <a:lstStyle/>
          <a:p>
            <a:pPr indent="0" marL="0">
              <a:buNone/>
            </a:pPr>
            <a:r>
              <a:rPr lang="en-US" sz="1400" b="1" dirty="0">
                <a:solidFill>
                  <a:srgbClr val="F0C96B"/>
                </a:solidFill>
                <a:latin typeface="Arial" pitchFamily="34" charset="0"/>
                <a:ea typeface="Arial" pitchFamily="34" charset="-122"/>
                <a:cs typeface="Arial" pitchFamily="34" charset="-120"/>
              </a:rPr>
              <a:t>After sprint 6: </a:t>
            </a:r>
            <a:r>
              <a:rPr lang="en-US" sz="1400" dirty="0">
                <a:solidFill>
                  <a:srgbClr val="FFFFFF"/>
                </a:solidFill>
                <a:latin typeface="Arial" pitchFamily="34" charset="0"/>
                <a:ea typeface="Arial" pitchFamily="34" charset="-122"/>
                <a:cs typeface="Arial" pitchFamily="34" charset="-120"/>
              </a:rPr>
              <a:t>the first partner academy goes live</a:t>
            </a:r>
            <a:endParaRPr lang="en-US" sz="1400" dirty="0"/>
          </a:p>
        </p:txBody>
      </p:sp>
      <p:sp>
        <p:nvSpPr>
          <p:cNvPr id="86" name="Text 82"/>
          <p:cNvSpPr txBox="1"/>
          <p:nvPr/>
        </p:nvSpPr>
        <p:spPr>
          <a:xfrm>
            <a:off x="457200" y="5289499"/>
            <a:ext cx="73152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MILESTONES: M1 GOES LIVE, THEN THE FEATURE ROLL-OUT</a:t>
            </a:r>
            <a:endParaRPr lang="en-US" sz="900" dirty="0"/>
          </a:p>
        </p:txBody>
      </p:sp>
      <p:sp>
        <p:nvSpPr>
          <p:cNvPr id="87" name="Shape 83"/>
          <p:cNvSpPr/>
          <p:nvPr/>
        </p:nvSpPr>
        <p:spPr>
          <a:xfrm>
            <a:off x="457200" y="5527243"/>
            <a:ext cx="1516990" cy="708965"/>
          </a:xfrm>
          <a:prstGeom prst="roundRect">
            <a:avLst>
              <a:gd name="adj" fmla="val 10318"/>
            </a:avLst>
          </a:prstGeom>
          <a:solidFill>
            <a:srgbClr val="171722"/>
          </a:solidFill>
          <a:ln w="9525">
            <a:solidFill>
              <a:srgbClr val="2C2C3E"/>
            </a:solidFill>
            <a:prstDash val="solid"/>
          </a:ln>
        </p:spPr>
      </p:sp>
      <p:sp>
        <p:nvSpPr>
          <p:cNvPr id="88" name="Text 84"/>
          <p:cNvSpPr txBox="1"/>
          <p:nvPr/>
        </p:nvSpPr>
        <p:spPr>
          <a:xfrm>
            <a:off x="548640"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M1</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terraform apply + EC2</a:t>
            </a:r>
            <a:endParaRPr lang="en-US" sz="1000" dirty="0"/>
          </a:p>
        </p:txBody>
      </p:sp>
      <p:sp>
        <p:nvSpPr>
          <p:cNvPr id="89" name="Shape 85"/>
          <p:cNvSpPr/>
          <p:nvPr/>
        </p:nvSpPr>
        <p:spPr>
          <a:xfrm>
            <a:off x="2083918" y="5527243"/>
            <a:ext cx="1516990" cy="708965"/>
          </a:xfrm>
          <a:prstGeom prst="roundRect">
            <a:avLst>
              <a:gd name="adj" fmla="val 10318"/>
            </a:avLst>
          </a:prstGeom>
          <a:solidFill>
            <a:srgbClr val="171722"/>
          </a:solidFill>
          <a:ln w="9525">
            <a:solidFill>
              <a:srgbClr val="2C2C3E"/>
            </a:solidFill>
            <a:prstDash val="solid"/>
          </a:ln>
        </p:spPr>
      </p:sp>
      <p:sp>
        <p:nvSpPr>
          <p:cNvPr id="90" name="Text 86"/>
          <p:cNvSpPr txBox="1"/>
          <p:nvPr/>
        </p:nvSpPr>
        <p:spPr>
          <a:xfrm>
            <a:off x="2175358"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M2</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CHRON-ET district</a:t>
            </a:r>
            <a:endParaRPr lang="en-US" sz="1000" dirty="0"/>
          </a:p>
        </p:txBody>
      </p:sp>
      <p:sp>
        <p:nvSpPr>
          <p:cNvPr id="91" name="Shape 87"/>
          <p:cNvSpPr/>
          <p:nvPr/>
        </p:nvSpPr>
        <p:spPr>
          <a:xfrm>
            <a:off x="3710635" y="5527243"/>
            <a:ext cx="1516990" cy="708965"/>
          </a:xfrm>
          <a:prstGeom prst="roundRect">
            <a:avLst>
              <a:gd name="adj" fmla="val 10318"/>
            </a:avLst>
          </a:prstGeom>
          <a:solidFill>
            <a:srgbClr val="171722"/>
          </a:solidFill>
          <a:ln w="9525">
            <a:solidFill>
              <a:srgbClr val="2C2C3E"/>
            </a:solidFill>
            <a:prstDash val="solid"/>
          </a:ln>
        </p:spPr>
      </p:sp>
      <p:sp>
        <p:nvSpPr>
          <p:cNvPr id="92" name="Text 88"/>
          <p:cNvSpPr txBox="1"/>
          <p:nvPr/>
        </p:nvSpPr>
        <p:spPr>
          <a:xfrm>
            <a:off x="3802075"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M3</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E-commerce</a:t>
            </a:r>
            <a:endParaRPr lang="en-US" sz="1000" dirty="0"/>
          </a:p>
        </p:txBody>
      </p:sp>
      <p:sp>
        <p:nvSpPr>
          <p:cNvPr id="93" name="Shape 89"/>
          <p:cNvSpPr/>
          <p:nvPr/>
        </p:nvSpPr>
        <p:spPr>
          <a:xfrm>
            <a:off x="5337353" y="5527243"/>
            <a:ext cx="1516990" cy="708965"/>
          </a:xfrm>
          <a:prstGeom prst="roundRect">
            <a:avLst>
              <a:gd name="adj" fmla="val 10318"/>
            </a:avLst>
          </a:prstGeom>
          <a:solidFill>
            <a:srgbClr val="171722"/>
          </a:solidFill>
          <a:ln w="9525">
            <a:solidFill>
              <a:srgbClr val="2C2C3E"/>
            </a:solidFill>
            <a:prstDash val="solid"/>
          </a:ln>
        </p:spPr>
      </p:sp>
      <p:sp>
        <p:nvSpPr>
          <p:cNvPr id="94" name="Text 90"/>
          <p:cNvSpPr txBox="1"/>
          <p:nvPr/>
        </p:nvSpPr>
        <p:spPr>
          <a:xfrm>
            <a:off x="5428793"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M4</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Symposia (commercial differentiator)</a:t>
            </a:r>
            <a:endParaRPr lang="en-US" sz="1000" dirty="0"/>
          </a:p>
        </p:txBody>
      </p:sp>
      <p:sp>
        <p:nvSpPr>
          <p:cNvPr id="95" name="Shape 91"/>
          <p:cNvSpPr/>
          <p:nvPr/>
        </p:nvSpPr>
        <p:spPr>
          <a:xfrm>
            <a:off x="6964070" y="5527243"/>
            <a:ext cx="1516990" cy="708965"/>
          </a:xfrm>
          <a:prstGeom prst="roundRect">
            <a:avLst>
              <a:gd name="adj" fmla="val 10318"/>
            </a:avLst>
          </a:prstGeom>
          <a:solidFill>
            <a:srgbClr val="171722"/>
          </a:solidFill>
          <a:ln w="9525">
            <a:solidFill>
              <a:srgbClr val="2C2C3E"/>
            </a:solidFill>
            <a:prstDash val="solid"/>
          </a:ln>
        </p:spPr>
      </p:sp>
      <p:sp>
        <p:nvSpPr>
          <p:cNvPr id="96" name="Text 92"/>
          <p:cNvSpPr txBox="1"/>
          <p:nvPr/>
        </p:nvSpPr>
        <p:spPr>
          <a:xfrm>
            <a:off x="7055510"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M5</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Company academies</a:t>
            </a:r>
            <a:endParaRPr lang="en-US" sz="1000" dirty="0"/>
          </a:p>
        </p:txBody>
      </p:sp>
      <p:sp>
        <p:nvSpPr>
          <p:cNvPr id="97" name="Shape 93"/>
          <p:cNvSpPr/>
          <p:nvPr/>
        </p:nvSpPr>
        <p:spPr>
          <a:xfrm>
            <a:off x="8590788" y="5527243"/>
            <a:ext cx="1516990" cy="708965"/>
          </a:xfrm>
          <a:prstGeom prst="roundRect">
            <a:avLst>
              <a:gd name="adj" fmla="val 10318"/>
            </a:avLst>
          </a:prstGeom>
          <a:solidFill>
            <a:srgbClr val="171722"/>
          </a:solidFill>
          <a:ln w="9525">
            <a:solidFill>
              <a:srgbClr val="2C2C3E"/>
            </a:solidFill>
            <a:prstDash val="solid"/>
          </a:ln>
        </p:spPr>
      </p:sp>
      <p:sp>
        <p:nvSpPr>
          <p:cNvPr id="98" name="Text 94"/>
          <p:cNvSpPr txBox="1"/>
          <p:nvPr/>
        </p:nvSpPr>
        <p:spPr>
          <a:xfrm>
            <a:off x="8682228"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M6</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AI tutor (platform moat)</a:t>
            </a:r>
            <a:endParaRPr lang="en-US" sz="1000" dirty="0"/>
          </a:p>
        </p:txBody>
      </p:sp>
      <p:sp>
        <p:nvSpPr>
          <p:cNvPr id="99" name="Shape 95"/>
          <p:cNvSpPr/>
          <p:nvPr/>
        </p:nvSpPr>
        <p:spPr>
          <a:xfrm>
            <a:off x="10217506" y="5527243"/>
            <a:ext cx="1516990" cy="708965"/>
          </a:xfrm>
          <a:prstGeom prst="roundRect">
            <a:avLst>
              <a:gd name="adj" fmla="val 10318"/>
            </a:avLst>
          </a:prstGeom>
          <a:solidFill>
            <a:srgbClr val="171722"/>
          </a:solidFill>
          <a:ln w="9525">
            <a:solidFill>
              <a:srgbClr val="2C2C3E"/>
            </a:solidFill>
            <a:prstDash val="solid"/>
          </a:ln>
        </p:spPr>
      </p:sp>
      <p:sp>
        <p:nvSpPr>
          <p:cNvPr id="100" name="Text 96"/>
          <p:cNvSpPr txBox="1"/>
          <p:nvPr/>
        </p:nvSpPr>
        <p:spPr>
          <a:xfrm>
            <a:off x="10308946" y="5600395"/>
            <a:ext cx="1334110" cy="599237"/>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M7</a:t>
            </a:r>
            <a:endParaRPr lang="en-US" sz="1000" dirty="0"/>
          </a:p>
          <a:p>
            <a:pPr indent="0" marL="0">
              <a:buNone/>
            </a:pPr>
            <a:r>
              <a:rPr lang="en-US" sz="1000" dirty="0">
                <a:solidFill>
                  <a:srgbClr val="E8E8F0"/>
                </a:solidFill>
                <a:latin typeface="Arial" pitchFamily="34" charset="0"/>
                <a:ea typeface="Arial" pitchFamily="34" charset="-122"/>
                <a:cs typeface="Arial" pitchFamily="34" charset="-120"/>
              </a:rPr>
              <a:t>Digital twin + partner dashboard</a:t>
            </a:r>
            <a:endParaRPr lang="en-US" sz="1000" dirty="0"/>
          </a:p>
        </p:txBody>
      </p:sp>
      <p:sp>
        <p:nvSpPr>
          <p:cNvPr id="101" name="Text 9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9539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5765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GO-TO-MARKET · TARGETS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90-day sprint to first revenue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Close two Founding Partners before public launch; the six-sprint plan (slide 34) is the technical base</a:t>
            </a:r>
            <a:endParaRPr lang="en-US" sz="1600" dirty="0"/>
          </a:p>
        </p:txBody>
      </p:sp>
      <p:sp>
        <p:nvSpPr>
          <p:cNvPr id="7" name="Shape 4"/>
          <p:cNvSpPr/>
          <p:nvPr/>
        </p:nvSpPr>
        <p:spPr>
          <a:xfrm>
            <a:off x="585216" y="2052523"/>
            <a:ext cx="8663711" cy="0"/>
          </a:xfrm>
          <a:prstGeom prst="line">
            <a:avLst/>
          </a:prstGeom>
          <a:noFill/>
          <a:ln w="15875">
            <a:solidFill>
              <a:srgbClr val="9B7A2E"/>
            </a:solidFill>
            <a:prstDash val="solid"/>
          </a:ln>
        </p:spPr>
      </p:sp>
      <p:sp>
        <p:nvSpPr>
          <p:cNvPr id="8" name="Shape 5"/>
          <p:cNvSpPr/>
          <p:nvPr/>
        </p:nvSpPr>
        <p:spPr>
          <a:xfrm>
            <a:off x="493776" y="1961083"/>
            <a:ext cx="182880" cy="182880"/>
          </a:xfrm>
          <a:prstGeom prst="ellipse">
            <a:avLst/>
          </a:prstGeom>
          <a:solidFill>
            <a:srgbClr val="F0C96B"/>
          </a:solidFill>
          <a:ln w="15875">
            <a:solidFill>
              <a:srgbClr val="C9A84C"/>
            </a:solidFill>
            <a:prstDash val="solid"/>
          </a:ln>
        </p:spPr>
      </p:sp>
      <p:sp>
        <p:nvSpPr>
          <p:cNvPr id="9" name="Text 6"/>
          <p:cNvSpPr txBox="1"/>
          <p:nvPr/>
        </p:nvSpPr>
        <p:spPr>
          <a:xfrm>
            <a:off x="493776"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NOW → MONTH 3</a:t>
            </a:r>
            <a:endParaRPr lang="en-US" sz="950" dirty="0"/>
          </a:p>
        </p:txBody>
      </p:sp>
      <p:sp>
        <p:nvSpPr>
          <p:cNvPr id="10" name="Shape 7"/>
          <p:cNvSpPr/>
          <p:nvPr/>
        </p:nvSpPr>
        <p:spPr>
          <a:xfrm>
            <a:off x="457200" y="2546299"/>
            <a:ext cx="2613584" cy="3031541"/>
          </a:xfrm>
          <a:prstGeom prst="roundRect">
            <a:avLst>
              <a:gd name="adj" fmla="val 4198"/>
            </a:avLst>
          </a:prstGeom>
          <a:solidFill>
            <a:srgbClr val="231E12"/>
          </a:solidFill>
          <a:ln w="9525">
            <a:solidFill>
              <a:srgbClr val="C9A84C"/>
            </a:solidFill>
            <a:prstDash val="solid"/>
          </a:ln>
        </p:spPr>
      </p:sp>
      <p:sp>
        <p:nvSpPr>
          <p:cNvPr id="11" name="Text 8"/>
          <p:cNvSpPr txBox="1"/>
          <p:nvPr/>
        </p:nvSpPr>
        <p:spPr>
          <a:xfrm>
            <a:off x="685800"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Deploy &amp; close</a:t>
            </a:r>
            <a:endParaRPr lang="en-US" sz="2000" dirty="0"/>
          </a:p>
        </p:txBody>
      </p:sp>
      <p:pic>
        <p:nvPicPr>
          <p:cNvPr id="12" name="Image 0" descr="preencoded.png">    </p:cNvPr>
          <p:cNvPicPr>
            <a:picLocks noChangeAspect="1"/>
          </p:cNvPicPr>
          <p:nvPr/>
        </p:nvPicPr>
        <p:blipFill>
          <a:blip r:embed="rId2"/>
          <a:stretch>
            <a:fillRect/>
          </a:stretch>
        </p:blipFill>
        <p:spPr>
          <a:xfrm>
            <a:off x="685800" y="3305251"/>
            <a:ext cx="182880" cy="182880"/>
          </a:xfrm>
          <a:prstGeom prst="rect">
            <a:avLst/>
          </a:prstGeom>
        </p:spPr>
      </p:pic>
      <p:sp>
        <p:nvSpPr>
          <p:cNvPr id="13" name="Text 9"/>
          <p:cNvSpPr txBox="1"/>
          <p:nvPr/>
        </p:nvSpPr>
        <p:spPr>
          <a:xfrm>
            <a:off x="978408" y="3277819"/>
            <a:ext cx="1863776"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Six sprints, then terraform apply and go-live</a:t>
            </a:r>
            <a:endParaRPr lang="en-US" sz="1300" dirty="0"/>
          </a:p>
        </p:txBody>
      </p:sp>
      <p:pic>
        <p:nvPicPr>
          <p:cNvPr id="14" name="Image 1" descr="preencoded.png">    </p:cNvPr>
          <p:cNvPicPr>
            <a:picLocks noChangeAspect="1"/>
          </p:cNvPicPr>
          <p:nvPr/>
        </p:nvPicPr>
        <p:blipFill>
          <a:blip r:embed="rId3"/>
          <a:stretch>
            <a:fillRect/>
          </a:stretch>
        </p:blipFill>
        <p:spPr>
          <a:xfrm>
            <a:off x="685800" y="4055059"/>
            <a:ext cx="182880" cy="182880"/>
          </a:xfrm>
          <a:prstGeom prst="rect">
            <a:avLst/>
          </a:prstGeom>
        </p:spPr>
      </p:pic>
      <p:sp>
        <p:nvSpPr>
          <p:cNvPr id="15" name="Text 10"/>
          <p:cNvSpPr txBox="1"/>
          <p:nvPr/>
        </p:nvSpPr>
        <p:spPr>
          <a:xfrm>
            <a:off x="978408" y="402762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Tether academy pitch (1 slide, 1 demo)</a:t>
            </a:r>
            <a:endParaRPr lang="en-US" sz="1300" dirty="0"/>
          </a:p>
        </p:txBody>
      </p:sp>
      <p:pic>
        <p:nvPicPr>
          <p:cNvPr id="16" name="Image 2" descr="preencoded.png">    </p:cNvPr>
          <p:cNvPicPr>
            <a:picLocks noChangeAspect="1"/>
          </p:cNvPicPr>
          <p:nvPr/>
        </p:nvPicPr>
        <p:blipFill>
          <a:blip r:embed="rId4"/>
          <a:stretch>
            <a:fillRect/>
          </a:stretch>
        </p:blipFill>
        <p:spPr>
          <a:xfrm>
            <a:off x="685800" y="4606747"/>
            <a:ext cx="182880" cy="182880"/>
          </a:xfrm>
          <a:prstGeom prst="rect">
            <a:avLst/>
          </a:prstGeom>
        </p:spPr>
      </p:pic>
      <p:sp>
        <p:nvSpPr>
          <p:cNvPr id="17" name="Text 11"/>
          <p:cNvSpPr txBox="1"/>
          <p:nvPr/>
        </p:nvSpPr>
        <p:spPr>
          <a:xfrm>
            <a:off x="978408" y="457931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beta round tables via DBCC</a:t>
            </a:r>
            <a:endParaRPr lang="en-US" sz="1300" dirty="0"/>
          </a:p>
        </p:txBody>
      </p:sp>
      <p:pic>
        <p:nvPicPr>
          <p:cNvPr id="18" name="Image 3" descr="preencoded.png">    </p:cNvPr>
          <p:cNvPicPr>
            <a:picLocks noChangeAspect="1"/>
          </p:cNvPicPr>
          <p:nvPr/>
        </p:nvPicPr>
        <p:blipFill>
          <a:blip r:embed="rId5"/>
          <a:stretch>
            <a:fillRect/>
          </a:stretch>
        </p:blipFill>
        <p:spPr>
          <a:xfrm>
            <a:off x="685800" y="5158435"/>
            <a:ext cx="182880" cy="182880"/>
          </a:xfrm>
          <a:prstGeom prst="rect">
            <a:avLst/>
          </a:prstGeom>
        </p:spPr>
      </p:pic>
      <p:sp>
        <p:nvSpPr>
          <p:cNvPr id="19" name="Text 12"/>
          <p:cNvSpPr txBox="1"/>
          <p:nvPr/>
        </p:nvSpPr>
        <p:spPr>
          <a:xfrm>
            <a:off x="978408" y="5131003"/>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BUiD MOU signed</a:t>
            </a:r>
            <a:endParaRPr lang="en-US" sz="1300" dirty="0"/>
          </a:p>
        </p:txBody>
      </p:sp>
      <p:sp>
        <p:nvSpPr>
          <p:cNvPr id="20" name="Shape 13"/>
          <p:cNvSpPr/>
          <p:nvPr/>
        </p:nvSpPr>
        <p:spPr>
          <a:xfrm>
            <a:off x="3381680" y="1961083"/>
            <a:ext cx="182880" cy="182880"/>
          </a:xfrm>
          <a:prstGeom prst="ellipse">
            <a:avLst/>
          </a:prstGeom>
          <a:solidFill>
            <a:srgbClr val="1E1A10"/>
          </a:solidFill>
          <a:ln w="15875">
            <a:solidFill>
              <a:srgbClr val="C9A84C"/>
            </a:solidFill>
            <a:prstDash val="solid"/>
          </a:ln>
        </p:spPr>
      </p:sp>
      <p:sp>
        <p:nvSpPr>
          <p:cNvPr id="21" name="Text 14"/>
          <p:cNvSpPr txBox="1"/>
          <p:nvPr/>
        </p:nvSpPr>
        <p:spPr>
          <a:xfrm>
            <a:off x="3381680"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3 → 6</a:t>
            </a:r>
            <a:endParaRPr lang="en-US" sz="950" dirty="0"/>
          </a:p>
        </p:txBody>
      </p:sp>
      <p:sp>
        <p:nvSpPr>
          <p:cNvPr id="22" name="Shape 15"/>
          <p:cNvSpPr/>
          <p:nvPr/>
        </p:nvSpPr>
        <p:spPr>
          <a:xfrm>
            <a:off x="3345104" y="2546299"/>
            <a:ext cx="2613584" cy="3031541"/>
          </a:xfrm>
          <a:prstGeom prst="roundRect">
            <a:avLst>
              <a:gd name="adj" fmla="val 4198"/>
            </a:avLst>
          </a:prstGeom>
          <a:solidFill>
            <a:srgbClr val="171722"/>
          </a:solidFill>
          <a:ln w="9525">
            <a:solidFill>
              <a:srgbClr val="2C2C3E"/>
            </a:solidFill>
            <a:prstDash val="solid"/>
          </a:ln>
        </p:spPr>
      </p:sp>
      <p:sp>
        <p:nvSpPr>
          <p:cNvPr id="23" name="Text 16"/>
          <p:cNvSpPr txBox="1"/>
          <p:nvPr/>
        </p:nvSpPr>
        <p:spPr>
          <a:xfrm>
            <a:off x="3573704"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Launch &amp; grow</a:t>
            </a:r>
            <a:endParaRPr lang="en-US" sz="2000" dirty="0"/>
          </a:p>
        </p:txBody>
      </p:sp>
      <p:pic>
        <p:nvPicPr>
          <p:cNvPr id="24" name="Image 4" descr="preencoded.png">    </p:cNvPr>
          <p:cNvPicPr>
            <a:picLocks noChangeAspect="1"/>
          </p:cNvPicPr>
          <p:nvPr/>
        </p:nvPicPr>
        <p:blipFill>
          <a:blip r:embed="rId6"/>
          <a:stretch>
            <a:fillRect/>
          </a:stretch>
        </p:blipFill>
        <p:spPr>
          <a:xfrm>
            <a:off x="3573704" y="3305251"/>
            <a:ext cx="182880" cy="182880"/>
          </a:xfrm>
          <a:prstGeom prst="rect">
            <a:avLst/>
          </a:prstGeom>
        </p:spPr>
      </p:pic>
      <p:sp>
        <p:nvSpPr>
          <p:cNvPr id="25" name="Text 17"/>
          <p:cNvSpPr txBox="1"/>
          <p:nvPr/>
        </p:nvSpPr>
        <p:spPr>
          <a:xfrm>
            <a:off x="3866312"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Public free-tier launch</a:t>
            </a:r>
            <a:endParaRPr lang="en-US" sz="1300" dirty="0"/>
          </a:p>
        </p:txBody>
      </p:sp>
      <p:pic>
        <p:nvPicPr>
          <p:cNvPr id="26" name="Image 5" descr="preencoded.png">    </p:cNvPr>
          <p:cNvPicPr>
            <a:picLocks noChangeAspect="1"/>
          </p:cNvPicPr>
          <p:nvPr/>
        </p:nvPicPr>
        <p:blipFill>
          <a:blip r:embed="rId7"/>
          <a:stretch>
            <a:fillRect/>
          </a:stretch>
        </p:blipFill>
        <p:spPr>
          <a:xfrm>
            <a:off x="3573704" y="3658819"/>
            <a:ext cx="182880" cy="182880"/>
          </a:xfrm>
          <a:prstGeom prst="rect">
            <a:avLst/>
          </a:prstGeom>
        </p:spPr>
      </p:pic>
      <p:sp>
        <p:nvSpPr>
          <p:cNvPr id="27" name="Text 18"/>
          <p:cNvSpPr txBox="1"/>
          <p:nvPr/>
        </p:nvSpPr>
        <p:spPr>
          <a:xfrm>
            <a:off x="3866312"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opinion papers published on LinkedIn</a:t>
            </a:r>
            <a:endParaRPr lang="en-US" sz="1300" dirty="0"/>
          </a:p>
        </p:txBody>
      </p:sp>
      <p:pic>
        <p:nvPicPr>
          <p:cNvPr id="28" name="Image 6" descr="preencoded.png">    </p:cNvPr>
          <p:cNvPicPr>
            <a:picLocks noChangeAspect="1"/>
          </p:cNvPicPr>
          <p:nvPr/>
        </p:nvPicPr>
        <p:blipFill>
          <a:blip r:embed="rId8"/>
          <a:stretch>
            <a:fillRect/>
          </a:stretch>
        </p:blipFill>
        <p:spPr>
          <a:xfrm>
            <a:off x="3573704" y="4210507"/>
            <a:ext cx="182880" cy="182880"/>
          </a:xfrm>
          <a:prstGeom prst="rect">
            <a:avLst/>
          </a:prstGeom>
        </p:spPr>
      </p:pic>
      <p:sp>
        <p:nvSpPr>
          <p:cNvPr id="29" name="Text 19"/>
          <p:cNvSpPr txBox="1"/>
          <p:nvPr/>
        </p:nvSpPr>
        <p:spPr>
          <a:xfrm>
            <a:off x="3866312"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2,000 registrations target</a:t>
            </a:r>
            <a:endParaRPr lang="en-US" sz="1300" dirty="0"/>
          </a:p>
        </p:txBody>
      </p:sp>
      <p:pic>
        <p:nvPicPr>
          <p:cNvPr id="30" name="Image 7" descr="preencoded.png">    </p:cNvPr>
          <p:cNvPicPr>
            <a:picLocks noChangeAspect="1"/>
          </p:cNvPicPr>
          <p:nvPr/>
        </p:nvPicPr>
        <p:blipFill>
          <a:blip r:embed="rId9"/>
          <a:stretch>
            <a:fillRect/>
          </a:stretch>
        </p:blipFill>
        <p:spPr>
          <a:xfrm>
            <a:off x="3573704" y="4762195"/>
            <a:ext cx="182880" cy="182880"/>
          </a:xfrm>
          <a:prstGeom prst="rect">
            <a:avLst/>
          </a:prstGeom>
        </p:spPr>
      </p:pic>
      <p:sp>
        <p:nvSpPr>
          <p:cNvPr id="31" name="Text 20"/>
          <p:cNvSpPr txBox="1"/>
          <p:nvPr/>
        </p:nvSpPr>
        <p:spPr>
          <a:xfrm>
            <a:off x="3866312"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Company Academy live</a:t>
            </a:r>
            <a:endParaRPr lang="en-US" sz="1300" dirty="0"/>
          </a:p>
        </p:txBody>
      </p:sp>
      <p:sp>
        <p:nvSpPr>
          <p:cNvPr id="32" name="Shape 21"/>
          <p:cNvSpPr/>
          <p:nvPr/>
        </p:nvSpPr>
        <p:spPr>
          <a:xfrm>
            <a:off x="6269584" y="1961083"/>
            <a:ext cx="182880" cy="182880"/>
          </a:xfrm>
          <a:prstGeom prst="ellipse">
            <a:avLst/>
          </a:prstGeom>
          <a:solidFill>
            <a:srgbClr val="1E1A10"/>
          </a:solidFill>
          <a:ln w="15875">
            <a:solidFill>
              <a:srgbClr val="C9A84C"/>
            </a:solidFill>
            <a:prstDash val="solid"/>
          </a:ln>
        </p:spPr>
      </p:sp>
      <p:sp>
        <p:nvSpPr>
          <p:cNvPr id="33" name="Text 22"/>
          <p:cNvSpPr txBox="1"/>
          <p:nvPr/>
        </p:nvSpPr>
        <p:spPr>
          <a:xfrm>
            <a:off x="6269584"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6 → 12</a:t>
            </a:r>
            <a:endParaRPr lang="en-US" sz="950" dirty="0"/>
          </a:p>
        </p:txBody>
      </p:sp>
      <p:sp>
        <p:nvSpPr>
          <p:cNvPr id="34" name="Shape 23"/>
          <p:cNvSpPr/>
          <p:nvPr/>
        </p:nvSpPr>
        <p:spPr>
          <a:xfrm>
            <a:off x="6233008" y="2546299"/>
            <a:ext cx="2613584" cy="3031541"/>
          </a:xfrm>
          <a:prstGeom prst="roundRect">
            <a:avLst>
              <a:gd name="adj" fmla="val 4198"/>
            </a:avLst>
          </a:prstGeom>
          <a:solidFill>
            <a:srgbClr val="171722"/>
          </a:solidFill>
          <a:ln w="9525">
            <a:solidFill>
              <a:srgbClr val="2C2C3E"/>
            </a:solidFill>
            <a:prstDash val="solid"/>
          </a:ln>
        </p:spPr>
      </p:sp>
      <p:sp>
        <p:nvSpPr>
          <p:cNvPr id="35" name="Text 24"/>
          <p:cNvSpPr txBox="1"/>
          <p:nvPr/>
        </p:nvSpPr>
        <p:spPr>
          <a:xfrm>
            <a:off x="6461608"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Scale</a:t>
            </a:r>
            <a:endParaRPr lang="en-US" sz="2000" dirty="0"/>
          </a:p>
        </p:txBody>
      </p:sp>
      <p:pic>
        <p:nvPicPr>
          <p:cNvPr id="36" name="Image 8" descr="preencoded.png">    </p:cNvPr>
          <p:cNvPicPr>
            <a:picLocks noChangeAspect="1"/>
          </p:cNvPicPr>
          <p:nvPr/>
        </p:nvPicPr>
        <p:blipFill>
          <a:blip r:embed="rId10"/>
          <a:stretch>
            <a:fillRect/>
          </a:stretch>
        </p:blipFill>
        <p:spPr>
          <a:xfrm>
            <a:off x="6461608" y="3305251"/>
            <a:ext cx="182880" cy="182880"/>
          </a:xfrm>
          <a:prstGeom prst="rect">
            <a:avLst/>
          </a:prstGeom>
        </p:spPr>
      </p:pic>
      <p:sp>
        <p:nvSpPr>
          <p:cNvPr id="37" name="Text 25"/>
          <p:cNvSpPr txBox="1"/>
          <p:nvPr/>
        </p:nvSpPr>
        <p:spPr>
          <a:xfrm>
            <a:off x="6754216"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400 paid subscribers</a:t>
            </a:r>
            <a:endParaRPr lang="en-US" sz="1300" dirty="0"/>
          </a:p>
        </p:txBody>
      </p:sp>
      <p:pic>
        <p:nvPicPr>
          <p:cNvPr id="38" name="Image 9" descr="preencoded.png">    </p:cNvPr>
          <p:cNvPicPr>
            <a:picLocks noChangeAspect="1"/>
          </p:cNvPicPr>
          <p:nvPr/>
        </p:nvPicPr>
        <p:blipFill>
          <a:blip r:embed="rId11"/>
          <a:stretch>
            <a:fillRect/>
          </a:stretch>
        </p:blipFill>
        <p:spPr>
          <a:xfrm>
            <a:off x="6461608" y="3658819"/>
            <a:ext cx="182880" cy="182880"/>
          </a:xfrm>
          <a:prstGeom prst="rect">
            <a:avLst/>
          </a:prstGeom>
        </p:spPr>
      </p:pic>
      <p:sp>
        <p:nvSpPr>
          <p:cNvPr id="39" name="Text 26"/>
          <p:cNvSpPr txBox="1"/>
          <p:nvPr/>
        </p:nvSpPr>
        <p:spPr>
          <a:xfrm>
            <a:off x="6754216"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 corporate team licences</a:t>
            </a:r>
            <a:endParaRPr lang="en-US" sz="1300" dirty="0"/>
          </a:p>
        </p:txBody>
      </p:sp>
      <p:pic>
        <p:nvPicPr>
          <p:cNvPr id="40" name="Image 10" descr="preencoded.png">    </p:cNvPr>
          <p:cNvPicPr>
            <a:picLocks noChangeAspect="1"/>
          </p:cNvPicPr>
          <p:nvPr/>
        </p:nvPicPr>
        <p:blipFill>
          <a:blip r:embed="rId12"/>
          <a:stretch>
            <a:fillRect/>
          </a:stretch>
        </p:blipFill>
        <p:spPr>
          <a:xfrm>
            <a:off x="6461608" y="4210507"/>
            <a:ext cx="182880" cy="182880"/>
          </a:xfrm>
          <a:prstGeom prst="rect">
            <a:avLst/>
          </a:prstGeom>
        </p:spPr>
      </p:pic>
      <p:sp>
        <p:nvSpPr>
          <p:cNvPr id="41" name="Text 27"/>
          <p:cNvSpPr txBox="1"/>
          <p:nvPr/>
        </p:nvSpPr>
        <p:spPr>
          <a:xfrm>
            <a:off x="6754216"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more strategic partners</a:t>
            </a:r>
            <a:endParaRPr lang="en-US" sz="1300" dirty="0"/>
          </a:p>
        </p:txBody>
      </p:sp>
      <p:pic>
        <p:nvPicPr>
          <p:cNvPr id="42" name="Image 11" descr="preencoded.png">    </p:cNvPr>
          <p:cNvPicPr>
            <a:picLocks noChangeAspect="1"/>
          </p:cNvPicPr>
          <p:nvPr/>
        </p:nvPicPr>
        <p:blipFill>
          <a:blip r:embed="rId13"/>
          <a:stretch>
            <a:fillRect/>
          </a:stretch>
        </p:blipFill>
        <p:spPr>
          <a:xfrm>
            <a:off x="6461608" y="4762195"/>
            <a:ext cx="182880" cy="182880"/>
          </a:xfrm>
          <a:prstGeom prst="rect">
            <a:avLst/>
          </a:prstGeom>
        </p:spPr>
      </p:pic>
      <p:sp>
        <p:nvSpPr>
          <p:cNvPr id="43" name="Text 28"/>
          <p:cNvSpPr txBox="1"/>
          <p:nvPr/>
        </p:nvSpPr>
        <p:spPr>
          <a:xfrm>
            <a:off x="6754216"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Digital Twin masterclass</a:t>
            </a:r>
            <a:endParaRPr lang="en-US" sz="1300" dirty="0"/>
          </a:p>
        </p:txBody>
      </p:sp>
      <p:sp>
        <p:nvSpPr>
          <p:cNvPr id="44" name="Shape 29"/>
          <p:cNvSpPr/>
          <p:nvPr/>
        </p:nvSpPr>
        <p:spPr>
          <a:xfrm>
            <a:off x="9157487" y="1961083"/>
            <a:ext cx="182880" cy="182880"/>
          </a:xfrm>
          <a:prstGeom prst="ellipse">
            <a:avLst/>
          </a:prstGeom>
          <a:solidFill>
            <a:srgbClr val="1E1A10"/>
          </a:solidFill>
          <a:ln w="15875">
            <a:solidFill>
              <a:srgbClr val="C9A84C"/>
            </a:solidFill>
            <a:prstDash val="solid"/>
          </a:ln>
        </p:spPr>
      </p:sp>
      <p:sp>
        <p:nvSpPr>
          <p:cNvPr id="45" name="Text 30"/>
          <p:cNvSpPr txBox="1"/>
          <p:nvPr/>
        </p:nvSpPr>
        <p:spPr>
          <a:xfrm>
            <a:off x="9157487"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12 → 24</a:t>
            </a:r>
            <a:endParaRPr lang="en-US" sz="950" dirty="0"/>
          </a:p>
        </p:txBody>
      </p:sp>
      <p:sp>
        <p:nvSpPr>
          <p:cNvPr id="46" name="Shape 31"/>
          <p:cNvSpPr/>
          <p:nvPr/>
        </p:nvSpPr>
        <p:spPr>
          <a:xfrm>
            <a:off x="9120911" y="2546299"/>
            <a:ext cx="2613584" cy="3031541"/>
          </a:xfrm>
          <a:prstGeom prst="roundRect">
            <a:avLst>
              <a:gd name="adj" fmla="val 4198"/>
            </a:avLst>
          </a:prstGeom>
          <a:solidFill>
            <a:srgbClr val="171722"/>
          </a:solidFill>
          <a:ln w="9525">
            <a:solidFill>
              <a:srgbClr val="2C2C3E"/>
            </a:solidFill>
            <a:prstDash val="solid"/>
          </a:ln>
        </p:spPr>
      </p:sp>
      <p:sp>
        <p:nvSpPr>
          <p:cNvPr id="47" name="Text 32"/>
          <p:cNvSpPr txBox="1"/>
          <p:nvPr/>
        </p:nvSpPr>
        <p:spPr>
          <a:xfrm>
            <a:off x="9349511"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Expand</a:t>
            </a:r>
            <a:endParaRPr lang="en-US" sz="2000" dirty="0"/>
          </a:p>
        </p:txBody>
      </p:sp>
      <p:pic>
        <p:nvPicPr>
          <p:cNvPr id="48" name="Image 12" descr="preencoded.png">    </p:cNvPr>
          <p:cNvPicPr>
            <a:picLocks noChangeAspect="1"/>
          </p:cNvPicPr>
          <p:nvPr/>
        </p:nvPicPr>
        <p:blipFill>
          <a:blip r:embed="rId14"/>
          <a:stretch>
            <a:fillRect/>
          </a:stretch>
        </p:blipFill>
        <p:spPr>
          <a:xfrm>
            <a:off x="9349511" y="3305251"/>
            <a:ext cx="182880" cy="182880"/>
          </a:xfrm>
          <a:prstGeom prst="rect">
            <a:avLst/>
          </a:prstGeom>
        </p:spPr>
      </p:pic>
      <p:sp>
        <p:nvSpPr>
          <p:cNvPr id="49" name="Text 33"/>
          <p:cNvSpPr txBox="1"/>
          <p:nvPr/>
        </p:nvSpPr>
        <p:spPr>
          <a:xfrm>
            <a:off x="9642119" y="3277819"/>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TOKEN2049 Dubai + Singapore</a:t>
            </a:r>
            <a:endParaRPr lang="en-US" sz="1300" dirty="0"/>
          </a:p>
        </p:txBody>
      </p:sp>
      <p:pic>
        <p:nvPicPr>
          <p:cNvPr id="50" name="Image 13" descr="preencoded.png">    </p:cNvPr>
          <p:cNvPicPr>
            <a:picLocks noChangeAspect="1"/>
          </p:cNvPicPr>
          <p:nvPr/>
        </p:nvPicPr>
        <p:blipFill>
          <a:blip r:embed="rId15"/>
          <a:stretch>
            <a:fillRect/>
          </a:stretch>
        </p:blipFill>
        <p:spPr>
          <a:xfrm>
            <a:off x="9349511" y="3856939"/>
            <a:ext cx="182880" cy="182880"/>
          </a:xfrm>
          <a:prstGeom prst="rect">
            <a:avLst/>
          </a:prstGeom>
        </p:spPr>
      </p:pic>
      <p:sp>
        <p:nvSpPr>
          <p:cNvPr id="51" name="Text 34"/>
          <p:cNvSpPr txBox="1"/>
          <p:nvPr/>
        </p:nvSpPr>
        <p:spPr>
          <a:xfrm>
            <a:off x="9642119" y="382950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Annual summit (50–100 participants)</a:t>
            </a:r>
            <a:endParaRPr lang="en-US" sz="1300" dirty="0"/>
          </a:p>
        </p:txBody>
      </p:sp>
      <p:pic>
        <p:nvPicPr>
          <p:cNvPr id="52" name="Image 14" descr="preencoded.png">    </p:cNvPr>
          <p:cNvPicPr>
            <a:picLocks noChangeAspect="1"/>
          </p:cNvPicPr>
          <p:nvPr/>
        </p:nvPicPr>
        <p:blipFill>
          <a:blip r:embed="rId16"/>
          <a:stretch>
            <a:fillRect/>
          </a:stretch>
        </p:blipFill>
        <p:spPr>
          <a:xfrm>
            <a:off x="9349511" y="4408627"/>
            <a:ext cx="182880" cy="182880"/>
          </a:xfrm>
          <a:prstGeom prst="rect">
            <a:avLst/>
          </a:prstGeom>
        </p:spPr>
      </p:pic>
      <p:sp>
        <p:nvSpPr>
          <p:cNvPr id="53" name="Text 35"/>
          <p:cNvSpPr txBox="1"/>
          <p:nvPr/>
        </p:nvSpPr>
        <p:spPr>
          <a:xfrm>
            <a:off x="9642119" y="4381195"/>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Singapore market entry</a:t>
            </a:r>
            <a:endParaRPr lang="en-US" sz="1300" dirty="0"/>
          </a:p>
        </p:txBody>
      </p:sp>
      <p:pic>
        <p:nvPicPr>
          <p:cNvPr id="54" name="Image 15" descr="preencoded.png">    </p:cNvPr>
          <p:cNvPicPr>
            <a:picLocks noChangeAspect="1"/>
          </p:cNvPicPr>
          <p:nvPr/>
        </p:nvPicPr>
        <p:blipFill>
          <a:blip r:embed="rId17"/>
          <a:stretch>
            <a:fillRect/>
          </a:stretch>
        </p:blipFill>
        <p:spPr>
          <a:xfrm>
            <a:off x="9349511" y="4762195"/>
            <a:ext cx="182880" cy="182880"/>
          </a:xfrm>
          <a:prstGeom prst="rect">
            <a:avLst/>
          </a:prstGeom>
        </p:spPr>
      </p:pic>
      <p:sp>
        <p:nvSpPr>
          <p:cNvPr id="55" name="Text 36"/>
          <p:cNvSpPr txBox="1"/>
          <p:nvPr/>
        </p:nvSpPr>
        <p:spPr>
          <a:xfrm>
            <a:off x="9642119"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10,000+ registered users</a:t>
            </a:r>
            <a:endParaRPr lang="en-US" sz="1300" dirty="0"/>
          </a:p>
        </p:txBody>
      </p:sp>
      <p:sp>
        <p:nvSpPr>
          <p:cNvPr id="56" name="Shape 3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57" name="Image 16" descr="preencoded.png">    </p:cNvPr>
          <p:cNvPicPr>
            <a:picLocks noChangeAspect="1"/>
          </p:cNvPicPr>
          <p:nvPr/>
        </p:nvPicPr>
        <p:blipFill>
          <a:blip r:embed="rId18"/>
          <a:stretch>
            <a:fillRect/>
          </a:stretch>
        </p:blipFill>
        <p:spPr>
          <a:xfrm>
            <a:off x="603504" y="5925312"/>
            <a:ext cx="201168" cy="201168"/>
          </a:xfrm>
          <a:prstGeom prst="rect">
            <a:avLst/>
          </a:prstGeom>
        </p:spPr>
      </p:pic>
      <p:sp>
        <p:nvSpPr>
          <p:cNvPr id="58" name="Text 3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Month counts are master-plan targets. Go-live comes after the six sprints, which are ordered but not yet dated; public launch follows the first two Founding Partners.</a:t>
            </a:r>
            <a:endParaRPr lang="en-US" sz="1150" dirty="0"/>
          </a:p>
        </p:txBody>
      </p:sp>
      <p:sp>
        <p:nvSpPr>
          <p:cNvPr id="59"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012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6634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ROADMAP · TARGETS, NOT AGREEMENTS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 roadmap: four tiers, one named focus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What each tier gets. Tether is the one named target partner; no agreements are signed.</a:t>
            </a:r>
            <a:endParaRPr lang="en-US" sz="1600" dirty="0"/>
          </a:p>
        </p:txBody>
      </p:sp>
      <p:sp>
        <p:nvSpPr>
          <p:cNvPr id="7" name="Text 4"/>
          <p:cNvSpPr txBox="1"/>
          <p:nvPr/>
        </p:nvSpPr>
        <p:spPr>
          <a:xfrm>
            <a:off x="1234440" y="1906219"/>
            <a:ext cx="233172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TIER</a:t>
            </a:r>
            <a:endParaRPr lang="en-US" sz="900" dirty="0"/>
          </a:p>
        </p:txBody>
      </p:sp>
      <p:sp>
        <p:nvSpPr>
          <p:cNvPr id="8" name="Text 5"/>
          <p:cNvSpPr txBox="1"/>
          <p:nvPr/>
        </p:nvSpPr>
        <p:spPr>
          <a:xfrm>
            <a:off x="3657600" y="1906219"/>
            <a:ext cx="338328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PARTNERS (NONE SIGNED)</a:t>
            </a:r>
            <a:endParaRPr lang="en-US" sz="900" dirty="0"/>
          </a:p>
        </p:txBody>
      </p:sp>
      <p:sp>
        <p:nvSpPr>
          <p:cNvPr id="9" name="Text 6"/>
          <p:cNvSpPr txBox="1"/>
          <p:nvPr/>
        </p:nvSpPr>
        <p:spPr>
          <a:xfrm>
            <a:off x="7223760" y="1906219"/>
            <a:ext cx="43434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THE TIER GETS</a:t>
            </a:r>
            <a:endParaRPr lang="en-US" sz="900" dirty="0"/>
          </a:p>
        </p:txBody>
      </p:sp>
      <p:sp>
        <p:nvSpPr>
          <p:cNvPr id="10" name="Shape 7"/>
          <p:cNvSpPr/>
          <p:nvPr/>
        </p:nvSpPr>
        <p:spPr>
          <a:xfrm>
            <a:off x="457200" y="2180539"/>
            <a:ext cx="11277295" cy="776173"/>
          </a:xfrm>
          <a:prstGeom prst="roundRect">
            <a:avLst>
              <a:gd name="adj" fmla="val 11781"/>
            </a:avLst>
          </a:prstGeom>
          <a:solidFill>
            <a:srgbClr val="171722"/>
          </a:solidFill>
          <a:ln w="9525">
            <a:solidFill>
              <a:srgbClr val="2C2C3E"/>
            </a:solidFill>
            <a:prstDash val="solid"/>
          </a:ln>
        </p:spPr>
      </p:sp>
      <p:sp>
        <p:nvSpPr>
          <p:cNvPr id="11" name="Shape 8"/>
          <p:cNvSpPr/>
          <p:nvPr/>
        </p:nvSpPr>
        <p:spPr>
          <a:xfrm>
            <a:off x="621792" y="2367458"/>
            <a:ext cx="402336" cy="402336"/>
          </a:xfrm>
          <a:prstGeom prst="ellipse">
            <a:avLst/>
          </a:prstGeom>
          <a:solidFill>
            <a:srgbClr val="1E1A10"/>
          </a:solidFill>
          <a:ln w="9525">
            <a:solidFill>
              <a:srgbClr val="5A4A22"/>
            </a:solidFill>
            <a:prstDash val="solid"/>
          </a:ln>
        </p:spPr>
      </p:sp>
      <p:pic>
        <p:nvPicPr>
          <p:cNvPr id="12" name="Image 0" descr="preencoded.png">    </p:cNvPr>
          <p:cNvPicPr>
            <a:picLocks noChangeAspect="1"/>
          </p:cNvPicPr>
          <p:nvPr/>
        </p:nvPicPr>
        <p:blipFill>
          <a:blip r:embed="rId2"/>
          <a:stretch>
            <a:fillRect/>
          </a:stretch>
        </p:blipFill>
        <p:spPr>
          <a:xfrm>
            <a:off x="722376" y="2468042"/>
            <a:ext cx="201168" cy="201168"/>
          </a:xfrm>
          <a:prstGeom prst="rect">
            <a:avLst/>
          </a:prstGeom>
        </p:spPr>
      </p:pic>
      <p:sp>
        <p:nvSpPr>
          <p:cNvPr id="13" name="Text 9"/>
          <p:cNvSpPr txBox="1"/>
          <p:nvPr/>
        </p:nvSpPr>
        <p:spPr>
          <a:xfrm>
            <a:off x="1234440" y="2180539"/>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Founding</a:t>
            </a:r>
            <a:endParaRPr lang="en-US" sz="1500" dirty="0"/>
          </a:p>
        </p:txBody>
      </p:sp>
      <p:sp>
        <p:nvSpPr>
          <p:cNvPr id="14" name="Text 10"/>
          <p:cNvSpPr txBox="1"/>
          <p:nvPr/>
        </p:nvSpPr>
        <p:spPr>
          <a:xfrm>
            <a:off x="3657600" y="2180539"/>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Two seats to fill before launch</a:t>
            </a:r>
            <a:endParaRPr lang="en-US" sz="1500" dirty="0"/>
          </a:p>
        </p:txBody>
      </p:sp>
      <p:sp>
        <p:nvSpPr>
          <p:cNvPr id="15" name="Text 11"/>
          <p:cNvSpPr txBox="1"/>
          <p:nvPr/>
        </p:nvSpPr>
        <p:spPr>
          <a:xfrm>
            <a:off x="7223760" y="2180539"/>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Flagship tracks or a $150K Founding Academy, co-hosted symposia, a seat on the curriculum board</a:t>
            </a:r>
            <a:endParaRPr lang="en-US" sz="1300" dirty="0"/>
          </a:p>
        </p:txBody>
      </p:sp>
      <p:sp>
        <p:nvSpPr>
          <p:cNvPr id="16" name="Shape 12"/>
          <p:cNvSpPr/>
          <p:nvPr/>
        </p:nvSpPr>
        <p:spPr>
          <a:xfrm>
            <a:off x="457200" y="3084728"/>
            <a:ext cx="11277295" cy="776173"/>
          </a:xfrm>
          <a:prstGeom prst="roundRect">
            <a:avLst>
              <a:gd name="adj" fmla="val 11781"/>
            </a:avLst>
          </a:prstGeom>
          <a:solidFill>
            <a:srgbClr val="171722"/>
          </a:solidFill>
          <a:ln w="9525">
            <a:solidFill>
              <a:srgbClr val="2C2C3E"/>
            </a:solidFill>
            <a:prstDash val="solid"/>
          </a:ln>
        </p:spPr>
      </p:sp>
      <p:sp>
        <p:nvSpPr>
          <p:cNvPr id="17" name="Shape 13"/>
          <p:cNvSpPr/>
          <p:nvPr/>
        </p:nvSpPr>
        <p:spPr>
          <a:xfrm>
            <a:off x="621792" y="3271647"/>
            <a:ext cx="402336" cy="402336"/>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722376" y="3372231"/>
            <a:ext cx="201168" cy="201168"/>
          </a:xfrm>
          <a:prstGeom prst="rect">
            <a:avLst/>
          </a:prstGeom>
        </p:spPr>
      </p:pic>
      <p:sp>
        <p:nvSpPr>
          <p:cNvPr id="19" name="Text 14"/>
          <p:cNvSpPr txBox="1"/>
          <p:nvPr/>
        </p:nvSpPr>
        <p:spPr>
          <a:xfrm>
            <a:off x="1234440" y="3084728"/>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Strategic</a:t>
            </a:r>
            <a:endParaRPr lang="en-US" sz="1500" dirty="0"/>
          </a:p>
        </p:txBody>
      </p:sp>
      <p:sp>
        <p:nvSpPr>
          <p:cNvPr id="20" name="Text 15"/>
          <p:cNvSpPr txBox="1"/>
          <p:nvPr/>
        </p:nvSpPr>
        <p:spPr>
          <a:xfrm>
            <a:off x="3657600" y="3084728"/>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Tether (target partner)</a:t>
            </a:r>
            <a:endParaRPr lang="en-US" sz="1500" dirty="0"/>
          </a:p>
        </p:txBody>
      </p:sp>
      <p:sp>
        <p:nvSpPr>
          <p:cNvPr id="21" name="Text 16"/>
          <p:cNvSpPr txBox="1"/>
          <p:nvPr/>
        </p:nvSpPr>
        <p:spPr>
          <a:xfrm>
            <a:off x="7223760" y="3084728"/>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Branded academy, pathways and badges, talent pipeline, as in the tour’s illustrative academy</a:t>
            </a:r>
            <a:endParaRPr lang="en-US" sz="1300" dirty="0"/>
          </a:p>
        </p:txBody>
      </p:sp>
      <p:sp>
        <p:nvSpPr>
          <p:cNvPr id="22" name="Shape 17"/>
          <p:cNvSpPr/>
          <p:nvPr/>
        </p:nvSpPr>
        <p:spPr>
          <a:xfrm>
            <a:off x="457200" y="3988918"/>
            <a:ext cx="11277295" cy="776173"/>
          </a:xfrm>
          <a:prstGeom prst="roundRect">
            <a:avLst>
              <a:gd name="adj" fmla="val 11781"/>
            </a:avLst>
          </a:prstGeom>
          <a:solidFill>
            <a:srgbClr val="171722"/>
          </a:solidFill>
          <a:ln w="9525">
            <a:solidFill>
              <a:srgbClr val="2C2C3E"/>
            </a:solidFill>
            <a:prstDash val="solid"/>
          </a:ln>
        </p:spPr>
      </p:sp>
      <p:sp>
        <p:nvSpPr>
          <p:cNvPr id="23" name="Shape 18"/>
          <p:cNvSpPr/>
          <p:nvPr/>
        </p:nvSpPr>
        <p:spPr>
          <a:xfrm>
            <a:off x="621792" y="4175836"/>
            <a:ext cx="402336" cy="402336"/>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722376" y="4276420"/>
            <a:ext cx="201168" cy="201168"/>
          </a:xfrm>
          <a:prstGeom prst="rect">
            <a:avLst/>
          </a:prstGeom>
        </p:spPr>
      </p:pic>
      <p:sp>
        <p:nvSpPr>
          <p:cNvPr id="25" name="Text 19"/>
          <p:cNvSpPr txBox="1"/>
          <p:nvPr/>
        </p:nvSpPr>
        <p:spPr>
          <a:xfrm>
            <a:off x="1234440" y="3988918"/>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Content</a:t>
            </a:r>
            <a:endParaRPr lang="en-US" sz="1500" dirty="0"/>
          </a:p>
        </p:txBody>
      </p:sp>
      <p:sp>
        <p:nvSpPr>
          <p:cNvPr id="26" name="Text 20"/>
          <p:cNvSpPr txBox="1"/>
          <p:nvPr/>
        </p:nvSpPr>
        <p:spPr>
          <a:xfrm>
            <a:off x="3657600" y="3988918"/>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Specialist course providers</a:t>
            </a:r>
            <a:endParaRPr lang="en-US" sz="1500" dirty="0"/>
          </a:p>
        </p:txBody>
      </p:sp>
      <p:sp>
        <p:nvSpPr>
          <p:cNvPr id="27" name="Text 21"/>
          <p:cNvSpPr txBox="1"/>
          <p:nvPr/>
        </p:nvSpPr>
        <p:spPr>
          <a:xfrm>
            <a:off x="7223760" y="3988918"/>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Specialist courses inside a district, e.g. investigation, compliance or AI</a:t>
            </a:r>
            <a:endParaRPr lang="en-US" sz="1300" dirty="0"/>
          </a:p>
        </p:txBody>
      </p:sp>
      <p:sp>
        <p:nvSpPr>
          <p:cNvPr id="28" name="Shape 22"/>
          <p:cNvSpPr/>
          <p:nvPr/>
        </p:nvSpPr>
        <p:spPr>
          <a:xfrm>
            <a:off x="457200" y="4893107"/>
            <a:ext cx="11277295" cy="776173"/>
          </a:xfrm>
          <a:prstGeom prst="roundRect">
            <a:avLst>
              <a:gd name="adj" fmla="val 11781"/>
            </a:avLst>
          </a:prstGeom>
          <a:solidFill>
            <a:srgbClr val="171722"/>
          </a:solidFill>
          <a:ln w="9525">
            <a:solidFill>
              <a:srgbClr val="2C2C3E"/>
            </a:solidFill>
            <a:prstDash val="solid"/>
          </a:ln>
        </p:spPr>
      </p:sp>
      <p:sp>
        <p:nvSpPr>
          <p:cNvPr id="29" name="Shape 23"/>
          <p:cNvSpPr/>
          <p:nvPr/>
        </p:nvSpPr>
        <p:spPr>
          <a:xfrm>
            <a:off x="621792" y="5080025"/>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722376" y="5180609"/>
            <a:ext cx="201168" cy="201168"/>
          </a:xfrm>
          <a:prstGeom prst="rect">
            <a:avLst/>
          </a:prstGeom>
        </p:spPr>
      </p:pic>
      <p:sp>
        <p:nvSpPr>
          <p:cNvPr id="31" name="Text 24"/>
          <p:cNvSpPr txBox="1"/>
          <p:nvPr/>
        </p:nvSpPr>
        <p:spPr>
          <a:xfrm>
            <a:off x="1234440" y="4893107"/>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Institutional</a:t>
            </a:r>
            <a:endParaRPr lang="en-US" sz="1500" dirty="0"/>
          </a:p>
        </p:txBody>
      </p:sp>
      <p:sp>
        <p:nvSpPr>
          <p:cNvPr id="32" name="Text 25"/>
          <p:cNvSpPr txBox="1"/>
          <p:nvPr/>
        </p:nvSpPr>
        <p:spPr>
          <a:xfrm>
            <a:off x="3657600" y="4893107"/>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Universities (BUiD MOU in progress), think tanks, banks</a:t>
            </a:r>
            <a:endParaRPr lang="en-US" sz="1500" dirty="0"/>
          </a:p>
        </p:txBody>
      </p:sp>
      <p:sp>
        <p:nvSpPr>
          <p:cNvPr id="33" name="Text 26"/>
          <p:cNvSpPr txBox="1"/>
          <p:nvPr/>
        </p:nvSpPr>
        <p:spPr>
          <a:xfrm>
            <a:off x="7223760" y="4893107"/>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Co-certification and research round tables</a:t>
            </a:r>
            <a:endParaRPr lang="en-US" sz="1300" dirty="0"/>
          </a:p>
        </p:txBody>
      </p:sp>
      <p:sp>
        <p:nvSpPr>
          <p:cNvPr id="34" name="Shape 2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35" name="Image 4" descr="preencoded.png">    </p:cNvPr>
          <p:cNvPicPr>
            <a:picLocks noChangeAspect="1"/>
          </p:cNvPicPr>
          <p:nvPr/>
        </p:nvPicPr>
        <p:blipFill>
          <a:blip r:embed="rId6"/>
          <a:stretch>
            <a:fillRect/>
          </a:stretch>
        </p:blipFill>
        <p:spPr>
          <a:xfrm>
            <a:off x="603504" y="5925312"/>
            <a:ext cx="201168" cy="201168"/>
          </a:xfrm>
          <a:prstGeom prst="rect">
            <a:avLst/>
          </a:prstGeom>
        </p:spPr>
      </p:pic>
      <p:sp>
        <p:nvSpPr>
          <p:cNvPr id="36" name="Text 2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Tether is a roadmap target, not an agreement. Status today (slide 28): DBCC confirmed anchor · BUiD MOU in progress · Tether target Strategic partner</a:t>
            </a:r>
            <a:endParaRPr lang="en-US" sz="1100" dirty="0"/>
          </a:p>
        </p:txBody>
      </p:sp>
      <p:sp>
        <p:nvSpPr>
          <p:cNvPr id="37"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6422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2648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INVESTORS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Raising $2,000,000 seed round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Pre-money valuation $8,000,000 · Equity / SAFE · 18-month runway</a:t>
            </a:r>
            <a:endParaRPr lang="en-US" sz="1600" dirty="0"/>
          </a:p>
        </p:txBody>
      </p:sp>
      <p:sp>
        <p:nvSpPr>
          <p:cNvPr id="7" name="Shape 4"/>
          <p:cNvSpPr/>
          <p:nvPr/>
        </p:nvSpPr>
        <p:spPr>
          <a:xfrm>
            <a:off x="457200" y="1942795"/>
            <a:ext cx="5394960" cy="1325880"/>
          </a:xfrm>
          <a:prstGeom prst="roundRect">
            <a:avLst>
              <a:gd name="adj" fmla="val 8276"/>
            </a:avLst>
          </a:prstGeom>
          <a:solidFill>
            <a:srgbClr val="231E12"/>
          </a:solidFill>
          <a:ln w="15875">
            <a:solidFill>
              <a:srgbClr val="C9A84C"/>
            </a:solidFill>
            <a:prstDash val="solid"/>
          </a:ln>
        </p:spPr>
      </p:sp>
      <p:sp>
        <p:nvSpPr>
          <p:cNvPr id="8" name="Text 5"/>
          <p:cNvSpPr txBox="1"/>
          <p:nvPr/>
        </p:nvSpPr>
        <p:spPr>
          <a:xfrm>
            <a:off x="731520" y="2089099"/>
            <a:ext cx="4846320" cy="73152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$2,000,000</a:t>
            </a:r>
            <a:endParaRPr lang="en-US" sz="5000" dirty="0"/>
          </a:p>
        </p:txBody>
      </p:sp>
      <p:sp>
        <p:nvSpPr>
          <p:cNvPr id="9" name="Text 6"/>
          <p:cNvSpPr txBox="1"/>
          <p:nvPr/>
        </p:nvSpPr>
        <p:spPr>
          <a:xfrm>
            <a:off x="731520" y="2857195"/>
            <a:ext cx="4846320" cy="219456"/>
          </a:xfrm>
          <a:prstGeom prst="rect">
            <a:avLst/>
          </a:prstGeom>
          <a:noFill/>
          <a:ln/>
        </p:spPr>
        <p:txBody>
          <a:bodyPr wrap="square" lIns="0" tIns="0" rIns="0" bIns="0" rtlCol="0" anchor="t"/>
          <a:lstStyle/>
          <a:p>
            <a:pPr indent="0" marL="0">
              <a:buNone/>
            </a:pPr>
            <a:r>
              <a:rPr lang="en-US" sz="1000" b="1" spc="120" kern="0" dirty="0">
                <a:solidFill>
                  <a:srgbClr val="FFFFFF"/>
                </a:solidFill>
                <a:latin typeface="Arial" pitchFamily="34" charset="0"/>
                <a:ea typeface="Arial" pitchFamily="34" charset="-122"/>
                <a:cs typeface="Arial" pitchFamily="34" charset="-120"/>
              </a:rPr>
              <a:t>SEED ROUND · $8M PRE-MONEY · EQUITY / SAFE</a:t>
            </a:r>
            <a:endParaRPr lang="en-US" sz="1000" dirty="0"/>
          </a:p>
        </p:txBody>
      </p:sp>
      <p:sp>
        <p:nvSpPr>
          <p:cNvPr id="10" name="Text 7"/>
          <p:cNvSpPr txBox="1"/>
          <p:nvPr/>
        </p:nvSpPr>
        <p:spPr>
          <a:xfrm>
            <a:off x="457200" y="3561283"/>
            <a:ext cx="539496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USE OF FUNDS</a:t>
            </a:r>
            <a:endParaRPr lang="en-US" sz="850" dirty="0"/>
          </a:p>
        </p:txBody>
      </p:sp>
      <p:graphicFrame>
        <p:nvGraphicFramePr>
          <p:cNvPr id="11" name="Chart 0" descr=""/>
          <p:cNvGraphicFramePr/>
          <p:nvPr/>
        </p:nvGraphicFramePr>
        <p:xfrm>
          <a:off x="411480" y="3835603"/>
          <a:ext cx="2286000" cy="228600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2971800" y="3991051"/>
            <a:ext cx="146304" cy="146304"/>
          </a:xfrm>
          <a:prstGeom prst="ellipse">
            <a:avLst/>
          </a:prstGeom>
          <a:solidFill>
            <a:srgbClr val="C9A84C"/>
          </a:solidFill>
          <a:ln/>
        </p:spPr>
      </p:sp>
      <p:sp>
        <p:nvSpPr>
          <p:cNvPr id="13" name="Text 9"/>
          <p:cNvSpPr txBox="1"/>
          <p:nvPr/>
        </p:nvSpPr>
        <p:spPr>
          <a:xfrm>
            <a:off x="3227832" y="392704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Sales &amp; partnership team</a:t>
            </a:r>
            <a:endParaRPr lang="en-US" sz="1250" dirty="0"/>
          </a:p>
        </p:txBody>
      </p:sp>
      <p:sp>
        <p:nvSpPr>
          <p:cNvPr id="14" name="Text 10"/>
          <p:cNvSpPr txBox="1"/>
          <p:nvPr/>
        </p:nvSpPr>
        <p:spPr>
          <a:xfrm>
            <a:off x="3227832" y="416478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15" name="Shape 11"/>
          <p:cNvSpPr/>
          <p:nvPr/>
        </p:nvSpPr>
        <p:spPr>
          <a:xfrm>
            <a:off x="2971800" y="4516831"/>
            <a:ext cx="146304" cy="146304"/>
          </a:xfrm>
          <a:prstGeom prst="ellipse">
            <a:avLst/>
          </a:prstGeom>
          <a:solidFill>
            <a:srgbClr val="F0C96B"/>
          </a:solidFill>
          <a:ln/>
        </p:spPr>
      </p:sp>
      <p:sp>
        <p:nvSpPr>
          <p:cNvPr id="16" name="Text 12"/>
          <p:cNvSpPr txBox="1"/>
          <p:nvPr/>
        </p:nvSpPr>
        <p:spPr>
          <a:xfrm>
            <a:off x="3227832" y="445282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Marketing &amp; conferences</a:t>
            </a:r>
            <a:endParaRPr lang="en-US" sz="1250" dirty="0"/>
          </a:p>
        </p:txBody>
      </p:sp>
      <p:sp>
        <p:nvSpPr>
          <p:cNvPr id="17" name="Text 13"/>
          <p:cNvSpPr txBox="1"/>
          <p:nvPr/>
        </p:nvSpPr>
        <p:spPr>
          <a:xfrm>
            <a:off x="3227832" y="469056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18" name="Shape 14"/>
          <p:cNvSpPr/>
          <p:nvPr/>
        </p:nvSpPr>
        <p:spPr>
          <a:xfrm>
            <a:off x="2971800" y="5042611"/>
            <a:ext cx="146304" cy="146304"/>
          </a:xfrm>
          <a:prstGeom prst="ellipse">
            <a:avLst/>
          </a:prstGeom>
          <a:solidFill>
            <a:srgbClr val="8A8AA0"/>
          </a:solidFill>
          <a:ln/>
        </p:spPr>
      </p:sp>
      <p:sp>
        <p:nvSpPr>
          <p:cNvPr id="19" name="Text 15"/>
          <p:cNvSpPr txBox="1"/>
          <p:nvPr/>
        </p:nvSpPr>
        <p:spPr>
          <a:xfrm>
            <a:off x="3227832" y="497860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Platform scaling (AWS, EKS)</a:t>
            </a:r>
            <a:endParaRPr lang="en-US" sz="1250" dirty="0"/>
          </a:p>
        </p:txBody>
      </p:sp>
      <p:sp>
        <p:nvSpPr>
          <p:cNvPr id="20" name="Text 16"/>
          <p:cNvSpPr txBox="1"/>
          <p:nvPr/>
        </p:nvSpPr>
        <p:spPr>
          <a:xfrm>
            <a:off x="3227832" y="521634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21" name="Shape 17"/>
          <p:cNvSpPr/>
          <p:nvPr/>
        </p:nvSpPr>
        <p:spPr>
          <a:xfrm>
            <a:off x="2971800" y="5568391"/>
            <a:ext cx="146304" cy="146304"/>
          </a:xfrm>
          <a:prstGeom prst="ellipse">
            <a:avLst/>
          </a:prstGeom>
          <a:solidFill>
            <a:srgbClr val="D6D6E4"/>
          </a:solidFill>
          <a:ln/>
        </p:spPr>
      </p:sp>
      <p:sp>
        <p:nvSpPr>
          <p:cNvPr id="22" name="Text 18"/>
          <p:cNvSpPr txBox="1"/>
          <p:nvPr/>
        </p:nvSpPr>
        <p:spPr>
          <a:xfrm>
            <a:off x="3227832" y="550438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G&amp;A, legal, operations</a:t>
            </a:r>
            <a:endParaRPr lang="en-US" sz="1250" dirty="0"/>
          </a:p>
        </p:txBody>
      </p:sp>
      <p:sp>
        <p:nvSpPr>
          <p:cNvPr id="23" name="Text 19"/>
          <p:cNvSpPr txBox="1"/>
          <p:nvPr/>
        </p:nvSpPr>
        <p:spPr>
          <a:xfrm>
            <a:off x="3227832" y="574212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24" name="Shape 20"/>
          <p:cNvSpPr/>
          <p:nvPr/>
        </p:nvSpPr>
        <p:spPr>
          <a:xfrm>
            <a:off x="6263640" y="1942795"/>
            <a:ext cx="2621128" cy="2023262"/>
          </a:xfrm>
          <a:prstGeom prst="roundRect">
            <a:avLst>
              <a:gd name="adj" fmla="val 5423"/>
            </a:avLst>
          </a:prstGeom>
          <a:solidFill>
            <a:srgbClr val="171722"/>
          </a:solidFill>
          <a:ln w="9525">
            <a:solidFill>
              <a:srgbClr val="2C2C3E"/>
            </a:solidFill>
            <a:prstDash val="solid"/>
          </a:ln>
        </p:spPr>
      </p:sp>
      <p:sp>
        <p:nvSpPr>
          <p:cNvPr id="25" name="Shape 21"/>
          <p:cNvSpPr/>
          <p:nvPr/>
        </p:nvSpPr>
        <p:spPr>
          <a:xfrm>
            <a:off x="6464808" y="2143963"/>
            <a:ext cx="420624" cy="420624"/>
          </a:xfrm>
          <a:prstGeom prst="ellipse">
            <a:avLst/>
          </a:prstGeom>
          <a:solidFill>
            <a:srgbClr val="1E1A10"/>
          </a:solidFill>
          <a:ln w="9525">
            <a:solidFill>
              <a:srgbClr val="5A4A22"/>
            </a:solidFill>
            <a:prstDash val="solid"/>
          </a:ln>
        </p:spPr>
      </p:sp>
      <p:pic>
        <p:nvPicPr>
          <p:cNvPr id="26" name="Image 0" descr="preencoded.png">    </p:cNvPr>
          <p:cNvPicPr>
            <a:picLocks noChangeAspect="1"/>
          </p:cNvPicPr>
          <p:nvPr/>
        </p:nvPicPr>
        <p:blipFill>
          <a:blip r:embed="rId3"/>
          <a:stretch>
            <a:fillRect/>
          </a:stretch>
        </p:blipFill>
        <p:spPr>
          <a:xfrm>
            <a:off x="6569964" y="2249119"/>
            <a:ext cx="210312" cy="210312"/>
          </a:xfrm>
          <a:prstGeom prst="rect">
            <a:avLst/>
          </a:prstGeom>
        </p:spPr>
      </p:pic>
      <p:sp>
        <p:nvSpPr>
          <p:cNvPr id="27" name="Text 22"/>
          <p:cNvSpPr txBox="1"/>
          <p:nvPr/>
        </p:nvSpPr>
        <p:spPr>
          <a:xfrm>
            <a:off x="6464808"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Code-complete</a:t>
            </a:r>
            <a:endParaRPr lang="en-US" sz="1500" dirty="0"/>
          </a:p>
        </p:txBody>
      </p:sp>
      <p:sp>
        <p:nvSpPr>
          <p:cNvPr id="28" name="Text 23"/>
          <p:cNvSpPr txBox="1"/>
          <p:nvPr/>
        </p:nvSpPr>
        <p:spPr>
          <a:xfrm>
            <a:off x="6464808" y="2994355"/>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Not a prototype: the feature code is written. Not live yet; go-live follows the six-sprint plan (slides 33-34)</a:t>
            </a:r>
            <a:endParaRPr lang="en-US" sz="1200" dirty="0"/>
          </a:p>
        </p:txBody>
      </p:sp>
      <p:sp>
        <p:nvSpPr>
          <p:cNvPr id="29" name="Shape 24"/>
          <p:cNvSpPr/>
          <p:nvPr/>
        </p:nvSpPr>
        <p:spPr>
          <a:xfrm>
            <a:off x="9113368" y="1942795"/>
            <a:ext cx="2621128" cy="2023262"/>
          </a:xfrm>
          <a:prstGeom prst="roundRect">
            <a:avLst>
              <a:gd name="adj" fmla="val 5423"/>
            </a:avLst>
          </a:prstGeom>
          <a:solidFill>
            <a:srgbClr val="171722"/>
          </a:solidFill>
          <a:ln w="9525">
            <a:solidFill>
              <a:srgbClr val="2C2C3E"/>
            </a:solidFill>
            <a:prstDash val="solid"/>
          </a:ln>
        </p:spPr>
      </p:sp>
      <p:sp>
        <p:nvSpPr>
          <p:cNvPr id="30" name="Shape 25"/>
          <p:cNvSpPr/>
          <p:nvPr/>
        </p:nvSpPr>
        <p:spPr>
          <a:xfrm>
            <a:off x="9314536" y="2143963"/>
            <a:ext cx="420624" cy="420624"/>
          </a:xfrm>
          <a:prstGeom prst="ellipse">
            <a:avLst/>
          </a:prstGeom>
          <a:solidFill>
            <a:srgbClr val="1E1A10"/>
          </a:solidFill>
          <a:ln w="9525">
            <a:solidFill>
              <a:srgbClr val="5A4A22"/>
            </a:solidFill>
            <a:prstDash val="solid"/>
          </a:ln>
        </p:spPr>
      </p:sp>
      <p:pic>
        <p:nvPicPr>
          <p:cNvPr id="31" name="Image 1" descr="preencoded.png">    </p:cNvPr>
          <p:cNvPicPr>
            <a:picLocks noChangeAspect="1"/>
          </p:cNvPicPr>
          <p:nvPr/>
        </p:nvPicPr>
        <p:blipFill>
          <a:blip r:embed="rId4"/>
          <a:stretch>
            <a:fillRect/>
          </a:stretch>
        </p:blipFill>
        <p:spPr>
          <a:xfrm>
            <a:off x="9419692" y="2249119"/>
            <a:ext cx="210312" cy="210312"/>
          </a:xfrm>
          <a:prstGeom prst="rect">
            <a:avLst/>
          </a:prstGeom>
        </p:spPr>
      </p:pic>
      <p:sp>
        <p:nvSpPr>
          <p:cNvPr id="32" name="Text 26"/>
          <p:cNvSpPr txBox="1"/>
          <p:nvPr/>
        </p:nvSpPr>
        <p:spPr>
          <a:xfrm>
            <a:off x="9314536"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Companies pay us</a:t>
            </a:r>
            <a:endParaRPr lang="en-US" sz="1500" dirty="0"/>
          </a:p>
        </p:txBody>
      </p:sp>
      <p:sp>
        <p:nvSpPr>
          <p:cNvPr id="33" name="Text 27"/>
          <p:cNvSpPr txBox="1"/>
          <p:nvPr/>
        </p:nvSpPr>
        <p:spPr>
          <a:xfrm>
            <a:off x="9314536" y="2994355"/>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B2B-first: $150K academy deals fund the model before students pay a dollar</a:t>
            </a:r>
            <a:endParaRPr lang="en-US" sz="1200" dirty="0"/>
          </a:p>
        </p:txBody>
      </p:sp>
      <p:sp>
        <p:nvSpPr>
          <p:cNvPr id="34" name="Shape 28"/>
          <p:cNvSpPr/>
          <p:nvPr/>
        </p:nvSpPr>
        <p:spPr>
          <a:xfrm>
            <a:off x="6263640" y="4194658"/>
            <a:ext cx="2621128" cy="2023262"/>
          </a:xfrm>
          <a:prstGeom prst="roundRect">
            <a:avLst>
              <a:gd name="adj" fmla="val 5423"/>
            </a:avLst>
          </a:prstGeom>
          <a:solidFill>
            <a:srgbClr val="171722"/>
          </a:solidFill>
          <a:ln w="9525">
            <a:solidFill>
              <a:srgbClr val="2C2C3E"/>
            </a:solidFill>
            <a:prstDash val="solid"/>
          </a:ln>
        </p:spPr>
      </p:sp>
      <p:sp>
        <p:nvSpPr>
          <p:cNvPr id="35" name="Shape 29"/>
          <p:cNvSpPr/>
          <p:nvPr/>
        </p:nvSpPr>
        <p:spPr>
          <a:xfrm>
            <a:off x="6464808" y="4395826"/>
            <a:ext cx="420624" cy="420624"/>
          </a:xfrm>
          <a:prstGeom prst="ellipse">
            <a:avLst/>
          </a:prstGeom>
          <a:solidFill>
            <a:srgbClr val="1E1A10"/>
          </a:solidFill>
          <a:ln w="9525">
            <a:solidFill>
              <a:srgbClr val="5A4A22"/>
            </a:solidFill>
            <a:prstDash val="solid"/>
          </a:ln>
        </p:spPr>
      </p:sp>
      <p:pic>
        <p:nvPicPr>
          <p:cNvPr id="36" name="Image 2" descr="preencoded.png">    </p:cNvPr>
          <p:cNvPicPr>
            <a:picLocks noChangeAspect="1"/>
          </p:cNvPicPr>
          <p:nvPr/>
        </p:nvPicPr>
        <p:blipFill>
          <a:blip r:embed="rId5"/>
          <a:stretch>
            <a:fillRect/>
          </a:stretch>
        </p:blipFill>
        <p:spPr>
          <a:xfrm>
            <a:off x="6569964" y="4500982"/>
            <a:ext cx="210312" cy="210312"/>
          </a:xfrm>
          <a:prstGeom prst="rect">
            <a:avLst/>
          </a:prstGeom>
        </p:spPr>
      </p:pic>
      <p:sp>
        <p:nvSpPr>
          <p:cNvPr id="37" name="Text 30"/>
          <p:cNvSpPr txBox="1"/>
          <p:nvPr/>
        </p:nvSpPr>
        <p:spPr>
          <a:xfrm>
            <a:off x="6464808"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Zero licensing costs</a:t>
            </a:r>
            <a:endParaRPr lang="en-US" sz="1500" dirty="0"/>
          </a:p>
        </p:txBody>
      </p:sp>
      <p:sp>
        <p:nvSpPr>
          <p:cNvPr id="38" name="Text 31"/>
          <p:cNvSpPr txBox="1"/>
          <p:nvPr/>
        </p:nvSpPr>
        <p:spPr>
          <a:xfrm>
            <a:off x="6464808" y="5246218"/>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Open-source stack, $374/mo AWS baseline, gross margin &gt;97% at scale (projection)</a:t>
            </a:r>
            <a:endParaRPr lang="en-US" sz="1200" dirty="0"/>
          </a:p>
        </p:txBody>
      </p:sp>
      <p:sp>
        <p:nvSpPr>
          <p:cNvPr id="39" name="Shape 32"/>
          <p:cNvSpPr/>
          <p:nvPr/>
        </p:nvSpPr>
        <p:spPr>
          <a:xfrm>
            <a:off x="9113368" y="4194658"/>
            <a:ext cx="2621128" cy="2023262"/>
          </a:xfrm>
          <a:prstGeom prst="roundRect">
            <a:avLst>
              <a:gd name="adj" fmla="val 5423"/>
            </a:avLst>
          </a:prstGeom>
          <a:solidFill>
            <a:srgbClr val="171722"/>
          </a:solidFill>
          <a:ln w="9525">
            <a:solidFill>
              <a:srgbClr val="2C2C3E"/>
            </a:solidFill>
            <a:prstDash val="solid"/>
          </a:ln>
        </p:spPr>
      </p:sp>
      <p:sp>
        <p:nvSpPr>
          <p:cNvPr id="40" name="Shape 33"/>
          <p:cNvSpPr/>
          <p:nvPr/>
        </p:nvSpPr>
        <p:spPr>
          <a:xfrm>
            <a:off x="9314536" y="4395826"/>
            <a:ext cx="420624" cy="420624"/>
          </a:xfrm>
          <a:prstGeom prst="ellipse">
            <a:avLst/>
          </a:prstGeom>
          <a:solidFill>
            <a:srgbClr val="1E1A10"/>
          </a:solidFill>
          <a:ln w="9525">
            <a:solidFill>
              <a:srgbClr val="5A4A22"/>
            </a:solidFill>
            <a:prstDash val="solid"/>
          </a:ln>
        </p:spPr>
      </p:sp>
      <p:pic>
        <p:nvPicPr>
          <p:cNvPr id="41" name="Image 3" descr="preencoded.png">    </p:cNvPr>
          <p:cNvPicPr>
            <a:picLocks noChangeAspect="1"/>
          </p:cNvPicPr>
          <p:nvPr/>
        </p:nvPicPr>
        <p:blipFill>
          <a:blip r:embed="rId6"/>
          <a:stretch>
            <a:fillRect/>
          </a:stretch>
        </p:blipFill>
        <p:spPr>
          <a:xfrm>
            <a:off x="9419692" y="4500982"/>
            <a:ext cx="210312" cy="210312"/>
          </a:xfrm>
          <a:prstGeom prst="rect">
            <a:avLst/>
          </a:prstGeom>
        </p:spPr>
      </p:pic>
      <p:sp>
        <p:nvSpPr>
          <p:cNvPr id="42" name="Text 34"/>
          <p:cNvSpPr txBox="1"/>
          <p:nvPr/>
        </p:nvSpPr>
        <p:spPr>
          <a:xfrm>
            <a:off x="9314536"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UAE tax advantage</a:t>
            </a:r>
            <a:endParaRPr lang="en-US" sz="1500" dirty="0"/>
          </a:p>
        </p:txBody>
      </p:sp>
      <p:sp>
        <p:nvSpPr>
          <p:cNvPr id="43" name="Text 35"/>
          <p:cNvSpPr txBox="1"/>
          <p:nvPr/>
        </p:nvSpPr>
        <p:spPr>
          <a:xfrm>
            <a:off x="9314536" y="5246218"/>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9% corporate tax on profits above $102K, no personal income tax for employees, DBCC as institutional anchor</a:t>
            </a:r>
            <a:endParaRPr lang="en-US" sz="1200" dirty="0"/>
          </a:p>
        </p:txBody>
      </p:sp>
      <p:sp>
        <p:nvSpPr>
          <p:cNvPr id="44"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181718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157944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PARTNERS</a:t>
            </a:r>
            <a:endParaRPr lang="en-US" sz="900" dirty="0"/>
          </a:p>
        </p:txBody>
      </p:sp>
      <p:sp>
        <p:nvSpPr>
          <p:cNvPr id="5" name="Text 2"/>
          <p:cNvSpPr txBox="1"/>
          <p:nvPr/>
        </p:nvSpPr>
        <p:spPr>
          <a:xfrm>
            <a:off x="457200" y="1024128"/>
            <a:ext cx="11277295" cy="777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Become a founding Knowledge Partner</a:t>
            </a:r>
            <a:endParaRPr lang="en-US" sz="4400" dirty="0"/>
          </a:p>
        </p:txBody>
      </p:sp>
      <p:sp>
        <p:nvSpPr>
          <p:cNvPr id="6" name="Text 3"/>
          <p:cNvSpPr txBox="1"/>
          <p:nvPr/>
        </p:nvSpPr>
        <p:spPr>
          <a:xfrm>
            <a:off x="457200" y="1847088"/>
            <a:ext cx="11277295" cy="365760"/>
          </a:xfrm>
          <a:prstGeom prst="rect">
            <a:avLst/>
          </a:prstGeom>
          <a:noFill/>
          <a:ln/>
        </p:spPr>
        <p:txBody>
          <a:bodyPr wrap="square" lIns="0" tIns="0" rIns="0" bIns="0" rtlCol="0" anchor="t"/>
          <a:lstStyle/>
          <a:p>
            <a:pPr indent="0" marL="0">
              <a:buNone/>
            </a:pPr>
            <a:r>
              <a:rPr lang="en-US" sz="1900" dirty="0">
                <a:solidFill>
                  <a:srgbClr val="B4B4C8"/>
                </a:solidFill>
                <a:latin typeface="Arial" pitchFamily="34" charset="0"/>
                <a:ea typeface="Arial" pitchFamily="34" charset="-122"/>
                <a:cs typeface="Arial" pitchFamily="34" charset="-120"/>
              </a:rPr>
              <a:t>Help build the place where the digital economy learns, hosted by Dubai Blockchain Center</a:t>
            </a:r>
            <a:endParaRPr lang="en-US" sz="1900" dirty="0"/>
          </a:p>
        </p:txBody>
      </p:sp>
      <p:sp>
        <p:nvSpPr>
          <p:cNvPr id="7" name="Shape 4"/>
          <p:cNvSpPr/>
          <p:nvPr/>
        </p:nvSpPr>
        <p:spPr>
          <a:xfrm>
            <a:off x="457200" y="2468880"/>
            <a:ext cx="3576218" cy="2362200"/>
          </a:xfrm>
          <a:prstGeom prst="roundRect">
            <a:avLst>
              <a:gd name="adj" fmla="val 4645"/>
            </a:avLst>
          </a:prstGeom>
          <a:solidFill>
            <a:srgbClr val="171722"/>
          </a:solidFill>
          <a:ln w="15875">
            <a:solidFill>
              <a:srgbClr val="C9A84C"/>
            </a:solidFill>
            <a:prstDash val="solid"/>
          </a:ln>
        </p:spPr>
      </p:sp>
      <p:sp>
        <p:nvSpPr>
          <p:cNvPr id="8" name="Shape 5"/>
          <p:cNvSpPr/>
          <p:nvPr/>
        </p:nvSpPr>
        <p:spPr>
          <a:xfrm>
            <a:off x="713232" y="2724912"/>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843784"/>
            <a:ext cx="237744" cy="237744"/>
          </a:xfrm>
          <a:prstGeom prst="rect">
            <a:avLst/>
          </a:prstGeom>
        </p:spPr>
      </p:pic>
      <p:sp>
        <p:nvSpPr>
          <p:cNvPr id="10" name="Text 6"/>
          <p:cNvSpPr txBox="1"/>
          <p:nvPr/>
        </p:nvSpPr>
        <p:spPr>
          <a:xfrm>
            <a:off x="713232" y="3337560"/>
            <a:ext cx="3064154" cy="310896"/>
          </a:xfrm>
          <a:prstGeom prst="rect">
            <a:avLst/>
          </a:prstGeom>
          <a:noFill/>
          <a:ln/>
        </p:spPr>
        <p:txBody>
          <a:bodyPr wrap="square" lIns="0" tIns="0" rIns="0" bIns="0" rtlCol="0" anchor="t"/>
          <a:lstStyle/>
          <a:p>
            <a:pPr indent="0" marL="0">
              <a:buNone/>
            </a:pPr>
            <a:r>
              <a:rPr lang="en-US" sz="1800" b="1" dirty="0">
                <a:solidFill>
                  <a:srgbClr val="F0C96B"/>
                </a:solidFill>
                <a:latin typeface="Arial" pitchFamily="34" charset="0"/>
                <a:ea typeface="Arial" pitchFamily="34" charset="-122"/>
                <a:cs typeface="Arial" pitchFamily="34" charset="-120"/>
              </a:rPr>
              <a:t>Founding partners</a:t>
            </a:r>
            <a:endParaRPr lang="en-US" sz="1800" dirty="0"/>
          </a:p>
        </p:txBody>
      </p:sp>
      <p:sp>
        <p:nvSpPr>
          <p:cNvPr id="11" name="Text 7"/>
          <p:cNvSpPr txBox="1"/>
          <p:nvPr/>
        </p:nvSpPr>
        <p:spPr>
          <a:xfrm>
            <a:off x="713232"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Co-design a flagship track or an academy around the roles you hire for, co-host the first round tables, sit on the curriculum board</a:t>
            </a:r>
            <a:endParaRPr lang="en-US" sz="1400" dirty="0"/>
          </a:p>
        </p:txBody>
      </p:sp>
      <p:sp>
        <p:nvSpPr>
          <p:cNvPr id="12" name="Shape 8"/>
          <p:cNvSpPr/>
          <p:nvPr/>
        </p:nvSpPr>
        <p:spPr>
          <a:xfrm>
            <a:off x="4307738" y="2468880"/>
            <a:ext cx="3576218" cy="2362200"/>
          </a:xfrm>
          <a:prstGeom prst="roundRect">
            <a:avLst>
              <a:gd name="adj" fmla="val 4645"/>
            </a:avLst>
          </a:prstGeom>
          <a:solidFill>
            <a:srgbClr val="171722"/>
          </a:solidFill>
          <a:ln w="9525">
            <a:solidFill>
              <a:srgbClr val="2C2C3E"/>
            </a:solidFill>
            <a:prstDash val="solid"/>
          </a:ln>
        </p:spPr>
      </p:sp>
      <p:sp>
        <p:nvSpPr>
          <p:cNvPr id="13" name="Shape 9"/>
          <p:cNvSpPr/>
          <p:nvPr/>
        </p:nvSpPr>
        <p:spPr>
          <a:xfrm>
            <a:off x="4563770" y="2724912"/>
            <a:ext cx="475488" cy="475488"/>
          </a:xfrm>
          <a:prstGeom prst="ellipse">
            <a:avLst/>
          </a:prstGeom>
          <a:solidFill>
            <a:srgbClr val="1E1A10"/>
          </a:solidFill>
          <a:ln w="9525">
            <a:solidFill>
              <a:srgbClr val="5A4A22"/>
            </a:solidFill>
            <a:prstDash val="solid"/>
          </a:ln>
        </p:spPr>
      </p:sp>
      <p:pic>
        <p:nvPicPr>
          <p:cNvPr id="14" name="Image 1" descr="preencoded.png">    </p:cNvPr>
          <p:cNvPicPr>
            <a:picLocks noChangeAspect="1"/>
          </p:cNvPicPr>
          <p:nvPr/>
        </p:nvPicPr>
        <p:blipFill>
          <a:blip r:embed="rId3"/>
          <a:stretch>
            <a:fillRect/>
          </a:stretch>
        </p:blipFill>
        <p:spPr>
          <a:xfrm>
            <a:off x="4682642" y="2843784"/>
            <a:ext cx="237744" cy="237744"/>
          </a:xfrm>
          <a:prstGeom prst="rect">
            <a:avLst/>
          </a:prstGeom>
        </p:spPr>
      </p:pic>
      <p:sp>
        <p:nvSpPr>
          <p:cNvPr id="15" name="Text 10"/>
          <p:cNvSpPr txBox="1"/>
          <p:nvPr/>
        </p:nvSpPr>
        <p:spPr>
          <a:xfrm>
            <a:off x="4563770"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Pilot institutions</a:t>
            </a:r>
            <a:endParaRPr lang="en-US" sz="1800" dirty="0"/>
          </a:p>
        </p:txBody>
      </p:sp>
      <p:sp>
        <p:nvSpPr>
          <p:cNvPr id="16" name="Text 11"/>
          <p:cNvSpPr txBox="1"/>
          <p:nvPr/>
        </p:nvSpPr>
        <p:spPr>
          <a:xfrm>
            <a:off x="4563770"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Regulators, FIUs, banks and VASPs for the first team-licence cohorts, with feedback on L2-L3 content</a:t>
            </a:r>
            <a:endParaRPr lang="en-US" sz="1400" dirty="0"/>
          </a:p>
        </p:txBody>
      </p:sp>
      <p:sp>
        <p:nvSpPr>
          <p:cNvPr id="17" name="Shape 12"/>
          <p:cNvSpPr/>
          <p:nvPr/>
        </p:nvSpPr>
        <p:spPr>
          <a:xfrm>
            <a:off x="8158277" y="2468880"/>
            <a:ext cx="3576218" cy="2362200"/>
          </a:xfrm>
          <a:prstGeom prst="roundRect">
            <a:avLst>
              <a:gd name="adj" fmla="val 4645"/>
            </a:avLst>
          </a:prstGeom>
          <a:solidFill>
            <a:srgbClr val="171722"/>
          </a:solidFill>
          <a:ln w="9525">
            <a:solidFill>
              <a:srgbClr val="2C2C3E"/>
            </a:solidFill>
            <a:prstDash val="solid"/>
          </a:ln>
        </p:spPr>
      </p:sp>
      <p:sp>
        <p:nvSpPr>
          <p:cNvPr id="18" name="Shape 13"/>
          <p:cNvSpPr/>
          <p:nvPr/>
        </p:nvSpPr>
        <p:spPr>
          <a:xfrm>
            <a:off x="8414309" y="2724912"/>
            <a:ext cx="475488" cy="475488"/>
          </a:xfrm>
          <a:prstGeom prst="ellipse">
            <a:avLst/>
          </a:prstGeom>
          <a:solidFill>
            <a:srgbClr val="1E1A10"/>
          </a:solidFill>
          <a:ln w="9525">
            <a:solidFill>
              <a:srgbClr val="5A4A22"/>
            </a:solidFill>
            <a:prstDash val="solid"/>
          </a:ln>
        </p:spPr>
      </p:sp>
      <p:pic>
        <p:nvPicPr>
          <p:cNvPr id="19" name="Image 2" descr="preencoded.png">    </p:cNvPr>
          <p:cNvPicPr>
            <a:picLocks noChangeAspect="1"/>
          </p:cNvPicPr>
          <p:nvPr/>
        </p:nvPicPr>
        <p:blipFill>
          <a:blip r:embed="rId4"/>
          <a:stretch>
            <a:fillRect/>
          </a:stretch>
        </p:blipFill>
        <p:spPr>
          <a:xfrm>
            <a:off x="8533181" y="2843784"/>
            <a:ext cx="237744" cy="237744"/>
          </a:xfrm>
          <a:prstGeom prst="rect">
            <a:avLst/>
          </a:prstGeom>
        </p:spPr>
      </p:pic>
      <p:sp>
        <p:nvSpPr>
          <p:cNvPr id="20" name="Text 14"/>
          <p:cNvSpPr txBox="1"/>
          <p:nvPr/>
        </p:nvSpPr>
        <p:spPr>
          <a:xfrm>
            <a:off x="8414309"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Investors</a:t>
            </a:r>
            <a:endParaRPr lang="en-US" sz="1800" dirty="0"/>
          </a:p>
        </p:txBody>
      </p:sp>
      <p:sp>
        <p:nvSpPr>
          <p:cNvPr id="21" name="Text 15"/>
          <p:cNvSpPr txBox="1"/>
          <p:nvPr/>
        </p:nvSpPr>
        <p:spPr>
          <a:xfrm>
            <a:off x="8414309"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Fund the six-sprint go-live and the first partner academies: the $2M seed on slide 37</a:t>
            </a:r>
            <a:endParaRPr lang="en-US" sz="1400" dirty="0"/>
          </a:p>
        </p:txBody>
      </p:sp>
      <p:sp>
        <p:nvSpPr>
          <p:cNvPr id="22" name="Shape 16"/>
          <p:cNvSpPr/>
          <p:nvPr/>
        </p:nvSpPr>
        <p:spPr>
          <a:xfrm>
            <a:off x="457200" y="5105400"/>
            <a:ext cx="11277295" cy="658368"/>
          </a:xfrm>
          <a:prstGeom prst="roundRect">
            <a:avLst>
              <a:gd name="adj" fmla="val 16667"/>
            </a:avLst>
          </a:prstGeom>
          <a:solidFill>
            <a:srgbClr val="231E12"/>
          </a:solidFill>
          <a:ln w="9525">
            <a:solidFill>
              <a:srgbClr val="C9A84C"/>
            </a:solidFill>
            <a:prstDash val="solid"/>
          </a:ln>
        </p:spPr>
      </p:sp>
      <p:sp>
        <p:nvSpPr>
          <p:cNvPr id="23" name="Shape 17"/>
          <p:cNvSpPr/>
          <p:nvPr/>
        </p:nvSpPr>
        <p:spPr>
          <a:xfrm>
            <a:off x="640080" y="5224272"/>
            <a:ext cx="420624" cy="420624"/>
          </a:xfrm>
          <a:prstGeom prst="ellipse">
            <a:avLst/>
          </a:prstGeom>
          <a:solidFill>
            <a:srgbClr val="C9A84C"/>
          </a:solidFill>
          <a:ln w="9525">
            <a:solidFill>
              <a:srgbClr val="C9A84C"/>
            </a:solidFill>
            <a:prstDash val="solid"/>
          </a:ln>
        </p:spPr>
      </p:sp>
      <p:pic>
        <p:nvPicPr>
          <p:cNvPr id="24" name="Image 3" descr="preencoded.png">    </p:cNvPr>
          <p:cNvPicPr>
            <a:picLocks noChangeAspect="1"/>
          </p:cNvPicPr>
          <p:nvPr/>
        </p:nvPicPr>
        <p:blipFill>
          <a:blip r:embed="rId5"/>
          <a:stretch>
            <a:fillRect/>
          </a:stretch>
        </p:blipFill>
        <p:spPr>
          <a:xfrm>
            <a:off x="745236" y="5329428"/>
            <a:ext cx="210312" cy="210312"/>
          </a:xfrm>
          <a:prstGeom prst="rect">
            <a:avLst/>
          </a:prstGeom>
        </p:spPr>
      </p:pic>
      <p:sp>
        <p:nvSpPr>
          <p:cNvPr id="25" name="Text 18"/>
          <p:cNvSpPr txBox="1"/>
          <p:nvPr/>
        </p:nvSpPr>
        <p:spPr>
          <a:xfrm>
            <a:off x="1234440" y="5105400"/>
            <a:ext cx="10362895" cy="658368"/>
          </a:xfrm>
          <a:prstGeom prst="rect">
            <a:avLst/>
          </a:prstGeom>
          <a:noFill/>
          <a:ln/>
        </p:spPr>
        <p:txBody>
          <a:bodyPr wrap="square" lIns="0" tIns="0" rIns="0" bIns="0" rtlCol="0" anchor="ctr"/>
          <a:lstStyle/>
          <a:p>
            <a:pPr indent="0" marL="0">
              <a:buNone/>
            </a:pPr>
            <a:r>
              <a:rPr lang="en-US" sz="1700" b="1" dirty="0">
                <a:solidFill>
                  <a:srgbClr val="F0C96B"/>
                </a:solidFill>
                <a:latin typeface="Arial" pitchFamily="34" charset="0"/>
                <a:ea typeface="Arial" pitchFamily="34" charset="-122"/>
                <a:cs typeface="Arial" pitchFamily="34" charset="-120"/>
              </a:rPr>
              <a:t>Next step: </a:t>
            </a:r>
            <a:r>
              <a:rPr lang="en-US" sz="1700" dirty="0">
                <a:solidFill>
                  <a:srgbClr val="FFFFFF"/>
                </a:solidFill>
                <a:latin typeface="Arial" pitchFamily="34" charset="0"/>
                <a:ea typeface="Arial" pitchFamily="34" charset="-122"/>
                <a:cs typeface="Arial" pitchFamily="34" charset="-120"/>
              </a:rPr>
              <a:t>a working session to choose your district, first track and first round table</a:t>
            </a:r>
            <a:endParaRPr lang="en-US" sz="1700" dirty="0"/>
          </a:p>
        </p:txBody>
      </p:sp>
      <p:sp>
        <p:nvSpPr>
          <p:cNvPr id="26" name="Text 19"/>
          <p:cNvSpPr txBox="1"/>
          <p:nvPr/>
        </p:nvSpPr>
        <p:spPr>
          <a:xfrm>
            <a:off x="1234440" y="5946648"/>
            <a:ext cx="103628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Contact: </a:t>
            </a:r>
            <a:r>
              <a:rPr lang="en-US" sz="1400" dirty="0">
                <a:solidFill>
                  <a:srgbClr val="E8E8F0"/>
                </a:solidFill>
                <a:latin typeface="Arial" pitchFamily="34" charset="0"/>
                <a:ea typeface="Arial" pitchFamily="34" charset="-122"/>
                <a:cs typeface="Arial" pitchFamily="34" charset="-120"/>
              </a:rPr>
              <a:t>partners@chronopoli.io · chronopoli.io</a:t>
            </a:r>
            <a:endParaRPr lang="en-US" sz="1400" dirty="0"/>
          </a:p>
        </p:txBody>
      </p:sp>
      <p:sp>
        <p:nvSpPr>
          <p:cNvPr id="27"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AWS UAE · me-central-1</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Confidential · for authorised recipients only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Pitch Deck</dc:title>
  <dc:subject>Investor and partner presentation (v3, aligned with the March 2026 master papers; Tether as the one named partner focus)</dc:subject>
  <dc:creator>Chronopoli</dc:creator>
  <cp:lastModifiedBy>Chronopoli</cp:lastModifiedBy>
  <cp:revision>1</cp:revision>
  <dcterms:created xsi:type="dcterms:W3CDTF">2026-09-30T11:51:10Z</dcterms:created>
  <dcterms:modified xsi:type="dcterms:W3CDTF">2026-09-30T11:51:10Z</dcterms:modified>
</cp:coreProperties>
</file>