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Annual growth by segment (CAGR) · market size in the label</a:t>
            </a:r>
          </a:p>
        </c:rich>
      </c:tx>
      <c:layout/>
      <c:overlay val="0"/>
    </c:title>
    <c:autoTitleDeleted val="0"/>
    <c:plotArea>
      <c:layout/>
      <c:barChart>
        <c:barDir val="bar"/>
        <c:grouping val="clustered"/>
        <c:varyColors val="0"/>
        <c:ser>
          <c:idx val="0"/>
          <c:order val="0"/>
          <c:tx>
            <c:strRef>
              <c:f>Sheet1!$B$1</c:f>
              <c:strCache>
                <c:ptCount val="1"/>
                <c:pt idx="0">
                  <c:v>CAGR</c:v>
                </c:pt>
              </c:strCache>
            </c:strRef>
          </c:tx>
          <c:spPr>
            <a:solidFill>
              <a:srgbClr val="C9A84C"/>
            </a:solidFill>
            <a:effectLst/>
          </c:spPr>
          <c:invertIfNegative val="0"/>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cat>
            <c:multiLvlStrRef>
              <c:f>Sheet1!$A$2:$A$6</c:f>
              <c:multiLvlStrCache>
                <c:ptCount val="5"/>
                <c:lvl>
                  <c:pt idx="0">
                    <c:v>Corporate L&amp;D · $380B</c:v>
                  </c:pt>
                  <c:pt idx="1">
                    <c:v>Compliance training · $14.9B</c:v>
                  </c:pt>
                  <c:pt idx="2">
                    <c:v>Digital-assets education · $3.5B</c:v>
                  </c:pt>
                  <c:pt idx="3">
                    <c:v>AI-governance training · $1.2B</c:v>
                  </c:pt>
                  <c:pt idx="4">
                    <c:v>Community platforms · $8.5B</c:v>
                  </c:pt>
                </c:lvl>
              </c:multiLvlStrCache>
            </c:multiLvlStrRef>
          </c:cat>
          <c:val>
            <c:numRef>
              <c:f>Sheet1!$B$2:$B$6</c:f>
              <c:numCache>
                <c:formatCode>General</c:formatCode>
                <c:ptCount val="5"/>
                <c:pt idx="0">
                  <c:v>12</c:v>
                </c:pt>
                <c:pt idx="1">
                  <c:v>16</c:v>
                </c:pt>
                <c:pt idx="2">
                  <c:v>35</c:v>
                </c:pt>
                <c:pt idx="3">
                  <c:v>42</c:v>
                </c:pt>
                <c:pt idx="4">
                  <c:v>18</c:v>
                </c:pt>
              </c:numCache>
            </c:numRef>
          </c:val>
        </c:ser>
        <c:dLbls>
          <c:numFmt formatCode="0&quot;%&quot;" sourceLinked="0"/>
          <c:txPr>
            <a:bodyPr/>
            <a:lstStyle/>
            <a:p>
              <a:pPr>
                <a:defRPr b="1" i="0" strike="noStrike" sz="1200" u="none">
                  <a:solidFill>
                    <a:srgbClr val="F0C96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18"/>
          <c:y val="0.19"/>
          <c:w val="0.78"/>
          <c:h val="0.79"/>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A8AA0"/>
            </a:solidFill>
            <a:effectLst/>
          </c:spPr>
          <c:invertIfNegative val="0"/>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gt;=20000]$#,##0,&quot;k&quot;;&quot;&quot;" sourceLinked="0"/>
          <c:txPr>
            <a:bodyPr/>
            <a:lstStyle/>
            <a:p>
              <a:pPr>
                <a:defRPr b="0" i="0" strike="noStrike" sz="9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8E8F0"/>
                </a:solidFill>
                <a:latin typeface="Arial"/>
              </a:defRPr>
            </a:pPr>
            <a:r>
              <a:rPr sz="1300" b="0" i="0" u="none" strike="noStrike">
                <a:solidFill>
                  <a:srgbClr val="E8E8F0"/>
                </a:solidFill>
                <a:latin typeface="Arial"/>
              </a:rPr>
              <a:t>Revenue by stream, Year 1 vs Year 3 ($K)</a:t>
            </a:r>
          </a:p>
        </c:rich>
      </c:tx>
      <c:layout/>
      <c:overlay val="0"/>
    </c:title>
    <c:autoTitleDeleted val="0"/>
    <c:plotArea>
      <c:layout/>
      <c:barChart>
        <c:barDir val="bar"/>
        <c:grouping val="stacked"/>
        <c:varyColors val="0"/>
        <c:ser>
          <c:idx val="0"/>
          <c:order val="0"/>
          <c:tx>
            <c:strRef>
              <c:f>Sheet1!$B$1</c:f>
              <c:strCache>
                <c:ptCount val="1"/>
                <c:pt idx="0">
                  <c:v>Company Academies</c:v>
                </c:pt>
              </c:strCache>
            </c:strRef>
          </c:tx>
          <c:spPr>
            <a:solidFill>
              <a:srgbClr val="C9A84C"/>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Sheet1!$B$2:$B$3</c:f>
              <c:numCache>
                <c:formatCode>General</c:formatCode>
                <c:ptCount val="2"/>
                <c:pt idx="0">
                  <c:v>825</c:v>
                </c:pt>
                <c:pt idx="1">
                  <c:v>2400</c:v>
                </c:pt>
              </c:numCache>
            </c:numRef>
          </c:val>
        </c:ser>
        <c:ser>
          <c:idx val="1"/>
          <c:order val="1"/>
          <c:tx>
            <c:strRef>
              <c:f>Sheet1!$C$1</c:f>
              <c:strCache>
                <c:ptCount val="1"/>
                <c:pt idx="0">
                  <c:v>Corporate Team Subs</c:v>
                </c:pt>
              </c:strCache>
            </c:strRef>
          </c:tx>
          <c:spPr>
            <a:solidFill>
              <a:srgbClr val="F0C96B"/>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Sheet1!$C$2:$C$3</c:f>
              <c:numCache>
                <c:formatCode>General</c:formatCode>
                <c:ptCount val="2"/>
                <c:pt idx="0">
                  <c:v>480</c:v>
                </c:pt>
                <c:pt idx="1">
                  <c:v>2400</c:v>
                </c:pt>
              </c:numCache>
            </c:numRef>
          </c:val>
        </c:ser>
        <c:ser>
          <c:idx val="2"/>
          <c:order val="2"/>
          <c:tx>
            <c:strRef>
              <c:f>Sheet1!$D$1</c:f>
              <c:strCache>
                <c:ptCount val="1"/>
                <c:pt idx="0">
                  <c:v>Individual Subscriptions</c:v>
                </c:pt>
              </c:strCache>
            </c:strRef>
          </c:tx>
          <c:spPr>
            <a:solidFill>
              <a:srgbClr val="9B7A2E"/>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Sheet1!$D$2:$D$3</c:f>
              <c:numCache>
                <c:formatCode>General</c:formatCode>
                <c:ptCount val="2"/>
                <c:pt idx="0">
                  <c:v>280</c:v>
                </c:pt>
                <c:pt idx="1">
                  <c:v>2800</c:v>
                </c:pt>
              </c:numCache>
            </c:numRef>
          </c:val>
        </c:ser>
        <c:ser>
          <c:idx val="3"/>
          <c:order val="3"/>
          <c:tx>
            <c:strRef>
              <c:f>Sheet1!$E$1</c:f>
              <c:strCache>
                <c:ptCount val="1"/>
                <c:pt idx="0">
                  <c:v>Open Marketplace</c:v>
                </c:pt>
              </c:strCache>
            </c:strRef>
          </c:tx>
          <c:spPr>
            <a:solidFill>
              <a:srgbClr val="8A8AA0"/>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Sheet1!$E$2:$E$3</c:f>
              <c:numCache>
                <c:formatCode>General</c:formatCode>
                <c:ptCount val="2"/>
                <c:pt idx="0">
                  <c:v>100</c:v>
                </c:pt>
                <c:pt idx="1">
                  <c:v>750</c:v>
                </c:pt>
              </c:numCache>
            </c:numRef>
          </c:val>
        </c:ser>
        <c:ser>
          <c:idx val="4"/>
          <c:order val="4"/>
          <c:tx>
            <c:strRef>
              <c:f>Sheet1!$F$1</c:f>
              <c:strCache>
                <c:ptCount val="1"/>
                <c:pt idx="0">
                  <c:v>Certification Fees</c:v>
                </c:pt>
              </c:strCache>
            </c:strRef>
          </c:tx>
          <c:spPr>
            <a:solidFill>
              <a:srgbClr val="5A5A70"/>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Sheet1!$F$2:$F$3</c:f>
              <c:numCache>
                <c:formatCode>General</c:formatCode>
                <c:ptCount val="2"/>
                <c:pt idx="0">
                  <c:v>30</c:v>
                </c:pt>
                <c:pt idx="1">
                  <c:v>240</c:v>
                </c:pt>
              </c:numCache>
            </c:numRef>
          </c:val>
        </c:ser>
        <c:ser>
          <c:idx val="5"/>
          <c:order val="5"/>
          <c:tx>
            <c:strRef>
              <c:f>Sheet1!$G$1</c:f>
              <c:strCache>
                <c:ptCount val="1"/>
                <c:pt idx="0">
                  <c:v>Summit + Research</c:v>
                </c:pt>
              </c:strCache>
            </c:strRef>
          </c:tx>
          <c:spPr>
            <a:solidFill>
              <a:srgbClr val="D6D6E4"/>
            </a:solidFill>
            <a:effectLst/>
          </c:spPr>
          <c:invertIfNegative val="0"/>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Year 1 · $1.72M</c:v>
                  </c:pt>
                  <c:pt idx="1">
                    <c:v>Year 3 · $9.59M</c:v>
                  </c:pt>
                </c:lvl>
              </c:multiLvlStrCache>
            </c:multiLvlStrRef>
          </c:cat>
          <c:val>
            <c:numRef>
              <c:f>Sheet1!$G$2:$G$3</c:f>
              <c:numCache>
                <c:formatCode>General</c:formatCode>
                <c:ptCount val="2"/>
                <c:pt idx="0">
                  <c:v>0</c:v>
                </c:pt>
                <c:pt idx="1">
                  <c:v>1000</c:v>
                </c:pt>
              </c:numCache>
            </c:numRef>
          </c:val>
        </c:ser>
        <c:dLbls>
          <c:numFmt formatCode="[&gt;=700]$#,##0&quot;K&quot;;&quot;&quot;" sourceLinked="0"/>
          <c:txPr>
            <a:bodyPr/>
            <a:lstStyle/>
            <a:p>
              <a:pPr>
                <a:defRPr b="0" i="0" strike="noStrike" sz="1100" u="none">
                  <a:solidFill>
                    <a:srgbClr val="0A0A0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C9A84C"/>
              </a:solidFill>
              <a:ln w="12700" cap="flat">
                <a:solidFill>
                  <a:srgbClr val="171722"/>
                </a:solidFill>
                <a:prstDash val="solid"/>
                <a:round/>
              </a:ln>
              <a:effectLst/>
            </c:spPr>
          </c:dPt>
          <c:dPt>
            <c:idx val="1"/>
            <c:bubble3D val="0"/>
            <c:spPr>
              <a:solidFill>
                <a:srgbClr val="F0C96B"/>
              </a:solidFill>
              <a:ln w="12700" cap="flat">
                <a:solidFill>
                  <a:srgbClr val="171722"/>
                </a:solidFill>
                <a:prstDash val="solid"/>
                <a:round/>
              </a:ln>
              <a:effectLst/>
            </c:spPr>
          </c:dPt>
          <c:dPt>
            <c:idx val="2"/>
            <c:bubble3D val="0"/>
            <c:spPr>
              <a:solidFill>
                <a:srgbClr val="8A8AA0"/>
              </a:solidFill>
              <a:ln w="12700" cap="flat">
                <a:solidFill>
                  <a:srgbClr val="171722"/>
                </a:solidFill>
                <a:prstDash val="solid"/>
                <a:round/>
              </a:ln>
              <a:effectLst/>
            </c:spPr>
          </c:dPt>
          <c:dPt>
            <c:idx val="3"/>
            <c:bubble3D val="0"/>
            <c:spPr>
              <a:solidFill>
                <a:srgbClr val="D6D6E4"/>
              </a:solidFill>
              <a:ln w="12700" cap="flat">
                <a:solidFill>
                  <a:srgbClr val="171722"/>
                </a:solidFill>
                <a:prstDash val="solid"/>
                <a:round/>
              </a:ln>
              <a:effectLst/>
            </c:spPr>
          </c:dPt>
          <c:dLbls>
            <c:dLbl>
              <c:idx val="0"/>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1"/>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2"/>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dLbl>
              <c:idx val="3"/>
              <c:numFmt formatCode="0%" sourceLinked="0"/>
              <c:spPr/>
              <c:txPr>
                <a:bodyPr/>
                <a:lstStyle/>
                <a:p>
                  <a:pPr>
                    <a:defRPr sz="1000" b="1" i="0" u="none" strike="noStrike">
                      <a:solidFill>
                        <a:srgbClr val="0A0A0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Sales &amp; partnership team</c:v>
                </c:pt>
                <c:pt idx="1">
                  <c:v>Marketing &amp; conferences</c:v>
                </c:pt>
                <c:pt idx="2">
                  <c:v>Platform scaling</c:v>
                </c:pt>
                <c:pt idx="3">
                  <c:v>G&amp;A, legal, operations</c:v>
                </c:pt>
              </c:strCache>
            </c:strRef>
          </c:cat>
          <c:val>
            <c:numRef>
              <c:f>Sheet1!$B$2:$B$5</c:f>
              <c:numCache>
                <c:ptCount val="4"/>
                <c:pt idx="0">
                  <c:v>600</c:v>
                </c:pt>
                <c:pt idx="1">
                  <c:v>400</c:v>
                </c:pt>
                <c:pt idx="2">
                  <c:v>400</c:v>
                </c:pt>
                <c:pt idx="3">
                  <c:v>600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one platform where regulators, financial intelligence units, banks, exchanges, fintechs, enterprises, founders and students learn the digital economy, hosted by Dubai Blockchain Center. The platform is built but not live yet. Every screen in this deck is either a real platform screen or a clearly labelled design prototype. The running example, a Tether academy, is fictitious demo data: Tether is a target partner, not a signed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problems from the master investor deck. The speed mismatch is the killer fact: MiCA, FATF guidance and new crypto typologies change monthly, universities take 18 months to update a curriculum and the big certification bodies about 6. Every team in the room has felt this, from product and treasury to risk and compliance. Use one concrete picture: a stablecoin team that must understand multichain settlement, reserve attestations and new regulation within weeks, and today pieces that together from webinars and PDFs. Each problem has an answer that the product tour shows on real screens; the numbers under each answer are the slides. The update in under 48 hours is a design target for partner authoring plus the round-table pipeline, not a measured result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isn't a course catalogue; it's a city map. A district is where a topic lives, and a layer is how deep you go. The districts are built into the platform itself, not just into the marketing, and the same grid organises the community forums on slide 14. Internal, not for the audience: the current landing-page draft still says six districts, shows a '50+ Partners' figure and a 'Trusted by' strip with roadmap names. This capture uses corrected copy, and the page must be fixed before anything goes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one platform. Symposia is the community intelligence engine: round tables that become papers, posts and partner reports. Company Academies are branded partner academies with pathways, verified badges and a talent pipeline. Open Knowledge is the AI tutor, digital twins and the open course marketplace. Every feature serves the network effect: more partners bring more content, which makes the AI smarter, which brings more value. Each product-tour slide carries its pillar in a label next to the step, so you can see every pillar on real screens. Be precise on two points: publishing needs one human approval, and TikTok is on the roadmap, not yet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one person, Layla, through every function, and then the partner behind her course. Three fictitious people carry the story: Layla the learner, Nadia who runs the partner academy, and Dr. Amira Haddad who moderates round tables. Two labels tell you what each screen is: a real platform screen was captured from the working platform on our demo system, and a design prototype shows a page that is still to be built. Layla is one persona of several, and USDT-201 is one of eight illustrative Tether courses: USDT-101 fundamentals, 102 multichain, 202 reserves and attestations, 203 payments and treasury, 301 investigations, 302 regulation and the 401 executive programme; four of the eight sit in the Digital Assets District. Every step also carries its pillar (slide 4): Symposia, Company Academies, Open Knowledge, or the shared platform core. Her course runs from 1 September 2026, and her badge is issued on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build a catalogue from scratch: the platform gives us one, with search, filters and course pages out of the box. These screens still use the platform's default look with the Chronopoli name and a demo wordmark, not yet the dark and gold design. The district filter is switched off in the demo because it still shows raw district codes; the district still appears on every card. The frame shows the first two rows; the zoom is the USDT-301 card from the same screen, and the list on the right gives all eight demo tracks: USDT-101 is free (L1), USDT-301 costs $1,499 (L3).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recommendation isn't mocked: Layla's answers went through the real routing rules. Call it onboarding, not AI: the routing follows clear rules, which also makes it easy to explain. The AI comes in on slide 11, where the tutor reuses this profile. Because the home district follows the learner's own focus choice, an FIU investigator who picks financial-crime investigation lands in Investigation, and a ministry adviser who picks governance lands in Governance. Before launch, these pages still need their final integration into the live platform, and the answers must be checked against the allowed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partner admin, Nadia Karim (fictitious), sets this up in the back office: partner record, web address, pathways, badges and jobs. Two honest caveats. The page doesn't yet apply the partner's brand colour or logo. And the partner's own web address (tether.chronopoli.io) is not switched on yet; for the demo we opened the academy directly. The frame shows the top of the academy page; the open roles follow further down the same page, and slide 13 shows the job board. This is the Company Academies pillar: a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page and price are real: USDT-201, L2 Professional, $599. Chronopoli never sees card details, because payment runs on a secure hosted checkout from an established payment provider. Once she has paid, the platform enrols Layla automatically and records the partner’s 70% share, and a repeated payment notice cannot enrol her twice. The confirmation page is a design prototype, not yet built. Still to do before launch: making payment a condition of access inside the course itself, and handling refunds.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worked through the course in a real browser session; these aren't mock-ups. This is the advantage in practice: proven courseware, grading and progress tracking that we don't have to build or maintain ourselves. Our effort goes into what sits around it: districts, academies, credentials, round tables and the AI tutor. Partner faculty write this content themselves in course authoring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tutor window and the Chronopoli header are our own product, and the tutor shapes its answer around Layla's onboarding profile: Compliance District, L2 depth, exchange examples. For this demo the answer text is scripted, not a live AI answer; say so if asked. This is the platform moat: tutoring grounded in partner courses and round-table papers, which no general-purpose AI has. A reliability fix for long conversations is already done. Still to do before launch: building the knowledge base from the course content, its access rules and per-user usage limits. The dark and gold look is the target Chronopoli design; the real platform screens on slide 10 still use the default look, and both show the same Module 3 outline. This is the AI Tutor of the Open Knowledge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Layla answered one capstone question wrong on purpose, so the 85% is a grade the platform computed from her submitted answers. The pathway spans Digital Assets, Compliance, Risk &amp; Trust and Governance. That’s the city idea: one credential built from several districts. In the demo the pathway page uses sample progress data; at launch it reads the grades straight from the platform, so there is one grade record and no parallel grade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to partners: you don't just educate the market, you hire from it. The badge was awarded by the platform's own badge logic. Two things must be in place before this runs automatically and compliantly: the badge has to be issued automatically when the certificate is created, and learners must explicitly opt in before they are put forward for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ran for real on our demo system for these captures, with seeded content. The thread starts from the Module 4 worked example in the lecture, where both VASPs already apply the Travel Rule, and asks about the harder sunrise case, so course, video and community connect. The AI slide builder for staff is not shown, because we could not capture it for this deck. Before launch, the shared sign-in between courses and community still needs its final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switch personas here: Nadia Karim runs the partner academy, and Dr. Amira Haddad moderates round tables. Both are fictitious. From now on, the question is what a partner gets for its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Partners already know this kind of tool: universities and companies use it worldwide. All eight demo courses were built and imported this way, so onboarding a partner’s content means importing a course, not starting a software project. Every platform release improves authoring at no extra cost to us. Pathways, badges and job postings are then set up in the academy back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counts on the right come from 811 demo accounts plus Layla, sized to match the scenario. If asked about the other 292: in the demo they are free (unpaid) enrolments, and the scenario counts only paid enrolments as sales. The weekly report is built. Still to do before launch: partner user accounts with the right access, reports limited to each partner’s own data, the dashboard page itself, and the completion-rate figure, which is not calculated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differentiator. Putting an issuer, a central bank, an exchange and a regulator-facing moderator in one room is something no online course platform can sell. The round-table pages print times in UTC, so the agenda is written in UTC too: 12:00 UTC is 16:00 in Dubai. Still to do before launch: recording the live stream and starting the content pipeline automatically after each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these output texts are mock copy written for the demo and shown in the real pages. The pipeline has not processed a real session yet. One round table becomes five outputs: the opinion paper, a LinkedIn post per participant, an Instagram carousel, the Partner Intelligence Report for the sponsor and, once approved, an update to the AI tutor’s knowledge base. The screen also lists the transcript and the analysis, the two intermediate products. The master papers’ “3 hours” and “10 minutes” are design targets. TikTok is on the roadmap, not yet built. Don’t promise anonymity yet: today the analysis picks out named quotes and the paper prints them with a participant list, so Chatham House anonymisation must be built in before the first real session. Also still to do before launch: connecting the live recording to the pipeline, the hand-off to the approval queue and the PDF version of the paper. The approval queue prints UTC: 14:03 UTC is 18:03 in Dubai, about half an hour after the 16:00-17:30 GST session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document analysis and the question workflow, including expert approval of each question, are built. The two pages are design prototypes, not yet built. Consent is a design rule that still has to be built: before any voice is cloned we need a recorded written consent, and a publish check so that no twin goes live without the expert’s approval. The expert must be able to withdraw the twin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numbers are the Chronopoli Master Document estimates; we have not had them independently verified, so say that if asked. The TAM is professional digital-economy training, $45B; the serviceable market is enterprise training in MENA and Europe, $8.5B; the obtainable share is $9.6M by Year 3, the same figure as the Year 3 revenue projection. The five segments overlap and are not additive, which is why corporate L&amp;D alone is larger than the TAM. The point of the slide is growth: AI-governance training and digital-assets education grow at 42% and 35% a year, and nobody connects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model is B2B-first: companies fund everything. A Founding Academy costs $150,000 a year. For that the partner gets trained staff and trained regulators, verified credentials, qualified candidates sent directly to its hiring team, and a Partner Intelligence Report every time its name comes up in a round table. Compare that with about $20,000 for a single recruiter placement. Before a single student pays, the Company Academies alone bring $825,000 in Year 1. These are Master Document projections. The next slides show the second pricing view, the one already built into the product: per-course layer prices, seats and the 70/30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mechanics, and the first three are already built into the product. The price ladder puts a whole academy on one screen, from a free USDT-101 to a $4,500 live cohort in Dubai. This is the second pricing view: the commercial model on slide 22 (academy fees, subscriptions) is what the master projections count; these are the mechanics that already exist in the product. The $1,500 per seat per year there is the $125 per seat per month here. Company Academy fees follow the master pricing ($25K–$150K a year); what each partner tier gets within that range isn't set yet, so don't quote tier fees. The model's strength is that partners bring content and audience, and Chronopoli takes 30% of every partner sale without producing the course. Internal: the L1 price label in the product still reads $49-$149 and must be aligned to the $0-149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sell. Individuals buy course by course, and the prices on the left are the real platform settings, not a mock-up. Employers buy seats: Gulf Digital Exchange buys 25 seats and has assigned 18. The team licence page is a design prototype, not yet built. Two things to settle before launch: the subscription bills yearly while the price list is monthly, and seat assignment is only a counter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built into the checkout: each purchase carries a transfer of 70 percent to the partner’s payout account, and a payout record is written for every purchase. The gross counts individual purchases only; team-licence revenue comes on top. Still to do before launch: marking payouts as paid once the money has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plainly: this is a model of one academy, not reported revenue. Three things to take from it. First, the free USDT-101 is the funnel, with 2,140 enrolments or 44% of the total. Second, 50 live-cohort seats bring $225,000, about 72% of what 520 buyers of the flagship L2 course bring. Third, the platform keeps $332,532 without producing a single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are Master Document projections, not results. The model is B2B-first: Company Academies and team seats carry Year 1, and individual subscriptions become the largest stream by Year 3. Running costs are low, so the projected 67.5% EBITDA margin in Year 1 comes from the revenue model, not from cost cutting. Month 5 counts from the commercial launch, and the launch follows the 90-day plan on slide 32, so don't present it as a calendar date. At the Year 3 projection of $9.59M, the $8M pre-money is below one times projected Year 3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statuses exactly as they are. The platform is built but not live yet, and the launch plan is in place: going live is the first step of the 90-day plan on slide 32, with hosting in the UAE. Dubai Blockchain Center is the confirmed anchor, with a network of more than 500 companies. The BUiD academic MOU is in progress, with 30 CPD credits a year as the recognition target. Tether is the one named target partner, for the Strategic tier: the demo academy in the product tour is built around an illustrative Tether scenario with mock data, and no partnership is implied. The two Founding Partner seats, $150K a year each, are open; nothing is signed. If asked what "built" means: the real platform screens in this deck show the working product, and the pages labelled design prototype are still to be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The ratings of the competitors are the Master Document’s. The Chronopoli column means built and shown in this deck, but not live yet; it goes live with the launch plan. The last column points to the slide that shows each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moats, and each strengthens the other two. The knowledge moat: every round table, paper and masterclass feeds the AI tutor, and no general-purpose AI has that knowledge base. Partner lock-in: an academy’s credential history, talent pipeline and community live inside Chronopoli. Network effects: more partners, more round tables, more knowledge, more users, more employer demand, more partners. Behind all three sits a lean cost base, so SaaS competitors cannot undercut us without losing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 brings compliance depth: KYC, AML and EDD across Liechtenstein, Switzerland and the UAE, plus the DBCC network. The CTO seat is open: we are looking for a senior platform and infrastructure engineer with MENA experience. The CTO takes over a built platform and a concrete launch plan (slides 28 and 32). Maria Papadaki of BUiD advises as academic partner; DBCC leadership supports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to go live, close two Founding Partners before the public launch, then let the product sell itself. The first 90 days: finish launch preparation and go live in the UAE, pitch the Tether academy with one slide and one demo, open the Founding Partner conversations, run three beta round tables through DBCC and sign the BUiD MOU. Months 3 to 6: public free tier, first opinion papers on LinkedIn, 2,000 registrations and the first company academy. Months 6 to 12: 400 paid subscribers, four corporate team licences, three more strategic partners and the first digital-twin masterclass. Then TOKEN2049, an annual summit and Singapore. Month counts are master-plan targets, not dated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master plan fills two Founding Academy seats at $150K a year each; neither is filled, and we do not name candidates. Tether is the one named target, in the Strategic tier: the academy in the product tour is an illustrative Tether scenario with mock data, not a partnership. Sequence: founding partners come first, because they shape the curricula and co-host the first round tables. Strategic academies like the Tether scenario follow once company academies are live. Content partners deepen individual districts, including the AI District. Institutions give the credentials weight with regulators and employers.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raising $2M in a seed round at an $8M pre-money valuation, as equity or a SAFE, for 18 months of runway. Use of funds: $600K for the sales and partnership team, $400K for marketing and conferences, $400K for platform scaling, and $600K for G&amp;A, legal and operations. Four reasons: the platform is built and the launch plan is concrete; companies pay us, not students; the operating model is lean; and the UAE tax regime plus the DBCC anchor. Don't say the platform is live: going live is the first step of the 90-day plan on slide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not on features. The product is built and you've seen it on real screens; what's missing is going live and the first founding partners. The investor terms are on slide 34: $2M seed at $8M pre-money. This slide is the partner version of the ask. Offer the product overview as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1-image-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6-image-1.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Slide-27-image-1.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image" Target="../media/image-29-13.png"/><Relationship Id="rId14" Type="http://schemas.openxmlformats.org/officeDocument/2006/relationships/image" Target="../media/image-29-14.png"/><Relationship Id="rId15" Type="http://schemas.openxmlformats.org/officeDocument/2006/relationships/image" Target="../media/image-29-15.png"/><Relationship Id="rId16" Type="http://schemas.openxmlformats.org/officeDocument/2006/relationships/image" Target="../media/image-29-16.png"/><Relationship Id="rId17" Type="http://schemas.openxmlformats.org/officeDocument/2006/relationships/image" Target="../media/image-29-17.png"/><Relationship Id="rId18" Type="http://schemas.openxmlformats.org/officeDocument/2006/relationships/image" Target="../media/image-29-18.png"/><Relationship Id="rId19" Type="http://schemas.openxmlformats.org/officeDocument/2006/relationships/image" Target="../media/image-29-19.png"/><Relationship Id="rId20" Type="http://schemas.openxmlformats.org/officeDocument/2006/relationships/image" Target="../media/image-29-20.png"/><Relationship Id="rId21" Type="http://schemas.openxmlformats.org/officeDocument/2006/relationships/image" Target="../media/image-29-21.png"/><Relationship Id="rId22" Type="http://schemas.openxmlformats.org/officeDocument/2006/relationships/image" Target="../media/image-29-22.png"/><Relationship Id="rId23" Type="http://schemas.openxmlformats.org/officeDocument/2006/relationships/image" Target="../media/image-29-23.png"/><Relationship Id="rId24" Type="http://schemas.openxmlformats.org/officeDocument/2006/relationships/image" Target="../media/image-29-24.png"/><Relationship Id="rId25" Type="http://schemas.openxmlformats.org/officeDocument/2006/relationships/image" Target="../media/image-29-25.png"/><Relationship Id="rId26" Type="http://schemas.openxmlformats.org/officeDocument/2006/relationships/image" Target="../media/image-29-26.png"/><Relationship Id="rId27" Type="http://schemas.openxmlformats.org/officeDocument/2006/relationships/image" Target="../media/image-29-27.png"/><Relationship Id="rId28" Type="http://schemas.openxmlformats.org/officeDocument/2006/relationships/image" Target="../media/image-29-28.png"/><Relationship Id="rId29" Type="http://schemas.openxmlformats.org/officeDocument/2006/relationships/image" Target="../media/image-29-29.png"/><Relationship Id="rId30" Type="http://schemas.openxmlformats.org/officeDocument/2006/relationships/image" Target="../media/image-29-30.png"/><Relationship Id="rId31" Type="http://schemas.openxmlformats.org/officeDocument/2006/relationships/image" Target="../media/image-29-31.png"/><Relationship Id="rId32" Type="http://schemas.openxmlformats.org/officeDocument/2006/relationships/image" Target="../media/image-29-32.png"/><Relationship Id="rId33" Type="http://schemas.openxmlformats.org/officeDocument/2006/relationships/image" Target="../media/image-29-33.png"/><Relationship Id="rId34" Type="http://schemas.openxmlformats.org/officeDocument/2006/relationships/image" Target="../media/image-29-34.png"/><Relationship Id="rId35" Type="http://schemas.openxmlformats.org/officeDocument/2006/relationships/image" Target="../media/image-29-35.png"/><Relationship Id="rId36" Type="http://schemas.openxmlformats.org/officeDocument/2006/relationships/image" Target="../media/image-29-36.png"/><Relationship Id="rId37" Type="http://schemas.openxmlformats.org/officeDocument/2006/relationships/image" Target="../media/image-29-37.png"/><Relationship Id="rId38" Type="http://schemas.openxmlformats.org/officeDocument/2006/relationships/image" Target="../media/image-29-38.png"/><Relationship Id="rId39" Type="http://schemas.openxmlformats.org/officeDocument/2006/relationships/image" Target="../media/image-29-39.png"/><Relationship Id="rId40" Type="http://schemas.openxmlformats.org/officeDocument/2006/relationships/image" Target="../media/image-29-40.png"/><Relationship Id="rId41" Type="http://schemas.openxmlformats.org/officeDocument/2006/relationships/slideLayout" Target="../slideLayouts/slideLayout1.xml"/><Relationship Id="rId4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image" Target="../media/image-32-15.png"/><Relationship Id="rId16" Type="http://schemas.openxmlformats.org/officeDocument/2006/relationships/image" Target="../media/image-32-16.png"/><Relationship Id="rId17" Type="http://schemas.openxmlformats.org/officeDocument/2006/relationships/image" Target="../media/image-32-17.png"/><Relationship Id="rId18" Type="http://schemas.openxmlformats.org/officeDocument/2006/relationships/image" Target="../media/image-32-18.png"/><Relationship Id="rId19" Type="http://schemas.openxmlformats.org/officeDocument/2006/relationships/slideLayout" Target="../slideLayouts/slideLayout1.xml"/><Relationship Id="rId20"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Slide-34-image-1.png"/><Relationship Id="rId3" Type="http://schemas.openxmlformats.org/officeDocument/2006/relationships/image" Target="../media/image-34-2.png"/><Relationship Id="rId4" Type="http://schemas.openxmlformats.org/officeDocument/2006/relationships/image" Target="../media/image-34-3.png"/><Relationship Id="rId5" Type="http://schemas.openxmlformats.org/officeDocument/2006/relationships/image" Target="../media/image-34-4.png"/><Relationship Id="rId6" Type="http://schemas.openxmlformats.org/officeDocument/2006/relationships/image" Target="../media/image-34-5.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299332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275558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INVESTOR &amp; PARTNER PRESENTATION</a:t>
            </a:r>
            <a:endParaRPr lang="en-US" sz="900" dirty="0"/>
          </a:p>
        </p:txBody>
      </p:sp>
      <p:sp>
        <p:nvSpPr>
          <p:cNvPr id="5" name="Text 2"/>
          <p:cNvSpPr txBox="1"/>
          <p:nvPr/>
        </p:nvSpPr>
        <p:spPr>
          <a:xfrm>
            <a:off x="457200" y="1481328"/>
            <a:ext cx="6400800" cy="1097280"/>
          </a:xfrm>
          <a:prstGeom prst="rect">
            <a:avLst/>
          </a:prstGeom>
          <a:noFill/>
          <a:ln/>
        </p:spPr>
        <p:txBody>
          <a:bodyPr wrap="square" lIns="0" tIns="0" rIns="0" bIns="0" rtlCol="0" anchor="t"/>
          <a:lstStyle/>
          <a:p>
            <a:pPr indent="0" marL="0">
              <a:buNone/>
            </a:pPr>
            <a:r>
              <a:rPr lang="en-US" sz="7200" b="1" dirty="0">
                <a:solidFill>
                  <a:srgbClr val="F0C96B"/>
                </a:solidFill>
                <a:latin typeface="Arial" pitchFamily="34" charset="0"/>
                <a:ea typeface="Arial" pitchFamily="34" charset="-122"/>
                <a:cs typeface="Arial" pitchFamily="34" charset="-120"/>
              </a:rPr>
              <a:t>Chronopoli</a:t>
            </a:r>
            <a:endParaRPr lang="en-US" sz="7200" dirty="0"/>
          </a:p>
        </p:txBody>
      </p:sp>
      <p:sp>
        <p:nvSpPr>
          <p:cNvPr id="6" name="Text 3"/>
          <p:cNvSpPr txBox="1"/>
          <p:nvPr/>
        </p:nvSpPr>
        <p:spPr>
          <a:xfrm>
            <a:off x="457200" y="2670048"/>
            <a:ext cx="6126480" cy="646176"/>
          </a:xfrm>
          <a:prstGeom prst="rect">
            <a:avLst/>
          </a:prstGeom>
          <a:noFill/>
          <a:ln/>
        </p:spPr>
        <p:txBody>
          <a:bodyPr wrap="square" lIns="0" tIns="0" rIns="0" bIns="0" rtlCol="0" anchor="t"/>
          <a:lstStyle/>
          <a:p>
            <a:pPr indent="0" marL="0">
              <a:buNone/>
            </a:pPr>
            <a:r>
              <a:rPr lang="en-US" sz="2000" dirty="0">
                <a:solidFill>
                  <a:srgbClr val="FFFFFF"/>
                </a:solidFill>
                <a:latin typeface="Arial" pitchFamily="34" charset="0"/>
                <a:ea typeface="Arial" pitchFamily="34" charset="-122"/>
                <a:cs typeface="Arial" pitchFamily="34" charset="-120"/>
              </a:rPr>
              <a:t>The Global Knowledge City for the digital economy,</a:t>
            </a:r>
            <a:endParaRPr lang="en-US" sz="2000" dirty="0"/>
          </a:p>
          <a:p>
            <a:pPr indent="0" marL="0">
              <a:buNone/>
            </a:pPr>
            <a:r>
              <a:rPr lang="en-US" sz="2000" dirty="0">
                <a:solidFill>
                  <a:srgbClr val="FFFFFF"/>
                </a:solidFill>
                <a:latin typeface="Arial" pitchFamily="34" charset="0"/>
                <a:ea typeface="Arial" pitchFamily="34" charset="-122"/>
                <a:cs typeface="Arial" pitchFamily="34" charset="-120"/>
              </a:rPr>
              <a:t>hosted by Dubai Blockchain Center</a:t>
            </a:r>
            <a:endParaRPr lang="en-US" sz="2000" dirty="0"/>
          </a:p>
        </p:txBody>
      </p:sp>
      <p:sp>
        <p:nvSpPr>
          <p:cNvPr id="7" name="Text 4"/>
          <p:cNvSpPr txBox="1"/>
          <p:nvPr/>
        </p:nvSpPr>
        <p:spPr>
          <a:xfrm>
            <a:off x="457200" y="3517392"/>
            <a:ext cx="6126480" cy="493776"/>
          </a:xfrm>
          <a:prstGeom prst="rect">
            <a:avLst/>
          </a:prstGeom>
          <a:noFill/>
          <a:ln/>
        </p:spPr>
        <p:txBody>
          <a:bodyPr wrap="square" lIns="0" tIns="0" rIns="0" bIns="0" rtlCol="0" anchor="t"/>
          <a:lstStyle/>
          <a:p>
            <a:pPr indent="0" marL="0">
              <a:buNone/>
            </a:pPr>
            <a:r>
              <a:rPr lang="en-US" sz="1500" b="1" dirty="0">
                <a:solidFill>
                  <a:srgbClr val="F0C96B"/>
                </a:solidFill>
                <a:latin typeface="Arial" pitchFamily="34" charset="0"/>
                <a:ea typeface="Arial" pitchFamily="34" charset="-122"/>
                <a:cs typeface="Arial" pitchFamily="34" charset="-120"/>
              </a:rPr>
              <a:t>AI-Native Knowledge Infrastructure ·</a:t>
            </a:r>
            <a:endParaRPr lang="en-US" sz="1500" dirty="0"/>
          </a:p>
          <a:p>
            <a:pPr indent="0" marL="0">
              <a:buNone/>
            </a:pPr>
            <a:r>
              <a:rPr lang="en-US" sz="1500" b="1" dirty="0">
                <a:solidFill>
                  <a:srgbClr val="F0C96B"/>
                </a:solidFill>
                <a:latin typeface="Arial" pitchFamily="34" charset="0"/>
                <a:ea typeface="Arial" pitchFamily="34" charset="-122"/>
                <a:cs typeface="Arial" pitchFamily="34" charset="-120"/>
              </a:rPr>
              <a:t>Community Intelligence Engine · Verified Credentials</a:t>
            </a:r>
            <a:endParaRPr lang="en-US" sz="1500" dirty="0"/>
          </a:p>
        </p:txBody>
      </p:sp>
      <p:sp>
        <p:nvSpPr>
          <p:cNvPr id="8" name="Text 5"/>
          <p:cNvSpPr txBox="1"/>
          <p:nvPr/>
        </p:nvSpPr>
        <p:spPr>
          <a:xfrm>
            <a:off x="457200" y="4212336"/>
            <a:ext cx="6126480" cy="45415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Digital assets · AI · Governance · Risk &amp; trust ·</a:t>
            </a:r>
            <a:endParaRPr lang="en-US" sz="1400" dirty="0"/>
          </a:p>
          <a:p>
            <a:pPr indent="0" marL="0">
              <a:buNone/>
            </a:pPr>
            <a:r>
              <a:rPr lang="en-US" sz="1400" dirty="0">
                <a:solidFill>
                  <a:srgbClr val="B4B4C8"/>
                </a:solidFill>
                <a:latin typeface="Arial" pitchFamily="34" charset="0"/>
                <a:ea typeface="Arial" pitchFamily="34" charset="-122"/>
                <a:cs typeface="Arial" pitchFamily="34" charset="-120"/>
              </a:rPr>
              <a:t>Financial-crime investigation · Compliance · Emerging tech</a:t>
            </a:r>
            <a:endParaRPr lang="en-US" sz="1400" dirty="0"/>
          </a:p>
        </p:txBody>
      </p:sp>
      <p:sp>
        <p:nvSpPr>
          <p:cNvPr id="9" name="Text 6"/>
          <p:cNvSpPr txBox="1"/>
          <p:nvPr/>
        </p:nvSpPr>
        <p:spPr>
          <a:xfrm>
            <a:off x="457200" y="4767072"/>
            <a:ext cx="6126480" cy="24079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Hosted in the UAE · September 2026</a:t>
            </a:r>
            <a:endParaRPr lang="en-US" sz="1400" dirty="0"/>
          </a:p>
        </p:txBody>
      </p:sp>
      <p:sp>
        <p:nvSpPr>
          <p:cNvPr id="10" name="Shape 7"/>
          <p:cNvSpPr/>
          <p:nvPr/>
        </p:nvSpPr>
        <p:spPr>
          <a:xfrm>
            <a:off x="457200" y="5291328"/>
            <a:ext cx="6126480" cy="603504"/>
          </a:xfrm>
          <a:prstGeom prst="roundRect">
            <a:avLst>
              <a:gd name="adj" fmla="val 15152"/>
            </a:avLst>
          </a:prstGeom>
          <a:solidFill>
            <a:srgbClr val="15151F"/>
          </a:solidFill>
          <a:ln w="9525">
            <a:solidFill>
              <a:srgbClr val="5A4A22"/>
            </a:solidFill>
            <a:prstDash val="solid"/>
          </a:ln>
        </p:spPr>
      </p:sp>
      <p:pic>
        <p:nvPicPr>
          <p:cNvPr id="11" name="Image 0" descr="preencoded.png">    </p:cNvPr>
          <p:cNvPicPr>
            <a:picLocks noChangeAspect="1"/>
          </p:cNvPicPr>
          <p:nvPr/>
        </p:nvPicPr>
        <p:blipFill>
          <a:blip r:embed="rId2"/>
          <a:stretch>
            <a:fillRect/>
          </a:stretch>
        </p:blipFill>
        <p:spPr>
          <a:xfrm>
            <a:off x="621792" y="5465064"/>
            <a:ext cx="256032" cy="256032"/>
          </a:xfrm>
          <a:prstGeom prst="rect">
            <a:avLst/>
          </a:prstGeom>
        </p:spPr>
      </p:pic>
      <p:sp>
        <p:nvSpPr>
          <p:cNvPr id="12" name="Text 8"/>
          <p:cNvSpPr txBox="1"/>
          <p:nvPr/>
        </p:nvSpPr>
        <p:spPr>
          <a:xfrm>
            <a:off x="1005840" y="5291328"/>
            <a:ext cx="5440680" cy="603504"/>
          </a:xfrm>
          <a:prstGeom prst="rect">
            <a:avLst/>
          </a:prstGeom>
          <a:noFill/>
          <a:ln/>
        </p:spPr>
        <p:txBody>
          <a:bodyPr wrap="square" lIns="0" tIns="0" rIns="0" bIns="0" rtlCol="0" anchor="ctr"/>
          <a:lstStyle/>
          <a:p>
            <a:pPr indent="0" marL="0">
              <a:buNone/>
            </a:pPr>
            <a:r>
              <a:rPr lang="en-US" sz="1200" dirty="0">
                <a:solidFill>
                  <a:srgbClr val="E8E8F0"/>
                </a:solidFill>
                <a:latin typeface="Arial" pitchFamily="34" charset="0"/>
                <a:ea typeface="Arial" pitchFamily="34" charset="-122"/>
                <a:cs typeface="Arial" pitchFamily="34" charset="-120"/>
              </a:rPr>
              <a:t>The product tour uses an illustrative Tether (USDT) academy: fictitious mock data, no partnership implied</a:t>
            </a:r>
            <a:endParaRPr lang="en-US" sz="1200" dirty="0"/>
          </a:p>
        </p:txBody>
      </p:sp>
      <p:pic>
        <p:nvPicPr>
          <p:cNvPr id="13" name="Image 1" descr="/tmp/claude-0/-home-user-Chronopoli/d7458f57-86b2-5920-914e-8615357fee63/scratchpad/deck-master/framed/landing_hero.png">    </p:cNvPr>
          <p:cNvPicPr>
            <a:picLocks noChangeAspect="1"/>
          </p:cNvPicPr>
          <p:nvPr/>
        </p:nvPicPr>
        <p:blipFill>
          <a:blip r:embed="rId3"/>
          <a:stretch>
            <a:fillRect/>
          </a:stretch>
        </p:blipFill>
        <p:spPr>
          <a:xfrm>
            <a:off x="6862854" y="1844689"/>
            <a:ext cx="5003948" cy="2812006"/>
          </a:xfrm>
          <a:prstGeom prst="rect">
            <a:avLst/>
          </a:prstGeom>
        </p:spPr>
      </p:pic>
      <p:sp>
        <p:nvSpPr>
          <p:cNvPr id="14" name="Shape 9"/>
          <p:cNvSpPr/>
          <p:nvPr/>
        </p:nvSpPr>
        <p:spPr>
          <a:xfrm>
            <a:off x="6995160" y="4661548"/>
            <a:ext cx="2480869" cy="219456"/>
          </a:xfrm>
          <a:prstGeom prst="roundRect">
            <a:avLst>
              <a:gd name="adj" fmla="val 50000"/>
            </a:avLst>
          </a:prstGeom>
          <a:solidFill>
            <a:srgbClr val="1B1B27"/>
          </a:solidFill>
          <a:ln w="9525">
            <a:solidFill>
              <a:srgbClr val="3A3A50"/>
            </a:solidFill>
            <a:prstDash val="solid"/>
          </a:ln>
        </p:spPr>
      </p:sp>
      <p:sp>
        <p:nvSpPr>
          <p:cNvPr id="15" name="Shape 10"/>
          <p:cNvSpPr/>
          <p:nvPr/>
        </p:nvSpPr>
        <p:spPr>
          <a:xfrm>
            <a:off x="7086600" y="4734700"/>
            <a:ext cx="73152" cy="73152"/>
          </a:xfrm>
          <a:prstGeom prst="ellipse">
            <a:avLst/>
          </a:prstGeom>
          <a:solidFill>
            <a:srgbClr val="A9A9C6"/>
          </a:solidFill>
          <a:ln/>
        </p:spPr>
      </p:sp>
      <p:sp>
        <p:nvSpPr>
          <p:cNvPr id="16" name="Text 11"/>
          <p:cNvSpPr txBox="1"/>
          <p:nvPr/>
        </p:nvSpPr>
        <p:spPr>
          <a:xfrm>
            <a:off x="7214616" y="4661548"/>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17" name="Text 12"/>
          <p:cNvSpPr txBox="1"/>
          <p:nvPr/>
        </p:nvSpPr>
        <p:spPr>
          <a:xfrm>
            <a:off x="9585757" y="4693552"/>
            <a:ext cx="214873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 page, not yet live</a:t>
            </a:r>
            <a:endParaRPr lang="en-US" sz="1000" dirty="0"/>
          </a:p>
        </p:txBody>
      </p:sp>
      <p:sp>
        <p:nvSpPr>
          <p:cNvPr id="18"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9"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11277295" cy="536753"/>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457200" y="1341425"/>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600" dirty="0"/>
          </a:p>
        </p:txBody>
      </p:sp>
      <p:sp>
        <p:nvSpPr>
          <p:cNvPr id="7" name="Shape 4"/>
          <p:cNvSpPr/>
          <p:nvPr/>
        </p:nvSpPr>
        <p:spPr>
          <a:xfrm>
            <a:off x="457200" y="1932737"/>
            <a:ext cx="2613584" cy="4285183"/>
          </a:xfrm>
          <a:prstGeom prst="roundRect">
            <a:avLst>
              <a:gd name="adj" fmla="val 4198"/>
            </a:avLst>
          </a:prstGeom>
          <a:solidFill>
            <a:srgbClr val="171722"/>
          </a:solidFill>
          <a:ln w="9525">
            <a:solidFill>
              <a:srgbClr val="2C2C3E"/>
            </a:solidFill>
            <a:prstDash val="solid"/>
          </a:ln>
        </p:spPr>
      </p:sp>
      <p:sp>
        <p:nvSpPr>
          <p:cNvPr id="8" name="Shape 5"/>
          <p:cNvSpPr/>
          <p:nvPr/>
        </p:nvSpPr>
        <p:spPr>
          <a:xfrm>
            <a:off x="676656" y="2152193"/>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66493"/>
            <a:ext cx="228600" cy="228600"/>
          </a:xfrm>
          <a:prstGeom prst="rect">
            <a:avLst/>
          </a:prstGeom>
        </p:spPr>
      </p:pic>
      <p:sp>
        <p:nvSpPr>
          <p:cNvPr id="10" name="Text 6"/>
          <p:cNvSpPr txBox="1"/>
          <p:nvPr/>
        </p:nvSpPr>
        <p:spPr>
          <a:xfrm>
            <a:off x="1261872"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Fragmentation</a:t>
            </a:r>
            <a:endParaRPr lang="en-US" sz="1600" dirty="0"/>
          </a:p>
        </p:txBody>
      </p:sp>
      <p:sp>
        <p:nvSpPr>
          <p:cNvPr id="11" name="Text 7"/>
          <p:cNvSpPr txBox="1"/>
          <p:nvPr/>
        </p:nvSpPr>
        <p:spPr>
          <a:xfrm>
            <a:off x="676656"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Stablecoin infrastructure, AI governance, regulation, risk and forensics sit in silos; no single platform connects them</a:t>
            </a:r>
            <a:endParaRPr lang="en-US" sz="1400" dirty="0"/>
          </a:p>
        </p:txBody>
      </p:sp>
      <p:sp>
        <p:nvSpPr>
          <p:cNvPr id="12" name="Shape 8"/>
          <p:cNvSpPr/>
          <p:nvPr/>
        </p:nvSpPr>
        <p:spPr>
          <a:xfrm>
            <a:off x="676656" y="4754880"/>
            <a:ext cx="2174672" cy="0"/>
          </a:xfrm>
          <a:prstGeom prst="line">
            <a:avLst/>
          </a:prstGeom>
          <a:noFill/>
          <a:ln w="9525">
            <a:solidFill>
              <a:srgbClr val="2C2C3E"/>
            </a:solidFill>
            <a:prstDash val="solid"/>
          </a:ln>
        </p:spPr>
      </p:sp>
      <p:sp>
        <p:nvSpPr>
          <p:cNvPr id="13" name="Text 9"/>
          <p:cNvSpPr txBox="1"/>
          <p:nvPr/>
        </p:nvSpPr>
        <p:spPr>
          <a:xfrm>
            <a:off x="676656" y="490118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14" name="Text 10"/>
          <p:cNvSpPr txBox="1"/>
          <p:nvPr/>
        </p:nvSpPr>
        <p:spPr>
          <a:xfrm>
            <a:off x="676656" y="513892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Seven districts, four layers, one onboarding</a:t>
            </a:r>
            <a:endParaRPr lang="en-US" sz="1400" dirty="0"/>
          </a:p>
        </p:txBody>
      </p:sp>
      <p:sp>
        <p:nvSpPr>
          <p:cNvPr id="15" name="Text 11"/>
          <p:cNvSpPr txBox="1"/>
          <p:nvPr/>
        </p:nvSpPr>
        <p:spPr>
          <a:xfrm>
            <a:off x="676656"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3, 7</a:t>
            </a:r>
            <a:endParaRPr lang="en-US" sz="1000" dirty="0"/>
          </a:p>
        </p:txBody>
      </p:sp>
      <p:sp>
        <p:nvSpPr>
          <p:cNvPr id="16" name="Shape 12"/>
          <p:cNvSpPr/>
          <p:nvPr/>
        </p:nvSpPr>
        <p:spPr>
          <a:xfrm>
            <a:off x="3345104" y="1932737"/>
            <a:ext cx="2613584" cy="4285183"/>
          </a:xfrm>
          <a:prstGeom prst="roundRect">
            <a:avLst>
              <a:gd name="adj" fmla="val 4198"/>
            </a:avLst>
          </a:prstGeom>
          <a:solidFill>
            <a:srgbClr val="171722"/>
          </a:solidFill>
          <a:ln w="9525">
            <a:solidFill>
              <a:srgbClr val="2C2C3E"/>
            </a:solidFill>
            <a:prstDash val="solid"/>
          </a:ln>
        </p:spPr>
      </p:sp>
      <p:sp>
        <p:nvSpPr>
          <p:cNvPr id="17" name="Shape 13"/>
          <p:cNvSpPr/>
          <p:nvPr/>
        </p:nvSpPr>
        <p:spPr>
          <a:xfrm>
            <a:off x="3564560" y="2152193"/>
            <a:ext cx="457200" cy="457200"/>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3678860" y="2266493"/>
            <a:ext cx="228600" cy="228600"/>
          </a:xfrm>
          <a:prstGeom prst="rect">
            <a:avLst/>
          </a:prstGeom>
        </p:spPr>
      </p:pic>
      <p:sp>
        <p:nvSpPr>
          <p:cNvPr id="19" name="Text 14"/>
          <p:cNvSpPr txBox="1"/>
          <p:nvPr/>
        </p:nvSpPr>
        <p:spPr>
          <a:xfrm>
            <a:off x="4149776"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Speed Mismatch</a:t>
            </a:r>
            <a:endParaRPr lang="en-US" sz="1600" dirty="0"/>
          </a:p>
        </p:txBody>
      </p:sp>
      <p:sp>
        <p:nvSpPr>
          <p:cNvPr id="20" name="Text 15"/>
          <p:cNvSpPr txBox="1"/>
          <p:nvPr/>
        </p:nvSpPr>
        <p:spPr>
          <a:xfrm>
            <a:off x="3564560"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MiCA and FATF change, DeFi exploits create new typologies. Universities take 18 months to update, training firms 6; the market moves daily</a:t>
            </a:r>
            <a:endParaRPr lang="en-US" sz="1400" dirty="0"/>
          </a:p>
        </p:txBody>
      </p:sp>
      <p:sp>
        <p:nvSpPr>
          <p:cNvPr id="21" name="Shape 16"/>
          <p:cNvSpPr/>
          <p:nvPr/>
        </p:nvSpPr>
        <p:spPr>
          <a:xfrm>
            <a:off x="3564560" y="4754880"/>
            <a:ext cx="2174672" cy="0"/>
          </a:xfrm>
          <a:prstGeom prst="line">
            <a:avLst/>
          </a:prstGeom>
          <a:noFill/>
          <a:ln w="9525">
            <a:solidFill>
              <a:srgbClr val="2C2C3E"/>
            </a:solidFill>
            <a:prstDash val="solid"/>
          </a:ln>
        </p:spPr>
      </p:sp>
      <p:sp>
        <p:nvSpPr>
          <p:cNvPr id="22" name="Text 17"/>
          <p:cNvSpPr txBox="1"/>
          <p:nvPr/>
        </p:nvSpPr>
        <p:spPr>
          <a:xfrm>
            <a:off x="3564560" y="490118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23" name="Text 18"/>
          <p:cNvSpPr txBox="1"/>
          <p:nvPr/>
        </p:nvSpPr>
        <p:spPr>
          <a:xfrm>
            <a:off x="3564560" y="5138928"/>
            <a:ext cx="2174672" cy="67665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Updates in under 48 h: authoring + round tables</a:t>
            </a:r>
            <a:endParaRPr lang="en-US" sz="1400" dirty="0"/>
          </a:p>
        </p:txBody>
      </p:sp>
      <p:sp>
        <p:nvSpPr>
          <p:cNvPr id="24" name="Text 19"/>
          <p:cNvSpPr txBox="1"/>
          <p:nvPr/>
        </p:nvSpPr>
        <p:spPr>
          <a:xfrm>
            <a:off x="3564560"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16, 19</a:t>
            </a:r>
            <a:endParaRPr lang="en-US" sz="1000" dirty="0"/>
          </a:p>
        </p:txBody>
      </p:sp>
      <p:sp>
        <p:nvSpPr>
          <p:cNvPr id="25" name="Shape 20"/>
          <p:cNvSpPr/>
          <p:nvPr/>
        </p:nvSpPr>
        <p:spPr>
          <a:xfrm>
            <a:off x="6233008" y="1932737"/>
            <a:ext cx="2613584" cy="4285183"/>
          </a:xfrm>
          <a:prstGeom prst="roundRect">
            <a:avLst>
              <a:gd name="adj" fmla="val 4198"/>
            </a:avLst>
          </a:prstGeom>
          <a:solidFill>
            <a:srgbClr val="171722"/>
          </a:solidFill>
          <a:ln w="9525">
            <a:solidFill>
              <a:srgbClr val="2C2C3E"/>
            </a:solidFill>
            <a:prstDash val="solid"/>
          </a:ln>
        </p:spPr>
      </p:sp>
      <p:sp>
        <p:nvSpPr>
          <p:cNvPr id="26" name="Shape 21"/>
          <p:cNvSpPr/>
          <p:nvPr/>
        </p:nvSpPr>
        <p:spPr>
          <a:xfrm>
            <a:off x="6452464" y="2152193"/>
            <a:ext cx="457200" cy="457200"/>
          </a:xfrm>
          <a:prstGeom prst="ellipse">
            <a:avLst/>
          </a:prstGeom>
          <a:solidFill>
            <a:srgbClr val="1E1A10"/>
          </a:solidFill>
          <a:ln w="9525">
            <a:solidFill>
              <a:srgbClr val="5A4A22"/>
            </a:solidFill>
            <a:prstDash val="solid"/>
          </a:ln>
        </p:spPr>
      </p:sp>
      <p:pic>
        <p:nvPicPr>
          <p:cNvPr id="27" name="Image 2" descr="preencoded.png">    </p:cNvPr>
          <p:cNvPicPr>
            <a:picLocks noChangeAspect="1"/>
          </p:cNvPicPr>
          <p:nvPr/>
        </p:nvPicPr>
        <p:blipFill>
          <a:blip r:embed="rId4"/>
          <a:stretch>
            <a:fillRect/>
          </a:stretch>
        </p:blipFill>
        <p:spPr>
          <a:xfrm>
            <a:off x="6566764" y="2266493"/>
            <a:ext cx="228600" cy="228600"/>
          </a:xfrm>
          <a:prstGeom prst="rect">
            <a:avLst/>
          </a:prstGeom>
        </p:spPr>
      </p:pic>
      <p:sp>
        <p:nvSpPr>
          <p:cNvPr id="28" name="Text 22"/>
          <p:cNvSpPr txBox="1"/>
          <p:nvPr/>
        </p:nvSpPr>
        <p:spPr>
          <a:xfrm>
            <a:off x="7037680"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Fake Credentials</a:t>
            </a:r>
            <a:endParaRPr lang="en-US" sz="1600" dirty="0"/>
          </a:p>
        </p:txBody>
      </p:sp>
      <p:sp>
        <p:nvSpPr>
          <p:cNvPr id="29" name="Text 23"/>
          <p:cNvSpPr txBox="1"/>
          <p:nvPr/>
        </p:nvSpPr>
        <p:spPr>
          <a:xfrm>
            <a:off x="6452464" y="2792273"/>
            <a:ext cx="2174672" cy="110337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A certificate says you sat in a room. It tells no employer what you know today, in context, for your jurisdiction</a:t>
            </a:r>
            <a:endParaRPr lang="en-US" sz="1400" dirty="0"/>
          </a:p>
        </p:txBody>
      </p:sp>
      <p:sp>
        <p:nvSpPr>
          <p:cNvPr id="30" name="Shape 24"/>
          <p:cNvSpPr/>
          <p:nvPr/>
        </p:nvSpPr>
        <p:spPr>
          <a:xfrm>
            <a:off x="6452464" y="4754880"/>
            <a:ext cx="2174672" cy="0"/>
          </a:xfrm>
          <a:prstGeom prst="line">
            <a:avLst/>
          </a:prstGeom>
          <a:noFill/>
          <a:ln w="9525">
            <a:solidFill>
              <a:srgbClr val="2C2C3E"/>
            </a:solidFill>
            <a:prstDash val="solid"/>
          </a:ln>
        </p:spPr>
      </p:sp>
      <p:sp>
        <p:nvSpPr>
          <p:cNvPr id="31" name="Text 25"/>
          <p:cNvSpPr txBox="1"/>
          <p:nvPr/>
        </p:nvSpPr>
        <p:spPr>
          <a:xfrm>
            <a:off x="6452464" y="490118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32" name="Text 26"/>
          <p:cNvSpPr txBox="1"/>
          <p:nvPr/>
        </p:nvSpPr>
        <p:spPr>
          <a:xfrm>
            <a:off x="6452464" y="513892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Open Badges 2.0 linked to partner roles</a:t>
            </a:r>
            <a:endParaRPr lang="en-US" sz="1400" dirty="0"/>
          </a:p>
        </p:txBody>
      </p:sp>
      <p:sp>
        <p:nvSpPr>
          <p:cNvPr id="33" name="Text 27"/>
          <p:cNvSpPr txBox="1"/>
          <p:nvPr/>
        </p:nvSpPr>
        <p:spPr>
          <a:xfrm>
            <a:off x="6452464"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 13</a:t>
            </a:r>
            <a:endParaRPr lang="en-US" sz="1000" dirty="0"/>
          </a:p>
        </p:txBody>
      </p:sp>
      <p:sp>
        <p:nvSpPr>
          <p:cNvPr id="34" name="Shape 28"/>
          <p:cNvSpPr/>
          <p:nvPr/>
        </p:nvSpPr>
        <p:spPr>
          <a:xfrm>
            <a:off x="9120911" y="1932737"/>
            <a:ext cx="2613584" cy="4285183"/>
          </a:xfrm>
          <a:prstGeom prst="roundRect">
            <a:avLst>
              <a:gd name="adj" fmla="val 4198"/>
            </a:avLst>
          </a:prstGeom>
          <a:solidFill>
            <a:srgbClr val="171722"/>
          </a:solidFill>
          <a:ln w="9525">
            <a:solidFill>
              <a:srgbClr val="2C2C3E"/>
            </a:solidFill>
            <a:prstDash val="solid"/>
          </a:ln>
        </p:spPr>
      </p:sp>
      <p:sp>
        <p:nvSpPr>
          <p:cNvPr id="35" name="Shape 29"/>
          <p:cNvSpPr/>
          <p:nvPr/>
        </p:nvSpPr>
        <p:spPr>
          <a:xfrm>
            <a:off x="9340367" y="2152193"/>
            <a:ext cx="457200" cy="457200"/>
          </a:xfrm>
          <a:prstGeom prst="ellipse">
            <a:avLst/>
          </a:prstGeom>
          <a:solidFill>
            <a:srgbClr val="1E1A10"/>
          </a:solidFill>
          <a:ln w="9525">
            <a:solidFill>
              <a:srgbClr val="5A4A22"/>
            </a:solidFill>
            <a:prstDash val="solid"/>
          </a:ln>
        </p:spPr>
      </p:sp>
      <p:pic>
        <p:nvPicPr>
          <p:cNvPr id="36" name="Image 3" descr="preencoded.png">    </p:cNvPr>
          <p:cNvPicPr>
            <a:picLocks noChangeAspect="1"/>
          </p:cNvPicPr>
          <p:nvPr/>
        </p:nvPicPr>
        <p:blipFill>
          <a:blip r:embed="rId5"/>
          <a:stretch>
            <a:fillRect/>
          </a:stretch>
        </p:blipFill>
        <p:spPr>
          <a:xfrm>
            <a:off x="9454667" y="2266493"/>
            <a:ext cx="228600" cy="228600"/>
          </a:xfrm>
          <a:prstGeom prst="rect">
            <a:avLst/>
          </a:prstGeom>
        </p:spPr>
      </p:pic>
      <p:sp>
        <p:nvSpPr>
          <p:cNvPr id="37" name="Text 30"/>
          <p:cNvSpPr txBox="1"/>
          <p:nvPr/>
        </p:nvSpPr>
        <p:spPr>
          <a:xfrm>
            <a:off x="9925583" y="2152193"/>
            <a:ext cx="1589456"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No Neutral Convener</a:t>
            </a:r>
            <a:endParaRPr lang="en-US" sz="1600" dirty="0"/>
          </a:p>
        </p:txBody>
      </p:sp>
      <p:sp>
        <p:nvSpPr>
          <p:cNvPr id="38" name="Text 31"/>
          <p:cNvSpPr txBox="1"/>
          <p:nvPr/>
        </p:nvSpPr>
        <p:spPr>
          <a:xfrm>
            <a:off x="9340367" y="2792273"/>
            <a:ext cx="2174672" cy="1316736"/>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Nobody puts an issuer, a UAE regulator, a forensics analyst and a researcher in one room and turns that into institutional knowledge</a:t>
            </a:r>
            <a:endParaRPr lang="en-US" sz="1400" dirty="0"/>
          </a:p>
        </p:txBody>
      </p:sp>
      <p:sp>
        <p:nvSpPr>
          <p:cNvPr id="39" name="Shape 32"/>
          <p:cNvSpPr/>
          <p:nvPr/>
        </p:nvSpPr>
        <p:spPr>
          <a:xfrm>
            <a:off x="9340367" y="4754880"/>
            <a:ext cx="2174672" cy="0"/>
          </a:xfrm>
          <a:prstGeom prst="line">
            <a:avLst/>
          </a:prstGeom>
          <a:noFill/>
          <a:ln w="9525">
            <a:solidFill>
              <a:srgbClr val="2C2C3E"/>
            </a:solidFill>
            <a:prstDash val="solid"/>
          </a:ln>
        </p:spPr>
      </p:sp>
      <p:sp>
        <p:nvSpPr>
          <p:cNvPr id="40" name="Text 33"/>
          <p:cNvSpPr txBox="1"/>
          <p:nvPr/>
        </p:nvSpPr>
        <p:spPr>
          <a:xfrm>
            <a:off x="9340367" y="4901184"/>
            <a:ext cx="2174672"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OUR ANSWER</a:t>
            </a:r>
            <a:endParaRPr lang="en-US" sz="850" dirty="0"/>
          </a:p>
        </p:txBody>
      </p:sp>
      <p:sp>
        <p:nvSpPr>
          <p:cNvPr id="41" name="Text 34"/>
          <p:cNvSpPr txBox="1"/>
          <p:nvPr/>
        </p:nvSpPr>
        <p:spPr>
          <a:xfrm>
            <a:off x="9340367" y="5138928"/>
            <a:ext cx="2174672" cy="463296"/>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Symposia: round tables that publish</a:t>
            </a:r>
            <a:endParaRPr lang="en-US" sz="1400" dirty="0"/>
          </a:p>
        </p:txBody>
      </p:sp>
      <p:sp>
        <p:nvSpPr>
          <p:cNvPr id="42" name="Text 35"/>
          <p:cNvSpPr txBox="1"/>
          <p:nvPr/>
        </p:nvSpPr>
        <p:spPr>
          <a:xfrm>
            <a:off x="9340367" y="5815584"/>
            <a:ext cx="2174672"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Slides 18, 19</a:t>
            </a:r>
            <a:endParaRPr lang="en-US" sz="1000" dirty="0"/>
          </a:p>
        </p:txBody>
      </p:sp>
      <p:sp>
        <p:nvSpPr>
          <p:cNvPr id="43"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535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157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CITY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One city, seven districts, four layers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sits in a Knowledge District and a learning layer, so every learner and partner knows where they belong</a:t>
            </a:r>
            <a:endParaRPr lang="en-US" sz="1600" dirty="0"/>
          </a:p>
        </p:txBody>
      </p:sp>
      <p:pic>
        <p:nvPicPr>
          <p:cNvPr id="7" name="Image 0" descr="/tmp/claude-0/-home-user-Chronopoli/d7458f57-86b2-5920-914e-8615357fee63/scratchpad/deck-master/framed/districts.png">    </p:cNvPr>
          <p:cNvPicPr>
            <a:picLocks noChangeAspect="1"/>
          </p:cNvPicPr>
          <p:nvPr/>
        </p:nvPicPr>
        <p:blipFill>
          <a:blip r:embed="rId2"/>
          <a:stretch>
            <a:fillRect/>
          </a:stretch>
        </p:blipFill>
        <p:spPr>
          <a:xfrm>
            <a:off x="5248999" y="1711795"/>
            <a:ext cx="6661633" cy="4314025"/>
          </a:xfrm>
          <a:prstGeom prst="rect">
            <a:avLst/>
          </a:prstGeom>
        </p:spPr>
      </p:pic>
      <p:sp>
        <p:nvSpPr>
          <p:cNvPr id="8" name="Shape 4"/>
          <p:cNvSpPr/>
          <p:nvPr/>
        </p:nvSpPr>
        <p:spPr>
          <a:xfrm>
            <a:off x="5425135" y="5986844"/>
            <a:ext cx="2480869" cy="219456"/>
          </a:xfrm>
          <a:prstGeom prst="roundRect">
            <a:avLst>
              <a:gd name="adj" fmla="val 50000"/>
            </a:avLst>
          </a:prstGeom>
          <a:solidFill>
            <a:srgbClr val="1B1B27"/>
          </a:solidFill>
          <a:ln w="9525">
            <a:solidFill>
              <a:srgbClr val="3A3A50"/>
            </a:solidFill>
            <a:prstDash val="solid"/>
          </a:ln>
        </p:spPr>
      </p:sp>
      <p:sp>
        <p:nvSpPr>
          <p:cNvPr id="9" name="Shape 5"/>
          <p:cNvSpPr/>
          <p:nvPr/>
        </p:nvSpPr>
        <p:spPr>
          <a:xfrm>
            <a:off x="5516575" y="6059996"/>
            <a:ext cx="73152" cy="73152"/>
          </a:xfrm>
          <a:prstGeom prst="ellipse">
            <a:avLst/>
          </a:prstGeom>
          <a:solidFill>
            <a:srgbClr val="A9A9C6"/>
          </a:solidFill>
          <a:ln/>
        </p:spPr>
      </p:sp>
      <p:sp>
        <p:nvSpPr>
          <p:cNvPr id="10" name="Text 6"/>
          <p:cNvSpPr txBox="1"/>
          <p:nvPr/>
        </p:nvSpPr>
        <p:spPr>
          <a:xfrm>
            <a:off x="5644591" y="5986844"/>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11" name="Text 7"/>
          <p:cNvSpPr txBox="1"/>
          <p:nvPr/>
        </p:nvSpPr>
        <p:spPr>
          <a:xfrm>
            <a:off x="8015732" y="6018848"/>
            <a:ext cx="371876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Landing page: the seven districts, not yet live</a:t>
            </a:r>
            <a:endParaRPr lang="en-US" sz="1000" dirty="0"/>
          </a:p>
        </p:txBody>
      </p:sp>
      <p:sp>
        <p:nvSpPr>
          <p:cNvPr id="12" name="Text 8"/>
          <p:cNvSpPr txBox="1"/>
          <p:nvPr/>
        </p:nvSpPr>
        <p:spPr>
          <a:xfrm>
            <a:off x="457200" y="1933651"/>
            <a:ext cx="4510735" cy="189128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7 Knowledge Districts:</a:t>
            </a:r>
            <a:r>
              <a:rPr lang="en-US" sz="1400" dirty="0">
                <a:solidFill>
                  <a:srgbClr val="E8E8F0"/>
                </a:solidFill>
                <a:latin typeface="Arial" pitchFamily="34" charset="0"/>
                <a:ea typeface="Arial" pitchFamily="34" charset="-122"/>
                <a:cs typeface="Arial" pitchFamily="34" charset="-120"/>
              </a:rPr>
              <a:t> AI, Digital Assets, Governance, Compliance, Investigation, Risk &amp; Trust, Emerging Tech</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4 learning layers set depth and price (below)</a:t>
            </a:r>
            <a:endParaRPr lang="en-US" sz="1400" dirty="0"/>
          </a:p>
          <a:p>
            <a:pPr marL="165100" indent="-165100">
              <a:spcAft>
                <a:spcPts val="9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Partners publish tracks into several districts and can run their own branded academy</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account for courses and community</a:t>
            </a:r>
            <a:endParaRPr lang="en-US" sz="1400" dirty="0"/>
          </a:p>
        </p:txBody>
      </p:sp>
      <p:sp>
        <p:nvSpPr>
          <p:cNvPr id="13" name="Shape 9"/>
          <p:cNvSpPr/>
          <p:nvPr/>
        </p:nvSpPr>
        <p:spPr>
          <a:xfrm>
            <a:off x="457200" y="5394960"/>
            <a:ext cx="1059104" cy="822960"/>
          </a:xfrm>
          <a:prstGeom prst="roundRect">
            <a:avLst>
              <a:gd name="adj" fmla="val 6667"/>
            </a:avLst>
          </a:prstGeom>
          <a:solidFill>
            <a:srgbClr val="1B1812"/>
          </a:solidFill>
          <a:ln w="9525">
            <a:solidFill>
              <a:srgbClr val="5A4A22"/>
            </a:solidFill>
            <a:prstDash val="solid"/>
          </a:ln>
        </p:spPr>
      </p:sp>
      <p:sp>
        <p:nvSpPr>
          <p:cNvPr id="14" name="Text 10"/>
          <p:cNvSpPr txBox="1"/>
          <p:nvPr/>
        </p:nvSpPr>
        <p:spPr>
          <a:xfrm>
            <a:off x="548640" y="546811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endParaRPr lang="en-US" sz="1100" dirty="0"/>
          </a:p>
        </p:txBody>
      </p:sp>
      <p:sp>
        <p:nvSpPr>
          <p:cNvPr id="15" name="Text 11"/>
          <p:cNvSpPr txBox="1"/>
          <p:nvPr/>
        </p:nvSpPr>
        <p:spPr>
          <a:xfrm>
            <a:off x="548640" y="565099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Entry</a:t>
            </a:r>
            <a:endParaRPr lang="en-US" sz="1000" dirty="0"/>
          </a:p>
        </p:txBody>
      </p:sp>
      <p:sp>
        <p:nvSpPr>
          <p:cNvPr id="16" name="Text 12"/>
          <p:cNvSpPr txBox="1"/>
          <p:nvPr/>
        </p:nvSpPr>
        <p:spPr>
          <a:xfrm>
            <a:off x="548640" y="582472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$0–$149</a:t>
            </a:r>
            <a:endParaRPr lang="en-US" sz="1000" dirty="0"/>
          </a:p>
        </p:txBody>
      </p:sp>
      <p:sp>
        <p:nvSpPr>
          <p:cNvPr id="17" name="Shape 13"/>
          <p:cNvSpPr/>
          <p:nvPr/>
        </p:nvSpPr>
        <p:spPr>
          <a:xfrm>
            <a:off x="1607744" y="5257800"/>
            <a:ext cx="1059104" cy="960120"/>
          </a:xfrm>
          <a:prstGeom prst="roundRect">
            <a:avLst>
              <a:gd name="adj" fmla="val 5714"/>
            </a:avLst>
          </a:prstGeom>
          <a:solidFill>
            <a:srgbClr val="2A2415"/>
          </a:solidFill>
          <a:ln w="9525">
            <a:solidFill>
              <a:srgbClr val="5A4A22"/>
            </a:solidFill>
            <a:prstDash val="solid"/>
          </a:ln>
        </p:spPr>
      </p:sp>
      <p:sp>
        <p:nvSpPr>
          <p:cNvPr id="18" name="Text 14"/>
          <p:cNvSpPr txBox="1"/>
          <p:nvPr/>
        </p:nvSpPr>
        <p:spPr>
          <a:xfrm>
            <a:off x="1699184" y="533095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endParaRPr lang="en-US" sz="1100" dirty="0"/>
          </a:p>
        </p:txBody>
      </p:sp>
      <p:sp>
        <p:nvSpPr>
          <p:cNvPr id="19" name="Text 15"/>
          <p:cNvSpPr txBox="1"/>
          <p:nvPr/>
        </p:nvSpPr>
        <p:spPr>
          <a:xfrm>
            <a:off x="1699184" y="551383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Professional</a:t>
            </a:r>
            <a:endParaRPr lang="en-US" sz="1000" dirty="0"/>
          </a:p>
        </p:txBody>
      </p:sp>
      <p:sp>
        <p:nvSpPr>
          <p:cNvPr id="20" name="Text 16"/>
          <p:cNvSpPr txBox="1"/>
          <p:nvPr/>
        </p:nvSpPr>
        <p:spPr>
          <a:xfrm>
            <a:off x="1699184" y="568756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$299–$799</a:t>
            </a:r>
            <a:endParaRPr lang="en-US" sz="1000" dirty="0"/>
          </a:p>
        </p:txBody>
      </p:sp>
      <p:sp>
        <p:nvSpPr>
          <p:cNvPr id="21" name="Shape 17"/>
          <p:cNvSpPr/>
          <p:nvPr/>
        </p:nvSpPr>
        <p:spPr>
          <a:xfrm>
            <a:off x="2758288" y="5120640"/>
            <a:ext cx="1059104" cy="1097280"/>
          </a:xfrm>
          <a:prstGeom prst="roundRect">
            <a:avLst>
              <a:gd name="adj" fmla="val 5180"/>
            </a:avLst>
          </a:prstGeom>
          <a:solidFill>
            <a:srgbClr val="3C321A"/>
          </a:solidFill>
          <a:ln w="9525">
            <a:solidFill>
              <a:srgbClr val="5A4A22"/>
            </a:solidFill>
            <a:prstDash val="solid"/>
          </a:ln>
        </p:spPr>
      </p:sp>
      <p:sp>
        <p:nvSpPr>
          <p:cNvPr id="22" name="Text 18"/>
          <p:cNvSpPr txBox="1"/>
          <p:nvPr/>
        </p:nvSpPr>
        <p:spPr>
          <a:xfrm>
            <a:off x="2849728" y="519379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endParaRPr lang="en-US" sz="1100" dirty="0"/>
          </a:p>
        </p:txBody>
      </p:sp>
      <p:sp>
        <p:nvSpPr>
          <p:cNvPr id="23" name="Text 19"/>
          <p:cNvSpPr txBox="1"/>
          <p:nvPr/>
        </p:nvSpPr>
        <p:spPr>
          <a:xfrm>
            <a:off x="2849728" y="537667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Institutional</a:t>
            </a:r>
            <a:endParaRPr lang="en-US" sz="1000" dirty="0"/>
          </a:p>
        </p:txBody>
      </p:sp>
      <p:sp>
        <p:nvSpPr>
          <p:cNvPr id="24" name="Text 20"/>
          <p:cNvSpPr txBox="1"/>
          <p:nvPr/>
        </p:nvSpPr>
        <p:spPr>
          <a:xfrm>
            <a:off x="2849728" y="555040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$999–$2,499</a:t>
            </a:r>
            <a:endParaRPr lang="en-US" sz="1000" dirty="0"/>
          </a:p>
        </p:txBody>
      </p:sp>
      <p:sp>
        <p:nvSpPr>
          <p:cNvPr id="25" name="Shape 21"/>
          <p:cNvSpPr/>
          <p:nvPr/>
        </p:nvSpPr>
        <p:spPr>
          <a:xfrm>
            <a:off x="3908831" y="4983480"/>
            <a:ext cx="1059104" cy="1234440"/>
          </a:xfrm>
          <a:prstGeom prst="roundRect">
            <a:avLst>
              <a:gd name="adj" fmla="val 5180"/>
            </a:avLst>
          </a:prstGeom>
          <a:solidFill>
            <a:srgbClr val="54441F"/>
          </a:solidFill>
          <a:ln w="9525">
            <a:solidFill>
              <a:srgbClr val="5A4A22"/>
            </a:solidFill>
            <a:prstDash val="solid"/>
          </a:ln>
        </p:spPr>
      </p:sp>
      <p:sp>
        <p:nvSpPr>
          <p:cNvPr id="26" name="Text 22"/>
          <p:cNvSpPr txBox="1"/>
          <p:nvPr/>
        </p:nvSpPr>
        <p:spPr>
          <a:xfrm>
            <a:off x="4000271" y="5056632"/>
            <a:ext cx="921944"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endParaRPr lang="en-US" sz="1100" dirty="0"/>
          </a:p>
        </p:txBody>
      </p:sp>
      <p:sp>
        <p:nvSpPr>
          <p:cNvPr id="27" name="Text 23"/>
          <p:cNvSpPr txBox="1"/>
          <p:nvPr/>
        </p:nvSpPr>
        <p:spPr>
          <a:xfrm>
            <a:off x="4000271" y="5239512"/>
            <a:ext cx="921944" cy="182880"/>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Influence</a:t>
            </a:r>
            <a:endParaRPr lang="en-US" sz="1000" dirty="0"/>
          </a:p>
        </p:txBody>
      </p:sp>
      <p:sp>
        <p:nvSpPr>
          <p:cNvPr id="28" name="Text 24"/>
          <p:cNvSpPr txBox="1"/>
          <p:nvPr/>
        </p:nvSpPr>
        <p:spPr>
          <a:xfrm>
            <a:off x="4000271" y="5413248"/>
            <a:ext cx="92194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$3,000–$8,000</a:t>
            </a:r>
            <a:endParaRPr lang="en-US" sz="1000" dirty="0"/>
          </a:p>
        </p:txBody>
      </p:sp>
      <p:sp>
        <p:nvSpPr>
          <p:cNvPr id="29" name="Text 25"/>
          <p:cNvSpPr txBox="1"/>
          <p:nvPr/>
        </p:nvSpPr>
        <p:spPr>
          <a:xfrm>
            <a:off x="457200" y="4489704"/>
            <a:ext cx="451073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LEARNING LAYERS: DEPTH AND PRICE RISE TOGETHER</a:t>
            </a:r>
            <a:endParaRPr lang="en-US" sz="8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under the Chatham House Rule, streamed live</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Automated opinion papers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18-19</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6169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at the partner’s own web address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verified credentials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partner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8, 12-13, 17</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all platform content</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IN THE PRODUCT TOUR</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9, 11, 20</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onboarding, courseware and course authoring, district forums and lecture video (slides 7, 10, 14, 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41448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17674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Product tour: one learner, end to end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persona of several: Layla, MLRO at Gulf Digital Exchange (fictitious VASP), earns a stablecoin credential</a:t>
            </a:r>
            <a:endParaRPr lang="en-US" sz="1600" dirty="0"/>
          </a:p>
        </p:txBody>
      </p:sp>
      <p:sp>
        <p:nvSpPr>
          <p:cNvPr id="7" name="Shape 4"/>
          <p:cNvSpPr/>
          <p:nvPr/>
        </p:nvSpPr>
        <p:spPr>
          <a:xfrm>
            <a:off x="1083716" y="2189683"/>
            <a:ext cx="10024262" cy="0"/>
          </a:xfrm>
          <a:prstGeom prst="line">
            <a:avLst/>
          </a:prstGeom>
          <a:noFill/>
          <a:ln w="15875">
            <a:solidFill>
              <a:srgbClr val="9B7A2E"/>
            </a:solidFill>
            <a:prstDash val="solid"/>
          </a:ln>
        </p:spPr>
      </p:sp>
      <p:sp>
        <p:nvSpPr>
          <p:cNvPr id="8" name="Shape 5"/>
          <p:cNvSpPr/>
          <p:nvPr/>
        </p:nvSpPr>
        <p:spPr>
          <a:xfrm>
            <a:off x="855116" y="1961083"/>
            <a:ext cx="457200" cy="457200"/>
          </a:xfrm>
          <a:prstGeom prst="ellipse">
            <a:avLst/>
          </a:prstGeom>
          <a:solidFill>
            <a:srgbClr val="1E1A10"/>
          </a:solidFill>
          <a:ln w="15875">
            <a:solidFill>
              <a:srgbClr val="C9A84C"/>
            </a:solidFill>
            <a:prstDash val="solid"/>
          </a:ln>
        </p:spPr>
      </p:sp>
      <p:sp>
        <p:nvSpPr>
          <p:cNvPr id="9" name="Text 6"/>
          <p:cNvSpPr txBox="1"/>
          <p:nvPr/>
        </p:nvSpPr>
        <p:spPr>
          <a:xfrm>
            <a:off x="85511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1</a:t>
            </a:r>
            <a:endParaRPr lang="en-US" sz="1500" dirty="0"/>
          </a:p>
        </p:txBody>
      </p:sp>
      <p:sp>
        <p:nvSpPr>
          <p:cNvPr id="10" name="Text 7"/>
          <p:cNvSpPr txBox="1"/>
          <p:nvPr/>
        </p:nvSpPr>
        <p:spPr>
          <a:xfrm>
            <a:off x="48463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Discover</a:t>
            </a:r>
            <a:endParaRPr lang="en-US" sz="1200" dirty="0"/>
          </a:p>
        </p:txBody>
      </p:sp>
      <p:sp>
        <p:nvSpPr>
          <p:cNvPr id="11" name="Text 8"/>
          <p:cNvSpPr txBox="1"/>
          <p:nvPr/>
        </p:nvSpPr>
        <p:spPr>
          <a:xfrm>
            <a:off x="50292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One catalogue, one sign-up</a:t>
            </a:r>
            <a:endParaRPr lang="en-US" sz="1050" dirty="0"/>
          </a:p>
        </p:txBody>
      </p:sp>
      <p:sp>
        <p:nvSpPr>
          <p:cNvPr id="12" name="Text 9"/>
          <p:cNvSpPr txBox="1"/>
          <p:nvPr/>
        </p:nvSpPr>
        <p:spPr>
          <a:xfrm>
            <a:off x="45720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6</a:t>
            </a:r>
            <a:endParaRPr lang="en-US" sz="900" dirty="0"/>
          </a:p>
        </p:txBody>
      </p:sp>
      <p:sp>
        <p:nvSpPr>
          <p:cNvPr id="13" name="Text 10"/>
          <p:cNvSpPr txBox="1"/>
          <p:nvPr/>
        </p:nvSpPr>
        <p:spPr>
          <a:xfrm>
            <a:off x="45720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14" name="Shape 11"/>
          <p:cNvSpPr/>
          <p:nvPr/>
        </p:nvSpPr>
        <p:spPr>
          <a:xfrm>
            <a:off x="2108149" y="1961083"/>
            <a:ext cx="457200" cy="457200"/>
          </a:xfrm>
          <a:prstGeom prst="ellipse">
            <a:avLst/>
          </a:prstGeom>
          <a:solidFill>
            <a:srgbClr val="1E1A10"/>
          </a:solidFill>
          <a:ln w="15875">
            <a:solidFill>
              <a:srgbClr val="C9A84C"/>
            </a:solidFill>
            <a:prstDash val="solid"/>
          </a:ln>
        </p:spPr>
      </p:sp>
      <p:sp>
        <p:nvSpPr>
          <p:cNvPr id="15" name="Text 12"/>
          <p:cNvSpPr txBox="1"/>
          <p:nvPr/>
        </p:nvSpPr>
        <p:spPr>
          <a:xfrm>
            <a:off x="210814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2</a:t>
            </a:r>
            <a:endParaRPr lang="en-US" sz="1500" dirty="0"/>
          </a:p>
        </p:txBody>
      </p:sp>
      <p:sp>
        <p:nvSpPr>
          <p:cNvPr id="16" name="Text 13"/>
          <p:cNvSpPr txBox="1"/>
          <p:nvPr/>
        </p:nvSpPr>
        <p:spPr>
          <a:xfrm>
            <a:off x="1737665"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7" name="Text 14"/>
          <p:cNvSpPr txBox="1"/>
          <p:nvPr/>
        </p:nvSpPr>
        <p:spPr>
          <a:xfrm>
            <a:off x="1755953"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Routed in 5 questions</a:t>
            </a:r>
            <a:endParaRPr lang="en-US" sz="1050" dirty="0"/>
          </a:p>
        </p:txBody>
      </p:sp>
      <p:sp>
        <p:nvSpPr>
          <p:cNvPr id="18" name="Text 15"/>
          <p:cNvSpPr txBox="1"/>
          <p:nvPr/>
        </p:nvSpPr>
        <p:spPr>
          <a:xfrm>
            <a:off x="1710233"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7</a:t>
            </a:r>
            <a:endParaRPr lang="en-US" sz="900" dirty="0"/>
          </a:p>
        </p:txBody>
      </p:sp>
      <p:sp>
        <p:nvSpPr>
          <p:cNvPr id="19" name="Text 16"/>
          <p:cNvSpPr txBox="1"/>
          <p:nvPr/>
        </p:nvSpPr>
        <p:spPr>
          <a:xfrm>
            <a:off x="1710233"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20" name="Shape 17"/>
          <p:cNvSpPr/>
          <p:nvPr/>
        </p:nvSpPr>
        <p:spPr>
          <a:xfrm>
            <a:off x="3361182" y="1961083"/>
            <a:ext cx="457200" cy="457200"/>
          </a:xfrm>
          <a:prstGeom prst="ellipse">
            <a:avLst/>
          </a:prstGeom>
          <a:solidFill>
            <a:srgbClr val="1E1A10"/>
          </a:solidFill>
          <a:ln w="15875">
            <a:solidFill>
              <a:srgbClr val="C9A84C"/>
            </a:solidFill>
            <a:prstDash val="solid"/>
          </a:ln>
        </p:spPr>
      </p:sp>
      <p:sp>
        <p:nvSpPr>
          <p:cNvPr id="21" name="Text 18"/>
          <p:cNvSpPr txBox="1"/>
          <p:nvPr/>
        </p:nvSpPr>
        <p:spPr>
          <a:xfrm>
            <a:off x="3361182"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3</a:t>
            </a:r>
            <a:endParaRPr lang="en-US" sz="1500" dirty="0"/>
          </a:p>
        </p:txBody>
      </p:sp>
      <p:sp>
        <p:nvSpPr>
          <p:cNvPr id="22" name="Text 19"/>
          <p:cNvSpPr txBox="1"/>
          <p:nvPr/>
        </p:nvSpPr>
        <p:spPr>
          <a:xfrm>
            <a:off x="2990698"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Partner academy</a:t>
            </a:r>
            <a:endParaRPr lang="en-US" sz="1200" dirty="0"/>
          </a:p>
        </p:txBody>
      </p:sp>
      <p:sp>
        <p:nvSpPr>
          <p:cNvPr id="23" name="Text 20"/>
          <p:cNvSpPr txBox="1"/>
          <p:nvPr/>
        </p:nvSpPr>
        <p:spPr>
          <a:xfrm>
            <a:off x="3008986"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Pick a pathway</a:t>
            </a:r>
            <a:endParaRPr lang="en-US" sz="1050" dirty="0"/>
          </a:p>
        </p:txBody>
      </p:sp>
      <p:sp>
        <p:nvSpPr>
          <p:cNvPr id="24" name="Text 21"/>
          <p:cNvSpPr txBox="1"/>
          <p:nvPr/>
        </p:nvSpPr>
        <p:spPr>
          <a:xfrm>
            <a:off x="2963266"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8</a:t>
            </a:r>
            <a:endParaRPr lang="en-US" sz="900" dirty="0"/>
          </a:p>
        </p:txBody>
      </p:sp>
      <p:sp>
        <p:nvSpPr>
          <p:cNvPr id="25" name="Text 22"/>
          <p:cNvSpPr txBox="1"/>
          <p:nvPr/>
        </p:nvSpPr>
        <p:spPr>
          <a:xfrm>
            <a:off x="2963266"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26" name="Shape 23"/>
          <p:cNvSpPr/>
          <p:nvPr/>
        </p:nvSpPr>
        <p:spPr>
          <a:xfrm>
            <a:off x="4614215" y="1961083"/>
            <a:ext cx="457200" cy="457200"/>
          </a:xfrm>
          <a:prstGeom prst="ellipse">
            <a:avLst/>
          </a:prstGeom>
          <a:solidFill>
            <a:srgbClr val="1E1A10"/>
          </a:solidFill>
          <a:ln w="15875">
            <a:solidFill>
              <a:srgbClr val="C9A84C"/>
            </a:solidFill>
            <a:prstDash val="solid"/>
          </a:ln>
        </p:spPr>
      </p:sp>
      <p:sp>
        <p:nvSpPr>
          <p:cNvPr id="27" name="Text 24"/>
          <p:cNvSpPr txBox="1"/>
          <p:nvPr/>
        </p:nvSpPr>
        <p:spPr>
          <a:xfrm>
            <a:off x="4614215"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4</a:t>
            </a:r>
            <a:endParaRPr lang="en-US" sz="1500" dirty="0"/>
          </a:p>
        </p:txBody>
      </p:sp>
      <p:sp>
        <p:nvSpPr>
          <p:cNvPr id="28" name="Text 25"/>
          <p:cNvSpPr txBox="1"/>
          <p:nvPr/>
        </p:nvSpPr>
        <p:spPr>
          <a:xfrm>
            <a:off x="4243730"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Enrol &amp; pay</a:t>
            </a:r>
            <a:endParaRPr lang="en-US" sz="1200" dirty="0"/>
          </a:p>
        </p:txBody>
      </p:sp>
      <p:sp>
        <p:nvSpPr>
          <p:cNvPr id="29" name="Text 26"/>
          <p:cNvSpPr txBox="1"/>
          <p:nvPr/>
        </p:nvSpPr>
        <p:spPr>
          <a:xfrm>
            <a:off x="4262018"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Secure hosted checkout</a:t>
            </a:r>
            <a:endParaRPr lang="en-US" sz="1050" dirty="0"/>
          </a:p>
        </p:txBody>
      </p:sp>
      <p:sp>
        <p:nvSpPr>
          <p:cNvPr id="30" name="Text 27"/>
          <p:cNvSpPr txBox="1"/>
          <p:nvPr/>
        </p:nvSpPr>
        <p:spPr>
          <a:xfrm>
            <a:off x="4216298"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9</a:t>
            </a:r>
            <a:endParaRPr lang="en-US" sz="900" dirty="0"/>
          </a:p>
        </p:txBody>
      </p:sp>
      <p:sp>
        <p:nvSpPr>
          <p:cNvPr id="31" name="Text 28"/>
          <p:cNvSpPr txBox="1"/>
          <p:nvPr/>
        </p:nvSpPr>
        <p:spPr>
          <a:xfrm>
            <a:off x="4216298"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32" name="Shape 29"/>
          <p:cNvSpPr/>
          <p:nvPr/>
        </p:nvSpPr>
        <p:spPr>
          <a:xfrm>
            <a:off x="5867248" y="1961083"/>
            <a:ext cx="457200" cy="457200"/>
          </a:xfrm>
          <a:prstGeom prst="ellipse">
            <a:avLst/>
          </a:prstGeom>
          <a:solidFill>
            <a:srgbClr val="1E1A10"/>
          </a:solidFill>
          <a:ln w="15875">
            <a:solidFill>
              <a:srgbClr val="C9A84C"/>
            </a:solidFill>
            <a:prstDash val="solid"/>
          </a:ln>
        </p:spPr>
      </p:sp>
      <p:sp>
        <p:nvSpPr>
          <p:cNvPr id="33" name="Text 30"/>
          <p:cNvSpPr txBox="1"/>
          <p:nvPr/>
        </p:nvSpPr>
        <p:spPr>
          <a:xfrm>
            <a:off x="5867248"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5</a:t>
            </a:r>
            <a:endParaRPr lang="en-US" sz="1500" dirty="0"/>
          </a:p>
        </p:txBody>
      </p:sp>
      <p:sp>
        <p:nvSpPr>
          <p:cNvPr id="34" name="Text 31"/>
          <p:cNvSpPr txBox="1"/>
          <p:nvPr/>
        </p:nvSpPr>
        <p:spPr>
          <a:xfrm>
            <a:off x="5496763"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Learn</a:t>
            </a:r>
            <a:endParaRPr lang="en-US" sz="1200" dirty="0"/>
          </a:p>
        </p:txBody>
      </p:sp>
      <p:sp>
        <p:nvSpPr>
          <p:cNvPr id="35" name="Text 32"/>
          <p:cNvSpPr txBox="1"/>
          <p:nvPr/>
        </p:nvSpPr>
        <p:spPr>
          <a:xfrm>
            <a:off x="5515051"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Lessons and graded checks</a:t>
            </a:r>
            <a:endParaRPr lang="en-US" sz="1050" dirty="0"/>
          </a:p>
        </p:txBody>
      </p:sp>
      <p:sp>
        <p:nvSpPr>
          <p:cNvPr id="36" name="Text 33"/>
          <p:cNvSpPr txBox="1"/>
          <p:nvPr/>
        </p:nvSpPr>
        <p:spPr>
          <a:xfrm>
            <a:off x="5469331"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10</a:t>
            </a:r>
            <a:endParaRPr lang="en-US" sz="900" dirty="0"/>
          </a:p>
        </p:txBody>
      </p:sp>
      <p:sp>
        <p:nvSpPr>
          <p:cNvPr id="37" name="Text 34"/>
          <p:cNvSpPr txBox="1"/>
          <p:nvPr/>
        </p:nvSpPr>
        <p:spPr>
          <a:xfrm>
            <a:off x="5469331"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38" name="Shape 35"/>
          <p:cNvSpPr/>
          <p:nvPr/>
        </p:nvSpPr>
        <p:spPr>
          <a:xfrm>
            <a:off x="7120280" y="1961083"/>
            <a:ext cx="457200" cy="457200"/>
          </a:xfrm>
          <a:prstGeom prst="ellipse">
            <a:avLst/>
          </a:prstGeom>
          <a:solidFill>
            <a:srgbClr val="1E1A10"/>
          </a:solidFill>
          <a:ln w="15875">
            <a:solidFill>
              <a:srgbClr val="C9A84C"/>
            </a:solidFill>
            <a:prstDash val="solid"/>
          </a:ln>
        </p:spPr>
      </p:sp>
      <p:sp>
        <p:nvSpPr>
          <p:cNvPr id="39" name="Text 36"/>
          <p:cNvSpPr txBox="1"/>
          <p:nvPr/>
        </p:nvSpPr>
        <p:spPr>
          <a:xfrm>
            <a:off x="7120280"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6</a:t>
            </a:r>
            <a:endParaRPr lang="en-US" sz="1500" dirty="0"/>
          </a:p>
        </p:txBody>
      </p:sp>
      <p:sp>
        <p:nvSpPr>
          <p:cNvPr id="40" name="Text 37"/>
          <p:cNvSpPr txBox="1"/>
          <p:nvPr/>
        </p:nvSpPr>
        <p:spPr>
          <a:xfrm>
            <a:off x="6749796"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AI tutor</a:t>
            </a:r>
            <a:endParaRPr lang="en-US" sz="1200" dirty="0"/>
          </a:p>
        </p:txBody>
      </p:sp>
      <p:sp>
        <p:nvSpPr>
          <p:cNvPr id="41" name="Text 38"/>
          <p:cNvSpPr txBox="1"/>
          <p:nvPr/>
        </p:nvSpPr>
        <p:spPr>
          <a:xfrm>
            <a:off x="6768084"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Cited answers inside the lesson</a:t>
            </a:r>
            <a:endParaRPr lang="en-US" sz="1050" dirty="0"/>
          </a:p>
        </p:txBody>
      </p:sp>
      <p:sp>
        <p:nvSpPr>
          <p:cNvPr id="42" name="Text 39"/>
          <p:cNvSpPr txBox="1"/>
          <p:nvPr/>
        </p:nvSpPr>
        <p:spPr>
          <a:xfrm>
            <a:off x="6722364"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11</a:t>
            </a:r>
            <a:endParaRPr lang="en-US" sz="900" dirty="0"/>
          </a:p>
        </p:txBody>
      </p:sp>
      <p:sp>
        <p:nvSpPr>
          <p:cNvPr id="43" name="Text 40"/>
          <p:cNvSpPr txBox="1"/>
          <p:nvPr/>
        </p:nvSpPr>
        <p:spPr>
          <a:xfrm>
            <a:off x="6722364"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Open Knowledge</a:t>
            </a:r>
            <a:endParaRPr lang="en-US" sz="900" dirty="0"/>
          </a:p>
        </p:txBody>
      </p:sp>
      <p:sp>
        <p:nvSpPr>
          <p:cNvPr id="44" name="Shape 41"/>
          <p:cNvSpPr/>
          <p:nvPr/>
        </p:nvSpPr>
        <p:spPr>
          <a:xfrm>
            <a:off x="8373313" y="1961083"/>
            <a:ext cx="457200" cy="457200"/>
          </a:xfrm>
          <a:prstGeom prst="ellipse">
            <a:avLst/>
          </a:prstGeom>
          <a:solidFill>
            <a:srgbClr val="1E1A10"/>
          </a:solidFill>
          <a:ln w="15875">
            <a:solidFill>
              <a:srgbClr val="C9A84C"/>
            </a:solidFill>
            <a:prstDash val="solid"/>
          </a:ln>
        </p:spPr>
      </p:sp>
      <p:sp>
        <p:nvSpPr>
          <p:cNvPr id="45" name="Text 42"/>
          <p:cNvSpPr txBox="1"/>
          <p:nvPr/>
        </p:nvSpPr>
        <p:spPr>
          <a:xfrm>
            <a:off x="8373313"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7</a:t>
            </a:r>
            <a:endParaRPr lang="en-US" sz="1500" dirty="0"/>
          </a:p>
        </p:txBody>
      </p:sp>
      <p:sp>
        <p:nvSpPr>
          <p:cNvPr id="46" name="Text 43"/>
          <p:cNvSpPr txBox="1"/>
          <p:nvPr/>
        </p:nvSpPr>
        <p:spPr>
          <a:xfrm>
            <a:off x="8002829"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Pass &amp; pathway</a:t>
            </a:r>
            <a:endParaRPr lang="en-US" sz="1200" dirty="0"/>
          </a:p>
        </p:txBody>
      </p:sp>
      <p:sp>
        <p:nvSpPr>
          <p:cNvPr id="47" name="Text 44"/>
          <p:cNvSpPr txBox="1"/>
          <p:nvPr/>
        </p:nvSpPr>
        <p:spPr>
          <a:xfrm>
            <a:off x="8021117"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Grades roll up to the pathway</a:t>
            </a:r>
            <a:endParaRPr lang="en-US" sz="1050" dirty="0"/>
          </a:p>
        </p:txBody>
      </p:sp>
      <p:sp>
        <p:nvSpPr>
          <p:cNvPr id="48" name="Text 45"/>
          <p:cNvSpPr txBox="1"/>
          <p:nvPr/>
        </p:nvSpPr>
        <p:spPr>
          <a:xfrm>
            <a:off x="7975397"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12</a:t>
            </a:r>
            <a:endParaRPr lang="en-US" sz="900" dirty="0"/>
          </a:p>
        </p:txBody>
      </p:sp>
      <p:sp>
        <p:nvSpPr>
          <p:cNvPr id="49" name="Text 46"/>
          <p:cNvSpPr txBox="1"/>
          <p:nvPr/>
        </p:nvSpPr>
        <p:spPr>
          <a:xfrm>
            <a:off x="7975397"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0" name="Shape 47"/>
          <p:cNvSpPr/>
          <p:nvPr/>
        </p:nvSpPr>
        <p:spPr>
          <a:xfrm>
            <a:off x="9626346" y="1961083"/>
            <a:ext cx="457200" cy="457200"/>
          </a:xfrm>
          <a:prstGeom prst="ellipse">
            <a:avLst/>
          </a:prstGeom>
          <a:solidFill>
            <a:srgbClr val="1E1A10"/>
          </a:solidFill>
          <a:ln w="15875">
            <a:solidFill>
              <a:srgbClr val="C9A84C"/>
            </a:solidFill>
            <a:prstDash val="solid"/>
          </a:ln>
        </p:spPr>
      </p:sp>
      <p:sp>
        <p:nvSpPr>
          <p:cNvPr id="51" name="Text 48"/>
          <p:cNvSpPr txBox="1"/>
          <p:nvPr/>
        </p:nvSpPr>
        <p:spPr>
          <a:xfrm>
            <a:off x="9626346"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8</a:t>
            </a:r>
            <a:endParaRPr lang="en-US" sz="1500" dirty="0"/>
          </a:p>
        </p:txBody>
      </p:sp>
      <p:sp>
        <p:nvSpPr>
          <p:cNvPr id="52" name="Text 49"/>
          <p:cNvSpPr txBox="1"/>
          <p:nvPr/>
        </p:nvSpPr>
        <p:spPr>
          <a:xfrm>
            <a:off x="9255862"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 to job</a:t>
            </a:r>
            <a:endParaRPr lang="en-US" sz="1200" dirty="0"/>
          </a:p>
        </p:txBody>
      </p:sp>
      <p:sp>
        <p:nvSpPr>
          <p:cNvPr id="53" name="Text 50"/>
          <p:cNvSpPr txBox="1"/>
          <p:nvPr/>
        </p:nvSpPr>
        <p:spPr>
          <a:xfrm>
            <a:off x="9274150"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Open Badge, matched to a job</a:t>
            </a:r>
            <a:endParaRPr lang="en-US" sz="1050" dirty="0"/>
          </a:p>
        </p:txBody>
      </p:sp>
      <p:sp>
        <p:nvSpPr>
          <p:cNvPr id="54" name="Text 51"/>
          <p:cNvSpPr txBox="1"/>
          <p:nvPr/>
        </p:nvSpPr>
        <p:spPr>
          <a:xfrm>
            <a:off x="9228430"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13</a:t>
            </a:r>
            <a:endParaRPr lang="en-US" sz="900" dirty="0"/>
          </a:p>
        </p:txBody>
      </p:sp>
      <p:sp>
        <p:nvSpPr>
          <p:cNvPr id="55" name="Text 52"/>
          <p:cNvSpPr txBox="1"/>
          <p:nvPr/>
        </p:nvSpPr>
        <p:spPr>
          <a:xfrm>
            <a:off x="9228430"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Company Academies</a:t>
            </a:r>
            <a:endParaRPr lang="en-US" sz="900" dirty="0"/>
          </a:p>
        </p:txBody>
      </p:sp>
      <p:sp>
        <p:nvSpPr>
          <p:cNvPr id="56" name="Shape 53"/>
          <p:cNvSpPr/>
          <p:nvPr/>
        </p:nvSpPr>
        <p:spPr>
          <a:xfrm>
            <a:off x="10879379" y="1961083"/>
            <a:ext cx="457200" cy="457200"/>
          </a:xfrm>
          <a:prstGeom prst="ellipse">
            <a:avLst/>
          </a:prstGeom>
          <a:solidFill>
            <a:srgbClr val="1E1A10"/>
          </a:solidFill>
          <a:ln w="15875">
            <a:solidFill>
              <a:srgbClr val="C9A84C"/>
            </a:solidFill>
            <a:prstDash val="solid"/>
          </a:ln>
        </p:spPr>
      </p:sp>
      <p:sp>
        <p:nvSpPr>
          <p:cNvPr id="57" name="Text 54"/>
          <p:cNvSpPr txBox="1"/>
          <p:nvPr/>
        </p:nvSpPr>
        <p:spPr>
          <a:xfrm>
            <a:off x="10879379" y="1961083"/>
            <a:ext cx="457200" cy="457200"/>
          </a:xfrm>
          <a:prstGeom prst="rect">
            <a:avLst/>
          </a:prstGeom>
          <a:noFill/>
          <a:ln/>
        </p:spPr>
        <p:txBody>
          <a:bodyPr wrap="square" lIns="0" tIns="0" rIns="0" bIns="0" rtlCol="0" anchor="ctr"/>
          <a:lstStyle/>
          <a:p>
            <a:pPr algn="ctr" indent="0" marL="0">
              <a:buNone/>
            </a:pPr>
            <a:r>
              <a:rPr lang="en-US" sz="1500" b="1" dirty="0">
                <a:solidFill>
                  <a:srgbClr val="F0C96B"/>
                </a:solidFill>
                <a:latin typeface="Arial" pitchFamily="34" charset="0"/>
                <a:ea typeface="Arial" pitchFamily="34" charset="-122"/>
                <a:cs typeface="Arial" pitchFamily="34" charset="-120"/>
              </a:rPr>
              <a:t>9</a:t>
            </a:r>
            <a:endParaRPr lang="en-US" sz="1500" dirty="0"/>
          </a:p>
        </p:txBody>
      </p:sp>
      <p:sp>
        <p:nvSpPr>
          <p:cNvPr id="58" name="Text 55"/>
          <p:cNvSpPr txBox="1"/>
          <p:nvPr/>
        </p:nvSpPr>
        <p:spPr>
          <a:xfrm>
            <a:off x="10508894" y="2528011"/>
            <a:ext cx="1198169" cy="38404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Community &amp; video</a:t>
            </a:r>
            <a:endParaRPr lang="en-US" sz="1200" dirty="0"/>
          </a:p>
        </p:txBody>
      </p:sp>
      <p:sp>
        <p:nvSpPr>
          <p:cNvPr id="59" name="Text 56"/>
          <p:cNvSpPr txBox="1"/>
          <p:nvPr/>
        </p:nvSpPr>
        <p:spPr>
          <a:xfrm>
            <a:off x="10527182" y="2948635"/>
            <a:ext cx="1161593" cy="457200"/>
          </a:xfrm>
          <a:prstGeom prst="rect">
            <a:avLst/>
          </a:prstGeom>
          <a:noFill/>
          <a:ln/>
        </p:spPr>
        <p:txBody>
          <a:bodyPr wrap="square" lIns="0" tIns="0" rIns="0" bIns="0" rtlCol="0" anchor="t"/>
          <a:lstStyle/>
          <a:p>
            <a:pPr algn="ctr" indent="0" marL="0">
              <a:buNone/>
            </a:pPr>
            <a:r>
              <a:rPr lang="en-US" sz="1050" dirty="0">
                <a:solidFill>
                  <a:srgbClr val="B4B4C8"/>
                </a:solidFill>
                <a:latin typeface="Arial" pitchFamily="34" charset="0"/>
                <a:ea typeface="Arial" pitchFamily="34" charset="-122"/>
                <a:cs typeface="Arial" pitchFamily="34" charset="-120"/>
              </a:rPr>
              <a:t>District forums and lecture video</a:t>
            </a:r>
            <a:endParaRPr lang="en-US" sz="1050" dirty="0"/>
          </a:p>
        </p:txBody>
      </p:sp>
      <p:sp>
        <p:nvSpPr>
          <p:cNvPr id="60" name="Text 57"/>
          <p:cNvSpPr txBox="1"/>
          <p:nvPr/>
        </p:nvSpPr>
        <p:spPr>
          <a:xfrm>
            <a:off x="10481462" y="3424123"/>
            <a:ext cx="1253033" cy="182880"/>
          </a:xfrm>
          <a:prstGeom prst="rect">
            <a:avLst/>
          </a:prstGeom>
          <a:noFill/>
          <a:ln/>
        </p:spPr>
        <p:txBody>
          <a:bodyPr wrap="square" lIns="0" tIns="0" rIns="0" bIns="0" rtlCol="0" anchor="t"/>
          <a:lstStyle/>
          <a:p>
            <a:pPr algn="ctr" indent="0" marL="0">
              <a:buNone/>
            </a:pPr>
            <a:r>
              <a:rPr lang="en-US" sz="900" dirty="0">
                <a:solidFill>
                  <a:srgbClr val="C9A84C"/>
                </a:solidFill>
                <a:latin typeface="Arial" pitchFamily="34" charset="0"/>
                <a:ea typeface="Arial" pitchFamily="34" charset="-122"/>
                <a:cs typeface="Arial" pitchFamily="34" charset="-120"/>
              </a:rPr>
              <a:t>Slide 14</a:t>
            </a:r>
            <a:endParaRPr lang="en-US" sz="900" dirty="0"/>
          </a:p>
        </p:txBody>
      </p:sp>
      <p:sp>
        <p:nvSpPr>
          <p:cNvPr id="61" name="Text 58"/>
          <p:cNvSpPr txBox="1"/>
          <p:nvPr/>
        </p:nvSpPr>
        <p:spPr>
          <a:xfrm>
            <a:off x="10481462" y="3588715"/>
            <a:ext cx="1253033" cy="182880"/>
          </a:xfrm>
          <a:prstGeom prst="rect">
            <a:avLst/>
          </a:prstGeom>
          <a:noFill/>
          <a:ln/>
        </p:spPr>
        <p:txBody>
          <a:bodyPr wrap="square" lIns="0" tIns="0" rIns="0" bIns="0" rtlCol="0" anchor="t"/>
          <a:lstStyle/>
          <a:p>
            <a:pPr algn="ctr" indent="0" marL="0">
              <a:buNone/>
            </a:pPr>
            <a:r>
              <a:rPr lang="en-US" sz="900" dirty="0">
                <a:solidFill>
                  <a:srgbClr val="8E8EA2"/>
                </a:solidFill>
                <a:latin typeface="Arial" pitchFamily="34" charset="0"/>
                <a:ea typeface="Arial" pitchFamily="34" charset="-122"/>
                <a:cs typeface="Arial" pitchFamily="34" charset="-120"/>
              </a:rPr>
              <a:t>Platform core</a:t>
            </a:r>
            <a:endParaRPr lang="en-US" sz="900" dirty="0"/>
          </a:p>
        </p:txBody>
      </p:sp>
      <p:sp>
        <p:nvSpPr>
          <p:cNvPr id="62" name="Shape 59"/>
          <p:cNvSpPr/>
          <p:nvPr/>
        </p:nvSpPr>
        <p:spPr>
          <a:xfrm>
            <a:off x="457200" y="3881323"/>
            <a:ext cx="11277295" cy="475488"/>
          </a:xfrm>
          <a:prstGeom prst="roundRect">
            <a:avLst>
              <a:gd name="adj" fmla="val 19231"/>
            </a:avLst>
          </a:prstGeom>
          <a:solidFill>
            <a:srgbClr val="171722"/>
          </a:solidFill>
          <a:ln w="9525">
            <a:solidFill>
              <a:srgbClr val="2C2C3E"/>
            </a:solidFill>
            <a:prstDash val="solid"/>
          </a:ln>
        </p:spPr>
      </p:sp>
      <p:sp>
        <p:nvSpPr>
          <p:cNvPr id="63" name="Text 60"/>
          <p:cNvSpPr txBox="1"/>
          <p:nvPr/>
        </p:nvSpPr>
        <p:spPr>
          <a:xfrm>
            <a:off x="640080" y="3881323"/>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Then the partner side (slides 16-26)</a:t>
            </a:r>
            <a:endParaRPr lang="en-US" sz="1200" dirty="0"/>
          </a:p>
        </p:txBody>
      </p:sp>
      <p:sp>
        <p:nvSpPr>
          <p:cNvPr id="64" name="Shape 61"/>
          <p:cNvSpPr/>
          <p:nvPr/>
        </p:nvSpPr>
        <p:spPr>
          <a:xfrm>
            <a:off x="3472099" y="3991051"/>
            <a:ext cx="980501" cy="256032"/>
          </a:xfrm>
          <a:prstGeom prst="roundRect">
            <a:avLst>
              <a:gd name="adj" fmla="val 50000"/>
            </a:avLst>
          </a:prstGeom>
          <a:solidFill>
            <a:srgbClr val="1E1A10"/>
          </a:solidFill>
          <a:ln w="9525">
            <a:solidFill>
              <a:srgbClr val="5A4A22"/>
            </a:solidFill>
            <a:prstDash val="solid"/>
          </a:ln>
        </p:spPr>
      </p:sp>
      <p:sp>
        <p:nvSpPr>
          <p:cNvPr id="65" name="Text 62"/>
          <p:cNvSpPr txBox="1"/>
          <p:nvPr/>
        </p:nvSpPr>
        <p:spPr>
          <a:xfrm>
            <a:off x="3609259" y="3991051"/>
            <a:ext cx="797621"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Author</a:t>
            </a:r>
            <a:r>
              <a:rPr lang="en-US" sz="1000" dirty="0">
                <a:solidFill>
                  <a:srgbClr val="8E8EA2"/>
                </a:solidFill>
                <a:latin typeface="Arial" pitchFamily="34" charset="0"/>
                <a:ea typeface="Arial" pitchFamily="34" charset="-122"/>
                <a:cs typeface="Arial" pitchFamily="34" charset="-120"/>
              </a:rPr>
              <a:t>  16</a:t>
            </a:r>
            <a:endParaRPr lang="en-US" sz="1100" dirty="0"/>
          </a:p>
        </p:txBody>
      </p:sp>
      <p:sp>
        <p:nvSpPr>
          <p:cNvPr id="66" name="Text 63"/>
          <p:cNvSpPr txBox="1"/>
          <p:nvPr/>
        </p:nvSpPr>
        <p:spPr>
          <a:xfrm>
            <a:off x="445260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67" name="Shape 64"/>
          <p:cNvSpPr/>
          <p:nvPr/>
        </p:nvSpPr>
        <p:spPr>
          <a:xfrm>
            <a:off x="4653768" y="3991051"/>
            <a:ext cx="1089607" cy="256032"/>
          </a:xfrm>
          <a:prstGeom prst="roundRect">
            <a:avLst>
              <a:gd name="adj" fmla="val 50000"/>
            </a:avLst>
          </a:prstGeom>
          <a:solidFill>
            <a:srgbClr val="1E1A10"/>
          </a:solidFill>
          <a:ln w="9525">
            <a:solidFill>
              <a:srgbClr val="5A4A22"/>
            </a:solidFill>
            <a:prstDash val="solid"/>
          </a:ln>
        </p:spPr>
      </p:sp>
      <p:sp>
        <p:nvSpPr>
          <p:cNvPr id="68" name="Text 65"/>
          <p:cNvSpPr txBox="1"/>
          <p:nvPr/>
        </p:nvSpPr>
        <p:spPr>
          <a:xfrm>
            <a:off x="4790928" y="3991051"/>
            <a:ext cx="90672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Measure</a:t>
            </a:r>
            <a:r>
              <a:rPr lang="en-US" sz="1000" dirty="0">
                <a:solidFill>
                  <a:srgbClr val="8E8EA2"/>
                </a:solidFill>
                <a:latin typeface="Arial" pitchFamily="34" charset="0"/>
                <a:ea typeface="Arial" pitchFamily="34" charset="-122"/>
                <a:cs typeface="Arial" pitchFamily="34" charset="-120"/>
              </a:rPr>
              <a:t>  17</a:t>
            </a:r>
            <a:endParaRPr lang="en-US" sz="1100" dirty="0"/>
          </a:p>
        </p:txBody>
      </p:sp>
      <p:sp>
        <p:nvSpPr>
          <p:cNvPr id="69" name="Text 66"/>
          <p:cNvSpPr txBox="1"/>
          <p:nvPr/>
        </p:nvSpPr>
        <p:spPr>
          <a:xfrm>
            <a:off x="5743374"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0" name="Shape 67"/>
          <p:cNvSpPr/>
          <p:nvPr/>
        </p:nvSpPr>
        <p:spPr>
          <a:xfrm>
            <a:off x="5944542" y="3991051"/>
            <a:ext cx="1112713" cy="256032"/>
          </a:xfrm>
          <a:prstGeom prst="roundRect">
            <a:avLst>
              <a:gd name="adj" fmla="val 50000"/>
            </a:avLst>
          </a:prstGeom>
          <a:solidFill>
            <a:srgbClr val="1E1A10"/>
          </a:solidFill>
          <a:ln w="9525">
            <a:solidFill>
              <a:srgbClr val="5A4A22"/>
            </a:solidFill>
            <a:prstDash val="solid"/>
          </a:ln>
        </p:spPr>
      </p:sp>
      <p:sp>
        <p:nvSpPr>
          <p:cNvPr id="71" name="Text 68"/>
          <p:cNvSpPr txBox="1"/>
          <p:nvPr/>
        </p:nvSpPr>
        <p:spPr>
          <a:xfrm>
            <a:off x="6081702" y="3991051"/>
            <a:ext cx="929833"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Convene</a:t>
            </a:r>
            <a:r>
              <a:rPr lang="en-US" sz="1000" dirty="0">
                <a:solidFill>
                  <a:srgbClr val="8E8EA2"/>
                </a:solidFill>
                <a:latin typeface="Arial" pitchFamily="34" charset="0"/>
                <a:ea typeface="Arial" pitchFamily="34" charset="-122"/>
                <a:cs typeface="Arial" pitchFamily="34" charset="-120"/>
              </a:rPr>
              <a:t>  18</a:t>
            </a:r>
            <a:endParaRPr lang="en-US" sz="1100" dirty="0"/>
          </a:p>
        </p:txBody>
      </p:sp>
      <p:sp>
        <p:nvSpPr>
          <p:cNvPr id="72" name="Text 69"/>
          <p:cNvSpPr txBox="1"/>
          <p:nvPr/>
        </p:nvSpPr>
        <p:spPr>
          <a:xfrm>
            <a:off x="7057255"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3" name="Shape 70"/>
          <p:cNvSpPr/>
          <p:nvPr/>
        </p:nvSpPr>
        <p:spPr>
          <a:xfrm>
            <a:off x="7258423" y="3991051"/>
            <a:ext cx="1027217" cy="256032"/>
          </a:xfrm>
          <a:prstGeom prst="roundRect">
            <a:avLst>
              <a:gd name="adj" fmla="val 50000"/>
            </a:avLst>
          </a:prstGeom>
          <a:solidFill>
            <a:srgbClr val="1E1A10"/>
          </a:solidFill>
          <a:ln w="9525">
            <a:solidFill>
              <a:srgbClr val="5A4A22"/>
            </a:solidFill>
            <a:prstDash val="solid"/>
          </a:ln>
        </p:spPr>
      </p:sp>
      <p:sp>
        <p:nvSpPr>
          <p:cNvPr id="74" name="Text 71"/>
          <p:cNvSpPr txBox="1"/>
          <p:nvPr/>
        </p:nvSpPr>
        <p:spPr>
          <a:xfrm>
            <a:off x="7395583" y="3991051"/>
            <a:ext cx="844337"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Publish</a:t>
            </a:r>
            <a:r>
              <a:rPr lang="en-US" sz="1000" dirty="0">
                <a:solidFill>
                  <a:srgbClr val="8E8EA2"/>
                </a:solidFill>
                <a:latin typeface="Arial" pitchFamily="34" charset="0"/>
                <a:ea typeface="Arial" pitchFamily="34" charset="-122"/>
                <a:cs typeface="Arial" pitchFamily="34" charset="-120"/>
              </a:rPr>
              <a:t>  19</a:t>
            </a:r>
            <a:endParaRPr lang="en-US" sz="1100" dirty="0"/>
          </a:p>
        </p:txBody>
      </p:sp>
      <p:sp>
        <p:nvSpPr>
          <p:cNvPr id="75" name="Text 72"/>
          <p:cNvSpPr txBox="1"/>
          <p:nvPr/>
        </p:nvSpPr>
        <p:spPr>
          <a:xfrm>
            <a:off x="8285640"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6" name="Shape 73"/>
          <p:cNvSpPr/>
          <p:nvPr/>
        </p:nvSpPr>
        <p:spPr>
          <a:xfrm>
            <a:off x="8486808" y="3991051"/>
            <a:ext cx="1322710" cy="256032"/>
          </a:xfrm>
          <a:prstGeom prst="roundRect">
            <a:avLst>
              <a:gd name="adj" fmla="val 50000"/>
            </a:avLst>
          </a:prstGeom>
          <a:solidFill>
            <a:srgbClr val="1E1A10"/>
          </a:solidFill>
          <a:ln w="9525">
            <a:solidFill>
              <a:srgbClr val="5A4A22"/>
            </a:solidFill>
            <a:prstDash val="solid"/>
          </a:ln>
        </p:spPr>
      </p:sp>
      <p:sp>
        <p:nvSpPr>
          <p:cNvPr id="77" name="Text 74"/>
          <p:cNvSpPr txBox="1"/>
          <p:nvPr/>
        </p:nvSpPr>
        <p:spPr>
          <a:xfrm>
            <a:off x="8623968" y="3991051"/>
            <a:ext cx="1139830"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Masterclass</a:t>
            </a:r>
            <a:r>
              <a:rPr lang="en-US" sz="1000" dirty="0">
                <a:solidFill>
                  <a:srgbClr val="8E8EA2"/>
                </a:solidFill>
                <a:latin typeface="Arial" pitchFamily="34" charset="0"/>
                <a:ea typeface="Arial" pitchFamily="34" charset="-122"/>
                <a:cs typeface="Arial" pitchFamily="34" charset="-120"/>
              </a:rPr>
              <a:t>  20</a:t>
            </a:r>
            <a:endParaRPr lang="en-US" sz="1100" dirty="0"/>
          </a:p>
        </p:txBody>
      </p:sp>
      <p:sp>
        <p:nvSpPr>
          <p:cNvPr id="78" name="Text 75"/>
          <p:cNvSpPr txBox="1"/>
          <p:nvPr/>
        </p:nvSpPr>
        <p:spPr>
          <a:xfrm>
            <a:off x="9809518" y="3972763"/>
            <a:ext cx="201168" cy="274320"/>
          </a:xfrm>
          <a:prstGeom prst="rect">
            <a:avLst/>
          </a:prstGeom>
          <a:noFill/>
          <a:ln/>
        </p:spPr>
        <p:txBody>
          <a:bodyPr wrap="square" lIns="0" tIns="0" rIns="0" bIns="0" rtlCol="0" anchor="ctr"/>
          <a:lstStyle/>
          <a:p>
            <a:pPr algn="ctr" indent="0" marL="0">
              <a:buNone/>
            </a:pPr>
            <a:r>
              <a:rPr lang="en-US" sz="1400" dirty="0">
                <a:solidFill>
                  <a:srgbClr val="9B7A2E"/>
                </a:solidFill>
                <a:latin typeface="Arial" pitchFamily="34" charset="0"/>
                <a:ea typeface="Arial" pitchFamily="34" charset="-122"/>
                <a:cs typeface="Arial" pitchFamily="34" charset="-120"/>
              </a:rPr>
              <a:t>›</a:t>
            </a:r>
            <a:endParaRPr lang="en-US" sz="1400" dirty="0"/>
          </a:p>
        </p:txBody>
      </p:sp>
      <p:sp>
        <p:nvSpPr>
          <p:cNvPr id="79" name="Shape 76"/>
          <p:cNvSpPr/>
          <p:nvPr/>
        </p:nvSpPr>
        <p:spPr>
          <a:xfrm>
            <a:off x="10010686" y="3991051"/>
            <a:ext cx="1016879" cy="256032"/>
          </a:xfrm>
          <a:prstGeom prst="roundRect">
            <a:avLst>
              <a:gd name="adj" fmla="val 50000"/>
            </a:avLst>
          </a:prstGeom>
          <a:solidFill>
            <a:srgbClr val="1E1A10"/>
          </a:solidFill>
          <a:ln w="9525">
            <a:solidFill>
              <a:srgbClr val="5A4A22"/>
            </a:solidFill>
            <a:prstDash val="solid"/>
          </a:ln>
        </p:spPr>
      </p:sp>
      <p:sp>
        <p:nvSpPr>
          <p:cNvPr id="80" name="Text 77"/>
          <p:cNvSpPr txBox="1"/>
          <p:nvPr/>
        </p:nvSpPr>
        <p:spPr>
          <a:xfrm>
            <a:off x="10147846" y="3991051"/>
            <a:ext cx="833999" cy="256032"/>
          </a:xfrm>
          <a:prstGeom prst="rect">
            <a:avLst/>
          </a:prstGeom>
          <a:noFill/>
          <a:ln/>
        </p:spPr>
        <p:txBody>
          <a:bodyPr wrap="square" lIns="0" tIns="0" rIns="0" bIns="0" rtlCol="0" anchor="ctr"/>
          <a:lstStyle/>
          <a:p>
            <a:pPr indent="0" marL="0">
              <a:buNone/>
            </a:pPr>
            <a:r>
              <a:rPr lang="en-US" sz="1100" b="1" dirty="0">
                <a:solidFill>
                  <a:srgbClr val="F0C96B"/>
                </a:solidFill>
                <a:latin typeface="Arial" pitchFamily="34" charset="0"/>
                <a:ea typeface="Arial" pitchFamily="34" charset="-122"/>
                <a:cs typeface="Arial" pitchFamily="34" charset="-120"/>
              </a:rPr>
              <a:t>Earn</a:t>
            </a:r>
            <a:r>
              <a:rPr lang="en-US" sz="1000" dirty="0">
                <a:solidFill>
                  <a:srgbClr val="8E8EA2"/>
                </a:solidFill>
                <a:latin typeface="Arial" pitchFamily="34" charset="0"/>
                <a:ea typeface="Arial" pitchFamily="34" charset="-122"/>
                <a:cs typeface="Arial" pitchFamily="34" charset="-120"/>
              </a:rPr>
              <a:t>  22-26</a:t>
            </a:r>
            <a:endParaRPr lang="en-US" sz="1100" dirty="0"/>
          </a:p>
        </p:txBody>
      </p:sp>
      <p:sp>
        <p:nvSpPr>
          <p:cNvPr id="81" name="Text 78"/>
          <p:cNvSpPr txBox="1"/>
          <p:nvPr/>
        </p:nvSpPr>
        <p:spPr>
          <a:xfrm>
            <a:off x="457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CAST (ALL FICTITIOUS)</a:t>
            </a:r>
            <a:endParaRPr lang="en-US" sz="900" dirty="0"/>
          </a:p>
        </p:txBody>
      </p:sp>
      <p:sp>
        <p:nvSpPr>
          <p:cNvPr id="82" name="Text 79"/>
          <p:cNvSpPr txBox="1"/>
          <p:nvPr/>
        </p:nvSpPr>
        <p:spPr>
          <a:xfrm>
            <a:off x="6172200" y="4594555"/>
            <a:ext cx="5029200"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EACH SCREEN IS</a:t>
            </a:r>
            <a:endParaRPr lang="en-US" sz="900" dirty="0"/>
          </a:p>
        </p:txBody>
      </p:sp>
      <p:sp>
        <p:nvSpPr>
          <p:cNvPr id="83" name="Shape 80"/>
          <p:cNvSpPr/>
          <p:nvPr/>
        </p:nvSpPr>
        <p:spPr>
          <a:xfrm>
            <a:off x="457200" y="4960315"/>
            <a:ext cx="329184" cy="329184"/>
          </a:xfrm>
          <a:prstGeom prst="ellipse">
            <a:avLst/>
          </a:prstGeom>
          <a:solidFill>
            <a:srgbClr val="C9A84C"/>
          </a:solidFill>
          <a:ln/>
        </p:spPr>
      </p:sp>
      <p:sp>
        <p:nvSpPr>
          <p:cNvPr id="84" name="Text 81"/>
          <p:cNvSpPr txBox="1"/>
          <p:nvPr/>
        </p:nvSpPr>
        <p:spPr>
          <a:xfrm>
            <a:off x="457200" y="496031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LA</a:t>
            </a:r>
            <a:endParaRPr lang="en-US" sz="1000" dirty="0"/>
          </a:p>
        </p:txBody>
      </p:sp>
      <p:sp>
        <p:nvSpPr>
          <p:cNvPr id="85" name="Text 82"/>
          <p:cNvSpPr txBox="1"/>
          <p:nvPr/>
        </p:nvSpPr>
        <p:spPr>
          <a:xfrm>
            <a:off x="950976" y="490545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Layla Al-Mansoori</a:t>
            </a:r>
            <a:r>
              <a:rPr lang="en-US" sz="1000" dirty="0">
                <a:solidFill>
                  <a:srgbClr val="C9A84C"/>
                </a:solidFill>
                <a:latin typeface="Arial" pitchFamily="34" charset="0"/>
                <a:ea typeface="Arial" pitchFamily="34" charset="-122"/>
                <a:cs typeface="Arial" pitchFamily="34" charset="-120"/>
              </a:rPr>
              <a:t>   slides 7-14, 18, 20, 23-24</a:t>
            </a:r>
            <a:endParaRPr lang="en-US" sz="1300" dirty="0"/>
          </a:p>
        </p:txBody>
      </p:sp>
      <p:sp>
        <p:nvSpPr>
          <p:cNvPr id="86" name="Text 83"/>
          <p:cNvSpPr txBox="1"/>
          <p:nvPr/>
        </p:nvSpPr>
        <p:spPr>
          <a:xfrm>
            <a:off x="950976" y="513405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MLRO, Gulf Digital Exchange (fictitious VASP)</a:t>
            </a:r>
            <a:endParaRPr lang="en-US" sz="1100" dirty="0"/>
          </a:p>
        </p:txBody>
      </p:sp>
      <p:sp>
        <p:nvSpPr>
          <p:cNvPr id="87" name="Shape 84"/>
          <p:cNvSpPr/>
          <p:nvPr/>
        </p:nvSpPr>
        <p:spPr>
          <a:xfrm>
            <a:off x="457200" y="5397805"/>
            <a:ext cx="329184" cy="329184"/>
          </a:xfrm>
          <a:prstGeom prst="ellipse">
            <a:avLst/>
          </a:prstGeom>
          <a:solidFill>
            <a:srgbClr val="3B82F6"/>
          </a:solidFill>
          <a:ln/>
        </p:spPr>
      </p:sp>
      <p:sp>
        <p:nvSpPr>
          <p:cNvPr id="88" name="Text 85"/>
          <p:cNvSpPr txBox="1"/>
          <p:nvPr/>
        </p:nvSpPr>
        <p:spPr>
          <a:xfrm>
            <a:off x="457200" y="5397805"/>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NK</a:t>
            </a:r>
            <a:endParaRPr lang="en-US" sz="1000" dirty="0"/>
          </a:p>
        </p:txBody>
      </p:sp>
      <p:sp>
        <p:nvSpPr>
          <p:cNvPr id="89" name="Text 86"/>
          <p:cNvSpPr txBox="1"/>
          <p:nvPr/>
        </p:nvSpPr>
        <p:spPr>
          <a:xfrm>
            <a:off x="950976" y="5342941"/>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Nadia Karim</a:t>
            </a:r>
            <a:r>
              <a:rPr lang="en-US" sz="1000" dirty="0">
                <a:solidFill>
                  <a:srgbClr val="C9A84C"/>
                </a:solidFill>
                <a:latin typeface="Arial" pitchFamily="34" charset="0"/>
                <a:ea typeface="Arial" pitchFamily="34" charset="-122"/>
                <a:cs typeface="Arial" pitchFamily="34" charset="-120"/>
              </a:rPr>
              <a:t>   slides 17, 24-25</a:t>
            </a:r>
            <a:endParaRPr lang="en-US" sz="1300" dirty="0"/>
          </a:p>
        </p:txBody>
      </p:sp>
      <p:sp>
        <p:nvSpPr>
          <p:cNvPr id="90" name="Text 87"/>
          <p:cNvSpPr txBox="1"/>
          <p:nvPr/>
        </p:nvSpPr>
        <p:spPr>
          <a:xfrm>
            <a:off x="950976" y="5571541"/>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Academy administrator, partner side (fictitious)</a:t>
            </a:r>
            <a:endParaRPr lang="en-US" sz="1100" dirty="0"/>
          </a:p>
        </p:txBody>
      </p:sp>
      <p:sp>
        <p:nvSpPr>
          <p:cNvPr id="91" name="Shape 88"/>
          <p:cNvSpPr/>
          <p:nvPr/>
        </p:nvSpPr>
        <p:spPr>
          <a:xfrm>
            <a:off x="457200" y="5835294"/>
            <a:ext cx="329184" cy="329184"/>
          </a:xfrm>
          <a:prstGeom prst="ellipse">
            <a:avLst/>
          </a:prstGeom>
          <a:solidFill>
            <a:srgbClr val="10B981"/>
          </a:solidFill>
          <a:ln/>
        </p:spPr>
      </p:sp>
      <p:sp>
        <p:nvSpPr>
          <p:cNvPr id="92" name="Text 89"/>
          <p:cNvSpPr txBox="1"/>
          <p:nvPr/>
        </p:nvSpPr>
        <p:spPr>
          <a:xfrm>
            <a:off x="457200" y="5835294"/>
            <a:ext cx="329184" cy="329184"/>
          </a:xfrm>
          <a:prstGeom prst="rect">
            <a:avLst/>
          </a:prstGeom>
          <a:noFill/>
          <a:ln/>
        </p:spPr>
        <p:txBody>
          <a:bodyPr wrap="square" lIns="0" tIns="0" rIns="0" bIns="0" rtlCol="0" anchor="ctr"/>
          <a:lstStyle/>
          <a:p>
            <a:pPr algn="ctr" indent="0" marL="0">
              <a:buNone/>
            </a:pPr>
            <a:r>
              <a:rPr lang="en-US" sz="1000" b="1" dirty="0">
                <a:solidFill>
                  <a:srgbClr val="0A0A0F"/>
                </a:solidFill>
                <a:latin typeface="Arial" pitchFamily="34" charset="0"/>
                <a:ea typeface="Arial" pitchFamily="34" charset="-122"/>
                <a:cs typeface="Arial" pitchFamily="34" charset="-120"/>
              </a:rPr>
              <a:t>AH</a:t>
            </a:r>
            <a:endParaRPr lang="en-US" sz="1000" dirty="0"/>
          </a:p>
        </p:txBody>
      </p:sp>
      <p:sp>
        <p:nvSpPr>
          <p:cNvPr id="93" name="Text 90"/>
          <p:cNvSpPr txBox="1"/>
          <p:nvPr/>
        </p:nvSpPr>
        <p:spPr>
          <a:xfrm>
            <a:off x="950976" y="5780430"/>
            <a:ext cx="5175504" cy="237744"/>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Dr. Amira Haddad</a:t>
            </a:r>
            <a:r>
              <a:rPr lang="en-US" sz="1000" dirty="0">
                <a:solidFill>
                  <a:srgbClr val="C9A84C"/>
                </a:solidFill>
                <a:latin typeface="Arial" pitchFamily="34" charset="0"/>
                <a:ea typeface="Arial" pitchFamily="34" charset="-122"/>
                <a:cs typeface="Arial" pitchFamily="34" charset="-120"/>
              </a:rPr>
              <a:t>   slides 18-20</a:t>
            </a:r>
            <a:endParaRPr lang="en-US" sz="1300" dirty="0"/>
          </a:p>
        </p:txBody>
      </p:sp>
      <p:sp>
        <p:nvSpPr>
          <p:cNvPr id="94" name="Text 91"/>
          <p:cNvSpPr txBox="1"/>
          <p:nvPr/>
        </p:nvSpPr>
        <p:spPr>
          <a:xfrm>
            <a:off x="950976" y="6009030"/>
            <a:ext cx="4992624" cy="2194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Round-table moderator, Governance District (fictitious)</a:t>
            </a:r>
            <a:endParaRPr lang="en-US" sz="1100" dirty="0"/>
          </a:p>
        </p:txBody>
      </p:sp>
      <p:sp>
        <p:nvSpPr>
          <p:cNvPr id="95" name="Shape 92"/>
          <p:cNvSpPr/>
          <p:nvPr/>
        </p:nvSpPr>
        <p:spPr>
          <a:xfrm>
            <a:off x="6172200" y="4932883"/>
            <a:ext cx="1802384" cy="219456"/>
          </a:xfrm>
          <a:prstGeom prst="roundRect">
            <a:avLst>
              <a:gd name="adj" fmla="val 50000"/>
            </a:avLst>
          </a:prstGeom>
          <a:solidFill>
            <a:srgbClr val="1B1B27"/>
          </a:solidFill>
          <a:ln w="9525">
            <a:solidFill>
              <a:srgbClr val="3A3A50"/>
            </a:solidFill>
            <a:prstDash val="solid"/>
          </a:ln>
        </p:spPr>
      </p:sp>
      <p:sp>
        <p:nvSpPr>
          <p:cNvPr id="96" name="Shape 93"/>
          <p:cNvSpPr/>
          <p:nvPr/>
        </p:nvSpPr>
        <p:spPr>
          <a:xfrm>
            <a:off x="6263640" y="5006035"/>
            <a:ext cx="73152" cy="73152"/>
          </a:xfrm>
          <a:prstGeom prst="ellipse">
            <a:avLst/>
          </a:prstGeom>
          <a:solidFill>
            <a:srgbClr val="34D399"/>
          </a:solidFill>
          <a:ln/>
        </p:spPr>
      </p:sp>
      <p:sp>
        <p:nvSpPr>
          <p:cNvPr id="97" name="Text 94"/>
          <p:cNvSpPr txBox="1"/>
          <p:nvPr/>
        </p:nvSpPr>
        <p:spPr>
          <a:xfrm>
            <a:off x="6391656" y="4932883"/>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98" name="Text 95"/>
          <p:cNvSpPr txBox="1"/>
          <p:nvPr/>
        </p:nvSpPr>
        <p:spPr>
          <a:xfrm>
            <a:off x="8084312" y="4932883"/>
            <a:ext cx="3650183"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Captured from the working platform on our demo system</a:t>
            </a:r>
            <a:endParaRPr lang="en-US" sz="1100" dirty="0"/>
          </a:p>
        </p:txBody>
      </p:sp>
      <p:sp>
        <p:nvSpPr>
          <p:cNvPr id="99" name="Shape 96"/>
          <p:cNvSpPr/>
          <p:nvPr/>
        </p:nvSpPr>
        <p:spPr>
          <a:xfrm>
            <a:off x="6172200" y="5370373"/>
            <a:ext cx="2480869" cy="219456"/>
          </a:xfrm>
          <a:prstGeom prst="roundRect">
            <a:avLst>
              <a:gd name="adj" fmla="val 50000"/>
            </a:avLst>
          </a:prstGeom>
          <a:solidFill>
            <a:srgbClr val="1B1B27"/>
          </a:solidFill>
          <a:ln w="9525">
            <a:solidFill>
              <a:srgbClr val="3A3A50"/>
            </a:solidFill>
            <a:prstDash val="solid"/>
          </a:ln>
        </p:spPr>
      </p:sp>
      <p:sp>
        <p:nvSpPr>
          <p:cNvPr id="100" name="Shape 97"/>
          <p:cNvSpPr/>
          <p:nvPr/>
        </p:nvSpPr>
        <p:spPr>
          <a:xfrm>
            <a:off x="6263640" y="5443525"/>
            <a:ext cx="73152" cy="73152"/>
          </a:xfrm>
          <a:prstGeom prst="ellipse">
            <a:avLst/>
          </a:prstGeom>
          <a:solidFill>
            <a:srgbClr val="A9A9C6"/>
          </a:solidFill>
          <a:ln/>
        </p:spPr>
      </p:sp>
      <p:sp>
        <p:nvSpPr>
          <p:cNvPr id="101" name="Text 98"/>
          <p:cNvSpPr txBox="1"/>
          <p:nvPr/>
        </p:nvSpPr>
        <p:spPr>
          <a:xfrm>
            <a:off x="6391656" y="5370373"/>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102" name="Text 99"/>
          <p:cNvSpPr txBox="1"/>
          <p:nvPr/>
        </p:nvSpPr>
        <p:spPr>
          <a:xfrm>
            <a:off x="8762797" y="5370373"/>
            <a:ext cx="2971698"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 page that is still to be built</a:t>
            </a:r>
            <a:endParaRPr lang="en-US" sz="1100" dirty="0"/>
          </a:p>
        </p:txBody>
      </p:sp>
      <p:pic>
        <p:nvPicPr>
          <p:cNvPr id="103" name="Image 0" descr="preencoded.png">    </p:cNvPr>
          <p:cNvPicPr>
            <a:picLocks noChangeAspect="1"/>
          </p:cNvPicPr>
          <p:nvPr/>
        </p:nvPicPr>
        <p:blipFill>
          <a:blip r:embed="rId2"/>
          <a:stretch>
            <a:fillRect/>
          </a:stretch>
        </p:blipFill>
        <p:spPr>
          <a:xfrm>
            <a:off x="6172200" y="5826150"/>
            <a:ext cx="182880" cy="182880"/>
          </a:xfrm>
          <a:prstGeom prst="rect">
            <a:avLst/>
          </a:prstGeom>
        </p:spPr>
      </p:pic>
      <p:sp>
        <p:nvSpPr>
          <p:cNvPr id="104" name="Text 100"/>
          <p:cNvSpPr txBox="1"/>
          <p:nvPr/>
        </p:nvSpPr>
        <p:spPr>
          <a:xfrm>
            <a:off x="6464808" y="5807862"/>
            <a:ext cx="5269687" cy="219456"/>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All people, organisations and figures in the tour are illustrative mock data</a:t>
            </a:r>
            <a:endParaRPr lang="en-US" sz="1100" dirty="0"/>
          </a:p>
        </p:txBody>
      </p:sp>
      <p:sp>
        <p:nvSpPr>
          <p:cNvPr id="105" name="Text 10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106" name="Text 10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7528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3753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1 OF 9 · DISCOVER</a:t>
            </a:r>
            <a:endParaRPr lang="en-US" sz="900" dirty="0"/>
          </a:p>
        </p:txBody>
      </p:sp>
      <p:sp>
        <p:nvSpPr>
          <p:cNvPr id="5" name="Shape 2"/>
          <p:cNvSpPr/>
          <p:nvPr/>
        </p:nvSpPr>
        <p:spPr>
          <a:xfrm>
            <a:off x="3897074" y="470916"/>
            <a:ext cx="82296" cy="82296"/>
          </a:xfrm>
          <a:prstGeom prst="ellipse">
            <a:avLst/>
          </a:prstGeom>
          <a:solidFill>
            <a:srgbClr val="F0C96B"/>
          </a:solidFill>
          <a:ln/>
        </p:spPr>
      </p:sp>
      <p:sp>
        <p:nvSpPr>
          <p:cNvPr id="6" name="Shape 3"/>
          <p:cNvSpPr/>
          <p:nvPr/>
        </p:nvSpPr>
        <p:spPr>
          <a:xfrm>
            <a:off x="4038806" y="470916"/>
            <a:ext cx="82296" cy="82296"/>
          </a:xfrm>
          <a:prstGeom prst="ellipse">
            <a:avLst/>
          </a:prstGeom>
          <a:solidFill>
            <a:srgbClr val="34344A"/>
          </a:solidFill>
          <a:ln/>
        </p:spPr>
      </p:sp>
      <p:sp>
        <p:nvSpPr>
          <p:cNvPr id="7" name="Shape 4"/>
          <p:cNvSpPr/>
          <p:nvPr/>
        </p:nvSpPr>
        <p:spPr>
          <a:xfrm>
            <a:off x="4180538" y="470916"/>
            <a:ext cx="82296" cy="82296"/>
          </a:xfrm>
          <a:prstGeom prst="ellipse">
            <a:avLst/>
          </a:prstGeom>
          <a:solidFill>
            <a:srgbClr val="34344A"/>
          </a:solidFill>
          <a:ln/>
        </p:spPr>
      </p:sp>
      <p:sp>
        <p:nvSpPr>
          <p:cNvPr id="8" name="Shape 5"/>
          <p:cNvSpPr/>
          <p:nvPr/>
        </p:nvSpPr>
        <p:spPr>
          <a:xfrm>
            <a:off x="4322270" y="470916"/>
            <a:ext cx="82296" cy="82296"/>
          </a:xfrm>
          <a:prstGeom prst="ellipse">
            <a:avLst/>
          </a:prstGeom>
          <a:solidFill>
            <a:srgbClr val="34344A"/>
          </a:solidFill>
          <a:ln/>
        </p:spPr>
      </p:sp>
      <p:sp>
        <p:nvSpPr>
          <p:cNvPr id="9" name="Shape 6"/>
          <p:cNvSpPr/>
          <p:nvPr/>
        </p:nvSpPr>
        <p:spPr>
          <a:xfrm>
            <a:off x="4464002" y="470916"/>
            <a:ext cx="82296" cy="82296"/>
          </a:xfrm>
          <a:prstGeom prst="ellipse">
            <a:avLst/>
          </a:prstGeom>
          <a:solidFill>
            <a:srgbClr val="34344A"/>
          </a:solidFill>
          <a:ln/>
        </p:spPr>
      </p:sp>
      <p:sp>
        <p:nvSpPr>
          <p:cNvPr id="10" name="Shape 7"/>
          <p:cNvSpPr/>
          <p:nvPr/>
        </p:nvSpPr>
        <p:spPr>
          <a:xfrm>
            <a:off x="4605734" y="470916"/>
            <a:ext cx="82296" cy="82296"/>
          </a:xfrm>
          <a:prstGeom prst="ellipse">
            <a:avLst/>
          </a:prstGeom>
          <a:solidFill>
            <a:srgbClr val="34344A"/>
          </a:solidFill>
          <a:ln/>
        </p:spPr>
      </p:sp>
      <p:sp>
        <p:nvSpPr>
          <p:cNvPr id="11" name="Shape 8"/>
          <p:cNvSpPr/>
          <p:nvPr/>
        </p:nvSpPr>
        <p:spPr>
          <a:xfrm>
            <a:off x="4747466" y="470916"/>
            <a:ext cx="82296" cy="82296"/>
          </a:xfrm>
          <a:prstGeom prst="ellipse">
            <a:avLst/>
          </a:prstGeom>
          <a:solidFill>
            <a:srgbClr val="34344A"/>
          </a:solidFill>
          <a:ln/>
        </p:spPr>
      </p:sp>
      <p:sp>
        <p:nvSpPr>
          <p:cNvPr id="12" name="Shape 9"/>
          <p:cNvSpPr/>
          <p:nvPr/>
        </p:nvSpPr>
        <p:spPr>
          <a:xfrm>
            <a:off x="4889198" y="470916"/>
            <a:ext cx="82296" cy="82296"/>
          </a:xfrm>
          <a:prstGeom prst="ellipse">
            <a:avLst/>
          </a:prstGeom>
          <a:solidFill>
            <a:srgbClr val="34344A"/>
          </a:solidFill>
          <a:ln/>
        </p:spPr>
      </p:sp>
      <p:sp>
        <p:nvSpPr>
          <p:cNvPr id="13" name="Shape 10"/>
          <p:cNvSpPr/>
          <p:nvPr/>
        </p:nvSpPr>
        <p:spPr>
          <a:xfrm>
            <a:off x="5030930" y="470916"/>
            <a:ext cx="82296" cy="82296"/>
          </a:xfrm>
          <a:prstGeom prst="ellipse">
            <a:avLst/>
          </a:prstGeom>
          <a:solidFill>
            <a:srgbClr val="34344A"/>
          </a:solidFill>
          <a:ln/>
        </p:spPr>
      </p:sp>
      <p:sp>
        <p:nvSpPr>
          <p:cNvPr id="14" name="Shape 11"/>
          <p:cNvSpPr/>
          <p:nvPr/>
        </p:nvSpPr>
        <p:spPr>
          <a:xfrm>
            <a:off x="5282390"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437838"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048320" y="384048"/>
            <a:ext cx="368617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a visitor before sign-up</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Discover: one catalogue across every district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Search and filter every track; each card shows district, layer, effort and price</a:t>
            </a:r>
            <a:endParaRPr lang="en-US" sz="1600" dirty="0"/>
          </a:p>
        </p:txBody>
      </p:sp>
      <p:pic>
        <p:nvPicPr>
          <p:cNvPr id="19" name="Image 0" descr="/tmp/claude-0/-home-user-Chronopoli/d7458f57-86b2-5920-914e-8615357fee63/scratchpad/deck-master/framed/catalog.png">    </p:cNvPr>
          <p:cNvPicPr>
            <a:picLocks noChangeAspect="1"/>
          </p:cNvPicPr>
          <p:nvPr/>
        </p:nvPicPr>
        <p:blipFill>
          <a:blip r:embed="rId2"/>
          <a:stretch>
            <a:fillRect/>
          </a:stretch>
        </p:blipFill>
        <p:spPr>
          <a:xfrm>
            <a:off x="303315" y="1752334"/>
            <a:ext cx="5820084" cy="4262856"/>
          </a:xfrm>
          <a:prstGeom prst="rect">
            <a:avLst/>
          </a:prstGeom>
        </p:spPr>
      </p:pic>
      <p:sp>
        <p:nvSpPr>
          <p:cNvPr id="20" name="Shape 16"/>
          <p:cNvSpPr/>
          <p:nvPr/>
        </p:nvSpPr>
        <p:spPr>
          <a:xfrm>
            <a:off x="457200" y="5998464"/>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34D399"/>
          </a:solidFill>
          <a:ln/>
        </p:spPr>
      </p:sp>
      <p:sp>
        <p:nvSpPr>
          <p:cNvPr id="22" name="Text 18"/>
          <p:cNvSpPr txBox="1"/>
          <p:nvPr/>
        </p:nvSpPr>
        <p:spPr>
          <a:xfrm>
            <a:off x="676656" y="5998464"/>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69312" y="6030468"/>
            <a:ext cx="360020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catalogue · first 6 of 8 demo courses</a:t>
            </a:r>
            <a:endParaRPr lang="en-US" sz="1000" dirty="0"/>
          </a:p>
        </p:txBody>
      </p:sp>
      <p:sp>
        <p:nvSpPr>
          <p:cNvPr id="24" name="Text 20"/>
          <p:cNvSpPr txBox="1"/>
          <p:nvPr/>
        </p:nvSpPr>
        <p:spPr>
          <a:xfrm>
            <a:off x="6380993" y="1937766"/>
            <a:ext cx="5353502" cy="10226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Search and filters:</a:t>
            </a:r>
            <a:r>
              <a:rPr lang="en-US" sz="1400" dirty="0">
                <a:solidFill>
                  <a:srgbClr val="E8E8F0"/>
                </a:solidFill>
                <a:latin typeface="Arial" pitchFamily="34" charset="0"/>
                <a:ea typeface="Arial" pitchFamily="34" charset="-122"/>
                <a:cs typeface="Arial" pitchFamily="34" charset="-120"/>
              </a:rPr>
              <a:t> full-text search across every track and district</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Sign up once:</a:t>
            </a:r>
            <a:r>
              <a:rPr lang="en-US" sz="1400" dirty="0">
                <a:solidFill>
                  <a:srgbClr val="E8E8F0"/>
                </a:solidFill>
                <a:latin typeface="Arial" pitchFamily="34" charset="0"/>
                <a:ea typeface="Arial" pitchFamily="34" charset="-122"/>
                <a:cs typeface="Arial" pitchFamily="34" charset="-120"/>
              </a:rPr>
              <a:t> the same account also opens the district forums</a:t>
            </a:r>
            <a:endParaRPr lang="en-US" sz="1400" dirty="0"/>
          </a:p>
        </p:txBody>
      </p:sp>
      <p:sp>
        <p:nvSpPr>
          <p:cNvPr id="25" name="Text 21"/>
          <p:cNvSpPr txBox="1"/>
          <p:nvPr/>
        </p:nvSpPr>
        <p:spPr>
          <a:xfrm>
            <a:off x="6380993" y="3143250"/>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ZOOM ON THE SAME SCREEN: ONE CARD IMAGE</a:t>
            </a:r>
            <a:endParaRPr lang="en-US" sz="850" dirty="0"/>
          </a:p>
        </p:txBody>
      </p:sp>
      <p:pic>
        <p:nvPicPr>
          <p:cNvPr id="26" name="Image 1" descr="/tmp/claude-0/-home-user-Chronopoli/d7458f57-86b2-5920-914e-8615357fee63/scratchpad/deck-master/framed/catalog_card301.png">    </p:cNvPr>
          <p:cNvPicPr>
            <a:picLocks noChangeAspect="1"/>
          </p:cNvPicPr>
          <p:nvPr/>
        </p:nvPicPr>
        <p:blipFill>
          <a:blip r:embed="rId3"/>
          <a:stretch>
            <a:fillRect/>
          </a:stretch>
        </p:blipFill>
        <p:spPr>
          <a:xfrm>
            <a:off x="6293211" y="3302356"/>
            <a:ext cx="3101645" cy="1536192"/>
          </a:xfrm>
          <a:prstGeom prst="rect">
            <a:avLst/>
          </a:prstGeom>
        </p:spPr>
      </p:pic>
      <p:sp>
        <p:nvSpPr>
          <p:cNvPr id="27" name="Text 22"/>
          <p:cNvSpPr txBox="1"/>
          <p:nvPr/>
        </p:nvSpPr>
        <p:spPr>
          <a:xfrm>
            <a:off x="9535673" y="3773272"/>
            <a:ext cx="2198822" cy="630936"/>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On every card image: </a:t>
            </a:r>
            <a:r>
              <a:rPr lang="en-US" sz="1300" dirty="0">
                <a:solidFill>
                  <a:srgbClr val="E8E8F0"/>
                </a:solidFill>
                <a:latin typeface="Arial" pitchFamily="34" charset="0"/>
                <a:ea typeface="Arial" pitchFamily="34" charset="-122"/>
                <a:cs typeface="Arial" pitchFamily="34" charset="-120"/>
              </a:rPr>
              <a:t>district, layer, effort and price</a:t>
            </a:r>
            <a:endParaRPr lang="en-US" sz="1300" dirty="0"/>
          </a:p>
        </p:txBody>
      </p:sp>
      <p:sp>
        <p:nvSpPr>
          <p:cNvPr id="28" name="Text 23"/>
          <p:cNvSpPr txBox="1"/>
          <p:nvPr/>
        </p:nvSpPr>
        <p:spPr>
          <a:xfrm>
            <a:off x="6380993" y="4988509"/>
            <a:ext cx="5353502"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ALL EIGHT DEMO TRACKS (ILLUSTRATIVE)</a:t>
            </a:r>
            <a:endParaRPr lang="en-US" sz="850" dirty="0"/>
          </a:p>
        </p:txBody>
      </p:sp>
      <p:sp>
        <p:nvSpPr>
          <p:cNvPr id="29" name="Shape 24"/>
          <p:cNvSpPr/>
          <p:nvPr/>
        </p:nvSpPr>
        <p:spPr>
          <a:xfrm>
            <a:off x="6380993" y="5235397"/>
            <a:ext cx="1256079" cy="438912"/>
          </a:xfrm>
          <a:prstGeom prst="roundRect">
            <a:avLst>
              <a:gd name="adj" fmla="val 16667"/>
            </a:avLst>
          </a:prstGeom>
          <a:solidFill>
            <a:srgbClr val="171722"/>
          </a:solidFill>
          <a:ln w="9525">
            <a:solidFill>
              <a:srgbClr val="2C2C3E"/>
            </a:solidFill>
            <a:prstDash val="solid"/>
          </a:ln>
        </p:spPr>
      </p:sp>
      <p:sp>
        <p:nvSpPr>
          <p:cNvPr id="30" name="Shape 25"/>
          <p:cNvSpPr/>
          <p:nvPr/>
        </p:nvSpPr>
        <p:spPr>
          <a:xfrm>
            <a:off x="6490721" y="5354269"/>
            <a:ext cx="73152" cy="73152"/>
          </a:xfrm>
          <a:prstGeom prst="ellipse">
            <a:avLst/>
          </a:prstGeom>
          <a:solidFill>
            <a:srgbClr val="F59E0B"/>
          </a:solidFill>
          <a:ln/>
        </p:spPr>
      </p:sp>
      <p:sp>
        <p:nvSpPr>
          <p:cNvPr id="31" name="Text 26"/>
          <p:cNvSpPr txBox="1"/>
          <p:nvPr/>
        </p:nvSpPr>
        <p:spPr>
          <a:xfrm>
            <a:off x="6618737"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USDT-101</a:t>
            </a:r>
            <a:endParaRPr lang="en-US" sz="1100" dirty="0"/>
          </a:p>
        </p:txBody>
      </p:sp>
      <p:sp>
        <p:nvSpPr>
          <p:cNvPr id="32" name="Text 27"/>
          <p:cNvSpPr txBox="1"/>
          <p:nvPr/>
        </p:nvSpPr>
        <p:spPr>
          <a:xfrm>
            <a:off x="6618737"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Free</a:t>
            </a:r>
            <a:endParaRPr lang="en-US" sz="1100" dirty="0"/>
          </a:p>
        </p:txBody>
      </p:sp>
      <p:sp>
        <p:nvSpPr>
          <p:cNvPr id="33" name="Shape 28"/>
          <p:cNvSpPr/>
          <p:nvPr/>
        </p:nvSpPr>
        <p:spPr>
          <a:xfrm>
            <a:off x="7746801" y="5235397"/>
            <a:ext cx="1256079" cy="438912"/>
          </a:xfrm>
          <a:prstGeom prst="roundRect">
            <a:avLst>
              <a:gd name="adj" fmla="val 16667"/>
            </a:avLst>
          </a:prstGeom>
          <a:solidFill>
            <a:srgbClr val="171722"/>
          </a:solidFill>
          <a:ln w="9525">
            <a:solidFill>
              <a:srgbClr val="2C2C3E"/>
            </a:solidFill>
            <a:prstDash val="solid"/>
          </a:ln>
        </p:spPr>
      </p:sp>
      <p:sp>
        <p:nvSpPr>
          <p:cNvPr id="34" name="Shape 29"/>
          <p:cNvSpPr/>
          <p:nvPr/>
        </p:nvSpPr>
        <p:spPr>
          <a:xfrm>
            <a:off x="7856529" y="5354269"/>
            <a:ext cx="73152" cy="73152"/>
          </a:xfrm>
          <a:prstGeom prst="ellipse">
            <a:avLst/>
          </a:prstGeom>
          <a:solidFill>
            <a:srgbClr val="F59E0B"/>
          </a:solidFill>
          <a:ln/>
        </p:spPr>
      </p:sp>
      <p:sp>
        <p:nvSpPr>
          <p:cNvPr id="35" name="Text 30"/>
          <p:cNvSpPr txBox="1"/>
          <p:nvPr/>
        </p:nvSpPr>
        <p:spPr>
          <a:xfrm>
            <a:off x="7984545"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USDT-102</a:t>
            </a:r>
            <a:endParaRPr lang="en-US" sz="1100" dirty="0"/>
          </a:p>
        </p:txBody>
      </p:sp>
      <p:sp>
        <p:nvSpPr>
          <p:cNvPr id="36" name="Text 31"/>
          <p:cNvSpPr txBox="1"/>
          <p:nvPr/>
        </p:nvSpPr>
        <p:spPr>
          <a:xfrm>
            <a:off x="7984545"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L1</a:t>
            </a:r>
            <a:r>
              <a:rPr lang="en-US" sz="1100" dirty="0">
                <a:solidFill>
                  <a:srgbClr val="B4B4C8"/>
                </a:solidFill>
                <a:latin typeface="Arial" pitchFamily="34" charset="0"/>
                <a:ea typeface="Arial" pitchFamily="34" charset="-122"/>
                <a:cs typeface="Arial" pitchFamily="34" charset="-120"/>
              </a:rPr>
              <a:t>  $149</a:t>
            </a:r>
            <a:endParaRPr lang="en-US" sz="1100" dirty="0"/>
          </a:p>
        </p:txBody>
      </p:sp>
      <p:sp>
        <p:nvSpPr>
          <p:cNvPr id="37" name="Shape 32"/>
          <p:cNvSpPr/>
          <p:nvPr/>
        </p:nvSpPr>
        <p:spPr>
          <a:xfrm>
            <a:off x="9112608" y="5235397"/>
            <a:ext cx="1256079" cy="438912"/>
          </a:xfrm>
          <a:prstGeom prst="roundRect">
            <a:avLst>
              <a:gd name="adj" fmla="val 16667"/>
            </a:avLst>
          </a:prstGeom>
          <a:solidFill>
            <a:srgbClr val="171722"/>
          </a:solidFill>
          <a:ln w="9525">
            <a:solidFill>
              <a:srgbClr val="2C2C3E"/>
            </a:solidFill>
            <a:prstDash val="solid"/>
          </a:ln>
        </p:spPr>
      </p:sp>
      <p:sp>
        <p:nvSpPr>
          <p:cNvPr id="38" name="Shape 33"/>
          <p:cNvSpPr/>
          <p:nvPr/>
        </p:nvSpPr>
        <p:spPr>
          <a:xfrm>
            <a:off x="9222336" y="5354269"/>
            <a:ext cx="73152" cy="73152"/>
          </a:xfrm>
          <a:prstGeom prst="ellipse">
            <a:avLst/>
          </a:prstGeom>
          <a:solidFill>
            <a:srgbClr val="3B82F6"/>
          </a:solidFill>
          <a:ln/>
        </p:spPr>
      </p:sp>
      <p:sp>
        <p:nvSpPr>
          <p:cNvPr id="39" name="Text 34"/>
          <p:cNvSpPr txBox="1"/>
          <p:nvPr/>
        </p:nvSpPr>
        <p:spPr>
          <a:xfrm>
            <a:off x="9350352"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USDT-201</a:t>
            </a:r>
            <a:endParaRPr lang="en-US" sz="1100" dirty="0"/>
          </a:p>
        </p:txBody>
      </p:sp>
      <p:sp>
        <p:nvSpPr>
          <p:cNvPr id="40" name="Text 35"/>
          <p:cNvSpPr txBox="1"/>
          <p:nvPr/>
        </p:nvSpPr>
        <p:spPr>
          <a:xfrm>
            <a:off x="9350352"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$599</a:t>
            </a:r>
            <a:endParaRPr lang="en-US" sz="1100" dirty="0"/>
          </a:p>
        </p:txBody>
      </p:sp>
      <p:sp>
        <p:nvSpPr>
          <p:cNvPr id="41" name="Shape 36"/>
          <p:cNvSpPr/>
          <p:nvPr/>
        </p:nvSpPr>
        <p:spPr>
          <a:xfrm>
            <a:off x="10478416" y="5235397"/>
            <a:ext cx="1256079" cy="438912"/>
          </a:xfrm>
          <a:prstGeom prst="roundRect">
            <a:avLst>
              <a:gd name="adj" fmla="val 16667"/>
            </a:avLst>
          </a:prstGeom>
          <a:solidFill>
            <a:srgbClr val="171722"/>
          </a:solidFill>
          <a:ln w="9525">
            <a:solidFill>
              <a:srgbClr val="2C2C3E"/>
            </a:solidFill>
            <a:prstDash val="solid"/>
          </a:ln>
        </p:spPr>
      </p:sp>
      <p:sp>
        <p:nvSpPr>
          <p:cNvPr id="42" name="Shape 37"/>
          <p:cNvSpPr/>
          <p:nvPr/>
        </p:nvSpPr>
        <p:spPr>
          <a:xfrm>
            <a:off x="10588144" y="5354269"/>
            <a:ext cx="73152" cy="73152"/>
          </a:xfrm>
          <a:prstGeom prst="ellipse">
            <a:avLst/>
          </a:prstGeom>
          <a:solidFill>
            <a:srgbClr val="8B5CF6"/>
          </a:solidFill>
          <a:ln/>
        </p:spPr>
      </p:sp>
      <p:sp>
        <p:nvSpPr>
          <p:cNvPr id="43" name="Text 38"/>
          <p:cNvSpPr txBox="1"/>
          <p:nvPr/>
        </p:nvSpPr>
        <p:spPr>
          <a:xfrm>
            <a:off x="10716160" y="5281117"/>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USDT-202</a:t>
            </a:r>
            <a:endParaRPr lang="en-US" sz="1100" dirty="0"/>
          </a:p>
        </p:txBody>
      </p:sp>
      <p:sp>
        <p:nvSpPr>
          <p:cNvPr id="44" name="Text 39"/>
          <p:cNvSpPr txBox="1"/>
          <p:nvPr/>
        </p:nvSpPr>
        <p:spPr>
          <a:xfrm>
            <a:off x="10716160" y="5473141"/>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$399</a:t>
            </a:r>
            <a:endParaRPr lang="en-US" sz="1100" dirty="0"/>
          </a:p>
        </p:txBody>
      </p:sp>
      <p:sp>
        <p:nvSpPr>
          <p:cNvPr id="45" name="Shape 40"/>
          <p:cNvSpPr/>
          <p:nvPr/>
        </p:nvSpPr>
        <p:spPr>
          <a:xfrm>
            <a:off x="6380993" y="5747461"/>
            <a:ext cx="1256079" cy="438912"/>
          </a:xfrm>
          <a:prstGeom prst="roundRect">
            <a:avLst>
              <a:gd name="adj" fmla="val 16667"/>
            </a:avLst>
          </a:prstGeom>
          <a:solidFill>
            <a:srgbClr val="171722"/>
          </a:solidFill>
          <a:ln w="9525">
            <a:solidFill>
              <a:srgbClr val="2C2C3E"/>
            </a:solidFill>
            <a:prstDash val="solid"/>
          </a:ln>
        </p:spPr>
      </p:sp>
      <p:sp>
        <p:nvSpPr>
          <p:cNvPr id="46" name="Shape 41"/>
          <p:cNvSpPr/>
          <p:nvPr/>
        </p:nvSpPr>
        <p:spPr>
          <a:xfrm>
            <a:off x="6490721" y="5866333"/>
            <a:ext cx="73152" cy="73152"/>
          </a:xfrm>
          <a:prstGeom prst="ellipse">
            <a:avLst/>
          </a:prstGeom>
          <a:solidFill>
            <a:srgbClr val="F59E0B"/>
          </a:solidFill>
          <a:ln/>
        </p:spPr>
      </p:sp>
      <p:sp>
        <p:nvSpPr>
          <p:cNvPr id="47" name="Text 42"/>
          <p:cNvSpPr txBox="1"/>
          <p:nvPr/>
        </p:nvSpPr>
        <p:spPr>
          <a:xfrm>
            <a:off x="6618737"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USDT-203</a:t>
            </a:r>
            <a:endParaRPr lang="en-US" sz="1100" dirty="0"/>
          </a:p>
        </p:txBody>
      </p:sp>
      <p:sp>
        <p:nvSpPr>
          <p:cNvPr id="48" name="Text 43"/>
          <p:cNvSpPr txBox="1"/>
          <p:nvPr/>
        </p:nvSpPr>
        <p:spPr>
          <a:xfrm>
            <a:off x="6618737"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L2</a:t>
            </a:r>
            <a:r>
              <a:rPr lang="en-US" sz="1100" dirty="0">
                <a:solidFill>
                  <a:srgbClr val="B4B4C8"/>
                </a:solidFill>
                <a:latin typeface="Arial" pitchFamily="34" charset="0"/>
                <a:ea typeface="Arial" pitchFamily="34" charset="-122"/>
                <a:cs typeface="Arial" pitchFamily="34" charset="-120"/>
              </a:rPr>
              <a:t>  $499</a:t>
            </a:r>
            <a:endParaRPr lang="en-US" sz="1100" dirty="0"/>
          </a:p>
        </p:txBody>
      </p:sp>
      <p:sp>
        <p:nvSpPr>
          <p:cNvPr id="49" name="Shape 44"/>
          <p:cNvSpPr/>
          <p:nvPr/>
        </p:nvSpPr>
        <p:spPr>
          <a:xfrm>
            <a:off x="7746801" y="5747461"/>
            <a:ext cx="1256079" cy="438912"/>
          </a:xfrm>
          <a:prstGeom prst="roundRect">
            <a:avLst>
              <a:gd name="adj" fmla="val 16667"/>
            </a:avLst>
          </a:prstGeom>
          <a:solidFill>
            <a:srgbClr val="171722"/>
          </a:solidFill>
          <a:ln w="9525">
            <a:solidFill>
              <a:srgbClr val="2C2C3E"/>
            </a:solidFill>
            <a:prstDash val="solid"/>
          </a:ln>
        </p:spPr>
      </p:sp>
      <p:sp>
        <p:nvSpPr>
          <p:cNvPr id="50" name="Shape 45"/>
          <p:cNvSpPr/>
          <p:nvPr/>
        </p:nvSpPr>
        <p:spPr>
          <a:xfrm>
            <a:off x="7856529" y="5866333"/>
            <a:ext cx="73152" cy="73152"/>
          </a:xfrm>
          <a:prstGeom prst="ellipse">
            <a:avLst/>
          </a:prstGeom>
          <a:solidFill>
            <a:srgbClr val="EF4444"/>
          </a:solidFill>
          <a:ln/>
        </p:spPr>
      </p:sp>
      <p:sp>
        <p:nvSpPr>
          <p:cNvPr id="51" name="Text 46"/>
          <p:cNvSpPr txBox="1"/>
          <p:nvPr/>
        </p:nvSpPr>
        <p:spPr>
          <a:xfrm>
            <a:off x="7984545"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USDT-301</a:t>
            </a:r>
            <a:endParaRPr lang="en-US" sz="1100" dirty="0"/>
          </a:p>
        </p:txBody>
      </p:sp>
      <p:sp>
        <p:nvSpPr>
          <p:cNvPr id="52" name="Text 47"/>
          <p:cNvSpPr txBox="1"/>
          <p:nvPr/>
        </p:nvSpPr>
        <p:spPr>
          <a:xfrm>
            <a:off x="7984545"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$1,499</a:t>
            </a:r>
            <a:endParaRPr lang="en-US" sz="1100" dirty="0"/>
          </a:p>
        </p:txBody>
      </p:sp>
      <p:sp>
        <p:nvSpPr>
          <p:cNvPr id="53" name="Shape 48"/>
          <p:cNvSpPr/>
          <p:nvPr/>
        </p:nvSpPr>
        <p:spPr>
          <a:xfrm>
            <a:off x="9112608" y="5747461"/>
            <a:ext cx="1256079" cy="438912"/>
          </a:xfrm>
          <a:prstGeom prst="roundRect">
            <a:avLst>
              <a:gd name="adj" fmla="val 16667"/>
            </a:avLst>
          </a:prstGeom>
          <a:solidFill>
            <a:srgbClr val="171722"/>
          </a:solidFill>
          <a:ln w="9525">
            <a:solidFill>
              <a:srgbClr val="2C2C3E"/>
            </a:solidFill>
            <a:prstDash val="solid"/>
          </a:ln>
        </p:spPr>
      </p:sp>
      <p:sp>
        <p:nvSpPr>
          <p:cNvPr id="54" name="Shape 49"/>
          <p:cNvSpPr/>
          <p:nvPr/>
        </p:nvSpPr>
        <p:spPr>
          <a:xfrm>
            <a:off x="9222336" y="5866333"/>
            <a:ext cx="73152" cy="73152"/>
          </a:xfrm>
          <a:prstGeom prst="ellipse">
            <a:avLst/>
          </a:prstGeom>
          <a:solidFill>
            <a:srgbClr val="10B981"/>
          </a:solidFill>
          <a:ln/>
        </p:spPr>
      </p:sp>
      <p:sp>
        <p:nvSpPr>
          <p:cNvPr id="55" name="Text 50"/>
          <p:cNvSpPr txBox="1"/>
          <p:nvPr/>
        </p:nvSpPr>
        <p:spPr>
          <a:xfrm>
            <a:off x="9350352"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USDT-302</a:t>
            </a:r>
            <a:endParaRPr lang="en-US" sz="1100" dirty="0"/>
          </a:p>
        </p:txBody>
      </p:sp>
      <p:sp>
        <p:nvSpPr>
          <p:cNvPr id="56" name="Text 51"/>
          <p:cNvSpPr txBox="1"/>
          <p:nvPr/>
        </p:nvSpPr>
        <p:spPr>
          <a:xfrm>
            <a:off x="9350352"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L3</a:t>
            </a:r>
            <a:r>
              <a:rPr lang="en-US" sz="1100" dirty="0">
                <a:solidFill>
                  <a:srgbClr val="B4B4C8"/>
                </a:solidFill>
                <a:latin typeface="Arial" pitchFamily="34" charset="0"/>
                <a:ea typeface="Arial" pitchFamily="34" charset="-122"/>
                <a:cs typeface="Arial" pitchFamily="34" charset="-120"/>
              </a:rPr>
              <a:t>  $1,299</a:t>
            </a:r>
            <a:endParaRPr lang="en-US" sz="1100" dirty="0"/>
          </a:p>
        </p:txBody>
      </p:sp>
      <p:sp>
        <p:nvSpPr>
          <p:cNvPr id="57" name="Shape 52"/>
          <p:cNvSpPr/>
          <p:nvPr/>
        </p:nvSpPr>
        <p:spPr>
          <a:xfrm>
            <a:off x="10478416" y="5747461"/>
            <a:ext cx="1256079" cy="438912"/>
          </a:xfrm>
          <a:prstGeom prst="roundRect">
            <a:avLst>
              <a:gd name="adj" fmla="val 16667"/>
            </a:avLst>
          </a:prstGeom>
          <a:solidFill>
            <a:srgbClr val="171722"/>
          </a:solidFill>
          <a:ln w="9525">
            <a:solidFill>
              <a:srgbClr val="2C2C3E"/>
            </a:solidFill>
            <a:prstDash val="solid"/>
          </a:ln>
        </p:spPr>
      </p:sp>
      <p:sp>
        <p:nvSpPr>
          <p:cNvPr id="58" name="Shape 53"/>
          <p:cNvSpPr/>
          <p:nvPr/>
        </p:nvSpPr>
        <p:spPr>
          <a:xfrm>
            <a:off x="10588144" y="5866333"/>
            <a:ext cx="73152" cy="73152"/>
          </a:xfrm>
          <a:prstGeom prst="ellipse">
            <a:avLst/>
          </a:prstGeom>
          <a:solidFill>
            <a:srgbClr val="F59E0B"/>
          </a:solidFill>
          <a:ln/>
        </p:spPr>
      </p:sp>
      <p:sp>
        <p:nvSpPr>
          <p:cNvPr id="59" name="Text 54"/>
          <p:cNvSpPr txBox="1"/>
          <p:nvPr/>
        </p:nvSpPr>
        <p:spPr>
          <a:xfrm>
            <a:off x="10716160" y="5793181"/>
            <a:ext cx="981759" cy="18288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USDT-401</a:t>
            </a:r>
            <a:endParaRPr lang="en-US" sz="1100" dirty="0"/>
          </a:p>
        </p:txBody>
      </p:sp>
      <p:sp>
        <p:nvSpPr>
          <p:cNvPr id="60" name="Text 55"/>
          <p:cNvSpPr txBox="1"/>
          <p:nvPr/>
        </p:nvSpPr>
        <p:spPr>
          <a:xfrm>
            <a:off x="10716160" y="5985205"/>
            <a:ext cx="981759" cy="182880"/>
          </a:xfrm>
          <a:prstGeom prst="rect">
            <a:avLst/>
          </a:prstGeom>
          <a:noFill/>
          <a:ln/>
        </p:spPr>
        <p:txBody>
          <a:bodyPr wrap="square" lIns="0" tIns="0" rIns="0" bIns="0" rtlCol="0" anchor="t"/>
          <a:lstStyle/>
          <a:p>
            <a:pPr indent="0" marL="0">
              <a:buNone/>
            </a:pPr>
            <a:r>
              <a:rPr lang="en-US" sz="1100" b="1" dirty="0">
                <a:solidFill>
                  <a:srgbClr val="F0C96B"/>
                </a:solidFill>
                <a:latin typeface="Arial" pitchFamily="34" charset="0"/>
                <a:ea typeface="Arial" pitchFamily="34" charset="-122"/>
                <a:cs typeface="Arial" pitchFamily="34" charset="-120"/>
              </a:rPr>
              <a:t>L4</a:t>
            </a:r>
            <a:r>
              <a:rPr lang="en-US" sz="1100" dirty="0">
                <a:solidFill>
                  <a:srgbClr val="B4B4C8"/>
                </a:solidFill>
                <a:latin typeface="Arial" pitchFamily="34" charset="0"/>
                <a:ea typeface="Arial" pitchFamily="34" charset="-122"/>
                <a:cs typeface="Arial" pitchFamily="34" charset="-120"/>
              </a:rPr>
              <a:t>  $4,500</a:t>
            </a:r>
            <a:endParaRPr lang="en-US" sz="1100" dirty="0"/>
          </a:p>
        </p:txBody>
      </p:sp>
      <p:sp>
        <p:nvSpPr>
          <p:cNvPr id="61" name="Text 5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62" name="Text 5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24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47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2 OF 9 · ONBOARDING</a:t>
            </a:r>
            <a:endParaRPr lang="en-US" sz="900" dirty="0"/>
          </a:p>
        </p:txBody>
      </p:sp>
      <p:sp>
        <p:nvSpPr>
          <p:cNvPr id="5" name="Shape 2"/>
          <p:cNvSpPr/>
          <p:nvPr/>
        </p:nvSpPr>
        <p:spPr>
          <a:xfrm>
            <a:off x="4124287" y="470916"/>
            <a:ext cx="82296" cy="82296"/>
          </a:xfrm>
          <a:prstGeom prst="ellipse">
            <a:avLst/>
          </a:prstGeom>
          <a:solidFill>
            <a:srgbClr val="9B7A2E"/>
          </a:solidFill>
          <a:ln/>
        </p:spPr>
      </p:sp>
      <p:sp>
        <p:nvSpPr>
          <p:cNvPr id="6" name="Shape 3"/>
          <p:cNvSpPr/>
          <p:nvPr/>
        </p:nvSpPr>
        <p:spPr>
          <a:xfrm>
            <a:off x="4266019" y="470916"/>
            <a:ext cx="82296" cy="82296"/>
          </a:xfrm>
          <a:prstGeom prst="ellipse">
            <a:avLst/>
          </a:prstGeom>
          <a:solidFill>
            <a:srgbClr val="F0C96B"/>
          </a:solidFill>
          <a:ln/>
        </p:spPr>
      </p:sp>
      <p:sp>
        <p:nvSpPr>
          <p:cNvPr id="7" name="Shape 4"/>
          <p:cNvSpPr/>
          <p:nvPr/>
        </p:nvSpPr>
        <p:spPr>
          <a:xfrm>
            <a:off x="4407751" y="470916"/>
            <a:ext cx="82296" cy="82296"/>
          </a:xfrm>
          <a:prstGeom prst="ellipse">
            <a:avLst/>
          </a:prstGeom>
          <a:solidFill>
            <a:srgbClr val="34344A"/>
          </a:solidFill>
          <a:ln/>
        </p:spPr>
      </p:sp>
      <p:sp>
        <p:nvSpPr>
          <p:cNvPr id="8" name="Shape 5"/>
          <p:cNvSpPr/>
          <p:nvPr/>
        </p:nvSpPr>
        <p:spPr>
          <a:xfrm>
            <a:off x="4549483" y="470916"/>
            <a:ext cx="82296" cy="82296"/>
          </a:xfrm>
          <a:prstGeom prst="ellipse">
            <a:avLst/>
          </a:prstGeom>
          <a:solidFill>
            <a:srgbClr val="34344A"/>
          </a:solidFill>
          <a:ln/>
        </p:spPr>
      </p:sp>
      <p:sp>
        <p:nvSpPr>
          <p:cNvPr id="9" name="Shape 6"/>
          <p:cNvSpPr/>
          <p:nvPr/>
        </p:nvSpPr>
        <p:spPr>
          <a:xfrm>
            <a:off x="4691215" y="470916"/>
            <a:ext cx="82296" cy="82296"/>
          </a:xfrm>
          <a:prstGeom prst="ellipse">
            <a:avLst/>
          </a:prstGeom>
          <a:solidFill>
            <a:srgbClr val="34344A"/>
          </a:solidFill>
          <a:ln/>
        </p:spPr>
      </p:sp>
      <p:sp>
        <p:nvSpPr>
          <p:cNvPr id="10" name="Shape 7"/>
          <p:cNvSpPr/>
          <p:nvPr/>
        </p:nvSpPr>
        <p:spPr>
          <a:xfrm>
            <a:off x="4832947" y="470916"/>
            <a:ext cx="82296" cy="82296"/>
          </a:xfrm>
          <a:prstGeom prst="ellipse">
            <a:avLst/>
          </a:prstGeom>
          <a:solidFill>
            <a:srgbClr val="34344A"/>
          </a:solidFill>
          <a:ln/>
        </p:spPr>
      </p:sp>
      <p:sp>
        <p:nvSpPr>
          <p:cNvPr id="11" name="Shape 8"/>
          <p:cNvSpPr/>
          <p:nvPr/>
        </p:nvSpPr>
        <p:spPr>
          <a:xfrm>
            <a:off x="4974679" y="470916"/>
            <a:ext cx="82296" cy="82296"/>
          </a:xfrm>
          <a:prstGeom prst="ellipse">
            <a:avLst/>
          </a:prstGeom>
          <a:solidFill>
            <a:srgbClr val="34344A"/>
          </a:solidFill>
          <a:ln/>
        </p:spPr>
      </p:sp>
      <p:sp>
        <p:nvSpPr>
          <p:cNvPr id="12" name="Shape 9"/>
          <p:cNvSpPr/>
          <p:nvPr/>
        </p:nvSpPr>
        <p:spPr>
          <a:xfrm>
            <a:off x="5116411" y="470916"/>
            <a:ext cx="82296" cy="82296"/>
          </a:xfrm>
          <a:prstGeom prst="ellipse">
            <a:avLst/>
          </a:prstGeom>
          <a:solidFill>
            <a:srgbClr val="34344A"/>
          </a:solidFill>
          <a:ln/>
        </p:spPr>
      </p:sp>
      <p:sp>
        <p:nvSpPr>
          <p:cNvPr id="13" name="Shape 10"/>
          <p:cNvSpPr/>
          <p:nvPr/>
        </p:nvSpPr>
        <p:spPr>
          <a:xfrm>
            <a:off x="5258143" y="470916"/>
            <a:ext cx="82296" cy="82296"/>
          </a:xfrm>
          <a:prstGeom prst="ellipse">
            <a:avLst/>
          </a:prstGeom>
          <a:solidFill>
            <a:srgbClr val="34344A"/>
          </a:solidFill>
          <a:ln/>
        </p:spPr>
      </p:sp>
      <p:sp>
        <p:nvSpPr>
          <p:cNvPr id="14" name="Shape 11"/>
          <p:cNvSpPr/>
          <p:nvPr/>
        </p:nvSpPr>
        <p:spPr>
          <a:xfrm>
            <a:off x="550960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505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289818" y="384048"/>
            <a:ext cx="444467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MLRO (fictitious)</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Onboarding: five questions, a personal map of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Focus picks the home district and its two neighbours; role and experience set the starting layer</a:t>
            </a:r>
            <a:endParaRPr lang="en-US" sz="1500" dirty="0"/>
          </a:p>
        </p:txBody>
      </p:sp>
      <p:pic>
        <p:nvPicPr>
          <p:cNvPr id="19" name="Image 0" descr="/tmp/claude-0/-home-user-Chronopoli/d7458f57-86b2-5920-914e-8615357fee63/scratchpad/deck-master/framed/onb_start.png">    </p:cNvPr>
          <p:cNvPicPr>
            <a:picLocks noChangeAspect="1"/>
          </p:cNvPicPr>
          <p:nvPr/>
        </p:nvPicPr>
        <p:blipFill>
          <a:blip r:embed="rId2"/>
          <a:stretch>
            <a:fillRect/>
          </a:stretch>
        </p:blipFill>
        <p:spPr>
          <a:xfrm>
            <a:off x="346731" y="1886671"/>
            <a:ext cx="4119837" cy="4084097"/>
          </a:xfrm>
          <a:prstGeom prst="rect">
            <a:avLst/>
          </a:prstGeom>
        </p:spPr>
      </p:pic>
      <p:sp>
        <p:nvSpPr>
          <p:cNvPr id="20" name="Shape 16"/>
          <p:cNvSpPr/>
          <p:nvPr/>
        </p:nvSpPr>
        <p:spPr>
          <a:xfrm>
            <a:off x="457200" y="5997459"/>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0611"/>
            <a:ext cx="73152" cy="73152"/>
          </a:xfrm>
          <a:prstGeom prst="ellipse">
            <a:avLst/>
          </a:prstGeom>
          <a:solidFill>
            <a:srgbClr val="34D399"/>
          </a:solidFill>
          <a:ln/>
        </p:spPr>
      </p:sp>
      <p:sp>
        <p:nvSpPr>
          <p:cNvPr id="22" name="Text 18"/>
          <p:cNvSpPr txBox="1"/>
          <p:nvPr/>
        </p:nvSpPr>
        <p:spPr>
          <a:xfrm>
            <a:off x="676656" y="5997459"/>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69312" y="6029463"/>
            <a:ext cx="198678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Question 2 of 5</a:t>
            </a:r>
            <a:endParaRPr lang="en-US" sz="1000" dirty="0"/>
          </a:p>
        </p:txBody>
      </p:sp>
      <p:pic>
        <p:nvPicPr>
          <p:cNvPr id="24" name="Image 1" descr="/tmp/claude-0/-home-user-Chronopoli/d7458f57-86b2-5920-914e-8615357fee63/scratchpad/deck-master/framed/onb_results.png">    </p:cNvPr>
          <p:cNvPicPr>
            <a:picLocks noChangeAspect="1"/>
          </p:cNvPicPr>
          <p:nvPr/>
        </p:nvPicPr>
        <p:blipFill>
          <a:blip r:embed="rId3"/>
          <a:stretch>
            <a:fillRect/>
          </a:stretch>
        </p:blipFill>
        <p:spPr>
          <a:xfrm>
            <a:off x="4621950" y="1897231"/>
            <a:ext cx="3786306" cy="4062978"/>
          </a:xfrm>
          <a:prstGeom prst="rect">
            <a:avLst/>
          </a:prstGeom>
        </p:spPr>
      </p:pic>
      <p:sp>
        <p:nvSpPr>
          <p:cNvPr id="25" name="Shape 20"/>
          <p:cNvSpPr/>
          <p:nvPr/>
        </p:nvSpPr>
        <p:spPr>
          <a:xfrm>
            <a:off x="4721859" y="5997459"/>
            <a:ext cx="1802384"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813299" y="6070611"/>
            <a:ext cx="73152" cy="73152"/>
          </a:xfrm>
          <a:prstGeom prst="ellipse">
            <a:avLst/>
          </a:prstGeom>
          <a:solidFill>
            <a:srgbClr val="34D399"/>
          </a:solidFill>
          <a:ln/>
        </p:spPr>
      </p:sp>
      <p:sp>
        <p:nvSpPr>
          <p:cNvPr id="27" name="Text 22"/>
          <p:cNvSpPr txBox="1"/>
          <p:nvPr/>
        </p:nvSpPr>
        <p:spPr>
          <a:xfrm>
            <a:off x="4941315" y="5997459"/>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8" name="Text 23"/>
          <p:cNvSpPr txBox="1"/>
          <p:nvPr/>
        </p:nvSpPr>
        <p:spPr>
          <a:xfrm>
            <a:off x="6633971" y="6029463"/>
            <a:ext cx="167437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Routing result</a:t>
            </a:r>
            <a:endParaRPr lang="en-US" sz="1000" dirty="0"/>
          </a:p>
        </p:txBody>
      </p:sp>
      <p:sp>
        <p:nvSpPr>
          <p:cNvPr id="29" name="Text 24"/>
          <p:cNvSpPr txBox="1"/>
          <p:nvPr/>
        </p:nvSpPr>
        <p:spPr>
          <a:xfrm>
            <a:off x="8719827" y="2263750"/>
            <a:ext cx="3014669" cy="338480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Layla answers:</a:t>
            </a:r>
            <a:r>
              <a:rPr lang="en-US" sz="1400" dirty="0">
                <a:solidFill>
                  <a:srgbClr val="E8E8F0"/>
                </a:solidFill>
                <a:latin typeface="Arial" pitchFamily="34" charset="0"/>
                <a:ea typeface="Arial" pitchFamily="34" charset="-122"/>
                <a:cs typeface="Arial" pitchFamily="34" charset="-120"/>
              </a:rPr>
              <a:t> crypto exchange · Compliance &amp; AML · experienced · certificate · within weeks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Result:</a:t>
            </a:r>
            <a:r>
              <a:rPr lang="en-US" sz="1400" dirty="0">
                <a:solidFill>
                  <a:srgbClr val="E8E8F0"/>
                </a:solidFill>
                <a:latin typeface="Arial" pitchFamily="34" charset="0"/>
                <a:ea typeface="Arial" pitchFamily="34" charset="-122"/>
                <a:cs typeface="Arial" pitchFamily="34" charset="-120"/>
              </a:rPr>
              <a:t> Compliance District at L2 Professional, with Investigation and Digital Assets as neighbours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Rule-based and explainable:</a:t>
            </a:r>
            <a:r>
              <a:rPr lang="en-US" sz="1400" dirty="0">
                <a:solidFill>
                  <a:srgbClr val="E8E8F0"/>
                </a:solidFill>
                <a:latin typeface="Arial" pitchFamily="34" charset="0"/>
                <a:ea typeface="Arial" pitchFamily="34" charset="-122"/>
                <a:cs typeface="Arial" pitchFamily="34" charset="-120"/>
              </a:rPr>
              <a:t> the home district follows her own focus choice; role and experience set the layer</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Reused by the AI tutor:</a:t>
            </a:r>
            <a:r>
              <a:rPr lang="en-US" sz="1400" dirty="0">
                <a:solidFill>
                  <a:srgbClr val="E8E8F0"/>
                </a:solidFill>
                <a:latin typeface="Arial" pitchFamily="34" charset="0"/>
                <a:ea typeface="Arial" pitchFamily="34" charset="-122"/>
                <a:cs typeface="Arial" pitchFamily="34" charset="-120"/>
              </a:rPr>
              <a:t> stored in her profile to set depth and examples</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4706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0931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3 OF 9 · PARTNER ACADEMY</a:t>
            </a:r>
            <a:endParaRPr lang="en-US" sz="900" dirty="0"/>
          </a:p>
        </p:txBody>
      </p:sp>
      <p:sp>
        <p:nvSpPr>
          <p:cNvPr id="5" name="Shape 2"/>
          <p:cNvSpPr/>
          <p:nvPr/>
        </p:nvSpPr>
        <p:spPr>
          <a:xfrm>
            <a:off x="4568853" y="470916"/>
            <a:ext cx="82296" cy="82296"/>
          </a:xfrm>
          <a:prstGeom prst="ellipse">
            <a:avLst/>
          </a:prstGeom>
          <a:solidFill>
            <a:srgbClr val="9B7A2E"/>
          </a:solidFill>
          <a:ln/>
        </p:spPr>
      </p:sp>
      <p:sp>
        <p:nvSpPr>
          <p:cNvPr id="6" name="Shape 3"/>
          <p:cNvSpPr/>
          <p:nvPr/>
        </p:nvSpPr>
        <p:spPr>
          <a:xfrm>
            <a:off x="4710585" y="470916"/>
            <a:ext cx="82296" cy="82296"/>
          </a:xfrm>
          <a:prstGeom prst="ellipse">
            <a:avLst/>
          </a:prstGeom>
          <a:solidFill>
            <a:srgbClr val="9B7A2E"/>
          </a:solidFill>
          <a:ln/>
        </p:spPr>
      </p:sp>
      <p:sp>
        <p:nvSpPr>
          <p:cNvPr id="7" name="Shape 4"/>
          <p:cNvSpPr/>
          <p:nvPr/>
        </p:nvSpPr>
        <p:spPr>
          <a:xfrm>
            <a:off x="4852317" y="470916"/>
            <a:ext cx="82296" cy="82296"/>
          </a:xfrm>
          <a:prstGeom prst="ellipse">
            <a:avLst/>
          </a:prstGeom>
          <a:solidFill>
            <a:srgbClr val="F0C96B"/>
          </a:solidFill>
          <a:ln/>
        </p:spPr>
      </p:sp>
      <p:sp>
        <p:nvSpPr>
          <p:cNvPr id="8" name="Shape 5"/>
          <p:cNvSpPr/>
          <p:nvPr/>
        </p:nvSpPr>
        <p:spPr>
          <a:xfrm>
            <a:off x="4994049" y="470916"/>
            <a:ext cx="82296" cy="82296"/>
          </a:xfrm>
          <a:prstGeom prst="ellipse">
            <a:avLst/>
          </a:prstGeom>
          <a:solidFill>
            <a:srgbClr val="34344A"/>
          </a:solidFill>
          <a:ln/>
        </p:spPr>
      </p:sp>
      <p:sp>
        <p:nvSpPr>
          <p:cNvPr id="9" name="Shape 6"/>
          <p:cNvSpPr/>
          <p:nvPr/>
        </p:nvSpPr>
        <p:spPr>
          <a:xfrm>
            <a:off x="5135781" y="470916"/>
            <a:ext cx="82296" cy="82296"/>
          </a:xfrm>
          <a:prstGeom prst="ellipse">
            <a:avLst/>
          </a:prstGeom>
          <a:solidFill>
            <a:srgbClr val="34344A"/>
          </a:solidFill>
          <a:ln/>
        </p:spPr>
      </p:sp>
      <p:sp>
        <p:nvSpPr>
          <p:cNvPr id="10" name="Shape 7"/>
          <p:cNvSpPr/>
          <p:nvPr/>
        </p:nvSpPr>
        <p:spPr>
          <a:xfrm>
            <a:off x="5277513" y="470916"/>
            <a:ext cx="82296" cy="82296"/>
          </a:xfrm>
          <a:prstGeom prst="ellipse">
            <a:avLst/>
          </a:prstGeom>
          <a:solidFill>
            <a:srgbClr val="34344A"/>
          </a:solidFill>
          <a:ln/>
        </p:spPr>
      </p:sp>
      <p:sp>
        <p:nvSpPr>
          <p:cNvPr id="11" name="Shape 8"/>
          <p:cNvSpPr/>
          <p:nvPr/>
        </p:nvSpPr>
        <p:spPr>
          <a:xfrm>
            <a:off x="5419245" y="470916"/>
            <a:ext cx="82296" cy="82296"/>
          </a:xfrm>
          <a:prstGeom prst="ellipse">
            <a:avLst/>
          </a:prstGeom>
          <a:solidFill>
            <a:srgbClr val="34344A"/>
          </a:solidFill>
          <a:ln/>
        </p:spPr>
      </p:sp>
      <p:sp>
        <p:nvSpPr>
          <p:cNvPr id="12" name="Shape 9"/>
          <p:cNvSpPr/>
          <p:nvPr/>
        </p:nvSpPr>
        <p:spPr>
          <a:xfrm>
            <a:off x="5560977" y="470916"/>
            <a:ext cx="82296" cy="82296"/>
          </a:xfrm>
          <a:prstGeom prst="ellipse">
            <a:avLst/>
          </a:prstGeom>
          <a:solidFill>
            <a:srgbClr val="34344A"/>
          </a:solidFill>
          <a:ln/>
        </p:spPr>
      </p:sp>
      <p:sp>
        <p:nvSpPr>
          <p:cNvPr id="13" name="Shape 10"/>
          <p:cNvSpPr/>
          <p:nvPr/>
        </p:nvSpPr>
        <p:spPr>
          <a:xfrm>
            <a:off x="5702709" y="470916"/>
            <a:ext cx="82296" cy="82296"/>
          </a:xfrm>
          <a:prstGeom prst="ellipse">
            <a:avLst/>
          </a:prstGeom>
          <a:solidFill>
            <a:srgbClr val="34344A"/>
          </a:solidFill>
          <a:ln/>
        </p:spPr>
      </p:sp>
      <p:sp>
        <p:nvSpPr>
          <p:cNvPr id="14" name="Shape 11"/>
          <p:cNvSpPr/>
          <p:nvPr/>
        </p:nvSpPr>
        <p:spPr>
          <a:xfrm>
            <a:off x="5954169"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09617"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956380" y="384048"/>
            <a:ext cx="2778115"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browsing</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 academy: a partner's own school inside the city</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Pathways that end in a co-branded badge, next to the partner's open roles, at the partner's own web address</a:t>
            </a:r>
            <a:endParaRPr lang="en-US" sz="1500" dirty="0"/>
          </a:p>
        </p:txBody>
      </p:sp>
      <p:pic>
        <p:nvPicPr>
          <p:cNvPr id="19" name="Image 0" descr="/tmp/claude-0/-home-user-Chronopoli/d7458f57-86b2-5920-914e-8615357fee63/scratchpad/deck-master/framed/academy_home.png">    </p:cNvPr>
          <p:cNvPicPr>
            <a:picLocks noChangeAspect="1"/>
          </p:cNvPicPr>
          <p:nvPr/>
        </p:nvPicPr>
        <p:blipFill>
          <a:blip r:embed="rId2"/>
          <a:stretch>
            <a:fillRect/>
          </a:stretch>
        </p:blipFill>
        <p:spPr>
          <a:xfrm>
            <a:off x="4215409" y="1792249"/>
            <a:ext cx="7722973" cy="3994322"/>
          </a:xfrm>
          <a:prstGeom prst="rect">
            <a:avLst/>
          </a:prstGeom>
        </p:spPr>
      </p:pic>
      <p:sp>
        <p:nvSpPr>
          <p:cNvPr id="20" name="Shape 16"/>
          <p:cNvSpPr/>
          <p:nvPr/>
        </p:nvSpPr>
        <p:spPr>
          <a:xfrm>
            <a:off x="4419295" y="5719844"/>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4510735" y="5792996"/>
            <a:ext cx="73152" cy="73152"/>
          </a:xfrm>
          <a:prstGeom prst="ellipse">
            <a:avLst/>
          </a:prstGeom>
          <a:solidFill>
            <a:srgbClr val="34D399"/>
          </a:solidFill>
          <a:ln/>
        </p:spPr>
      </p:sp>
      <p:sp>
        <p:nvSpPr>
          <p:cNvPr id="22" name="Text 18"/>
          <p:cNvSpPr txBox="1"/>
          <p:nvPr/>
        </p:nvSpPr>
        <p:spPr>
          <a:xfrm>
            <a:off x="4638751" y="5719844"/>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6331407" y="5751848"/>
            <a:ext cx="540308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home, top of the page (partner colour and logo not yet applied)</a:t>
            </a:r>
            <a:endParaRPr lang="en-US" sz="1000" dirty="0"/>
          </a:p>
        </p:txBody>
      </p:sp>
      <p:sp>
        <p:nvSpPr>
          <p:cNvPr id="24" name="Text 20"/>
          <p:cNvSpPr txBox="1"/>
          <p:nvPr/>
        </p:nvSpPr>
        <p:spPr>
          <a:xfrm>
            <a:off x="457200" y="2570210"/>
            <a:ext cx="3504895" cy="2493264"/>
          </a:xfrm>
          <a:prstGeom prst="rect">
            <a:avLst/>
          </a:prstGeom>
          <a:noFill/>
          <a:ln/>
        </p:spPr>
        <p:txBody>
          <a:bodyPr wrap="square" lIns="0" tIns="0" rIns="0" bIns="0" rtlCol="0" anchor="t"/>
          <a:lstStyle/>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3 pathways:</a:t>
            </a:r>
            <a:r>
              <a:rPr lang="en-US" sz="1400" dirty="0">
                <a:solidFill>
                  <a:srgbClr val="E8E8F0"/>
                </a:solidFill>
                <a:latin typeface="Arial" pitchFamily="34" charset="0"/>
                <a:ea typeface="Arial" pitchFamily="34" charset="-122"/>
                <a:cs typeface="Arial" pitchFamily="34" charset="-120"/>
              </a:rPr>
              <a:t> Stablecoin Compliance Specialist (4 courses, 44 h), Foundations (2 courses, 10 h), Investigator (2 courses, 32 h)</a:t>
            </a:r>
            <a:endParaRPr lang="en-US" sz="1400" dirty="0"/>
          </a:p>
          <a:p>
            <a:pPr marL="165100" indent="-165100">
              <a:spcAft>
                <a:spcPts val="12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 catalogues:</a:t>
            </a:r>
            <a:r>
              <a:rPr lang="en-US" sz="1400" dirty="0">
                <a:solidFill>
                  <a:srgbClr val="E8E8F0"/>
                </a:solidFill>
                <a:latin typeface="Arial" pitchFamily="34" charset="0"/>
                <a:ea typeface="Arial" pitchFamily="34" charset="-122"/>
                <a:cs typeface="Arial" pitchFamily="34" charset="-120"/>
              </a:rPr>
              <a:t> courses stay in their districts, so a partner track also shows up there</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Talent pipeline:</a:t>
            </a:r>
            <a:r>
              <a:rPr lang="en-US" sz="1400" dirty="0">
                <a:solidFill>
                  <a:srgbClr val="E8E8F0"/>
                </a:solidFill>
                <a:latin typeface="Arial" pitchFamily="34" charset="0"/>
                <a:ea typeface="Arial" pitchFamily="34" charset="-122"/>
                <a:cs typeface="Arial" pitchFamily="34" charset="-120"/>
              </a:rPr>
              <a:t> the partner's open roles sit on the same page, below the pathways (slide 13)</a:t>
            </a:r>
            <a:endParaRPr lang="en-US" sz="1400" dirty="0"/>
          </a:p>
        </p:txBody>
      </p:sp>
      <p:sp>
        <p:nvSpPr>
          <p:cNvPr id="25"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6"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505116"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267372"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4 OF 9 · ENROL &amp; PAY</a:t>
            </a:r>
            <a:endParaRPr lang="en-US" sz="900" dirty="0"/>
          </a:p>
        </p:txBody>
      </p:sp>
      <p:sp>
        <p:nvSpPr>
          <p:cNvPr id="5" name="Shape 2"/>
          <p:cNvSpPr/>
          <p:nvPr/>
        </p:nvSpPr>
        <p:spPr>
          <a:xfrm>
            <a:off x="4126908" y="470916"/>
            <a:ext cx="82296" cy="82296"/>
          </a:xfrm>
          <a:prstGeom prst="ellipse">
            <a:avLst/>
          </a:prstGeom>
          <a:solidFill>
            <a:srgbClr val="9B7A2E"/>
          </a:solidFill>
          <a:ln/>
        </p:spPr>
      </p:sp>
      <p:sp>
        <p:nvSpPr>
          <p:cNvPr id="6" name="Shape 3"/>
          <p:cNvSpPr/>
          <p:nvPr/>
        </p:nvSpPr>
        <p:spPr>
          <a:xfrm>
            <a:off x="4268640" y="470916"/>
            <a:ext cx="82296" cy="82296"/>
          </a:xfrm>
          <a:prstGeom prst="ellipse">
            <a:avLst/>
          </a:prstGeom>
          <a:solidFill>
            <a:srgbClr val="9B7A2E"/>
          </a:solidFill>
          <a:ln/>
        </p:spPr>
      </p:sp>
      <p:sp>
        <p:nvSpPr>
          <p:cNvPr id="7" name="Shape 4"/>
          <p:cNvSpPr/>
          <p:nvPr/>
        </p:nvSpPr>
        <p:spPr>
          <a:xfrm>
            <a:off x="4410372" y="470916"/>
            <a:ext cx="82296" cy="82296"/>
          </a:xfrm>
          <a:prstGeom prst="ellipse">
            <a:avLst/>
          </a:prstGeom>
          <a:solidFill>
            <a:srgbClr val="9B7A2E"/>
          </a:solidFill>
          <a:ln/>
        </p:spPr>
      </p:sp>
      <p:sp>
        <p:nvSpPr>
          <p:cNvPr id="8" name="Shape 5"/>
          <p:cNvSpPr/>
          <p:nvPr/>
        </p:nvSpPr>
        <p:spPr>
          <a:xfrm>
            <a:off x="4552104" y="470916"/>
            <a:ext cx="82296" cy="82296"/>
          </a:xfrm>
          <a:prstGeom prst="ellipse">
            <a:avLst/>
          </a:prstGeom>
          <a:solidFill>
            <a:srgbClr val="F0C96B"/>
          </a:solidFill>
          <a:ln/>
        </p:spPr>
      </p:sp>
      <p:sp>
        <p:nvSpPr>
          <p:cNvPr id="9" name="Shape 6"/>
          <p:cNvSpPr/>
          <p:nvPr/>
        </p:nvSpPr>
        <p:spPr>
          <a:xfrm>
            <a:off x="4693836" y="470916"/>
            <a:ext cx="82296" cy="82296"/>
          </a:xfrm>
          <a:prstGeom prst="ellipse">
            <a:avLst/>
          </a:prstGeom>
          <a:solidFill>
            <a:srgbClr val="34344A"/>
          </a:solidFill>
          <a:ln/>
        </p:spPr>
      </p:sp>
      <p:sp>
        <p:nvSpPr>
          <p:cNvPr id="10" name="Shape 7"/>
          <p:cNvSpPr/>
          <p:nvPr/>
        </p:nvSpPr>
        <p:spPr>
          <a:xfrm>
            <a:off x="4835568" y="470916"/>
            <a:ext cx="82296" cy="82296"/>
          </a:xfrm>
          <a:prstGeom prst="ellipse">
            <a:avLst/>
          </a:prstGeom>
          <a:solidFill>
            <a:srgbClr val="34344A"/>
          </a:solidFill>
          <a:ln/>
        </p:spPr>
      </p:sp>
      <p:sp>
        <p:nvSpPr>
          <p:cNvPr id="11" name="Shape 8"/>
          <p:cNvSpPr/>
          <p:nvPr/>
        </p:nvSpPr>
        <p:spPr>
          <a:xfrm>
            <a:off x="4977300" y="470916"/>
            <a:ext cx="82296" cy="82296"/>
          </a:xfrm>
          <a:prstGeom prst="ellipse">
            <a:avLst/>
          </a:prstGeom>
          <a:solidFill>
            <a:srgbClr val="34344A"/>
          </a:solidFill>
          <a:ln/>
        </p:spPr>
      </p:sp>
      <p:sp>
        <p:nvSpPr>
          <p:cNvPr id="12" name="Shape 9"/>
          <p:cNvSpPr/>
          <p:nvPr/>
        </p:nvSpPr>
        <p:spPr>
          <a:xfrm>
            <a:off x="5119032" y="470916"/>
            <a:ext cx="82296" cy="82296"/>
          </a:xfrm>
          <a:prstGeom prst="ellipse">
            <a:avLst/>
          </a:prstGeom>
          <a:solidFill>
            <a:srgbClr val="34344A"/>
          </a:solidFill>
          <a:ln/>
        </p:spPr>
      </p:sp>
      <p:sp>
        <p:nvSpPr>
          <p:cNvPr id="13" name="Shape 10"/>
          <p:cNvSpPr/>
          <p:nvPr/>
        </p:nvSpPr>
        <p:spPr>
          <a:xfrm>
            <a:off x="5260764" y="470916"/>
            <a:ext cx="82296" cy="82296"/>
          </a:xfrm>
          <a:prstGeom prst="ellipse">
            <a:avLst/>
          </a:prstGeom>
          <a:solidFill>
            <a:srgbClr val="34344A"/>
          </a:solidFill>
          <a:ln/>
        </p:spPr>
      </p:sp>
      <p:sp>
        <p:nvSpPr>
          <p:cNvPr id="14" name="Shape 11"/>
          <p:cNvSpPr/>
          <p:nvPr/>
        </p:nvSpPr>
        <p:spPr>
          <a:xfrm>
            <a:off x="5512224"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667672"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8278155" y="384048"/>
            <a:ext cx="345634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Enrol and pay in one checkout</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learning layer sets the price, a secure hosted checkout takes the payment, and the learner is enrolled automatically</a:t>
            </a:r>
            <a:endParaRPr lang="en-US" sz="1600" dirty="0"/>
          </a:p>
        </p:txBody>
      </p:sp>
      <p:pic>
        <p:nvPicPr>
          <p:cNvPr id="19" name="Image 0" descr="/tmp/claude-0/-home-user-Chronopoli/d7458f57-86b2-5920-914e-8615357fee63/scratchpad/deck-master/framed/course_about.png">    </p:cNvPr>
          <p:cNvPicPr>
            <a:picLocks noChangeAspect="1"/>
          </p:cNvPicPr>
          <p:nvPr/>
        </p:nvPicPr>
        <p:blipFill>
          <a:blip r:embed="rId2"/>
          <a:stretch>
            <a:fillRect/>
          </a:stretch>
        </p:blipFill>
        <p:spPr>
          <a:xfrm>
            <a:off x="836399" y="1768125"/>
            <a:ext cx="5372510" cy="3313825"/>
          </a:xfrm>
          <a:prstGeom prst="rect">
            <a:avLst/>
          </a:prstGeom>
        </p:spPr>
      </p:pic>
      <p:sp>
        <p:nvSpPr>
          <p:cNvPr id="20" name="Shape 16"/>
          <p:cNvSpPr/>
          <p:nvPr/>
        </p:nvSpPr>
        <p:spPr>
          <a:xfrm>
            <a:off x="978450" y="5077059"/>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069890" y="5150211"/>
            <a:ext cx="73152" cy="73152"/>
          </a:xfrm>
          <a:prstGeom prst="ellipse">
            <a:avLst/>
          </a:prstGeom>
          <a:solidFill>
            <a:srgbClr val="34D399"/>
          </a:solidFill>
          <a:ln/>
        </p:spPr>
      </p:sp>
      <p:sp>
        <p:nvSpPr>
          <p:cNvPr id="22" name="Text 18"/>
          <p:cNvSpPr txBox="1"/>
          <p:nvPr/>
        </p:nvSpPr>
        <p:spPr>
          <a:xfrm>
            <a:off x="1197906" y="5077059"/>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890562" y="5109063"/>
            <a:ext cx="317629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Course page with price</a:t>
            </a:r>
            <a:endParaRPr lang="en-US" sz="1000" dirty="0"/>
          </a:p>
        </p:txBody>
      </p:sp>
      <p:sp>
        <p:nvSpPr>
          <p:cNvPr id="24" name="Text 20"/>
          <p:cNvSpPr txBox="1"/>
          <p:nvPr/>
        </p:nvSpPr>
        <p:spPr>
          <a:xfrm>
            <a:off x="978450" y="5497683"/>
            <a:ext cx="508840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Layer sets the price:</a:t>
            </a:r>
            <a:r>
              <a:rPr lang="en-US" sz="1400" dirty="0">
                <a:solidFill>
                  <a:srgbClr val="E8E8F0"/>
                </a:solidFill>
                <a:latin typeface="Arial" pitchFamily="34" charset="0"/>
                <a:ea typeface="Arial" pitchFamily="34" charset="-122"/>
                <a:cs typeface="Arial" pitchFamily="34" charset="-120"/>
              </a:rPr>
              <a:t> L2 Professional, $599</a:t>
            </a:r>
            <a:endParaRPr lang="en-US" sz="1400" dirty="0"/>
          </a:p>
        </p:txBody>
      </p:sp>
      <p:pic>
        <p:nvPicPr>
          <p:cNvPr id="25" name="Image 1" descr="/tmp/claude-0/-home-user-Chronopoli/d7458f57-86b2-5920-914e-8615357fee63/scratchpad/deck-master/framed_v5/checkout_success.png">    </p:cNvPr>
          <p:cNvPicPr>
            <a:picLocks noChangeAspect="1"/>
          </p:cNvPicPr>
          <p:nvPr/>
        </p:nvPicPr>
        <p:blipFill>
          <a:blip r:embed="rId3"/>
          <a:stretch>
            <a:fillRect/>
          </a:stretch>
        </p:blipFill>
        <p:spPr>
          <a:xfrm>
            <a:off x="6299158" y="1776717"/>
            <a:ext cx="5047546" cy="3296641"/>
          </a:xfrm>
          <a:prstGeom prst="rect">
            <a:avLst/>
          </a:prstGeom>
        </p:spPr>
      </p:pic>
      <p:sp>
        <p:nvSpPr>
          <p:cNvPr id="26" name="Shape 21"/>
          <p:cNvSpPr/>
          <p:nvPr/>
        </p:nvSpPr>
        <p:spPr>
          <a:xfrm>
            <a:off x="6432618" y="5077059"/>
            <a:ext cx="2480869"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24058" y="5150211"/>
            <a:ext cx="73152" cy="73152"/>
          </a:xfrm>
          <a:prstGeom prst="ellipse">
            <a:avLst/>
          </a:prstGeom>
          <a:solidFill>
            <a:srgbClr val="A9A9C6"/>
          </a:solidFill>
          <a:ln/>
        </p:spPr>
      </p:sp>
      <p:sp>
        <p:nvSpPr>
          <p:cNvPr id="28" name="Text 23"/>
          <p:cNvSpPr txBox="1"/>
          <p:nvPr/>
        </p:nvSpPr>
        <p:spPr>
          <a:xfrm>
            <a:off x="6652074" y="5077059"/>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9" name="Text 24"/>
          <p:cNvSpPr txBox="1"/>
          <p:nvPr/>
        </p:nvSpPr>
        <p:spPr>
          <a:xfrm>
            <a:off x="9023214" y="5109063"/>
            <a:ext cx="219003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Payment confirmed, auto-enrolled</a:t>
            </a:r>
            <a:endParaRPr lang="en-US" sz="1000" dirty="0"/>
          </a:p>
        </p:txBody>
      </p:sp>
      <p:sp>
        <p:nvSpPr>
          <p:cNvPr id="30" name="Text 25"/>
          <p:cNvSpPr txBox="1"/>
          <p:nvPr/>
        </p:nvSpPr>
        <p:spPr>
          <a:xfrm>
            <a:off x="6432618" y="5497683"/>
            <a:ext cx="4780628" cy="771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Hosted checkout:</a:t>
            </a:r>
            <a:r>
              <a:rPr lang="en-US" sz="1400" dirty="0">
                <a:solidFill>
                  <a:srgbClr val="E8E8F0"/>
                </a:solidFill>
                <a:latin typeface="Arial" pitchFamily="34" charset="0"/>
                <a:ea typeface="Arial" pitchFamily="34" charset="-122"/>
                <a:cs typeface="Arial" pitchFamily="34" charset="-120"/>
              </a:rPr>
              <a:t> card details never reach Chronopoli</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Automatic enrolment:</a:t>
            </a:r>
            <a:r>
              <a:rPr lang="en-US" sz="1400" dirty="0">
                <a:solidFill>
                  <a:srgbClr val="E8E8F0"/>
                </a:solidFill>
                <a:latin typeface="Arial" pitchFamily="34" charset="0"/>
                <a:ea typeface="Arial" pitchFamily="34" charset="-122"/>
                <a:cs typeface="Arial" pitchFamily="34" charset="-120"/>
              </a:rPr>
              <a:t> once she has paid, with the 70% partner share recorded</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02624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78850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5 OF 9 · LEARN</a:t>
            </a:r>
            <a:endParaRPr lang="en-US" sz="900" dirty="0"/>
          </a:p>
        </p:txBody>
      </p:sp>
      <p:sp>
        <p:nvSpPr>
          <p:cNvPr id="5" name="Shape 2"/>
          <p:cNvSpPr/>
          <p:nvPr/>
        </p:nvSpPr>
        <p:spPr>
          <a:xfrm>
            <a:off x="3648037" y="470916"/>
            <a:ext cx="82296" cy="82296"/>
          </a:xfrm>
          <a:prstGeom prst="ellipse">
            <a:avLst/>
          </a:prstGeom>
          <a:solidFill>
            <a:srgbClr val="9B7A2E"/>
          </a:solidFill>
          <a:ln/>
        </p:spPr>
      </p:sp>
      <p:sp>
        <p:nvSpPr>
          <p:cNvPr id="6" name="Shape 3"/>
          <p:cNvSpPr/>
          <p:nvPr/>
        </p:nvSpPr>
        <p:spPr>
          <a:xfrm>
            <a:off x="3789769" y="470916"/>
            <a:ext cx="82296" cy="82296"/>
          </a:xfrm>
          <a:prstGeom prst="ellipse">
            <a:avLst/>
          </a:prstGeom>
          <a:solidFill>
            <a:srgbClr val="9B7A2E"/>
          </a:solidFill>
          <a:ln/>
        </p:spPr>
      </p:sp>
      <p:sp>
        <p:nvSpPr>
          <p:cNvPr id="7" name="Shape 4"/>
          <p:cNvSpPr/>
          <p:nvPr/>
        </p:nvSpPr>
        <p:spPr>
          <a:xfrm>
            <a:off x="3931501" y="470916"/>
            <a:ext cx="82296" cy="82296"/>
          </a:xfrm>
          <a:prstGeom prst="ellipse">
            <a:avLst/>
          </a:prstGeom>
          <a:solidFill>
            <a:srgbClr val="9B7A2E"/>
          </a:solidFill>
          <a:ln/>
        </p:spPr>
      </p:sp>
      <p:sp>
        <p:nvSpPr>
          <p:cNvPr id="8" name="Shape 5"/>
          <p:cNvSpPr/>
          <p:nvPr/>
        </p:nvSpPr>
        <p:spPr>
          <a:xfrm>
            <a:off x="4073233" y="470916"/>
            <a:ext cx="82296" cy="82296"/>
          </a:xfrm>
          <a:prstGeom prst="ellipse">
            <a:avLst/>
          </a:prstGeom>
          <a:solidFill>
            <a:srgbClr val="9B7A2E"/>
          </a:solidFill>
          <a:ln/>
        </p:spPr>
      </p:sp>
      <p:sp>
        <p:nvSpPr>
          <p:cNvPr id="9" name="Shape 6"/>
          <p:cNvSpPr/>
          <p:nvPr/>
        </p:nvSpPr>
        <p:spPr>
          <a:xfrm>
            <a:off x="4214965" y="470916"/>
            <a:ext cx="82296" cy="82296"/>
          </a:xfrm>
          <a:prstGeom prst="ellipse">
            <a:avLst/>
          </a:prstGeom>
          <a:solidFill>
            <a:srgbClr val="F0C96B"/>
          </a:solidFill>
          <a:ln/>
        </p:spPr>
      </p:sp>
      <p:sp>
        <p:nvSpPr>
          <p:cNvPr id="10" name="Shape 7"/>
          <p:cNvSpPr/>
          <p:nvPr/>
        </p:nvSpPr>
        <p:spPr>
          <a:xfrm>
            <a:off x="4356697" y="470916"/>
            <a:ext cx="82296" cy="82296"/>
          </a:xfrm>
          <a:prstGeom prst="ellipse">
            <a:avLst/>
          </a:prstGeom>
          <a:solidFill>
            <a:srgbClr val="34344A"/>
          </a:solidFill>
          <a:ln/>
        </p:spPr>
      </p:sp>
      <p:sp>
        <p:nvSpPr>
          <p:cNvPr id="11" name="Shape 8"/>
          <p:cNvSpPr/>
          <p:nvPr/>
        </p:nvSpPr>
        <p:spPr>
          <a:xfrm>
            <a:off x="4498429" y="470916"/>
            <a:ext cx="82296" cy="82296"/>
          </a:xfrm>
          <a:prstGeom prst="ellipse">
            <a:avLst/>
          </a:prstGeom>
          <a:solidFill>
            <a:srgbClr val="34344A"/>
          </a:solidFill>
          <a:ln/>
        </p:spPr>
      </p:sp>
      <p:sp>
        <p:nvSpPr>
          <p:cNvPr id="12" name="Shape 9"/>
          <p:cNvSpPr/>
          <p:nvPr/>
        </p:nvSpPr>
        <p:spPr>
          <a:xfrm>
            <a:off x="4640161" y="470916"/>
            <a:ext cx="82296" cy="82296"/>
          </a:xfrm>
          <a:prstGeom prst="ellipse">
            <a:avLst/>
          </a:prstGeom>
          <a:solidFill>
            <a:srgbClr val="34344A"/>
          </a:solidFill>
          <a:ln/>
        </p:spPr>
      </p:sp>
      <p:sp>
        <p:nvSpPr>
          <p:cNvPr id="13" name="Shape 10"/>
          <p:cNvSpPr/>
          <p:nvPr/>
        </p:nvSpPr>
        <p:spPr>
          <a:xfrm>
            <a:off x="4781893" y="470916"/>
            <a:ext cx="82296" cy="82296"/>
          </a:xfrm>
          <a:prstGeom prst="ellipse">
            <a:avLst/>
          </a:prstGeom>
          <a:solidFill>
            <a:srgbClr val="34344A"/>
          </a:solidFill>
          <a:ln/>
        </p:spPr>
      </p:sp>
      <p:sp>
        <p:nvSpPr>
          <p:cNvPr id="14" name="Shape 11"/>
          <p:cNvSpPr/>
          <p:nvPr/>
        </p:nvSpPr>
        <p:spPr>
          <a:xfrm>
            <a:off x="503335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18880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6813568" y="384048"/>
            <a:ext cx="492092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course content</a:t>
            </a:r>
            <a:endParaRPr lang="en-US" sz="1050" dirty="0"/>
          </a:p>
        </p:txBody>
      </p:sp>
      <p:sp>
        <p:nvSpPr>
          <p:cNvPr id="17" name="Text 14"/>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Learn on a proven LMS: lessons and auto-graded checks</a:t>
            </a:r>
            <a:endParaRPr lang="en-US" sz="3300" dirty="0"/>
          </a:p>
        </p:txBody>
      </p:sp>
      <p:sp>
        <p:nvSpPr>
          <p:cNvPr id="18" name="Text 15"/>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Proven courseware: completion tracking, graded problems, attempts and feedback out of the box</a:t>
            </a:r>
            <a:endParaRPr lang="en-US" sz="1500" dirty="0"/>
          </a:p>
        </p:txBody>
      </p:sp>
      <p:pic>
        <p:nvPicPr>
          <p:cNvPr id="19" name="Image 0" descr="/tmp/claude-0/-home-user-Chronopoli/d7458f57-86b2-5920-914e-8615357fee63/scratchpad/deck-master/framed/unit_lesson.png">    </p:cNvPr>
          <p:cNvPicPr>
            <a:picLocks noChangeAspect="1"/>
          </p:cNvPicPr>
          <p:nvPr/>
        </p:nvPicPr>
        <p:blipFill>
          <a:blip r:embed="rId2"/>
          <a:stretch>
            <a:fillRect/>
          </a:stretch>
        </p:blipFill>
        <p:spPr>
          <a:xfrm>
            <a:off x="299690" y="1968861"/>
            <a:ext cx="5957177" cy="3505190"/>
          </a:xfrm>
          <a:prstGeom prst="rect">
            <a:avLst/>
          </a:prstGeom>
        </p:spPr>
      </p:pic>
      <p:sp>
        <p:nvSpPr>
          <p:cNvPr id="20" name="Shape 16"/>
          <p:cNvSpPr/>
          <p:nvPr/>
        </p:nvSpPr>
        <p:spPr>
          <a:xfrm>
            <a:off x="457200" y="5453700"/>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526852"/>
            <a:ext cx="73152" cy="73152"/>
          </a:xfrm>
          <a:prstGeom prst="ellipse">
            <a:avLst/>
          </a:prstGeom>
          <a:solidFill>
            <a:srgbClr val="34D399"/>
          </a:solidFill>
          <a:ln/>
        </p:spPr>
      </p:sp>
      <p:sp>
        <p:nvSpPr>
          <p:cNvPr id="22" name="Text 18"/>
          <p:cNvSpPr txBox="1"/>
          <p:nvPr/>
        </p:nvSpPr>
        <p:spPr>
          <a:xfrm>
            <a:off x="676656" y="5453700"/>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69312" y="5485704"/>
            <a:ext cx="373004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Lesson 4.1, the Travel Rule in practice</a:t>
            </a:r>
            <a:endParaRPr lang="en-US" sz="1000" dirty="0"/>
          </a:p>
        </p:txBody>
      </p:sp>
      <p:sp>
        <p:nvSpPr>
          <p:cNvPr id="24" name="Text 20"/>
          <p:cNvSpPr txBox="1"/>
          <p:nvPr/>
        </p:nvSpPr>
        <p:spPr>
          <a:xfrm>
            <a:off x="457200" y="5874324"/>
            <a:ext cx="5642157"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a:t>
            </a:r>
            <a:r>
              <a:rPr lang="en-US" sz="1400" dirty="0">
                <a:solidFill>
                  <a:srgbClr val="E8E8F0"/>
                </a:solidFill>
                <a:latin typeface="Arial" pitchFamily="34" charset="0"/>
                <a:ea typeface="Arial" pitchFamily="34" charset="-122"/>
                <a:cs typeface="Arial" pitchFamily="34" charset="-120"/>
              </a:rPr>
              <a:t> six modules, ending in a graded capstone</a:t>
            </a:r>
            <a:endParaRPr lang="en-US" sz="1400" dirty="0"/>
          </a:p>
        </p:txBody>
      </p:sp>
      <p:pic>
        <p:nvPicPr>
          <p:cNvPr id="25" name="Image 1" descr="/tmp/claude-0/-home-user-Chronopoli/d7458f57-86b2-5920-914e-8615357fee63/scratchpad/deck-master/framed/unit_check.png">    </p:cNvPr>
          <p:cNvPicPr>
            <a:picLocks noChangeAspect="1"/>
          </p:cNvPicPr>
          <p:nvPr/>
        </p:nvPicPr>
        <p:blipFill>
          <a:blip r:embed="rId3"/>
          <a:stretch>
            <a:fillRect/>
          </a:stretch>
        </p:blipFill>
        <p:spPr>
          <a:xfrm>
            <a:off x="6318013" y="1979267"/>
            <a:ext cx="5563585" cy="3484376"/>
          </a:xfrm>
          <a:prstGeom prst="rect">
            <a:avLst/>
          </a:prstGeom>
        </p:spPr>
      </p:pic>
      <p:sp>
        <p:nvSpPr>
          <p:cNvPr id="26" name="Shape 21"/>
          <p:cNvSpPr/>
          <p:nvPr/>
        </p:nvSpPr>
        <p:spPr>
          <a:xfrm>
            <a:off x="6465117" y="5453700"/>
            <a:ext cx="1802384"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556557" y="5526852"/>
            <a:ext cx="73152" cy="73152"/>
          </a:xfrm>
          <a:prstGeom prst="ellipse">
            <a:avLst/>
          </a:prstGeom>
          <a:solidFill>
            <a:srgbClr val="34D399"/>
          </a:solidFill>
          <a:ln/>
        </p:spPr>
      </p:sp>
      <p:sp>
        <p:nvSpPr>
          <p:cNvPr id="28" name="Text 23"/>
          <p:cNvSpPr txBox="1"/>
          <p:nvPr/>
        </p:nvSpPr>
        <p:spPr>
          <a:xfrm>
            <a:off x="6684573" y="5453700"/>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9" name="Text 24"/>
          <p:cNvSpPr txBox="1"/>
          <p:nvPr/>
        </p:nvSpPr>
        <p:spPr>
          <a:xfrm>
            <a:off x="8377229" y="5485704"/>
            <a:ext cx="335726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Knowledge check 3.2 · correct on attempt 1 of 3</a:t>
            </a:r>
            <a:endParaRPr lang="en-US" sz="1000" dirty="0"/>
          </a:p>
        </p:txBody>
      </p:sp>
      <p:sp>
        <p:nvSpPr>
          <p:cNvPr id="30" name="Text 25"/>
          <p:cNvSpPr txBox="1"/>
          <p:nvPr/>
        </p:nvSpPr>
        <p:spPr>
          <a:xfrm>
            <a:off x="6465117" y="5874324"/>
            <a:ext cx="5269378" cy="26822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Instant grading:</a:t>
            </a:r>
            <a:r>
              <a:rPr lang="en-US" sz="1400" dirty="0">
                <a:solidFill>
                  <a:srgbClr val="E8E8F0"/>
                </a:solidFill>
                <a:latin typeface="Arial" pitchFamily="34" charset="0"/>
                <a:ea typeface="Arial" pitchFamily="34" charset="-122"/>
                <a:cs typeface="Arial" pitchFamily="34" charset="-120"/>
              </a:rPr>
              <a:t> attempts are tracked (1 of 3 used)</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1794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8020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6 OF 9 · AI TUTOR</a:t>
            </a:r>
            <a:endParaRPr lang="en-US" sz="900" dirty="0"/>
          </a:p>
        </p:txBody>
      </p:sp>
      <p:sp>
        <p:nvSpPr>
          <p:cNvPr id="5" name="Shape 2"/>
          <p:cNvSpPr/>
          <p:nvPr/>
        </p:nvSpPr>
        <p:spPr>
          <a:xfrm>
            <a:off x="3839741" y="470916"/>
            <a:ext cx="82296" cy="82296"/>
          </a:xfrm>
          <a:prstGeom prst="ellipse">
            <a:avLst/>
          </a:prstGeom>
          <a:solidFill>
            <a:srgbClr val="9B7A2E"/>
          </a:solidFill>
          <a:ln/>
        </p:spPr>
      </p:sp>
      <p:sp>
        <p:nvSpPr>
          <p:cNvPr id="6" name="Shape 3"/>
          <p:cNvSpPr/>
          <p:nvPr/>
        </p:nvSpPr>
        <p:spPr>
          <a:xfrm>
            <a:off x="3981473" y="470916"/>
            <a:ext cx="82296" cy="82296"/>
          </a:xfrm>
          <a:prstGeom prst="ellipse">
            <a:avLst/>
          </a:prstGeom>
          <a:solidFill>
            <a:srgbClr val="9B7A2E"/>
          </a:solidFill>
          <a:ln/>
        </p:spPr>
      </p:sp>
      <p:sp>
        <p:nvSpPr>
          <p:cNvPr id="7" name="Shape 4"/>
          <p:cNvSpPr/>
          <p:nvPr/>
        </p:nvSpPr>
        <p:spPr>
          <a:xfrm>
            <a:off x="4123205" y="470916"/>
            <a:ext cx="82296" cy="82296"/>
          </a:xfrm>
          <a:prstGeom prst="ellipse">
            <a:avLst/>
          </a:prstGeom>
          <a:solidFill>
            <a:srgbClr val="9B7A2E"/>
          </a:solidFill>
          <a:ln/>
        </p:spPr>
      </p:sp>
      <p:sp>
        <p:nvSpPr>
          <p:cNvPr id="8" name="Shape 5"/>
          <p:cNvSpPr/>
          <p:nvPr/>
        </p:nvSpPr>
        <p:spPr>
          <a:xfrm>
            <a:off x="4264937" y="470916"/>
            <a:ext cx="82296" cy="82296"/>
          </a:xfrm>
          <a:prstGeom prst="ellipse">
            <a:avLst/>
          </a:prstGeom>
          <a:solidFill>
            <a:srgbClr val="9B7A2E"/>
          </a:solidFill>
          <a:ln/>
        </p:spPr>
      </p:sp>
      <p:sp>
        <p:nvSpPr>
          <p:cNvPr id="9" name="Shape 6"/>
          <p:cNvSpPr/>
          <p:nvPr/>
        </p:nvSpPr>
        <p:spPr>
          <a:xfrm>
            <a:off x="4406669" y="470916"/>
            <a:ext cx="82296" cy="82296"/>
          </a:xfrm>
          <a:prstGeom prst="ellipse">
            <a:avLst/>
          </a:prstGeom>
          <a:solidFill>
            <a:srgbClr val="9B7A2E"/>
          </a:solidFill>
          <a:ln/>
        </p:spPr>
      </p:sp>
      <p:sp>
        <p:nvSpPr>
          <p:cNvPr id="10" name="Shape 7"/>
          <p:cNvSpPr/>
          <p:nvPr/>
        </p:nvSpPr>
        <p:spPr>
          <a:xfrm>
            <a:off x="4548401" y="470916"/>
            <a:ext cx="82296" cy="82296"/>
          </a:xfrm>
          <a:prstGeom prst="ellipse">
            <a:avLst/>
          </a:prstGeom>
          <a:solidFill>
            <a:srgbClr val="F0C96B"/>
          </a:solidFill>
          <a:ln/>
        </p:spPr>
      </p:sp>
      <p:sp>
        <p:nvSpPr>
          <p:cNvPr id="11" name="Shape 8"/>
          <p:cNvSpPr/>
          <p:nvPr/>
        </p:nvSpPr>
        <p:spPr>
          <a:xfrm>
            <a:off x="4690133" y="470916"/>
            <a:ext cx="82296" cy="82296"/>
          </a:xfrm>
          <a:prstGeom prst="ellipse">
            <a:avLst/>
          </a:prstGeom>
          <a:solidFill>
            <a:srgbClr val="34344A"/>
          </a:solidFill>
          <a:ln/>
        </p:spPr>
      </p:sp>
      <p:sp>
        <p:nvSpPr>
          <p:cNvPr id="12" name="Shape 9"/>
          <p:cNvSpPr/>
          <p:nvPr/>
        </p:nvSpPr>
        <p:spPr>
          <a:xfrm>
            <a:off x="4831865" y="470916"/>
            <a:ext cx="82296" cy="82296"/>
          </a:xfrm>
          <a:prstGeom prst="ellipse">
            <a:avLst/>
          </a:prstGeom>
          <a:solidFill>
            <a:srgbClr val="34344A"/>
          </a:solidFill>
          <a:ln/>
        </p:spPr>
      </p:sp>
      <p:sp>
        <p:nvSpPr>
          <p:cNvPr id="13" name="Shape 10"/>
          <p:cNvSpPr/>
          <p:nvPr/>
        </p:nvSpPr>
        <p:spPr>
          <a:xfrm>
            <a:off x="4973597" y="470916"/>
            <a:ext cx="82296" cy="82296"/>
          </a:xfrm>
          <a:prstGeom prst="ellipse">
            <a:avLst/>
          </a:prstGeom>
          <a:solidFill>
            <a:srgbClr val="34344A"/>
          </a:solidFill>
          <a:ln/>
        </p:spPr>
      </p:sp>
      <p:sp>
        <p:nvSpPr>
          <p:cNvPr id="14" name="Shape 11"/>
          <p:cNvSpPr/>
          <p:nvPr/>
        </p:nvSpPr>
        <p:spPr>
          <a:xfrm>
            <a:off x="5225057" y="384048"/>
            <a:ext cx="2491610"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38050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6" name="Text 13"/>
          <p:cNvSpPr txBox="1"/>
          <p:nvPr/>
        </p:nvSpPr>
        <p:spPr>
          <a:xfrm>
            <a:off x="7990987" y="384048"/>
            <a:ext cx="37435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Module 3 · Mock lesson, target theme</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An AI tutor that cites its sources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AI tutor answers inside the lesson, from the Chronopoli knowledge base, and shows its sources</a:t>
            </a:r>
            <a:endParaRPr lang="en-US" sz="1600" dirty="0"/>
          </a:p>
        </p:txBody>
      </p:sp>
      <p:pic>
        <p:nvPicPr>
          <p:cNvPr id="19" name="Image 0" descr="/tmp/claude-0/-home-user-Chronopoli/d7458f57-86b2-5920-914e-8615357fee63/scratchpad/deck-master/framed/tutor_widget.png">    </p:cNvPr>
          <p:cNvPicPr>
            <a:picLocks noChangeAspect="1"/>
          </p:cNvPicPr>
          <p:nvPr/>
        </p:nvPicPr>
        <p:blipFill>
          <a:blip r:embed="rId2"/>
          <a:stretch>
            <a:fillRect/>
          </a:stretch>
        </p:blipFill>
        <p:spPr>
          <a:xfrm>
            <a:off x="250982" y="1700001"/>
            <a:ext cx="7799366" cy="4367522"/>
          </a:xfrm>
          <a:prstGeom prst="rect">
            <a:avLst/>
          </a:prstGeom>
        </p:spPr>
      </p:pic>
      <p:sp>
        <p:nvSpPr>
          <p:cNvPr id="20" name="Shape 16"/>
          <p:cNvSpPr/>
          <p:nvPr/>
        </p:nvSpPr>
        <p:spPr>
          <a:xfrm>
            <a:off x="457200" y="5998464"/>
            <a:ext cx="2480869"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6071616"/>
            <a:ext cx="73152" cy="73152"/>
          </a:xfrm>
          <a:prstGeom prst="ellipse">
            <a:avLst/>
          </a:prstGeom>
          <a:solidFill>
            <a:srgbClr val="A9A9C6"/>
          </a:solidFill>
          <a:ln/>
        </p:spPr>
      </p:sp>
      <p:sp>
        <p:nvSpPr>
          <p:cNvPr id="22" name="Text 18"/>
          <p:cNvSpPr txBox="1"/>
          <p:nvPr/>
        </p:nvSpPr>
        <p:spPr>
          <a:xfrm>
            <a:off x="676656" y="5998464"/>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3" name="Text 19"/>
          <p:cNvSpPr txBox="1"/>
          <p:nvPr/>
        </p:nvSpPr>
        <p:spPr>
          <a:xfrm>
            <a:off x="3047797" y="6030468"/>
            <a:ext cx="479633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AI tutor on a prototype lesson page · scripted demo answer</a:t>
            </a:r>
            <a:endParaRPr lang="en-US" sz="1000" dirty="0"/>
          </a:p>
        </p:txBody>
      </p:sp>
      <p:pic>
        <p:nvPicPr>
          <p:cNvPr id="24" name="Image 1" descr="/tmp/claude-0/-home-user-Chronopoli/d7458f57-86b2-5920-914e-8615357fee63/scratchpad/deck-master/framed_v5/tutor_history.png">    </p:cNvPr>
          <p:cNvPicPr>
            <a:picLocks noChangeAspect="1"/>
          </p:cNvPicPr>
          <p:nvPr/>
        </p:nvPicPr>
        <p:blipFill>
          <a:blip r:embed="rId3"/>
          <a:stretch>
            <a:fillRect/>
          </a:stretch>
        </p:blipFill>
        <p:spPr>
          <a:xfrm>
            <a:off x="8157007" y="1807617"/>
            <a:ext cx="3676091" cy="1903780"/>
          </a:xfrm>
          <a:prstGeom prst="rect">
            <a:avLst/>
          </a:prstGeom>
        </p:spPr>
      </p:pic>
      <p:sp>
        <p:nvSpPr>
          <p:cNvPr id="25" name="Shape 20"/>
          <p:cNvSpPr/>
          <p:nvPr/>
        </p:nvSpPr>
        <p:spPr>
          <a:xfrm>
            <a:off x="8255609" y="3749955"/>
            <a:ext cx="2480869"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8347049" y="3823107"/>
            <a:ext cx="73152" cy="73152"/>
          </a:xfrm>
          <a:prstGeom prst="ellipse">
            <a:avLst/>
          </a:prstGeom>
          <a:solidFill>
            <a:srgbClr val="A9A9C6"/>
          </a:solidFill>
          <a:ln/>
        </p:spPr>
      </p:sp>
      <p:sp>
        <p:nvSpPr>
          <p:cNvPr id="27" name="Text 22"/>
          <p:cNvSpPr txBox="1"/>
          <p:nvPr/>
        </p:nvSpPr>
        <p:spPr>
          <a:xfrm>
            <a:off x="8475065" y="3749955"/>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8" name="Text 23"/>
          <p:cNvSpPr txBox="1"/>
          <p:nvPr/>
        </p:nvSpPr>
        <p:spPr>
          <a:xfrm>
            <a:off x="10846206" y="3781959"/>
            <a:ext cx="88829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Tutor history</a:t>
            </a:r>
            <a:endParaRPr lang="en-US" sz="1000" dirty="0"/>
          </a:p>
        </p:txBody>
      </p:sp>
      <p:sp>
        <p:nvSpPr>
          <p:cNvPr id="29" name="Text 24"/>
          <p:cNvSpPr txBox="1"/>
          <p:nvPr/>
        </p:nvSpPr>
        <p:spPr>
          <a:xfrm>
            <a:off x="8255609" y="4152291"/>
            <a:ext cx="3478886" cy="212750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 Module 3:</a:t>
            </a:r>
            <a:r>
              <a:rPr lang="en-US" sz="1400" dirty="0">
                <a:solidFill>
                  <a:srgbClr val="E8E8F0"/>
                </a:solidFill>
                <a:latin typeface="Arial" pitchFamily="34" charset="0"/>
                <a:ea typeface="Arial" pitchFamily="34" charset="-122"/>
                <a:cs typeface="Arial" pitchFamily="34" charset="-120"/>
              </a:rPr>
              <a:t> Layla asks what happens to funds already sent to a sanctioned USDT address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Cited answer:</a:t>
            </a:r>
            <a:r>
              <a:rPr lang="en-US" sz="1400" dirty="0">
                <a:solidFill>
                  <a:srgbClr val="E8E8F0"/>
                </a:solidFill>
                <a:latin typeface="Arial" pitchFamily="34" charset="0"/>
                <a:ea typeface="Arial" pitchFamily="34" charset="-122"/>
                <a:cs typeface="Arial" pitchFamily="34" charset="-120"/>
              </a:rPr>
              <a:t> grounded in USDT-201 Lesson 3.1 and the FATF Recommendation 15 summary, at her L2 depth</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 learning aid:</a:t>
            </a:r>
            <a:r>
              <a:rPr lang="en-US" sz="1400" dirty="0">
                <a:solidFill>
                  <a:srgbClr val="E8E8F0"/>
                </a:solidFill>
                <a:latin typeface="Arial" pitchFamily="34" charset="0"/>
                <a:ea typeface="Arial" pitchFamily="34" charset="-122"/>
                <a:cs typeface="Arial" pitchFamily="34" charset="-120"/>
              </a:rPr>
              <a:t> not legal or compliance advice</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80483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56709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7 OF 9 · PASS &amp; PATHWAY</a:t>
            </a:r>
            <a:endParaRPr lang="en-US" sz="900" dirty="0"/>
          </a:p>
        </p:txBody>
      </p:sp>
      <p:sp>
        <p:nvSpPr>
          <p:cNvPr id="5" name="Shape 2"/>
          <p:cNvSpPr/>
          <p:nvPr/>
        </p:nvSpPr>
        <p:spPr>
          <a:xfrm>
            <a:off x="4426626" y="470916"/>
            <a:ext cx="82296" cy="82296"/>
          </a:xfrm>
          <a:prstGeom prst="ellipse">
            <a:avLst/>
          </a:prstGeom>
          <a:solidFill>
            <a:srgbClr val="9B7A2E"/>
          </a:solidFill>
          <a:ln/>
        </p:spPr>
      </p:sp>
      <p:sp>
        <p:nvSpPr>
          <p:cNvPr id="6" name="Shape 3"/>
          <p:cNvSpPr/>
          <p:nvPr/>
        </p:nvSpPr>
        <p:spPr>
          <a:xfrm>
            <a:off x="4568358" y="470916"/>
            <a:ext cx="82296" cy="82296"/>
          </a:xfrm>
          <a:prstGeom prst="ellipse">
            <a:avLst/>
          </a:prstGeom>
          <a:solidFill>
            <a:srgbClr val="9B7A2E"/>
          </a:solidFill>
          <a:ln/>
        </p:spPr>
      </p:sp>
      <p:sp>
        <p:nvSpPr>
          <p:cNvPr id="7" name="Shape 4"/>
          <p:cNvSpPr/>
          <p:nvPr/>
        </p:nvSpPr>
        <p:spPr>
          <a:xfrm>
            <a:off x="4710090" y="470916"/>
            <a:ext cx="82296" cy="82296"/>
          </a:xfrm>
          <a:prstGeom prst="ellipse">
            <a:avLst/>
          </a:prstGeom>
          <a:solidFill>
            <a:srgbClr val="9B7A2E"/>
          </a:solidFill>
          <a:ln/>
        </p:spPr>
      </p:sp>
      <p:sp>
        <p:nvSpPr>
          <p:cNvPr id="8" name="Shape 5"/>
          <p:cNvSpPr/>
          <p:nvPr/>
        </p:nvSpPr>
        <p:spPr>
          <a:xfrm>
            <a:off x="4851822" y="470916"/>
            <a:ext cx="82296" cy="82296"/>
          </a:xfrm>
          <a:prstGeom prst="ellipse">
            <a:avLst/>
          </a:prstGeom>
          <a:solidFill>
            <a:srgbClr val="9B7A2E"/>
          </a:solidFill>
          <a:ln/>
        </p:spPr>
      </p:sp>
      <p:sp>
        <p:nvSpPr>
          <p:cNvPr id="9" name="Shape 6"/>
          <p:cNvSpPr/>
          <p:nvPr/>
        </p:nvSpPr>
        <p:spPr>
          <a:xfrm>
            <a:off x="4993554" y="470916"/>
            <a:ext cx="82296" cy="82296"/>
          </a:xfrm>
          <a:prstGeom prst="ellipse">
            <a:avLst/>
          </a:prstGeom>
          <a:solidFill>
            <a:srgbClr val="9B7A2E"/>
          </a:solidFill>
          <a:ln/>
        </p:spPr>
      </p:sp>
      <p:sp>
        <p:nvSpPr>
          <p:cNvPr id="10" name="Shape 7"/>
          <p:cNvSpPr/>
          <p:nvPr/>
        </p:nvSpPr>
        <p:spPr>
          <a:xfrm>
            <a:off x="5135286" y="470916"/>
            <a:ext cx="82296" cy="82296"/>
          </a:xfrm>
          <a:prstGeom prst="ellipse">
            <a:avLst/>
          </a:prstGeom>
          <a:solidFill>
            <a:srgbClr val="9B7A2E"/>
          </a:solidFill>
          <a:ln/>
        </p:spPr>
      </p:sp>
      <p:sp>
        <p:nvSpPr>
          <p:cNvPr id="11" name="Shape 8"/>
          <p:cNvSpPr/>
          <p:nvPr/>
        </p:nvSpPr>
        <p:spPr>
          <a:xfrm>
            <a:off x="5277018" y="470916"/>
            <a:ext cx="82296" cy="82296"/>
          </a:xfrm>
          <a:prstGeom prst="ellipse">
            <a:avLst/>
          </a:prstGeom>
          <a:solidFill>
            <a:srgbClr val="F0C96B"/>
          </a:solidFill>
          <a:ln/>
        </p:spPr>
      </p:sp>
      <p:sp>
        <p:nvSpPr>
          <p:cNvPr id="12" name="Shape 9"/>
          <p:cNvSpPr/>
          <p:nvPr/>
        </p:nvSpPr>
        <p:spPr>
          <a:xfrm>
            <a:off x="5418750" y="470916"/>
            <a:ext cx="82296" cy="82296"/>
          </a:xfrm>
          <a:prstGeom prst="ellipse">
            <a:avLst/>
          </a:prstGeom>
          <a:solidFill>
            <a:srgbClr val="34344A"/>
          </a:solidFill>
          <a:ln/>
        </p:spPr>
      </p:sp>
      <p:sp>
        <p:nvSpPr>
          <p:cNvPr id="13" name="Shape 10"/>
          <p:cNvSpPr/>
          <p:nvPr/>
        </p:nvSpPr>
        <p:spPr>
          <a:xfrm>
            <a:off x="5560482" y="470916"/>
            <a:ext cx="82296" cy="82296"/>
          </a:xfrm>
          <a:prstGeom prst="ellipse">
            <a:avLst/>
          </a:prstGeom>
          <a:solidFill>
            <a:srgbClr val="34344A"/>
          </a:solidFill>
          <a:ln/>
        </p:spPr>
      </p:sp>
      <p:sp>
        <p:nvSpPr>
          <p:cNvPr id="14" name="Shape 11"/>
          <p:cNvSpPr/>
          <p:nvPr/>
        </p:nvSpPr>
        <p:spPr>
          <a:xfrm>
            <a:off x="5811942"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967390"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814153" y="384048"/>
            <a:ext cx="2920342"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Illustrative mock data</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Pass, then watch the pathway fill up</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platform grades each course; the academy reads those grades to track the whole pathway</a:t>
            </a:r>
            <a:endParaRPr lang="en-US" sz="1600" dirty="0"/>
          </a:p>
        </p:txBody>
      </p:sp>
      <p:pic>
        <p:nvPicPr>
          <p:cNvPr id="19" name="Image 0" descr="/tmp/claude-0/-home-user-Chronopoli/d7458f57-86b2-5920-914e-8615357fee63/scratchpad/deck-master/framed/progress.png">    </p:cNvPr>
          <p:cNvPicPr>
            <a:picLocks noChangeAspect="1"/>
          </p:cNvPicPr>
          <p:nvPr/>
        </p:nvPicPr>
        <p:blipFill>
          <a:blip r:embed="rId2"/>
          <a:stretch>
            <a:fillRect/>
          </a:stretch>
        </p:blipFill>
        <p:spPr>
          <a:xfrm>
            <a:off x="1040922" y="1763603"/>
            <a:ext cx="5474819" cy="3612430"/>
          </a:xfrm>
          <a:prstGeom prst="rect">
            <a:avLst/>
          </a:prstGeom>
        </p:spPr>
      </p:pic>
      <p:sp>
        <p:nvSpPr>
          <p:cNvPr id="20" name="Shape 16"/>
          <p:cNvSpPr/>
          <p:nvPr/>
        </p:nvSpPr>
        <p:spPr>
          <a:xfrm>
            <a:off x="1185679" y="5368436"/>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277119" y="5441588"/>
            <a:ext cx="73152" cy="73152"/>
          </a:xfrm>
          <a:prstGeom prst="ellipse">
            <a:avLst/>
          </a:prstGeom>
          <a:solidFill>
            <a:srgbClr val="34D399"/>
          </a:solidFill>
          <a:ln/>
        </p:spPr>
      </p:sp>
      <p:sp>
        <p:nvSpPr>
          <p:cNvPr id="22" name="Text 18"/>
          <p:cNvSpPr txBox="1"/>
          <p:nvPr/>
        </p:nvSpPr>
        <p:spPr>
          <a:xfrm>
            <a:off x="1405135" y="5368436"/>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3097791" y="5400440"/>
            <a:ext cx="327319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Progress page</a:t>
            </a:r>
            <a:endParaRPr lang="en-US" sz="1000" dirty="0"/>
          </a:p>
        </p:txBody>
      </p:sp>
      <p:sp>
        <p:nvSpPr>
          <p:cNvPr id="24" name="Text 20"/>
          <p:cNvSpPr txBox="1"/>
          <p:nvPr/>
        </p:nvSpPr>
        <p:spPr>
          <a:xfrm>
            <a:off x="1185679" y="5789060"/>
            <a:ext cx="518530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USDT-201 complete:</a:t>
            </a:r>
            <a:r>
              <a:rPr lang="en-US" sz="1400" dirty="0">
                <a:solidFill>
                  <a:srgbClr val="E8E8F0"/>
                </a:solidFill>
                <a:latin typeface="Arial" pitchFamily="34" charset="0"/>
                <a:ea typeface="Arial" pitchFamily="34" charset="-122"/>
                <a:cs typeface="Arial" pitchFamily="34" charset="-120"/>
              </a:rPr>
              <a:t> 85% against a 70% pass mark (weights: knowledge checks 40%, capstone 60%)</a:t>
            </a:r>
            <a:endParaRPr lang="en-US" sz="1400" dirty="0"/>
          </a:p>
        </p:txBody>
      </p:sp>
      <p:pic>
        <p:nvPicPr>
          <p:cNvPr id="25" name="Image 1" descr="/tmp/claude-0/-home-user-Chronopoli/d7458f57-86b2-5920-914e-8615357fee63/scratchpad/deck-master/framed/pathway.png">    </p:cNvPr>
          <p:cNvPicPr>
            <a:picLocks noChangeAspect="1"/>
          </p:cNvPicPr>
          <p:nvPr/>
        </p:nvPicPr>
        <p:blipFill>
          <a:blip r:embed="rId3"/>
          <a:stretch>
            <a:fillRect/>
          </a:stretch>
        </p:blipFill>
        <p:spPr>
          <a:xfrm>
            <a:off x="6618154" y="1789768"/>
            <a:ext cx="4506454" cy="3560098"/>
          </a:xfrm>
          <a:prstGeom prst="rect">
            <a:avLst/>
          </a:prstGeom>
        </p:spPr>
      </p:pic>
      <p:sp>
        <p:nvSpPr>
          <p:cNvPr id="26" name="Shape 21"/>
          <p:cNvSpPr/>
          <p:nvPr/>
        </p:nvSpPr>
        <p:spPr>
          <a:xfrm>
            <a:off x="6736744" y="5368436"/>
            <a:ext cx="1802384"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828184" y="5441588"/>
            <a:ext cx="73152" cy="73152"/>
          </a:xfrm>
          <a:prstGeom prst="ellipse">
            <a:avLst/>
          </a:prstGeom>
          <a:solidFill>
            <a:srgbClr val="34D399"/>
          </a:solidFill>
          <a:ln/>
        </p:spPr>
      </p:sp>
      <p:sp>
        <p:nvSpPr>
          <p:cNvPr id="28" name="Text 23"/>
          <p:cNvSpPr txBox="1"/>
          <p:nvPr/>
        </p:nvSpPr>
        <p:spPr>
          <a:xfrm>
            <a:off x="6956200" y="5368436"/>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9" name="Text 24"/>
          <p:cNvSpPr txBox="1"/>
          <p:nvPr/>
        </p:nvSpPr>
        <p:spPr>
          <a:xfrm>
            <a:off x="8648856" y="5400440"/>
            <a:ext cx="235716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Pathway page</a:t>
            </a:r>
            <a:endParaRPr lang="en-US" sz="1000" dirty="0"/>
          </a:p>
        </p:txBody>
      </p:sp>
      <p:sp>
        <p:nvSpPr>
          <p:cNvPr id="30" name="Text 25"/>
          <p:cNvSpPr txBox="1"/>
          <p:nvPr/>
        </p:nvSpPr>
        <p:spPr>
          <a:xfrm>
            <a:off x="6736744" y="5789060"/>
            <a:ext cx="4269272"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Pathway:</a:t>
            </a:r>
            <a:r>
              <a:rPr lang="en-US" sz="1400" dirty="0">
                <a:solidFill>
                  <a:srgbClr val="E8E8F0"/>
                </a:solidFill>
                <a:latin typeface="Arial" pitchFamily="34" charset="0"/>
                <a:ea typeface="Arial" pitchFamily="34" charset="-122"/>
                <a:cs typeface="Arial" pitchFamily="34" charset="-120"/>
              </a:rPr>
              <a:t> four required courses in four districts, all passed; no parallel grade book</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60925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37151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8 OF 9 · BADGE TO JOB</a:t>
            </a:r>
            <a:endParaRPr lang="en-US" sz="900" dirty="0"/>
          </a:p>
        </p:txBody>
      </p:sp>
      <p:sp>
        <p:nvSpPr>
          <p:cNvPr id="5" name="Shape 2"/>
          <p:cNvSpPr/>
          <p:nvPr/>
        </p:nvSpPr>
        <p:spPr>
          <a:xfrm>
            <a:off x="4231051" y="470916"/>
            <a:ext cx="82296" cy="82296"/>
          </a:xfrm>
          <a:prstGeom prst="ellipse">
            <a:avLst/>
          </a:prstGeom>
          <a:solidFill>
            <a:srgbClr val="9B7A2E"/>
          </a:solidFill>
          <a:ln/>
        </p:spPr>
      </p:sp>
      <p:sp>
        <p:nvSpPr>
          <p:cNvPr id="6" name="Shape 3"/>
          <p:cNvSpPr/>
          <p:nvPr/>
        </p:nvSpPr>
        <p:spPr>
          <a:xfrm>
            <a:off x="4372783" y="470916"/>
            <a:ext cx="82296" cy="82296"/>
          </a:xfrm>
          <a:prstGeom prst="ellipse">
            <a:avLst/>
          </a:prstGeom>
          <a:solidFill>
            <a:srgbClr val="9B7A2E"/>
          </a:solidFill>
          <a:ln/>
        </p:spPr>
      </p:sp>
      <p:sp>
        <p:nvSpPr>
          <p:cNvPr id="7" name="Shape 4"/>
          <p:cNvSpPr/>
          <p:nvPr/>
        </p:nvSpPr>
        <p:spPr>
          <a:xfrm>
            <a:off x="4514515" y="470916"/>
            <a:ext cx="82296" cy="82296"/>
          </a:xfrm>
          <a:prstGeom prst="ellipse">
            <a:avLst/>
          </a:prstGeom>
          <a:solidFill>
            <a:srgbClr val="9B7A2E"/>
          </a:solidFill>
          <a:ln/>
        </p:spPr>
      </p:sp>
      <p:sp>
        <p:nvSpPr>
          <p:cNvPr id="8" name="Shape 5"/>
          <p:cNvSpPr/>
          <p:nvPr/>
        </p:nvSpPr>
        <p:spPr>
          <a:xfrm>
            <a:off x="4656247" y="470916"/>
            <a:ext cx="82296" cy="82296"/>
          </a:xfrm>
          <a:prstGeom prst="ellipse">
            <a:avLst/>
          </a:prstGeom>
          <a:solidFill>
            <a:srgbClr val="9B7A2E"/>
          </a:solidFill>
          <a:ln/>
        </p:spPr>
      </p:sp>
      <p:sp>
        <p:nvSpPr>
          <p:cNvPr id="9" name="Shape 6"/>
          <p:cNvSpPr/>
          <p:nvPr/>
        </p:nvSpPr>
        <p:spPr>
          <a:xfrm>
            <a:off x="4797979" y="470916"/>
            <a:ext cx="82296" cy="82296"/>
          </a:xfrm>
          <a:prstGeom prst="ellipse">
            <a:avLst/>
          </a:prstGeom>
          <a:solidFill>
            <a:srgbClr val="9B7A2E"/>
          </a:solidFill>
          <a:ln/>
        </p:spPr>
      </p:sp>
      <p:sp>
        <p:nvSpPr>
          <p:cNvPr id="10" name="Shape 7"/>
          <p:cNvSpPr/>
          <p:nvPr/>
        </p:nvSpPr>
        <p:spPr>
          <a:xfrm>
            <a:off x="4939711" y="470916"/>
            <a:ext cx="82296" cy="82296"/>
          </a:xfrm>
          <a:prstGeom prst="ellipse">
            <a:avLst/>
          </a:prstGeom>
          <a:solidFill>
            <a:srgbClr val="9B7A2E"/>
          </a:solidFill>
          <a:ln/>
        </p:spPr>
      </p:sp>
      <p:sp>
        <p:nvSpPr>
          <p:cNvPr id="11" name="Shape 8"/>
          <p:cNvSpPr/>
          <p:nvPr/>
        </p:nvSpPr>
        <p:spPr>
          <a:xfrm>
            <a:off x="5081443" y="470916"/>
            <a:ext cx="82296" cy="82296"/>
          </a:xfrm>
          <a:prstGeom prst="ellipse">
            <a:avLst/>
          </a:prstGeom>
          <a:solidFill>
            <a:srgbClr val="9B7A2E"/>
          </a:solidFill>
          <a:ln/>
        </p:spPr>
      </p:sp>
      <p:sp>
        <p:nvSpPr>
          <p:cNvPr id="12" name="Shape 9"/>
          <p:cNvSpPr/>
          <p:nvPr/>
        </p:nvSpPr>
        <p:spPr>
          <a:xfrm>
            <a:off x="5223175" y="470916"/>
            <a:ext cx="82296" cy="82296"/>
          </a:xfrm>
          <a:prstGeom prst="ellipse">
            <a:avLst/>
          </a:prstGeom>
          <a:solidFill>
            <a:srgbClr val="F0C96B"/>
          </a:solidFill>
          <a:ln/>
        </p:spPr>
      </p:sp>
      <p:sp>
        <p:nvSpPr>
          <p:cNvPr id="13" name="Shape 10"/>
          <p:cNvSpPr/>
          <p:nvPr/>
        </p:nvSpPr>
        <p:spPr>
          <a:xfrm>
            <a:off x="5364907" y="470916"/>
            <a:ext cx="82296" cy="82296"/>
          </a:xfrm>
          <a:prstGeom prst="ellipse">
            <a:avLst/>
          </a:prstGeom>
          <a:solidFill>
            <a:srgbClr val="34344A"/>
          </a:solidFill>
          <a:ln/>
        </p:spPr>
      </p:sp>
      <p:sp>
        <p:nvSpPr>
          <p:cNvPr id="14" name="Shape 11"/>
          <p:cNvSpPr/>
          <p:nvPr/>
        </p:nvSpPr>
        <p:spPr>
          <a:xfrm>
            <a:off x="5616367" y="384048"/>
            <a:ext cx="2727891"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5771815"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6" name="Text 13"/>
          <p:cNvSpPr txBox="1"/>
          <p:nvPr/>
        </p:nvSpPr>
        <p:spPr>
          <a:xfrm>
            <a:off x="8618578" y="384048"/>
            <a:ext cx="311591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 Fictitious roles</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credential to career</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Finishing a pathway issues a verifiable Open Badge, and partners can require that badge for open roles</a:t>
            </a:r>
            <a:endParaRPr lang="en-US" sz="1600" dirty="0"/>
          </a:p>
        </p:txBody>
      </p:sp>
      <p:pic>
        <p:nvPicPr>
          <p:cNvPr id="19" name="Image 0" descr="/tmp/claude-0/-home-user-Chronopoli/d7458f57-86b2-5920-914e-8615357fee63/scratchpad/deck-master/framed/badge.png">    </p:cNvPr>
          <p:cNvPicPr>
            <a:picLocks noChangeAspect="1"/>
          </p:cNvPicPr>
          <p:nvPr/>
        </p:nvPicPr>
        <p:blipFill>
          <a:blip r:embed="rId2"/>
          <a:stretch>
            <a:fillRect/>
          </a:stretch>
        </p:blipFill>
        <p:spPr>
          <a:xfrm>
            <a:off x="359794" y="1928150"/>
            <a:ext cx="3711416" cy="3911223"/>
          </a:xfrm>
          <a:prstGeom prst="rect">
            <a:avLst/>
          </a:prstGeom>
        </p:spPr>
      </p:pic>
      <p:sp>
        <p:nvSpPr>
          <p:cNvPr id="20" name="Shape 16"/>
          <p:cNvSpPr/>
          <p:nvPr/>
        </p:nvSpPr>
        <p:spPr>
          <a:xfrm>
            <a:off x="457200" y="5879127"/>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548640" y="5952279"/>
            <a:ext cx="73152" cy="73152"/>
          </a:xfrm>
          <a:prstGeom prst="ellipse">
            <a:avLst/>
          </a:prstGeom>
          <a:solidFill>
            <a:srgbClr val="34D399"/>
          </a:solidFill>
          <a:ln/>
        </p:spPr>
      </p:sp>
      <p:sp>
        <p:nvSpPr>
          <p:cNvPr id="22" name="Text 18"/>
          <p:cNvSpPr txBox="1"/>
          <p:nvPr/>
        </p:nvSpPr>
        <p:spPr>
          <a:xfrm>
            <a:off x="676656" y="5879127"/>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2369312" y="5911131"/>
            <a:ext cx="160449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CSCS badge</a:t>
            </a:r>
            <a:endParaRPr lang="en-US" sz="1000" dirty="0"/>
          </a:p>
        </p:txBody>
      </p:sp>
      <p:pic>
        <p:nvPicPr>
          <p:cNvPr id="24" name="Image 1" descr="/tmp/claude-0/-home-user-Chronopoli/d7458f57-86b2-5920-914e-8615357fee63/scratchpad/deck-master/framed/jobs.png">    </p:cNvPr>
          <p:cNvPicPr>
            <a:picLocks noChangeAspect="1"/>
          </p:cNvPicPr>
          <p:nvPr/>
        </p:nvPicPr>
        <p:blipFill>
          <a:blip r:embed="rId3"/>
          <a:stretch>
            <a:fillRect/>
          </a:stretch>
        </p:blipFill>
        <p:spPr>
          <a:xfrm>
            <a:off x="4214718" y="1900710"/>
            <a:ext cx="4672824" cy="3966104"/>
          </a:xfrm>
          <a:prstGeom prst="rect">
            <a:avLst/>
          </a:prstGeom>
        </p:spPr>
      </p:pic>
      <p:sp>
        <p:nvSpPr>
          <p:cNvPr id="25" name="Shape 20"/>
          <p:cNvSpPr/>
          <p:nvPr/>
        </p:nvSpPr>
        <p:spPr>
          <a:xfrm>
            <a:off x="4339564" y="5879127"/>
            <a:ext cx="1802384" cy="219456"/>
          </a:xfrm>
          <a:prstGeom prst="roundRect">
            <a:avLst>
              <a:gd name="adj" fmla="val 50000"/>
            </a:avLst>
          </a:prstGeom>
          <a:solidFill>
            <a:srgbClr val="1B1B27"/>
          </a:solidFill>
          <a:ln w="9525">
            <a:solidFill>
              <a:srgbClr val="3A3A50"/>
            </a:solidFill>
            <a:prstDash val="solid"/>
          </a:ln>
        </p:spPr>
      </p:sp>
      <p:sp>
        <p:nvSpPr>
          <p:cNvPr id="26" name="Shape 21"/>
          <p:cNvSpPr/>
          <p:nvPr/>
        </p:nvSpPr>
        <p:spPr>
          <a:xfrm>
            <a:off x="4431004" y="5952279"/>
            <a:ext cx="73152" cy="73152"/>
          </a:xfrm>
          <a:prstGeom prst="ellipse">
            <a:avLst/>
          </a:prstGeom>
          <a:solidFill>
            <a:srgbClr val="34D399"/>
          </a:solidFill>
          <a:ln/>
        </p:spPr>
      </p:sp>
      <p:sp>
        <p:nvSpPr>
          <p:cNvPr id="27" name="Text 22"/>
          <p:cNvSpPr txBox="1"/>
          <p:nvPr/>
        </p:nvSpPr>
        <p:spPr>
          <a:xfrm>
            <a:off x="4559020" y="5879127"/>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8" name="Text 23"/>
          <p:cNvSpPr txBox="1"/>
          <p:nvPr/>
        </p:nvSpPr>
        <p:spPr>
          <a:xfrm>
            <a:off x="6251676" y="5911131"/>
            <a:ext cx="251101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job board</a:t>
            </a:r>
            <a:endParaRPr lang="en-US" sz="1000" dirty="0"/>
          </a:p>
        </p:txBody>
      </p:sp>
      <p:sp>
        <p:nvSpPr>
          <p:cNvPr id="29" name="Text 24"/>
          <p:cNvSpPr txBox="1"/>
          <p:nvPr/>
        </p:nvSpPr>
        <p:spPr>
          <a:xfrm>
            <a:off x="9174175" y="2595982"/>
            <a:ext cx="2560320" cy="263042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CSCS badge:</a:t>
            </a:r>
            <a:r>
              <a:rPr lang="en-US" sz="1400" dirty="0">
                <a:solidFill>
                  <a:srgbClr val="E8E8F0"/>
                </a:solidFill>
                <a:latin typeface="Arial" pitchFamily="34" charset="0"/>
                <a:ea typeface="Arial" pitchFamily="34" charset="-122"/>
                <a:cs typeface="Arial" pitchFamily="34" charset="-120"/>
              </a:rPr>
              <a:t> Open Badges 2.0, readable by badge wallets and HR systems</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Roles can require a badge:</a:t>
            </a:r>
            <a:r>
              <a:rPr lang="en-US" sz="1400" dirty="0">
                <a:solidFill>
                  <a:srgbClr val="E8E8F0"/>
                </a:solidFill>
                <a:latin typeface="Arial" pitchFamily="34" charset="0"/>
                <a:ea typeface="Arial" pitchFamily="34" charset="-122"/>
                <a:cs typeface="Arial" pitchFamily="34" charset="-120"/>
              </a:rPr>
              <a:t> the Stablecoin Compliance Analyst role (Dubai, hybrid) asks for CSCS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Consent first:</a:t>
            </a:r>
            <a:r>
              <a:rPr lang="en-US" sz="1400" dirty="0">
                <a:solidFill>
                  <a:srgbClr val="E8E8F0"/>
                </a:solidFill>
                <a:latin typeface="Arial" pitchFamily="34" charset="0"/>
                <a:ea typeface="Arial" pitchFamily="34" charset="-122"/>
                <a:cs typeface="Arial" pitchFamily="34" charset="-120"/>
              </a:rPr>
              <a:t> learners opt in before partners see their badges (required before launch)</a:t>
            </a:r>
            <a:endParaRPr lang="en-US" sz="1400" dirty="0"/>
          </a:p>
        </p:txBody>
      </p:sp>
      <p:sp>
        <p:nvSpPr>
          <p:cNvPr id="30" name="Text 25"/>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1"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02193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78419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 TOUR · STEP 9 OF 9 · COMMUNITY &amp; VIDEO</a:t>
            </a:r>
            <a:endParaRPr lang="en-US" sz="900" dirty="0"/>
          </a:p>
        </p:txBody>
      </p:sp>
      <p:sp>
        <p:nvSpPr>
          <p:cNvPr id="5" name="Shape 2"/>
          <p:cNvSpPr/>
          <p:nvPr/>
        </p:nvSpPr>
        <p:spPr>
          <a:xfrm>
            <a:off x="4643727" y="470916"/>
            <a:ext cx="82296" cy="82296"/>
          </a:xfrm>
          <a:prstGeom prst="ellipse">
            <a:avLst/>
          </a:prstGeom>
          <a:solidFill>
            <a:srgbClr val="9B7A2E"/>
          </a:solidFill>
          <a:ln/>
        </p:spPr>
      </p:sp>
      <p:sp>
        <p:nvSpPr>
          <p:cNvPr id="6" name="Shape 3"/>
          <p:cNvSpPr/>
          <p:nvPr/>
        </p:nvSpPr>
        <p:spPr>
          <a:xfrm>
            <a:off x="4785459" y="470916"/>
            <a:ext cx="82296" cy="82296"/>
          </a:xfrm>
          <a:prstGeom prst="ellipse">
            <a:avLst/>
          </a:prstGeom>
          <a:solidFill>
            <a:srgbClr val="9B7A2E"/>
          </a:solidFill>
          <a:ln/>
        </p:spPr>
      </p:sp>
      <p:sp>
        <p:nvSpPr>
          <p:cNvPr id="7" name="Shape 4"/>
          <p:cNvSpPr/>
          <p:nvPr/>
        </p:nvSpPr>
        <p:spPr>
          <a:xfrm>
            <a:off x="4927191" y="470916"/>
            <a:ext cx="82296" cy="82296"/>
          </a:xfrm>
          <a:prstGeom prst="ellipse">
            <a:avLst/>
          </a:prstGeom>
          <a:solidFill>
            <a:srgbClr val="9B7A2E"/>
          </a:solidFill>
          <a:ln/>
        </p:spPr>
      </p:sp>
      <p:sp>
        <p:nvSpPr>
          <p:cNvPr id="8" name="Shape 5"/>
          <p:cNvSpPr/>
          <p:nvPr/>
        </p:nvSpPr>
        <p:spPr>
          <a:xfrm>
            <a:off x="5068923" y="470916"/>
            <a:ext cx="82296" cy="82296"/>
          </a:xfrm>
          <a:prstGeom prst="ellipse">
            <a:avLst/>
          </a:prstGeom>
          <a:solidFill>
            <a:srgbClr val="9B7A2E"/>
          </a:solidFill>
          <a:ln/>
        </p:spPr>
      </p:sp>
      <p:sp>
        <p:nvSpPr>
          <p:cNvPr id="9" name="Shape 6"/>
          <p:cNvSpPr/>
          <p:nvPr/>
        </p:nvSpPr>
        <p:spPr>
          <a:xfrm>
            <a:off x="5210655" y="470916"/>
            <a:ext cx="82296" cy="82296"/>
          </a:xfrm>
          <a:prstGeom prst="ellipse">
            <a:avLst/>
          </a:prstGeom>
          <a:solidFill>
            <a:srgbClr val="9B7A2E"/>
          </a:solidFill>
          <a:ln/>
        </p:spPr>
      </p:sp>
      <p:sp>
        <p:nvSpPr>
          <p:cNvPr id="10" name="Shape 7"/>
          <p:cNvSpPr/>
          <p:nvPr/>
        </p:nvSpPr>
        <p:spPr>
          <a:xfrm>
            <a:off x="5352387" y="470916"/>
            <a:ext cx="82296" cy="82296"/>
          </a:xfrm>
          <a:prstGeom prst="ellipse">
            <a:avLst/>
          </a:prstGeom>
          <a:solidFill>
            <a:srgbClr val="9B7A2E"/>
          </a:solidFill>
          <a:ln/>
        </p:spPr>
      </p:sp>
      <p:sp>
        <p:nvSpPr>
          <p:cNvPr id="11" name="Shape 8"/>
          <p:cNvSpPr/>
          <p:nvPr/>
        </p:nvSpPr>
        <p:spPr>
          <a:xfrm>
            <a:off x="5494119" y="470916"/>
            <a:ext cx="82296" cy="82296"/>
          </a:xfrm>
          <a:prstGeom prst="ellipse">
            <a:avLst/>
          </a:prstGeom>
          <a:solidFill>
            <a:srgbClr val="9B7A2E"/>
          </a:solidFill>
          <a:ln/>
        </p:spPr>
      </p:sp>
      <p:sp>
        <p:nvSpPr>
          <p:cNvPr id="12" name="Shape 9"/>
          <p:cNvSpPr/>
          <p:nvPr/>
        </p:nvSpPr>
        <p:spPr>
          <a:xfrm>
            <a:off x="5635851" y="470916"/>
            <a:ext cx="82296" cy="82296"/>
          </a:xfrm>
          <a:prstGeom prst="ellipse">
            <a:avLst/>
          </a:prstGeom>
          <a:solidFill>
            <a:srgbClr val="9B7A2E"/>
          </a:solidFill>
          <a:ln/>
        </p:spPr>
      </p:sp>
      <p:sp>
        <p:nvSpPr>
          <p:cNvPr id="13" name="Shape 10"/>
          <p:cNvSpPr/>
          <p:nvPr/>
        </p:nvSpPr>
        <p:spPr>
          <a:xfrm>
            <a:off x="5777583" y="470916"/>
            <a:ext cx="82296" cy="82296"/>
          </a:xfrm>
          <a:prstGeom prst="ellipse">
            <a:avLst/>
          </a:prstGeom>
          <a:solidFill>
            <a:srgbClr val="F0C96B"/>
          </a:solidFill>
          <a:ln/>
        </p:spPr>
      </p:sp>
      <p:sp>
        <p:nvSpPr>
          <p:cNvPr id="14" name="Shape 11"/>
          <p:cNvSpPr/>
          <p:nvPr/>
        </p:nvSpPr>
        <p:spPr>
          <a:xfrm>
            <a:off x="6029043" y="384048"/>
            <a:ext cx="1505895" cy="256032"/>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6184491"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6" name="Text 13"/>
          <p:cNvSpPr txBox="1"/>
          <p:nvPr/>
        </p:nvSpPr>
        <p:spPr>
          <a:xfrm>
            <a:off x="7809258" y="384048"/>
            <a:ext cx="3925237"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during USDT-201 · Illustrative mock content</a:t>
            </a:r>
            <a:endParaRPr lang="en-US" sz="1050" dirty="0"/>
          </a:p>
        </p:txBody>
      </p:sp>
      <p:sp>
        <p:nvSpPr>
          <p:cNvPr id="17" name="Text 14"/>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Community and video, in district colours</a:t>
            </a:r>
            <a:endParaRPr lang="en-US" sz="3600" dirty="0"/>
          </a:p>
        </p:txBody>
      </p:sp>
      <p:sp>
        <p:nvSpPr>
          <p:cNvPr id="18" name="Text 15"/>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District forums and recorded lectures: both real, both running on our demo system</a:t>
            </a:r>
            <a:endParaRPr lang="en-US" sz="1600" dirty="0"/>
          </a:p>
        </p:txBody>
      </p:sp>
      <p:pic>
        <p:nvPicPr>
          <p:cNvPr id="19" name="Image 0" descr="/tmp/claude-0/-home-user-Chronopoli/d7458f57-86b2-5920-914e-8615357fee63/scratchpad/deck-master/framed/discourse_topic.png">    </p:cNvPr>
          <p:cNvPicPr>
            <a:picLocks noChangeAspect="1"/>
          </p:cNvPicPr>
          <p:nvPr/>
        </p:nvPicPr>
        <p:blipFill>
          <a:blip r:embed="rId2"/>
          <a:stretch>
            <a:fillRect/>
          </a:stretch>
        </p:blipFill>
        <p:spPr>
          <a:xfrm>
            <a:off x="1376628" y="1799174"/>
            <a:ext cx="4119672" cy="3327928"/>
          </a:xfrm>
          <a:prstGeom prst="rect">
            <a:avLst/>
          </a:prstGeom>
        </p:spPr>
      </p:pic>
      <p:sp>
        <p:nvSpPr>
          <p:cNvPr id="20" name="Shape 16"/>
          <p:cNvSpPr/>
          <p:nvPr/>
        </p:nvSpPr>
        <p:spPr>
          <a:xfrm>
            <a:off x="1485554" y="5155336"/>
            <a:ext cx="1802384" cy="219456"/>
          </a:xfrm>
          <a:prstGeom prst="roundRect">
            <a:avLst>
              <a:gd name="adj" fmla="val 50000"/>
            </a:avLst>
          </a:prstGeom>
          <a:solidFill>
            <a:srgbClr val="1B1B27"/>
          </a:solidFill>
          <a:ln w="9525">
            <a:solidFill>
              <a:srgbClr val="3A3A50"/>
            </a:solidFill>
            <a:prstDash val="solid"/>
          </a:ln>
        </p:spPr>
      </p:sp>
      <p:sp>
        <p:nvSpPr>
          <p:cNvPr id="21" name="Shape 17"/>
          <p:cNvSpPr/>
          <p:nvPr/>
        </p:nvSpPr>
        <p:spPr>
          <a:xfrm>
            <a:off x="1576994" y="5228488"/>
            <a:ext cx="73152" cy="73152"/>
          </a:xfrm>
          <a:prstGeom prst="ellipse">
            <a:avLst/>
          </a:prstGeom>
          <a:solidFill>
            <a:srgbClr val="34D399"/>
          </a:solidFill>
          <a:ln/>
        </p:spPr>
      </p:sp>
      <p:sp>
        <p:nvSpPr>
          <p:cNvPr id="22" name="Text 18"/>
          <p:cNvSpPr txBox="1"/>
          <p:nvPr/>
        </p:nvSpPr>
        <p:spPr>
          <a:xfrm>
            <a:off x="1705010" y="5155336"/>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3" name="Text 19"/>
          <p:cNvSpPr txBox="1"/>
          <p:nvPr/>
        </p:nvSpPr>
        <p:spPr>
          <a:xfrm>
            <a:off x="3397666" y="5187340"/>
            <a:ext cx="198970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Forum · Travel Rule thread</a:t>
            </a:r>
            <a:endParaRPr lang="en-US" sz="1000" dirty="0"/>
          </a:p>
        </p:txBody>
      </p:sp>
      <p:sp>
        <p:nvSpPr>
          <p:cNvPr id="24" name="Text 20"/>
          <p:cNvSpPr txBox="1"/>
          <p:nvPr/>
        </p:nvSpPr>
        <p:spPr>
          <a:xfrm>
            <a:off x="1485554" y="5575960"/>
            <a:ext cx="3901820"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Community:</a:t>
            </a:r>
            <a:r>
              <a:rPr lang="en-US" sz="1400" dirty="0">
                <a:solidFill>
                  <a:srgbClr val="E8E8F0"/>
                </a:solidFill>
                <a:latin typeface="Arial" pitchFamily="34" charset="0"/>
                <a:ea typeface="Arial" pitchFamily="34" charset="-122"/>
                <a:cs typeface="Arial" pitchFamily="34" charset="-120"/>
              </a:rPr>
              <a:t> a forum per district, same sign-in as the courses; an MLRO asks, an FIU investigator answers</a:t>
            </a:r>
            <a:endParaRPr lang="en-US" sz="1400" dirty="0"/>
          </a:p>
        </p:txBody>
      </p:sp>
      <p:pic>
        <p:nvPicPr>
          <p:cNvPr id="25" name="Image 1" descr="/tmp/claude-0/-home-user-Chronopoli/d7458f57-86b2-5920-914e-8615357fee63/scratchpad/deck-master/framed_v5/paella.png">    </p:cNvPr>
          <p:cNvPicPr>
            <a:picLocks noChangeAspect="1"/>
          </p:cNvPicPr>
          <p:nvPr/>
        </p:nvPicPr>
        <p:blipFill>
          <a:blip r:embed="rId3"/>
          <a:stretch>
            <a:fillRect/>
          </a:stretch>
        </p:blipFill>
        <p:spPr>
          <a:xfrm>
            <a:off x="5614863" y="1769828"/>
            <a:ext cx="5229551" cy="3386619"/>
          </a:xfrm>
          <a:prstGeom prst="rect">
            <a:avLst/>
          </a:prstGeom>
        </p:spPr>
      </p:pic>
      <p:sp>
        <p:nvSpPr>
          <p:cNvPr id="26" name="Shape 21"/>
          <p:cNvSpPr/>
          <p:nvPr/>
        </p:nvSpPr>
        <p:spPr>
          <a:xfrm>
            <a:off x="5753134" y="5155336"/>
            <a:ext cx="1802384" cy="219456"/>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5844574" y="5228488"/>
            <a:ext cx="73152" cy="73152"/>
          </a:xfrm>
          <a:prstGeom prst="ellipse">
            <a:avLst/>
          </a:prstGeom>
          <a:solidFill>
            <a:srgbClr val="34D399"/>
          </a:solidFill>
          <a:ln/>
        </p:spPr>
      </p:sp>
      <p:sp>
        <p:nvSpPr>
          <p:cNvPr id="28" name="Text 23"/>
          <p:cNvSpPr txBox="1"/>
          <p:nvPr/>
        </p:nvSpPr>
        <p:spPr>
          <a:xfrm>
            <a:off x="5972590" y="5155336"/>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9" name="Text 24"/>
          <p:cNvSpPr txBox="1"/>
          <p:nvPr/>
        </p:nvSpPr>
        <p:spPr>
          <a:xfrm>
            <a:off x="7665246" y="5187340"/>
            <a:ext cx="304089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Lecture video · lecture 4.1</a:t>
            </a:r>
            <a:endParaRPr lang="en-US" sz="1000" dirty="0"/>
          </a:p>
        </p:txBody>
      </p:sp>
      <p:sp>
        <p:nvSpPr>
          <p:cNvPr id="30" name="Text 25"/>
          <p:cNvSpPr txBox="1"/>
          <p:nvPr/>
        </p:nvSpPr>
        <p:spPr>
          <a:xfrm>
            <a:off x="5753134" y="5575960"/>
            <a:ext cx="495300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Video:</a:t>
            </a:r>
            <a:r>
              <a:rPr lang="en-US" sz="1400" dirty="0">
                <a:solidFill>
                  <a:srgbClr val="E8E8F0"/>
                </a:solidFill>
                <a:latin typeface="Arial" pitchFamily="34" charset="0"/>
                <a:ea typeface="Arial" pitchFamily="34" charset="-122"/>
                <a:cs typeface="Arial" pitchFamily="34" charset="-120"/>
              </a:rPr>
              <a:t> recorded lectures with a slide index, so learners can jump straight to any slide</a:t>
            </a:r>
            <a:endParaRPr lang="en-US" sz="140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80881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57106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 2</a:t>
            </a:r>
            <a:endParaRPr lang="en-US" sz="900" dirty="0"/>
          </a:p>
        </p:txBody>
      </p:sp>
      <p:sp>
        <p:nvSpPr>
          <p:cNvPr id="5" name="Text 2"/>
          <p:cNvSpPr txBox="1"/>
          <p:nvPr/>
        </p:nvSpPr>
        <p:spPr>
          <a:xfrm>
            <a:off x="457200" y="1097280"/>
            <a:ext cx="11277295"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The partner side: why organisations pay</a:t>
            </a:r>
            <a:endParaRPr lang="en-US" sz="4000" dirty="0"/>
          </a:p>
        </p:txBody>
      </p:sp>
      <p:sp>
        <p:nvSpPr>
          <p:cNvPr id="6" name="Text 3"/>
          <p:cNvSpPr txBox="1"/>
          <p:nvPr/>
        </p:nvSpPr>
        <p:spPr>
          <a:xfrm>
            <a:off x="457200" y="1901952"/>
            <a:ext cx="7863840" cy="822960"/>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Author, run, measure and earn from an academy, plus round tables and expert masterclasses that no catalogue offers</a:t>
            </a:r>
            <a:endParaRPr lang="en-US" sz="1800" dirty="0"/>
          </a:p>
        </p:txBody>
      </p:sp>
      <p:sp>
        <p:nvSpPr>
          <p:cNvPr id="7" name="Shape 4"/>
          <p:cNvSpPr/>
          <p:nvPr/>
        </p:nvSpPr>
        <p:spPr>
          <a:xfrm>
            <a:off x="457200" y="2926080"/>
            <a:ext cx="438912" cy="438912"/>
          </a:xfrm>
          <a:prstGeom prst="ellipse">
            <a:avLst/>
          </a:prstGeom>
          <a:solidFill>
            <a:srgbClr val="1E1A10"/>
          </a:solidFill>
          <a:ln w="9525">
            <a:solidFill>
              <a:srgbClr val="5A4A22"/>
            </a:solidFill>
            <a:prstDash val="solid"/>
          </a:ln>
        </p:spPr>
      </p:sp>
      <p:pic>
        <p:nvPicPr>
          <p:cNvPr id="8" name="Image 0" descr="preencoded.png">    </p:cNvPr>
          <p:cNvPicPr>
            <a:picLocks noChangeAspect="1"/>
          </p:cNvPicPr>
          <p:nvPr/>
        </p:nvPicPr>
        <p:blipFill>
          <a:blip r:embed="rId2"/>
          <a:stretch>
            <a:fillRect/>
          </a:stretch>
        </p:blipFill>
        <p:spPr>
          <a:xfrm>
            <a:off x="566928" y="3035808"/>
            <a:ext cx="219456" cy="219456"/>
          </a:xfrm>
          <a:prstGeom prst="rect">
            <a:avLst/>
          </a:prstGeom>
        </p:spPr>
      </p:pic>
      <p:sp>
        <p:nvSpPr>
          <p:cNvPr id="9" name="Text 5"/>
          <p:cNvSpPr txBox="1"/>
          <p:nvPr/>
        </p:nvSpPr>
        <p:spPr>
          <a:xfrm>
            <a:off x="1097280" y="29260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Course authoring</a:t>
            </a:r>
            <a:endParaRPr lang="en-US" sz="1700" dirty="0"/>
          </a:p>
        </p:txBody>
      </p:sp>
      <p:sp>
        <p:nvSpPr>
          <p:cNvPr id="10" name="Text 6"/>
          <p:cNvSpPr txBox="1"/>
          <p:nvPr/>
        </p:nvSpPr>
        <p:spPr>
          <a:xfrm>
            <a:off x="6263640" y="29260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16</a:t>
            </a:r>
            <a:endParaRPr lang="en-US" sz="1100" dirty="0"/>
          </a:p>
        </p:txBody>
      </p:sp>
      <p:sp>
        <p:nvSpPr>
          <p:cNvPr id="11" name="Shape 7"/>
          <p:cNvSpPr/>
          <p:nvPr/>
        </p:nvSpPr>
        <p:spPr>
          <a:xfrm>
            <a:off x="1097280" y="3427476"/>
            <a:ext cx="6263640" cy="0"/>
          </a:xfrm>
          <a:prstGeom prst="line">
            <a:avLst/>
          </a:prstGeom>
          <a:noFill/>
          <a:ln w="6350">
            <a:solidFill>
              <a:srgbClr val="2C2C3E"/>
            </a:solidFill>
            <a:prstDash val="solid"/>
          </a:ln>
        </p:spPr>
      </p:sp>
      <p:sp>
        <p:nvSpPr>
          <p:cNvPr id="12" name="Shape 8"/>
          <p:cNvSpPr/>
          <p:nvPr/>
        </p:nvSpPr>
        <p:spPr>
          <a:xfrm>
            <a:off x="457200" y="3489960"/>
            <a:ext cx="438912" cy="438912"/>
          </a:xfrm>
          <a:prstGeom prst="ellipse">
            <a:avLst/>
          </a:prstGeom>
          <a:solidFill>
            <a:srgbClr val="1E1A10"/>
          </a:solidFill>
          <a:ln w="9525">
            <a:solidFill>
              <a:srgbClr val="5A4A22"/>
            </a:solidFill>
            <a:prstDash val="solid"/>
          </a:ln>
        </p:spPr>
      </p:sp>
      <p:pic>
        <p:nvPicPr>
          <p:cNvPr id="13" name="Image 1" descr="preencoded.png">    </p:cNvPr>
          <p:cNvPicPr>
            <a:picLocks noChangeAspect="1"/>
          </p:cNvPicPr>
          <p:nvPr/>
        </p:nvPicPr>
        <p:blipFill>
          <a:blip r:embed="rId3"/>
          <a:stretch>
            <a:fillRect/>
          </a:stretch>
        </p:blipFill>
        <p:spPr>
          <a:xfrm>
            <a:off x="566928" y="3599688"/>
            <a:ext cx="219456" cy="219456"/>
          </a:xfrm>
          <a:prstGeom prst="rect">
            <a:avLst/>
          </a:prstGeom>
        </p:spPr>
      </p:pic>
      <p:sp>
        <p:nvSpPr>
          <p:cNvPr id="14" name="Text 9"/>
          <p:cNvSpPr txBox="1"/>
          <p:nvPr/>
        </p:nvSpPr>
        <p:spPr>
          <a:xfrm>
            <a:off x="1097280" y="348996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Partner dashboard and weekly reports</a:t>
            </a:r>
            <a:endParaRPr lang="en-US" sz="1700" dirty="0"/>
          </a:p>
        </p:txBody>
      </p:sp>
      <p:sp>
        <p:nvSpPr>
          <p:cNvPr id="15" name="Text 10"/>
          <p:cNvSpPr txBox="1"/>
          <p:nvPr/>
        </p:nvSpPr>
        <p:spPr>
          <a:xfrm>
            <a:off x="6263640" y="348996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17</a:t>
            </a:r>
            <a:endParaRPr lang="en-US" sz="1100" dirty="0"/>
          </a:p>
        </p:txBody>
      </p:sp>
      <p:sp>
        <p:nvSpPr>
          <p:cNvPr id="16" name="Shape 11"/>
          <p:cNvSpPr/>
          <p:nvPr/>
        </p:nvSpPr>
        <p:spPr>
          <a:xfrm>
            <a:off x="1097280" y="3991356"/>
            <a:ext cx="6263640" cy="0"/>
          </a:xfrm>
          <a:prstGeom prst="line">
            <a:avLst/>
          </a:prstGeom>
          <a:noFill/>
          <a:ln w="6350">
            <a:solidFill>
              <a:srgbClr val="2C2C3E"/>
            </a:solidFill>
            <a:prstDash val="solid"/>
          </a:ln>
        </p:spPr>
      </p:sp>
      <p:sp>
        <p:nvSpPr>
          <p:cNvPr id="17" name="Shape 12"/>
          <p:cNvSpPr/>
          <p:nvPr/>
        </p:nvSpPr>
        <p:spPr>
          <a:xfrm>
            <a:off x="457200" y="4053840"/>
            <a:ext cx="438912" cy="438912"/>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566928" y="4163568"/>
            <a:ext cx="219456" cy="219456"/>
          </a:xfrm>
          <a:prstGeom prst="rect">
            <a:avLst/>
          </a:prstGeom>
        </p:spPr>
      </p:pic>
      <p:sp>
        <p:nvSpPr>
          <p:cNvPr id="19" name="Text 13"/>
          <p:cNvSpPr txBox="1"/>
          <p:nvPr/>
        </p:nvSpPr>
        <p:spPr>
          <a:xfrm>
            <a:off x="1097280" y="405384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Symposia: round tables and the five-output pipeline</a:t>
            </a:r>
            <a:endParaRPr lang="en-US" sz="1700" dirty="0"/>
          </a:p>
        </p:txBody>
      </p:sp>
      <p:sp>
        <p:nvSpPr>
          <p:cNvPr id="20" name="Text 14"/>
          <p:cNvSpPr txBox="1"/>
          <p:nvPr/>
        </p:nvSpPr>
        <p:spPr>
          <a:xfrm>
            <a:off x="6263640" y="405384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18-19</a:t>
            </a:r>
            <a:endParaRPr lang="en-US" sz="1100" dirty="0"/>
          </a:p>
        </p:txBody>
      </p:sp>
      <p:sp>
        <p:nvSpPr>
          <p:cNvPr id="21" name="Shape 15"/>
          <p:cNvSpPr/>
          <p:nvPr/>
        </p:nvSpPr>
        <p:spPr>
          <a:xfrm>
            <a:off x="1097280" y="4555236"/>
            <a:ext cx="6263640" cy="0"/>
          </a:xfrm>
          <a:prstGeom prst="line">
            <a:avLst/>
          </a:prstGeom>
          <a:noFill/>
          <a:ln w="6350">
            <a:solidFill>
              <a:srgbClr val="2C2C3E"/>
            </a:solidFill>
            <a:prstDash val="solid"/>
          </a:ln>
        </p:spPr>
      </p:sp>
      <p:sp>
        <p:nvSpPr>
          <p:cNvPr id="22" name="Shape 16"/>
          <p:cNvSpPr/>
          <p:nvPr/>
        </p:nvSpPr>
        <p:spPr>
          <a:xfrm>
            <a:off x="457200" y="4617720"/>
            <a:ext cx="438912" cy="438912"/>
          </a:xfrm>
          <a:prstGeom prst="ellipse">
            <a:avLst/>
          </a:prstGeom>
          <a:solidFill>
            <a:srgbClr val="1E1A10"/>
          </a:solidFill>
          <a:ln w="9525">
            <a:solidFill>
              <a:srgbClr val="5A4A22"/>
            </a:solidFill>
            <a:prstDash val="solid"/>
          </a:ln>
        </p:spPr>
      </p:sp>
      <p:pic>
        <p:nvPicPr>
          <p:cNvPr id="23" name="Image 3" descr="preencoded.png">    </p:cNvPr>
          <p:cNvPicPr>
            <a:picLocks noChangeAspect="1"/>
          </p:cNvPicPr>
          <p:nvPr/>
        </p:nvPicPr>
        <p:blipFill>
          <a:blip r:embed="rId5"/>
          <a:stretch>
            <a:fillRect/>
          </a:stretch>
        </p:blipFill>
        <p:spPr>
          <a:xfrm>
            <a:off x="566928" y="4727448"/>
            <a:ext cx="219456" cy="219456"/>
          </a:xfrm>
          <a:prstGeom prst="rect">
            <a:avLst/>
          </a:prstGeom>
        </p:spPr>
      </p:pic>
      <p:sp>
        <p:nvSpPr>
          <p:cNvPr id="24" name="Text 17"/>
          <p:cNvSpPr txBox="1"/>
          <p:nvPr/>
        </p:nvSpPr>
        <p:spPr>
          <a:xfrm>
            <a:off x="1097280" y="461772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Open Knowledge: Digital Twin masterclasses</a:t>
            </a:r>
            <a:endParaRPr lang="en-US" sz="1700" dirty="0"/>
          </a:p>
        </p:txBody>
      </p:sp>
      <p:sp>
        <p:nvSpPr>
          <p:cNvPr id="25" name="Text 18"/>
          <p:cNvSpPr txBox="1"/>
          <p:nvPr/>
        </p:nvSpPr>
        <p:spPr>
          <a:xfrm>
            <a:off x="6263640" y="461772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 20</a:t>
            </a:r>
            <a:endParaRPr lang="en-US" sz="1100" dirty="0"/>
          </a:p>
        </p:txBody>
      </p:sp>
      <p:sp>
        <p:nvSpPr>
          <p:cNvPr id="26" name="Shape 19"/>
          <p:cNvSpPr/>
          <p:nvPr/>
        </p:nvSpPr>
        <p:spPr>
          <a:xfrm>
            <a:off x="1097280" y="5119116"/>
            <a:ext cx="6263640" cy="0"/>
          </a:xfrm>
          <a:prstGeom prst="line">
            <a:avLst/>
          </a:prstGeom>
          <a:noFill/>
          <a:ln w="6350">
            <a:solidFill>
              <a:srgbClr val="2C2C3E"/>
            </a:solidFill>
            <a:prstDash val="solid"/>
          </a:ln>
        </p:spPr>
      </p:sp>
      <p:sp>
        <p:nvSpPr>
          <p:cNvPr id="27" name="Shape 20"/>
          <p:cNvSpPr/>
          <p:nvPr/>
        </p:nvSpPr>
        <p:spPr>
          <a:xfrm>
            <a:off x="457200" y="5181600"/>
            <a:ext cx="438912" cy="438912"/>
          </a:xfrm>
          <a:prstGeom prst="ellipse">
            <a:avLst/>
          </a:prstGeom>
          <a:solidFill>
            <a:srgbClr val="1E1A10"/>
          </a:solidFill>
          <a:ln w="9525">
            <a:solidFill>
              <a:srgbClr val="5A4A22"/>
            </a:solidFill>
            <a:prstDash val="solid"/>
          </a:ln>
        </p:spPr>
      </p:sp>
      <p:pic>
        <p:nvPicPr>
          <p:cNvPr id="28" name="Image 4" descr="preencoded.png">    </p:cNvPr>
          <p:cNvPicPr>
            <a:picLocks noChangeAspect="1"/>
          </p:cNvPicPr>
          <p:nvPr/>
        </p:nvPicPr>
        <p:blipFill>
          <a:blip r:embed="rId6"/>
          <a:stretch>
            <a:fillRect/>
          </a:stretch>
        </p:blipFill>
        <p:spPr>
          <a:xfrm>
            <a:off x="566928" y="5291328"/>
            <a:ext cx="219456" cy="219456"/>
          </a:xfrm>
          <a:prstGeom prst="rect">
            <a:avLst/>
          </a:prstGeom>
        </p:spPr>
      </p:pic>
      <p:sp>
        <p:nvSpPr>
          <p:cNvPr id="29" name="Text 21"/>
          <p:cNvSpPr txBox="1"/>
          <p:nvPr/>
        </p:nvSpPr>
        <p:spPr>
          <a:xfrm>
            <a:off x="1097280" y="518160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Market, business model, pricing and payouts</a:t>
            </a:r>
            <a:endParaRPr lang="en-US" sz="1700" dirty="0"/>
          </a:p>
        </p:txBody>
      </p:sp>
      <p:sp>
        <p:nvSpPr>
          <p:cNvPr id="30" name="Text 22"/>
          <p:cNvSpPr txBox="1"/>
          <p:nvPr/>
        </p:nvSpPr>
        <p:spPr>
          <a:xfrm>
            <a:off x="6263640" y="518160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21-26</a:t>
            </a:r>
            <a:endParaRPr lang="en-US" sz="1100" dirty="0"/>
          </a:p>
        </p:txBody>
      </p:sp>
      <p:sp>
        <p:nvSpPr>
          <p:cNvPr id="31" name="Shape 23"/>
          <p:cNvSpPr/>
          <p:nvPr/>
        </p:nvSpPr>
        <p:spPr>
          <a:xfrm>
            <a:off x="1097280" y="5682996"/>
            <a:ext cx="6263640" cy="0"/>
          </a:xfrm>
          <a:prstGeom prst="line">
            <a:avLst/>
          </a:prstGeom>
          <a:noFill/>
          <a:ln w="6350">
            <a:solidFill>
              <a:srgbClr val="2C2C3E"/>
            </a:solidFill>
            <a:prstDash val="solid"/>
          </a:ln>
        </p:spPr>
      </p:sp>
      <p:sp>
        <p:nvSpPr>
          <p:cNvPr id="32" name="Shape 24"/>
          <p:cNvSpPr/>
          <p:nvPr/>
        </p:nvSpPr>
        <p:spPr>
          <a:xfrm>
            <a:off x="457200" y="5745480"/>
            <a:ext cx="438912" cy="438912"/>
          </a:xfrm>
          <a:prstGeom prst="ellipse">
            <a:avLst/>
          </a:prstGeom>
          <a:solidFill>
            <a:srgbClr val="1E1A10"/>
          </a:solidFill>
          <a:ln w="9525">
            <a:solidFill>
              <a:srgbClr val="5A4A22"/>
            </a:solidFill>
            <a:prstDash val="solid"/>
          </a:ln>
        </p:spPr>
      </p:sp>
      <p:pic>
        <p:nvPicPr>
          <p:cNvPr id="33" name="Image 5" descr="preencoded.png">    </p:cNvPr>
          <p:cNvPicPr>
            <a:picLocks noChangeAspect="1"/>
          </p:cNvPicPr>
          <p:nvPr/>
        </p:nvPicPr>
        <p:blipFill>
          <a:blip r:embed="rId7"/>
          <a:stretch>
            <a:fillRect/>
          </a:stretch>
        </p:blipFill>
        <p:spPr>
          <a:xfrm>
            <a:off x="566928" y="5855208"/>
            <a:ext cx="219456" cy="219456"/>
          </a:xfrm>
          <a:prstGeom prst="rect">
            <a:avLst/>
          </a:prstGeom>
        </p:spPr>
      </p:pic>
      <p:sp>
        <p:nvSpPr>
          <p:cNvPr id="34" name="Text 25"/>
          <p:cNvSpPr txBox="1"/>
          <p:nvPr/>
        </p:nvSpPr>
        <p:spPr>
          <a:xfrm>
            <a:off x="1097280" y="5745480"/>
            <a:ext cx="5212080" cy="438912"/>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Financials, traction, team, plan and the ask</a:t>
            </a:r>
            <a:endParaRPr lang="en-US" sz="1700" dirty="0"/>
          </a:p>
        </p:txBody>
      </p:sp>
      <p:sp>
        <p:nvSpPr>
          <p:cNvPr id="35" name="Text 26"/>
          <p:cNvSpPr txBox="1"/>
          <p:nvPr/>
        </p:nvSpPr>
        <p:spPr>
          <a:xfrm>
            <a:off x="6263640" y="5745480"/>
            <a:ext cx="1097280" cy="438912"/>
          </a:xfrm>
          <a:prstGeom prst="rect">
            <a:avLst/>
          </a:prstGeom>
          <a:noFill/>
          <a:ln/>
        </p:spPr>
        <p:txBody>
          <a:bodyPr wrap="square" lIns="0" tIns="0" rIns="0" bIns="0" rtlCol="0" anchor="ctr"/>
          <a:lstStyle/>
          <a:p>
            <a:pPr algn="r" indent="0" marL="0">
              <a:buNone/>
            </a:pPr>
            <a:r>
              <a:rPr lang="en-US" sz="1100" dirty="0">
                <a:solidFill>
                  <a:srgbClr val="C9A84C"/>
                </a:solidFill>
                <a:latin typeface="Arial" pitchFamily="34" charset="0"/>
                <a:ea typeface="Arial" pitchFamily="34" charset="-122"/>
                <a:cs typeface="Arial" pitchFamily="34" charset="-120"/>
              </a:rPr>
              <a:t>Slides 27-36</a:t>
            </a:r>
            <a:endParaRPr lang="en-US" sz="1100" dirty="0"/>
          </a:p>
        </p:txBody>
      </p:sp>
      <p:sp>
        <p:nvSpPr>
          <p:cNvPr id="36" name="Text 27"/>
          <p:cNvSpPr txBox="1"/>
          <p:nvPr/>
        </p:nvSpPr>
        <p:spPr>
          <a:xfrm>
            <a:off x="8001000" y="2907792"/>
            <a:ext cx="3733495" cy="201168"/>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NEW PERSONAS (FICTITIOUS)</a:t>
            </a:r>
            <a:endParaRPr lang="en-US" sz="900" dirty="0"/>
          </a:p>
        </p:txBody>
      </p:sp>
      <p:sp>
        <p:nvSpPr>
          <p:cNvPr id="37" name="Shape 28"/>
          <p:cNvSpPr/>
          <p:nvPr/>
        </p:nvSpPr>
        <p:spPr>
          <a:xfrm>
            <a:off x="8001000" y="3255264"/>
            <a:ext cx="3733495" cy="1005840"/>
          </a:xfrm>
          <a:prstGeom prst="roundRect">
            <a:avLst>
              <a:gd name="adj" fmla="val 10909"/>
            </a:avLst>
          </a:prstGeom>
          <a:solidFill>
            <a:srgbClr val="171722"/>
          </a:solidFill>
          <a:ln w="9525">
            <a:solidFill>
              <a:srgbClr val="2C2C3E"/>
            </a:solidFill>
            <a:prstDash val="solid"/>
          </a:ln>
        </p:spPr>
      </p:sp>
      <p:sp>
        <p:nvSpPr>
          <p:cNvPr id="38" name="Shape 29"/>
          <p:cNvSpPr/>
          <p:nvPr/>
        </p:nvSpPr>
        <p:spPr>
          <a:xfrm>
            <a:off x="8229600" y="3511296"/>
            <a:ext cx="493776" cy="493776"/>
          </a:xfrm>
          <a:prstGeom prst="ellipse">
            <a:avLst/>
          </a:prstGeom>
          <a:solidFill>
            <a:srgbClr val="3B82F6"/>
          </a:solidFill>
          <a:ln/>
        </p:spPr>
      </p:sp>
      <p:sp>
        <p:nvSpPr>
          <p:cNvPr id="39" name="Text 30"/>
          <p:cNvSpPr txBox="1"/>
          <p:nvPr/>
        </p:nvSpPr>
        <p:spPr>
          <a:xfrm>
            <a:off x="8229600" y="351129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NK</a:t>
            </a:r>
            <a:endParaRPr lang="en-US" sz="1400" dirty="0"/>
          </a:p>
        </p:txBody>
      </p:sp>
      <p:sp>
        <p:nvSpPr>
          <p:cNvPr id="40" name="Text 31"/>
          <p:cNvSpPr txBox="1"/>
          <p:nvPr/>
        </p:nvSpPr>
        <p:spPr>
          <a:xfrm>
            <a:off x="8869680" y="347472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Nadia Karim</a:t>
            </a:r>
            <a:endParaRPr lang="en-US" sz="1500" dirty="0"/>
          </a:p>
        </p:txBody>
      </p:sp>
      <p:sp>
        <p:nvSpPr>
          <p:cNvPr id="41" name="Text 32"/>
          <p:cNvSpPr txBox="1"/>
          <p:nvPr/>
        </p:nvSpPr>
        <p:spPr>
          <a:xfrm>
            <a:off x="8869680" y="376732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Academy administrator (fictitious)</a:t>
            </a:r>
            <a:endParaRPr lang="en-US" sz="1200" dirty="0"/>
          </a:p>
        </p:txBody>
      </p:sp>
      <p:sp>
        <p:nvSpPr>
          <p:cNvPr id="42" name="Shape 33"/>
          <p:cNvSpPr/>
          <p:nvPr/>
        </p:nvSpPr>
        <p:spPr>
          <a:xfrm>
            <a:off x="8001000" y="4443984"/>
            <a:ext cx="3733495" cy="1005840"/>
          </a:xfrm>
          <a:prstGeom prst="roundRect">
            <a:avLst>
              <a:gd name="adj" fmla="val 10909"/>
            </a:avLst>
          </a:prstGeom>
          <a:solidFill>
            <a:srgbClr val="171722"/>
          </a:solidFill>
          <a:ln w="9525">
            <a:solidFill>
              <a:srgbClr val="2C2C3E"/>
            </a:solidFill>
            <a:prstDash val="solid"/>
          </a:ln>
        </p:spPr>
      </p:sp>
      <p:sp>
        <p:nvSpPr>
          <p:cNvPr id="43" name="Shape 34"/>
          <p:cNvSpPr/>
          <p:nvPr/>
        </p:nvSpPr>
        <p:spPr>
          <a:xfrm>
            <a:off x="8229600" y="4700016"/>
            <a:ext cx="493776" cy="493776"/>
          </a:xfrm>
          <a:prstGeom prst="ellipse">
            <a:avLst/>
          </a:prstGeom>
          <a:solidFill>
            <a:srgbClr val="10B981"/>
          </a:solidFill>
          <a:ln/>
        </p:spPr>
      </p:sp>
      <p:sp>
        <p:nvSpPr>
          <p:cNvPr id="44" name="Text 35"/>
          <p:cNvSpPr txBox="1"/>
          <p:nvPr/>
        </p:nvSpPr>
        <p:spPr>
          <a:xfrm>
            <a:off x="8229600" y="4700016"/>
            <a:ext cx="493776" cy="493776"/>
          </a:xfrm>
          <a:prstGeom prst="rect">
            <a:avLst/>
          </a:prstGeom>
          <a:noFill/>
          <a:ln/>
        </p:spPr>
        <p:txBody>
          <a:bodyPr wrap="square" lIns="0" tIns="0" rIns="0" bIns="0" rtlCol="0" anchor="ctr"/>
          <a:lstStyle/>
          <a:p>
            <a:pPr algn="ctr" indent="0" marL="0">
              <a:buNone/>
            </a:pPr>
            <a:r>
              <a:rPr lang="en-US" sz="1400" b="1" dirty="0">
                <a:solidFill>
                  <a:srgbClr val="0A0A0F"/>
                </a:solidFill>
                <a:latin typeface="Arial" pitchFamily="34" charset="0"/>
                <a:ea typeface="Arial" pitchFamily="34" charset="-122"/>
                <a:cs typeface="Arial" pitchFamily="34" charset="-120"/>
              </a:rPr>
              <a:t>AH</a:t>
            </a:r>
            <a:endParaRPr lang="en-US" sz="1400" dirty="0"/>
          </a:p>
        </p:txBody>
      </p:sp>
      <p:sp>
        <p:nvSpPr>
          <p:cNvPr id="45" name="Text 36"/>
          <p:cNvSpPr txBox="1"/>
          <p:nvPr/>
        </p:nvSpPr>
        <p:spPr>
          <a:xfrm>
            <a:off x="8869680" y="4663440"/>
            <a:ext cx="2727655" cy="2743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Dr. Amira Haddad</a:t>
            </a:r>
            <a:endParaRPr lang="en-US" sz="1500" dirty="0"/>
          </a:p>
        </p:txBody>
      </p:sp>
      <p:sp>
        <p:nvSpPr>
          <p:cNvPr id="46" name="Text 37"/>
          <p:cNvSpPr txBox="1"/>
          <p:nvPr/>
        </p:nvSpPr>
        <p:spPr>
          <a:xfrm>
            <a:off x="8869680" y="4956048"/>
            <a:ext cx="2727655" cy="411480"/>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Round-table moderator (fictitious)</a:t>
            </a:r>
            <a:endParaRPr lang="en-US" sz="1200" dirty="0"/>
          </a:p>
        </p:txBody>
      </p:sp>
      <p:sp>
        <p:nvSpPr>
          <p:cNvPr id="47" name="Text 3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7241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3467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AUTHOR</a:t>
            </a:r>
            <a:endParaRPr lang="en-US" sz="900" dirty="0"/>
          </a:p>
        </p:txBody>
      </p:sp>
      <p:sp>
        <p:nvSpPr>
          <p:cNvPr id="5" name="Shape 2"/>
          <p:cNvSpPr/>
          <p:nvPr/>
        </p:nvSpPr>
        <p:spPr>
          <a:xfrm>
            <a:off x="2694211" y="470916"/>
            <a:ext cx="82296" cy="82296"/>
          </a:xfrm>
          <a:prstGeom prst="ellipse">
            <a:avLst/>
          </a:prstGeom>
          <a:solidFill>
            <a:srgbClr val="F0C96B"/>
          </a:solidFill>
          <a:ln/>
        </p:spPr>
      </p:sp>
      <p:sp>
        <p:nvSpPr>
          <p:cNvPr id="6" name="Shape 3"/>
          <p:cNvSpPr/>
          <p:nvPr/>
        </p:nvSpPr>
        <p:spPr>
          <a:xfrm>
            <a:off x="2835943" y="470916"/>
            <a:ext cx="82296" cy="82296"/>
          </a:xfrm>
          <a:prstGeom prst="ellipse">
            <a:avLst/>
          </a:prstGeom>
          <a:solidFill>
            <a:srgbClr val="34344A"/>
          </a:solidFill>
          <a:ln/>
        </p:spPr>
      </p:sp>
      <p:sp>
        <p:nvSpPr>
          <p:cNvPr id="7" name="Shape 4"/>
          <p:cNvSpPr/>
          <p:nvPr/>
        </p:nvSpPr>
        <p:spPr>
          <a:xfrm>
            <a:off x="2977675" y="470916"/>
            <a:ext cx="82296" cy="82296"/>
          </a:xfrm>
          <a:prstGeom prst="ellipse">
            <a:avLst/>
          </a:prstGeom>
          <a:solidFill>
            <a:srgbClr val="34344A"/>
          </a:solidFill>
          <a:ln/>
        </p:spPr>
      </p:sp>
      <p:sp>
        <p:nvSpPr>
          <p:cNvPr id="8" name="Shape 5"/>
          <p:cNvSpPr/>
          <p:nvPr/>
        </p:nvSpPr>
        <p:spPr>
          <a:xfrm>
            <a:off x="3119407" y="470916"/>
            <a:ext cx="82296" cy="82296"/>
          </a:xfrm>
          <a:prstGeom prst="ellipse">
            <a:avLst/>
          </a:prstGeom>
          <a:solidFill>
            <a:srgbClr val="34344A"/>
          </a:solidFill>
          <a:ln/>
        </p:spPr>
      </p:sp>
      <p:sp>
        <p:nvSpPr>
          <p:cNvPr id="9" name="Shape 6"/>
          <p:cNvSpPr/>
          <p:nvPr/>
        </p:nvSpPr>
        <p:spPr>
          <a:xfrm>
            <a:off x="3261139" y="470916"/>
            <a:ext cx="82296" cy="82296"/>
          </a:xfrm>
          <a:prstGeom prst="ellipse">
            <a:avLst/>
          </a:prstGeom>
          <a:solidFill>
            <a:srgbClr val="34344A"/>
          </a:solidFill>
          <a:ln/>
        </p:spPr>
      </p:sp>
      <p:sp>
        <p:nvSpPr>
          <p:cNvPr id="10" name="Shape 7"/>
          <p:cNvSpPr/>
          <p:nvPr/>
        </p:nvSpPr>
        <p:spPr>
          <a:xfrm>
            <a:off x="3402871" y="470916"/>
            <a:ext cx="82296" cy="82296"/>
          </a:xfrm>
          <a:prstGeom prst="ellipse">
            <a:avLst/>
          </a:prstGeom>
          <a:solidFill>
            <a:srgbClr val="34344A"/>
          </a:solidFill>
          <a:ln/>
        </p:spPr>
      </p:sp>
      <p:sp>
        <p:nvSpPr>
          <p:cNvPr id="11" name="Shape 8"/>
          <p:cNvSpPr/>
          <p:nvPr/>
        </p:nvSpPr>
        <p:spPr>
          <a:xfrm>
            <a:off x="3654331" y="384048"/>
            <a:ext cx="1505895"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09779" y="384048"/>
            <a:ext cx="1268151"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PLATFORM CORE</a:t>
            </a:r>
            <a:endParaRPr lang="en-US" sz="900" dirty="0"/>
          </a:p>
        </p:txBody>
      </p:sp>
      <p:sp>
        <p:nvSpPr>
          <p:cNvPr id="13" name="Text 10"/>
          <p:cNvSpPr txBox="1"/>
          <p:nvPr/>
        </p:nvSpPr>
        <p:spPr>
          <a:xfrm>
            <a:off x="5434546" y="384048"/>
            <a:ext cx="629994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course team (admin account)</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Partners author on a proven tool: nothing to rebuild</a:t>
            </a:r>
            <a:endParaRPr lang="en-US" sz="3300" dirty="0"/>
          </a:p>
        </p:txBody>
      </p:sp>
      <p:sp>
        <p:nvSpPr>
          <p:cNvPr id="15" name="Text 12"/>
          <p:cNvSpPr txBox="1"/>
          <p:nvPr/>
        </p:nvSpPr>
        <p:spPr>
          <a:xfrm>
            <a:off x="8275320" y="999439"/>
            <a:ext cx="3459175" cy="7132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Course outline, rich-text editing, scheduling and grading policies are standard platform features</a:t>
            </a:r>
            <a:endParaRPr lang="en-US" sz="1500" dirty="0"/>
          </a:p>
        </p:txBody>
      </p:sp>
      <p:pic>
        <p:nvPicPr>
          <p:cNvPr id="16" name="Image 0" descr="/tmp/claude-0/-home-user-Chronopoli/d7458f57-86b2-5920-914e-8615357fee63/scratchpad/deck-master/framed/studio_outline.png">    </p:cNvPr>
          <p:cNvPicPr>
            <a:picLocks noChangeAspect="1"/>
          </p:cNvPicPr>
          <p:nvPr/>
        </p:nvPicPr>
        <p:blipFill>
          <a:blip r:embed="rId2"/>
          <a:stretch>
            <a:fillRect/>
          </a:stretch>
        </p:blipFill>
        <p:spPr>
          <a:xfrm>
            <a:off x="1632100" y="1900238"/>
            <a:ext cx="3750840" cy="3139515"/>
          </a:xfrm>
          <a:prstGeom prst="rect">
            <a:avLst/>
          </a:prstGeom>
        </p:spPr>
      </p:pic>
      <p:sp>
        <p:nvSpPr>
          <p:cNvPr id="17" name="Shape 13"/>
          <p:cNvSpPr/>
          <p:nvPr/>
        </p:nvSpPr>
        <p:spPr>
          <a:xfrm>
            <a:off x="1731274" y="5077739"/>
            <a:ext cx="1802384"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822714" y="5150891"/>
            <a:ext cx="73152" cy="73152"/>
          </a:xfrm>
          <a:prstGeom prst="ellipse">
            <a:avLst/>
          </a:prstGeom>
          <a:solidFill>
            <a:srgbClr val="34D399"/>
          </a:solidFill>
          <a:ln/>
        </p:spPr>
      </p:sp>
      <p:sp>
        <p:nvSpPr>
          <p:cNvPr id="19" name="Text 15"/>
          <p:cNvSpPr txBox="1"/>
          <p:nvPr/>
        </p:nvSpPr>
        <p:spPr>
          <a:xfrm>
            <a:off x="1950730" y="5077739"/>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0" name="Text 16"/>
          <p:cNvSpPr txBox="1"/>
          <p:nvPr/>
        </p:nvSpPr>
        <p:spPr>
          <a:xfrm>
            <a:off x="3643386" y="5109743"/>
            <a:ext cx="16403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outline</a:t>
            </a:r>
            <a:endParaRPr lang="en-US" sz="1000" dirty="0"/>
          </a:p>
        </p:txBody>
      </p:sp>
      <p:sp>
        <p:nvSpPr>
          <p:cNvPr id="21" name="Text 17"/>
          <p:cNvSpPr txBox="1"/>
          <p:nvPr/>
        </p:nvSpPr>
        <p:spPr>
          <a:xfrm>
            <a:off x="1731274" y="5498363"/>
            <a:ext cx="3552492"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Districts:</a:t>
            </a:r>
            <a:r>
              <a:rPr lang="en-US" sz="1400" dirty="0">
                <a:solidFill>
                  <a:srgbClr val="E8E8F0"/>
                </a:solidFill>
                <a:latin typeface="Arial" pitchFamily="34" charset="0"/>
                <a:ea typeface="Arial" pitchFamily="34" charset="-122"/>
                <a:cs typeface="Arial" pitchFamily="34" charset="-120"/>
              </a:rPr>
              <a:t> each course is built in its district (e.g. CHRON-COMP), then linked to an academy</a:t>
            </a:r>
            <a:endParaRPr lang="en-US" sz="1400" dirty="0"/>
          </a:p>
        </p:txBody>
      </p:sp>
      <p:pic>
        <p:nvPicPr>
          <p:cNvPr id="22" name="Image 1" descr="/tmp/claude-0/-home-user-Chronopoli/d7458f57-86b2-5920-914e-8615357fee63/scratchpad/deck-master/framed/studio_editor.png">    </p:cNvPr>
          <p:cNvPicPr>
            <a:picLocks noChangeAspect="1"/>
          </p:cNvPicPr>
          <p:nvPr/>
        </p:nvPicPr>
        <p:blipFill>
          <a:blip r:embed="rId3"/>
          <a:stretch>
            <a:fillRect/>
          </a:stretch>
        </p:blipFill>
        <p:spPr>
          <a:xfrm>
            <a:off x="5514008" y="1863894"/>
            <a:ext cx="5081931" cy="3212204"/>
          </a:xfrm>
          <a:prstGeom prst="rect">
            <a:avLst/>
          </a:prstGeom>
        </p:spPr>
      </p:pic>
      <p:sp>
        <p:nvSpPr>
          <p:cNvPr id="23" name="Shape 18"/>
          <p:cNvSpPr/>
          <p:nvPr/>
        </p:nvSpPr>
        <p:spPr>
          <a:xfrm>
            <a:off x="5649526" y="5077739"/>
            <a:ext cx="1802384"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5740966" y="5150891"/>
            <a:ext cx="73152" cy="73152"/>
          </a:xfrm>
          <a:prstGeom prst="ellipse">
            <a:avLst/>
          </a:prstGeom>
          <a:solidFill>
            <a:srgbClr val="34D399"/>
          </a:solidFill>
          <a:ln/>
        </p:spPr>
      </p:sp>
      <p:sp>
        <p:nvSpPr>
          <p:cNvPr id="25" name="Text 20"/>
          <p:cNvSpPr txBox="1"/>
          <p:nvPr/>
        </p:nvSpPr>
        <p:spPr>
          <a:xfrm>
            <a:off x="5868982" y="5077739"/>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6" name="Text 21"/>
          <p:cNvSpPr txBox="1"/>
          <p:nvPr/>
        </p:nvSpPr>
        <p:spPr>
          <a:xfrm>
            <a:off x="7561638" y="5109743"/>
            <a:ext cx="289878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Rich-text editor, lesson 4.1</a:t>
            </a:r>
            <a:endParaRPr lang="en-US" sz="1000" dirty="0"/>
          </a:p>
        </p:txBody>
      </p:sp>
      <p:sp>
        <p:nvSpPr>
          <p:cNvPr id="27" name="Text 22"/>
          <p:cNvSpPr txBox="1"/>
          <p:nvPr/>
        </p:nvSpPr>
        <p:spPr>
          <a:xfrm>
            <a:off x="5649526" y="5498363"/>
            <a:ext cx="4810895" cy="77114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Built-in authoring:</a:t>
            </a:r>
            <a:r>
              <a:rPr lang="en-US" sz="1400" dirty="0">
                <a:solidFill>
                  <a:srgbClr val="E8E8F0"/>
                </a:solidFill>
                <a:latin typeface="Arial" pitchFamily="34" charset="0"/>
                <a:ea typeface="Arial" pitchFamily="34" charset="-122"/>
                <a:cs typeface="Arial" pitchFamily="34" charset="-120"/>
              </a:rPr>
              <a:t> outline, editor, dates and grading</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Continuous upgrades:</a:t>
            </a:r>
            <a:r>
              <a:rPr lang="en-US" sz="1400" dirty="0">
                <a:solidFill>
                  <a:srgbClr val="E8E8F0"/>
                </a:solidFill>
                <a:latin typeface="Arial" pitchFamily="34" charset="0"/>
                <a:ea typeface="Arial" pitchFamily="34" charset="-122"/>
                <a:cs typeface="Arial" pitchFamily="34" charset="-120"/>
              </a:rPr>
              <a:t> every platform release improves authoring at no extra cost</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703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325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MEASURE</a:t>
            </a:r>
            <a:endParaRPr lang="en-US" sz="900" dirty="0"/>
          </a:p>
        </p:txBody>
      </p:sp>
      <p:sp>
        <p:nvSpPr>
          <p:cNvPr id="5" name="Shape 2"/>
          <p:cNvSpPr/>
          <p:nvPr/>
        </p:nvSpPr>
        <p:spPr>
          <a:xfrm>
            <a:off x="2792113" y="470916"/>
            <a:ext cx="82296" cy="82296"/>
          </a:xfrm>
          <a:prstGeom prst="ellipse">
            <a:avLst/>
          </a:prstGeom>
          <a:solidFill>
            <a:srgbClr val="9B7A2E"/>
          </a:solidFill>
          <a:ln/>
        </p:spPr>
      </p:sp>
      <p:sp>
        <p:nvSpPr>
          <p:cNvPr id="6" name="Shape 3"/>
          <p:cNvSpPr/>
          <p:nvPr/>
        </p:nvSpPr>
        <p:spPr>
          <a:xfrm>
            <a:off x="2933845" y="470916"/>
            <a:ext cx="82296" cy="82296"/>
          </a:xfrm>
          <a:prstGeom prst="ellipse">
            <a:avLst/>
          </a:prstGeom>
          <a:solidFill>
            <a:srgbClr val="F0C96B"/>
          </a:solidFill>
          <a:ln/>
        </p:spPr>
      </p:sp>
      <p:sp>
        <p:nvSpPr>
          <p:cNvPr id="7" name="Shape 4"/>
          <p:cNvSpPr/>
          <p:nvPr/>
        </p:nvSpPr>
        <p:spPr>
          <a:xfrm>
            <a:off x="3075577" y="470916"/>
            <a:ext cx="82296" cy="82296"/>
          </a:xfrm>
          <a:prstGeom prst="ellipse">
            <a:avLst/>
          </a:prstGeom>
          <a:solidFill>
            <a:srgbClr val="34344A"/>
          </a:solidFill>
          <a:ln/>
        </p:spPr>
      </p:sp>
      <p:sp>
        <p:nvSpPr>
          <p:cNvPr id="8" name="Shape 5"/>
          <p:cNvSpPr/>
          <p:nvPr/>
        </p:nvSpPr>
        <p:spPr>
          <a:xfrm>
            <a:off x="3217309" y="470916"/>
            <a:ext cx="82296" cy="82296"/>
          </a:xfrm>
          <a:prstGeom prst="ellipse">
            <a:avLst/>
          </a:prstGeom>
          <a:solidFill>
            <a:srgbClr val="34344A"/>
          </a:solidFill>
          <a:ln/>
        </p:spPr>
      </p:sp>
      <p:sp>
        <p:nvSpPr>
          <p:cNvPr id="9" name="Shape 6"/>
          <p:cNvSpPr/>
          <p:nvPr/>
        </p:nvSpPr>
        <p:spPr>
          <a:xfrm>
            <a:off x="3359041" y="470916"/>
            <a:ext cx="82296" cy="82296"/>
          </a:xfrm>
          <a:prstGeom prst="ellipse">
            <a:avLst/>
          </a:prstGeom>
          <a:solidFill>
            <a:srgbClr val="34344A"/>
          </a:solidFill>
          <a:ln/>
        </p:spPr>
      </p:sp>
      <p:sp>
        <p:nvSpPr>
          <p:cNvPr id="10" name="Shape 7"/>
          <p:cNvSpPr/>
          <p:nvPr/>
        </p:nvSpPr>
        <p:spPr>
          <a:xfrm>
            <a:off x="3500773" y="470916"/>
            <a:ext cx="82296" cy="82296"/>
          </a:xfrm>
          <a:prstGeom prst="ellipse">
            <a:avLst/>
          </a:prstGeom>
          <a:solidFill>
            <a:srgbClr val="34344A"/>
          </a:solidFill>
          <a:ln/>
        </p:spPr>
      </p:sp>
      <p:sp>
        <p:nvSpPr>
          <p:cNvPr id="11" name="Shape 8"/>
          <p:cNvSpPr/>
          <p:nvPr/>
        </p:nvSpPr>
        <p:spPr>
          <a:xfrm>
            <a:off x="3752233" y="384048"/>
            <a:ext cx="2727891"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7681" y="384048"/>
            <a:ext cx="2490147"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02 · COMPANY ACADEMIES</a:t>
            </a:r>
            <a:endParaRPr lang="en-US" sz="900" dirty="0"/>
          </a:p>
        </p:txBody>
      </p:sp>
      <p:sp>
        <p:nvSpPr>
          <p:cNvPr id="13" name="Text 10"/>
          <p:cNvSpPr txBox="1"/>
          <p:nvPr/>
        </p:nvSpPr>
        <p:spPr>
          <a:xfrm>
            <a:off x="6754444" y="384048"/>
            <a:ext cx="498005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academy admin (fictitious)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A live cockpit for every partner</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Enrolments, completions, badges, revenue and intelligence reports, plus a weekly e-mail summary</a:t>
            </a:r>
            <a:endParaRPr lang="en-US" sz="1600" dirty="0"/>
          </a:p>
        </p:txBody>
      </p:sp>
      <p:pic>
        <p:nvPicPr>
          <p:cNvPr id="16" name="Image 0" descr="/tmp/claude-0/-home-user-Chronopoli/d7458f57-86b2-5920-914e-8615357fee63/scratchpad/deck-master/framed_v5/partner_dash.png">    </p:cNvPr>
          <p:cNvPicPr>
            <a:picLocks noChangeAspect="1"/>
          </p:cNvPicPr>
          <p:nvPr/>
        </p:nvPicPr>
        <p:blipFill>
          <a:blip r:embed="rId2"/>
          <a:stretch>
            <a:fillRect/>
          </a:stretch>
        </p:blipFill>
        <p:spPr>
          <a:xfrm>
            <a:off x="289696" y="1738716"/>
            <a:ext cx="6335136" cy="4290092"/>
          </a:xfrm>
          <a:prstGeom prst="rect">
            <a:avLst/>
          </a:prstGeom>
        </p:spPr>
      </p:pic>
      <p:sp>
        <p:nvSpPr>
          <p:cNvPr id="17" name="Shape 13"/>
          <p:cNvSpPr/>
          <p:nvPr/>
        </p:nvSpPr>
        <p:spPr>
          <a:xfrm>
            <a:off x="457200" y="5998464"/>
            <a:ext cx="2480869"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6071616"/>
            <a:ext cx="73152" cy="73152"/>
          </a:xfrm>
          <a:prstGeom prst="ellipse">
            <a:avLst/>
          </a:prstGeom>
          <a:solidFill>
            <a:srgbClr val="A9A9C6"/>
          </a:solidFill>
          <a:ln/>
        </p:spPr>
      </p:sp>
      <p:sp>
        <p:nvSpPr>
          <p:cNvPr id="19" name="Text 15"/>
          <p:cNvSpPr txBox="1"/>
          <p:nvPr/>
        </p:nvSpPr>
        <p:spPr>
          <a:xfrm>
            <a:off x="676656" y="5998464"/>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0" name="Text 16"/>
          <p:cNvSpPr txBox="1"/>
          <p:nvPr/>
        </p:nvSpPr>
        <p:spPr>
          <a:xfrm>
            <a:off x="3047797" y="6030468"/>
            <a:ext cx="340953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 illustrative KPIs</a:t>
            </a:r>
            <a:endParaRPr lang="en-US" sz="1000" dirty="0"/>
          </a:p>
        </p:txBody>
      </p:sp>
      <p:pic>
        <p:nvPicPr>
          <p:cNvPr id="21" name="Image 1" descr="/tmp/claude-0/-home-user-Chronopoli/d7458f57-86b2-5920-914e-8615357fee63/scratchpad/deck-master/framed_v5/instructor_dash.png">    </p:cNvPr>
          <p:cNvPicPr>
            <a:picLocks noChangeAspect="1"/>
          </p:cNvPicPr>
          <p:nvPr/>
        </p:nvPicPr>
        <p:blipFill>
          <a:blip r:embed="rId3"/>
          <a:stretch>
            <a:fillRect/>
          </a:stretch>
        </p:blipFill>
        <p:spPr>
          <a:xfrm>
            <a:off x="6732975" y="1770385"/>
            <a:ext cx="5137354" cy="1934110"/>
          </a:xfrm>
          <a:prstGeom prst="rect">
            <a:avLst/>
          </a:prstGeom>
        </p:spPr>
      </p:pic>
      <p:sp>
        <p:nvSpPr>
          <p:cNvPr id="22" name="Shape 17"/>
          <p:cNvSpPr/>
          <p:nvPr/>
        </p:nvSpPr>
        <p:spPr>
          <a:xfrm>
            <a:off x="6868809" y="3705822"/>
            <a:ext cx="1802384"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6960249" y="3778974"/>
            <a:ext cx="73152" cy="73152"/>
          </a:xfrm>
          <a:prstGeom prst="ellipse">
            <a:avLst/>
          </a:prstGeom>
          <a:solidFill>
            <a:srgbClr val="34D399"/>
          </a:solidFill>
          <a:ln/>
        </p:spPr>
      </p:sp>
      <p:sp>
        <p:nvSpPr>
          <p:cNvPr id="24" name="Text 19"/>
          <p:cNvSpPr txBox="1"/>
          <p:nvPr/>
        </p:nvSpPr>
        <p:spPr>
          <a:xfrm>
            <a:off x="7088265" y="3705822"/>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5" name="Text 20"/>
          <p:cNvSpPr txBox="1"/>
          <p:nvPr/>
        </p:nvSpPr>
        <p:spPr>
          <a:xfrm>
            <a:off x="8780921" y="3737826"/>
            <a:ext cx="295357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Instructor dashboard</a:t>
            </a:r>
            <a:endParaRPr lang="en-US" sz="1000" dirty="0"/>
          </a:p>
        </p:txBody>
      </p:sp>
      <p:sp>
        <p:nvSpPr>
          <p:cNvPr id="26" name="Text 21"/>
          <p:cNvSpPr txBox="1"/>
          <p:nvPr/>
        </p:nvSpPr>
        <p:spPr>
          <a:xfrm>
            <a:off x="6868809" y="4126446"/>
            <a:ext cx="4865687" cy="156362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KPIs:</a:t>
            </a:r>
            <a:r>
              <a:rPr lang="en-US" sz="1400" dirty="0">
                <a:solidFill>
                  <a:srgbClr val="E8E8F0"/>
                </a:solidFill>
                <a:latin typeface="Arial" pitchFamily="34" charset="0"/>
                <a:ea typeface="Arial" pitchFamily="34" charset="-122"/>
                <a:cs typeface="Arial" pitchFamily="34" charset="-120"/>
              </a:rPr>
              <a:t> enrolments by course and district, learner funnel</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Reports:</a:t>
            </a:r>
            <a:r>
              <a:rPr lang="en-US" sz="1400" dirty="0">
                <a:solidFill>
                  <a:srgbClr val="E8E8F0"/>
                </a:solidFill>
                <a:latin typeface="Arial" pitchFamily="34" charset="0"/>
                <a:ea typeface="Arial" pitchFamily="34" charset="-122"/>
                <a:cs typeface="Arial" pitchFamily="34" charset="-120"/>
              </a:rPr>
              <a:t> from its districts’ round tables</a:t>
            </a:r>
            <a:endParaRPr lang="en-US" sz="1400" dirty="0"/>
          </a:p>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Weekly summary:</a:t>
            </a:r>
            <a:r>
              <a:rPr lang="en-US" sz="1400" dirty="0">
                <a:solidFill>
                  <a:srgbClr val="E8E8F0"/>
                </a:solidFill>
                <a:latin typeface="Arial" pitchFamily="34" charset="0"/>
                <a:ea typeface="Arial" pitchFamily="34" charset="-122"/>
                <a:cs typeface="Arial" pitchFamily="34" charset="-120"/>
              </a:rPr>
              <a:t> by e-mail, plus a data feed</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data:</a:t>
            </a:r>
            <a:r>
              <a:rPr lang="en-US" sz="1400" dirty="0">
                <a:solidFill>
                  <a:srgbClr val="E8E8F0"/>
                </a:solidFill>
                <a:latin typeface="Arial" pitchFamily="34" charset="0"/>
                <a:ea typeface="Arial" pitchFamily="34" charset="-122"/>
                <a:cs typeface="Arial" pitchFamily="34" charset="-120"/>
              </a:rPr>
              <a:t> USDT-201 shows 812 enrolled, 520 verified (paid)</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6401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2626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CONVENE</a:t>
            </a:r>
            <a:endParaRPr lang="en-US" sz="900" dirty="0"/>
          </a:p>
        </p:txBody>
      </p:sp>
      <p:sp>
        <p:nvSpPr>
          <p:cNvPr id="5" name="Shape 2"/>
          <p:cNvSpPr/>
          <p:nvPr/>
        </p:nvSpPr>
        <p:spPr>
          <a:xfrm>
            <a:off x="2785803" y="470916"/>
            <a:ext cx="82296" cy="82296"/>
          </a:xfrm>
          <a:prstGeom prst="ellipse">
            <a:avLst/>
          </a:prstGeom>
          <a:solidFill>
            <a:srgbClr val="9B7A2E"/>
          </a:solidFill>
          <a:ln/>
        </p:spPr>
      </p:sp>
      <p:sp>
        <p:nvSpPr>
          <p:cNvPr id="6" name="Shape 3"/>
          <p:cNvSpPr/>
          <p:nvPr/>
        </p:nvSpPr>
        <p:spPr>
          <a:xfrm>
            <a:off x="2927535" y="470916"/>
            <a:ext cx="82296" cy="82296"/>
          </a:xfrm>
          <a:prstGeom prst="ellipse">
            <a:avLst/>
          </a:prstGeom>
          <a:solidFill>
            <a:srgbClr val="9B7A2E"/>
          </a:solidFill>
          <a:ln/>
        </p:spPr>
      </p:sp>
      <p:sp>
        <p:nvSpPr>
          <p:cNvPr id="7" name="Shape 4"/>
          <p:cNvSpPr/>
          <p:nvPr/>
        </p:nvSpPr>
        <p:spPr>
          <a:xfrm>
            <a:off x="3069267" y="470916"/>
            <a:ext cx="82296" cy="82296"/>
          </a:xfrm>
          <a:prstGeom prst="ellipse">
            <a:avLst/>
          </a:prstGeom>
          <a:solidFill>
            <a:srgbClr val="F0C96B"/>
          </a:solidFill>
          <a:ln/>
        </p:spPr>
      </p:sp>
      <p:sp>
        <p:nvSpPr>
          <p:cNvPr id="8" name="Shape 5"/>
          <p:cNvSpPr/>
          <p:nvPr/>
        </p:nvSpPr>
        <p:spPr>
          <a:xfrm>
            <a:off x="3210999" y="470916"/>
            <a:ext cx="82296" cy="82296"/>
          </a:xfrm>
          <a:prstGeom prst="ellipse">
            <a:avLst/>
          </a:prstGeom>
          <a:solidFill>
            <a:srgbClr val="34344A"/>
          </a:solidFill>
          <a:ln/>
        </p:spPr>
      </p:sp>
      <p:sp>
        <p:nvSpPr>
          <p:cNvPr id="9" name="Shape 6"/>
          <p:cNvSpPr/>
          <p:nvPr/>
        </p:nvSpPr>
        <p:spPr>
          <a:xfrm>
            <a:off x="3352731" y="470916"/>
            <a:ext cx="82296" cy="82296"/>
          </a:xfrm>
          <a:prstGeom prst="ellipse">
            <a:avLst/>
          </a:prstGeom>
          <a:solidFill>
            <a:srgbClr val="34344A"/>
          </a:solidFill>
          <a:ln/>
        </p:spPr>
      </p:sp>
      <p:sp>
        <p:nvSpPr>
          <p:cNvPr id="10" name="Shape 7"/>
          <p:cNvSpPr/>
          <p:nvPr/>
        </p:nvSpPr>
        <p:spPr>
          <a:xfrm>
            <a:off x="3494463" y="470916"/>
            <a:ext cx="82296" cy="82296"/>
          </a:xfrm>
          <a:prstGeom prst="ellipse">
            <a:avLst/>
          </a:prstGeom>
          <a:solidFill>
            <a:srgbClr val="34344A"/>
          </a:solidFill>
          <a:ln/>
        </p:spPr>
      </p:sp>
      <p:sp>
        <p:nvSpPr>
          <p:cNvPr id="11" name="Shape 8"/>
          <p:cNvSpPr/>
          <p:nvPr/>
        </p:nvSpPr>
        <p:spPr>
          <a:xfrm>
            <a:off x="3745923"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901371"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912488" y="384048"/>
            <a:ext cx="582200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as observer · 12 Nov 2026, 16:00 GST (12:00 UTC) · Fictitious panel</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Symposia: closed-door round tables as a product</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Curated expert panels under the Chatham House Rule, streamed live and tied to districts</a:t>
            </a:r>
            <a:endParaRPr lang="en-US" sz="1600" dirty="0"/>
          </a:p>
        </p:txBody>
      </p:sp>
      <p:pic>
        <p:nvPicPr>
          <p:cNvPr id="16" name="Image 0" descr="/tmp/claude-0/-home-user-Chronopoli/d7458f57-86b2-5920-914e-8615357fee63/scratchpad/deck-master/framed/symposia_list.png">    </p:cNvPr>
          <p:cNvPicPr>
            <a:picLocks noChangeAspect="1"/>
          </p:cNvPicPr>
          <p:nvPr/>
        </p:nvPicPr>
        <p:blipFill>
          <a:blip r:embed="rId2"/>
          <a:stretch>
            <a:fillRect/>
          </a:stretch>
        </p:blipFill>
        <p:spPr>
          <a:xfrm>
            <a:off x="340694" y="1865030"/>
            <a:ext cx="4367918" cy="4037464"/>
          </a:xfrm>
          <a:prstGeom prst="rect">
            <a:avLst/>
          </a:prstGeom>
        </p:spPr>
      </p:pic>
      <p:sp>
        <p:nvSpPr>
          <p:cNvPr id="17" name="Shape 13"/>
          <p:cNvSpPr/>
          <p:nvPr/>
        </p:nvSpPr>
        <p:spPr>
          <a:xfrm>
            <a:off x="457200" y="5923148"/>
            <a:ext cx="1802384"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548640" y="5996300"/>
            <a:ext cx="73152" cy="73152"/>
          </a:xfrm>
          <a:prstGeom prst="ellipse">
            <a:avLst/>
          </a:prstGeom>
          <a:solidFill>
            <a:srgbClr val="34D399"/>
          </a:solidFill>
          <a:ln/>
        </p:spPr>
      </p:sp>
      <p:sp>
        <p:nvSpPr>
          <p:cNvPr id="19" name="Text 15"/>
          <p:cNvSpPr txBox="1"/>
          <p:nvPr/>
        </p:nvSpPr>
        <p:spPr>
          <a:xfrm>
            <a:off x="676656" y="5923148"/>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0" name="Text 16"/>
          <p:cNvSpPr txBox="1"/>
          <p:nvPr/>
        </p:nvSpPr>
        <p:spPr>
          <a:xfrm>
            <a:off x="2369312" y="5955152"/>
            <a:ext cx="222279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Round-table list</a:t>
            </a:r>
            <a:endParaRPr lang="en-US" sz="1000" dirty="0"/>
          </a:p>
        </p:txBody>
      </p:sp>
      <p:pic>
        <p:nvPicPr>
          <p:cNvPr id="21" name="Image 1" descr="/tmp/claude-0/-home-user-Chronopoli/d7458f57-86b2-5920-914e-8615357fee63/scratchpad/deck-master/framed/symposium_detail.png">    </p:cNvPr>
          <p:cNvPicPr>
            <a:picLocks noChangeAspect="1"/>
          </p:cNvPicPr>
          <p:nvPr/>
        </p:nvPicPr>
        <p:blipFill>
          <a:blip r:embed="rId3"/>
          <a:stretch>
            <a:fillRect/>
          </a:stretch>
        </p:blipFill>
        <p:spPr>
          <a:xfrm>
            <a:off x="4848083" y="1871753"/>
            <a:ext cx="4115834" cy="4024016"/>
          </a:xfrm>
          <a:prstGeom prst="rect">
            <a:avLst/>
          </a:prstGeom>
        </p:spPr>
      </p:pic>
      <p:sp>
        <p:nvSpPr>
          <p:cNvPr id="22" name="Shape 17"/>
          <p:cNvSpPr/>
          <p:nvPr/>
        </p:nvSpPr>
        <p:spPr>
          <a:xfrm>
            <a:off x="4957865" y="5923148"/>
            <a:ext cx="1802384" cy="219456"/>
          </a:xfrm>
          <a:prstGeom prst="roundRect">
            <a:avLst>
              <a:gd name="adj" fmla="val 50000"/>
            </a:avLst>
          </a:prstGeom>
          <a:solidFill>
            <a:srgbClr val="1B1B27"/>
          </a:solidFill>
          <a:ln w="9525">
            <a:solidFill>
              <a:srgbClr val="3A3A50"/>
            </a:solidFill>
            <a:prstDash val="solid"/>
          </a:ln>
        </p:spPr>
      </p:sp>
      <p:sp>
        <p:nvSpPr>
          <p:cNvPr id="23" name="Shape 18"/>
          <p:cNvSpPr/>
          <p:nvPr/>
        </p:nvSpPr>
        <p:spPr>
          <a:xfrm>
            <a:off x="5049305" y="5996300"/>
            <a:ext cx="73152" cy="73152"/>
          </a:xfrm>
          <a:prstGeom prst="ellipse">
            <a:avLst/>
          </a:prstGeom>
          <a:solidFill>
            <a:srgbClr val="34D399"/>
          </a:solidFill>
          <a:ln/>
        </p:spPr>
      </p:sp>
      <p:sp>
        <p:nvSpPr>
          <p:cNvPr id="24" name="Text 19"/>
          <p:cNvSpPr txBox="1"/>
          <p:nvPr/>
        </p:nvSpPr>
        <p:spPr>
          <a:xfrm>
            <a:off x="5177321" y="5923148"/>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5" name="Text 20"/>
          <p:cNvSpPr txBox="1"/>
          <p:nvPr/>
        </p:nvSpPr>
        <p:spPr>
          <a:xfrm>
            <a:off x="6869977" y="5955152"/>
            <a:ext cx="198415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Agenda and panel</a:t>
            </a:r>
            <a:endParaRPr lang="en-US" sz="1000" dirty="0"/>
          </a:p>
        </p:txBody>
      </p:sp>
      <p:sp>
        <p:nvSpPr>
          <p:cNvPr id="26" name="Text 21"/>
          <p:cNvSpPr txBox="1"/>
          <p:nvPr/>
        </p:nvSpPr>
        <p:spPr>
          <a:xfrm>
            <a:off x="9265615" y="2702662"/>
            <a:ext cx="2468880" cy="2417064"/>
          </a:xfrm>
          <a:prstGeom prst="rect">
            <a:avLst/>
          </a:prstGeom>
          <a:noFill/>
          <a:ln/>
        </p:spPr>
        <p:txBody>
          <a:bodyPr wrap="square" lIns="0" tIns="0" rIns="0" bIns="0" rtlCol="0" anchor="t"/>
          <a:lstStyle/>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Lifecycle:</a:t>
            </a:r>
            <a:r>
              <a:rPr lang="en-US" sz="1400" dirty="0">
                <a:solidFill>
                  <a:srgbClr val="E8E8F0"/>
                </a:solidFill>
                <a:latin typeface="Arial" pitchFamily="34" charset="0"/>
                <a:ea typeface="Arial" pitchFamily="34" charset="-122"/>
                <a:cs typeface="Arial" pitchFamily="34" charset="-120"/>
              </a:rPr>
              <a:t> draft, open for invitations, confirmed, live, processing, published</a:t>
            </a:r>
            <a:endParaRPr lang="en-US" sz="1400" dirty="0"/>
          </a:p>
          <a:p>
            <a:pPr marL="165100" indent="-165100">
              <a:spcAft>
                <a:spcPts val="9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Invitations:</a:t>
            </a:r>
            <a:r>
              <a:rPr lang="en-US" sz="1400" dirty="0">
                <a:solidFill>
                  <a:srgbClr val="E8E8F0"/>
                </a:solidFill>
                <a:latin typeface="Arial" pitchFamily="34" charset="0"/>
                <a:ea typeface="Arial" pitchFamily="34" charset="-122"/>
                <a:cs typeface="Arial" pitchFamily="34" charset="-120"/>
              </a:rPr>
              <a:t> secure and expiring, with moderator, panelist and observer roles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Partner Intelligence Report:</a:t>
            </a:r>
            <a:r>
              <a:rPr lang="en-US" sz="1400" dirty="0">
                <a:solidFill>
                  <a:srgbClr val="E8E8F0"/>
                </a:solidFill>
                <a:latin typeface="Arial" pitchFamily="34" charset="0"/>
                <a:ea typeface="Arial" pitchFamily="34" charset="-122"/>
                <a:cs typeface="Arial" pitchFamily="34" charset="-120"/>
              </a:rPr>
              <a:t> the sponsor receives one after every session</a:t>
            </a:r>
            <a:endParaRPr lang="en-US" sz="1400" dirty="0"/>
          </a:p>
        </p:txBody>
      </p:sp>
      <p:sp>
        <p:nvSpPr>
          <p:cNvPr id="27" name="Text 2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8" name="Text 2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0043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6269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PUBLISH</a:t>
            </a:r>
            <a:endParaRPr lang="en-US" sz="900" dirty="0"/>
          </a:p>
        </p:txBody>
      </p:sp>
      <p:sp>
        <p:nvSpPr>
          <p:cNvPr id="5" name="Shape 2"/>
          <p:cNvSpPr/>
          <p:nvPr/>
        </p:nvSpPr>
        <p:spPr>
          <a:xfrm>
            <a:off x="2722230" y="470916"/>
            <a:ext cx="82296" cy="82296"/>
          </a:xfrm>
          <a:prstGeom prst="ellipse">
            <a:avLst/>
          </a:prstGeom>
          <a:solidFill>
            <a:srgbClr val="9B7A2E"/>
          </a:solidFill>
          <a:ln/>
        </p:spPr>
      </p:sp>
      <p:sp>
        <p:nvSpPr>
          <p:cNvPr id="6" name="Shape 3"/>
          <p:cNvSpPr/>
          <p:nvPr/>
        </p:nvSpPr>
        <p:spPr>
          <a:xfrm>
            <a:off x="2863962" y="470916"/>
            <a:ext cx="82296" cy="82296"/>
          </a:xfrm>
          <a:prstGeom prst="ellipse">
            <a:avLst/>
          </a:prstGeom>
          <a:solidFill>
            <a:srgbClr val="9B7A2E"/>
          </a:solidFill>
          <a:ln/>
        </p:spPr>
      </p:sp>
      <p:sp>
        <p:nvSpPr>
          <p:cNvPr id="7" name="Shape 4"/>
          <p:cNvSpPr/>
          <p:nvPr/>
        </p:nvSpPr>
        <p:spPr>
          <a:xfrm>
            <a:off x="3005694" y="470916"/>
            <a:ext cx="82296" cy="82296"/>
          </a:xfrm>
          <a:prstGeom prst="ellipse">
            <a:avLst/>
          </a:prstGeom>
          <a:solidFill>
            <a:srgbClr val="9B7A2E"/>
          </a:solidFill>
          <a:ln/>
        </p:spPr>
      </p:sp>
      <p:sp>
        <p:nvSpPr>
          <p:cNvPr id="8" name="Shape 5"/>
          <p:cNvSpPr/>
          <p:nvPr/>
        </p:nvSpPr>
        <p:spPr>
          <a:xfrm>
            <a:off x="3147426" y="470916"/>
            <a:ext cx="82296" cy="82296"/>
          </a:xfrm>
          <a:prstGeom prst="ellipse">
            <a:avLst/>
          </a:prstGeom>
          <a:solidFill>
            <a:srgbClr val="F0C96B"/>
          </a:solidFill>
          <a:ln/>
        </p:spPr>
      </p:sp>
      <p:sp>
        <p:nvSpPr>
          <p:cNvPr id="9" name="Shape 6"/>
          <p:cNvSpPr/>
          <p:nvPr/>
        </p:nvSpPr>
        <p:spPr>
          <a:xfrm>
            <a:off x="3289158" y="470916"/>
            <a:ext cx="82296" cy="82296"/>
          </a:xfrm>
          <a:prstGeom prst="ellipse">
            <a:avLst/>
          </a:prstGeom>
          <a:solidFill>
            <a:srgbClr val="34344A"/>
          </a:solidFill>
          <a:ln/>
        </p:spPr>
      </p:sp>
      <p:sp>
        <p:nvSpPr>
          <p:cNvPr id="10" name="Shape 7"/>
          <p:cNvSpPr/>
          <p:nvPr/>
        </p:nvSpPr>
        <p:spPr>
          <a:xfrm>
            <a:off x="3430890" y="470916"/>
            <a:ext cx="82296" cy="82296"/>
          </a:xfrm>
          <a:prstGeom prst="ellipse">
            <a:avLst/>
          </a:prstGeom>
          <a:solidFill>
            <a:srgbClr val="34344A"/>
          </a:solidFill>
          <a:ln/>
        </p:spPr>
      </p:sp>
      <p:sp>
        <p:nvSpPr>
          <p:cNvPr id="11" name="Shape 8"/>
          <p:cNvSpPr/>
          <p:nvPr/>
        </p:nvSpPr>
        <p:spPr>
          <a:xfrm>
            <a:off x="3682350" y="384048"/>
            <a:ext cx="1892244"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3837798" y="384048"/>
            <a:ext cx="1654500"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01 · SYMPOSIA</a:t>
            </a:r>
            <a:endParaRPr lang="en-US" sz="900" dirty="0"/>
          </a:p>
        </p:txBody>
      </p:sp>
      <p:sp>
        <p:nvSpPr>
          <p:cNvPr id="13" name="Text 10"/>
          <p:cNvSpPr txBox="1"/>
          <p:nvPr/>
        </p:nvSpPr>
        <p:spPr>
          <a:xfrm>
            <a:off x="5848914" y="384048"/>
            <a:ext cx="5885581"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Dr. Amira Haddad, moderator (fictitious) · Mock output texts</a:t>
            </a:r>
            <a:endParaRPr lang="en-US" sz="1050" dirty="0"/>
          </a:p>
        </p:txBody>
      </p:sp>
      <p:sp>
        <p:nvSpPr>
          <p:cNvPr id="14" name="Text 11"/>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5" name="Text 12"/>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From one round table: opinion paper, LinkedIn posts, Instagram carousel, partner report, AI-tutor update</a:t>
            </a:r>
            <a:endParaRPr lang="en-US" sz="1600" dirty="0"/>
          </a:p>
        </p:txBody>
      </p:sp>
      <p:pic>
        <p:nvPicPr>
          <p:cNvPr id="16" name="Image 0" descr="/tmp/claude-0/-home-user-Chronopoli/d7458f57-86b2-5920-914e-8615357fee63/scratchpad/deck-master/framed/symposium_after.png">    </p:cNvPr>
          <p:cNvPicPr>
            <a:picLocks noChangeAspect="1"/>
          </p:cNvPicPr>
          <p:nvPr/>
        </p:nvPicPr>
        <p:blipFill>
          <a:blip r:embed="rId2"/>
          <a:stretch>
            <a:fillRect/>
          </a:stretch>
        </p:blipFill>
        <p:spPr>
          <a:xfrm>
            <a:off x="3526444" y="1812782"/>
            <a:ext cx="3647714" cy="3087351"/>
          </a:xfrm>
          <a:prstGeom prst="rect">
            <a:avLst/>
          </a:prstGeom>
        </p:spPr>
      </p:pic>
      <p:sp>
        <p:nvSpPr>
          <p:cNvPr id="17" name="Shape 13"/>
          <p:cNvSpPr/>
          <p:nvPr/>
        </p:nvSpPr>
        <p:spPr>
          <a:xfrm>
            <a:off x="3622812" y="4940925"/>
            <a:ext cx="1802384"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3714252" y="5014077"/>
            <a:ext cx="73152" cy="73152"/>
          </a:xfrm>
          <a:prstGeom prst="ellipse">
            <a:avLst/>
          </a:prstGeom>
          <a:solidFill>
            <a:srgbClr val="34D399"/>
          </a:solidFill>
          <a:ln/>
        </p:spPr>
      </p:sp>
      <p:sp>
        <p:nvSpPr>
          <p:cNvPr id="19" name="Text 15"/>
          <p:cNvSpPr txBox="1"/>
          <p:nvPr/>
        </p:nvSpPr>
        <p:spPr>
          <a:xfrm>
            <a:off x="3842268" y="4940925"/>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0" name="Text 16"/>
          <p:cNvSpPr txBox="1"/>
          <p:nvPr/>
        </p:nvSpPr>
        <p:spPr>
          <a:xfrm>
            <a:off x="5534924" y="4972929"/>
            <a:ext cx="154286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Outputs</a:t>
            </a:r>
            <a:endParaRPr lang="en-US" sz="1000" dirty="0"/>
          </a:p>
        </p:txBody>
      </p:sp>
      <p:sp>
        <p:nvSpPr>
          <p:cNvPr id="21" name="Text 17"/>
          <p:cNvSpPr txBox="1"/>
          <p:nvPr/>
        </p:nvSpPr>
        <p:spPr>
          <a:xfrm>
            <a:off x="3622812" y="5361549"/>
            <a:ext cx="3454978"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Five outputs:</a:t>
            </a:r>
            <a:r>
              <a:rPr lang="en-US" sz="1400" dirty="0">
                <a:solidFill>
                  <a:srgbClr val="E8E8F0"/>
                </a:solidFill>
                <a:latin typeface="Arial" pitchFamily="34" charset="0"/>
                <a:ea typeface="Arial" pitchFamily="34" charset="-122"/>
                <a:cs typeface="Arial" pitchFamily="34" charset="-120"/>
              </a:rPr>
              <a:t> these four, plus an AI-tutor update once approved</a:t>
            </a:r>
            <a:endParaRPr lang="en-US" sz="1400" dirty="0"/>
          </a:p>
        </p:txBody>
      </p:sp>
      <p:pic>
        <p:nvPicPr>
          <p:cNvPr id="22" name="Image 1" descr="/tmp/claude-0/-home-user-Chronopoli/d7458f57-86b2-5920-914e-8615357fee63/scratchpad/deck-master/framed/approval_queue.png">    </p:cNvPr>
          <p:cNvPicPr>
            <a:picLocks noChangeAspect="1"/>
          </p:cNvPicPr>
          <p:nvPr/>
        </p:nvPicPr>
        <p:blipFill>
          <a:blip r:embed="rId3"/>
          <a:stretch>
            <a:fillRect/>
          </a:stretch>
        </p:blipFill>
        <p:spPr>
          <a:xfrm>
            <a:off x="7323864" y="1789465"/>
            <a:ext cx="4530316" cy="3133986"/>
          </a:xfrm>
          <a:prstGeom prst="rect">
            <a:avLst/>
          </a:prstGeom>
        </p:spPr>
      </p:pic>
      <p:sp>
        <p:nvSpPr>
          <p:cNvPr id="23" name="Shape 18"/>
          <p:cNvSpPr/>
          <p:nvPr/>
        </p:nvSpPr>
        <p:spPr>
          <a:xfrm>
            <a:off x="7443550" y="4940925"/>
            <a:ext cx="1802384"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7534990" y="5014077"/>
            <a:ext cx="73152" cy="73152"/>
          </a:xfrm>
          <a:prstGeom prst="ellipse">
            <a:avLst/>
          </a:prstGeom>
          <a:solidFill>
            <a:srgbClr val="34D399"/>
          </a:solidFill>
          <a:ln/>
        </p:spPr>
      </p:sp>
      <p:sp>
        <p:nvSpPr>
          <p:cNvPr id="25" name="Text 20"/>
          <p:cNvSpPr txBox="1"/>
          <p:nvPr/>
        </p:nvSpPr>
        <p:spPr>
          <a:xfrm>
            <a:off x="7663006" y="4940925"/>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26" name="Text 21"/>
          <p:cNvSpPr txBox="1"/>
          <p:nvPr/>
        </p:nvSpPr>
        <p:spPr>
          <a:xfrm>
            <a:off x="9355662" y="4972929"/>
            <a:ext cx="237883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Approvals</a:t>
            </a:r>
            <a:endParaRPr lang="en-US" sz="1000" dirty="0"/>
          </a:p>
        </p:txBody>
      </p:sp>
      <p:sp>
        <p:nvSpPr>
          <p:cNvPr id="27" name="Text 22"/>
          <p:cNvSpPr txBox="1"/>
          <p:nvPr/>
        </p:nvSpPr>
        <p:spPr>
          <a:xfrm>
            <a:off x="7443550" y="5361549"/>
            <a:ext cx="4290945" cy="69494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One human approves (~10 min):</a:t>
            </a:r>
            <a:r>
              <a:rPr lang="en-US" sz="1400" dirty="0">
                <a:solidFill>
                  <a:srgbClr val="E8E8F0"/>
                </a:solidFill>
                <a:latin typeface="Arial" pitchFamily="34" charset="0"/>
                <a:ea typeface="Arial" pitchFamily="34" charset="-122"/>
                <a:cs typeface="Arial" pitchFamily="34" charset="-120"/>
              </a:rPr>
              <a:t> nothing auto-publishes; Chatham House anonymisation is required before launch</a:t>
            </a:r>
            <a:endParaRPr lang="en-US" sz="1400" dirty="0"/>
          </a:p>
        </p:txBody>
      </p:sp>
      <p:sp>
        <p:nvSpPr>
          <p:cNvPr id="28" name="Text 23"/>
          <p:cNvSpPr txBox="1"/>
          <p:nvPr/>
        </p:nvSpPr>
        <p:spPr>
          <a:xfrm>
            <a:off x="457200" y="1890862"/>
            <a:ext cx="2377440" cy="182880"/>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PIPELINE STEPS</a:t>
            </a:r>
            <a:endParaRPr lang="en-US" sz="850" dirty="0"/>
          </a:p>
        </p:txBody>
      </p:sp>
      <p:sp>
        <p:nvSpPr>
          <p:cNvPr id="29" name="Shape 24"/>
          <p:cNvSpPr/>
          <p:nvPr/>
        </p:nvSpPr>
        <p:spPr>
          <a:xfrm>
            <a:off x="1645920" y="2306914"/>
            <a:ext cx="0" cy="2373407"/>
          </a:xfrm>
          <a:prstGeom prst="line">
            <a:avLst/>
          </a:prstGeom>
          <a:noFill/>
          <a:ln w="15875">
            <a:solidFill>
              <a:srgbClr val="9B7A2E"/>
            </a:solidFill>
            <a:prstDash val="solid"/>
          </a:ln>
        </p:spPr>
      </p:sp>
      <p:sp>
        <p:nvSpPr>
          <p:cNvPr id="30" name="Shape 25"/>
          <p:cNvSpPr/>
          <p:nvPr/>
        </p:nvSpPr>
        <p:spPr>
          <a:xfrm>
            <a:off x="457200" y="2183470"/>
            <a:ext cx="2377440" cy="246888"/>
          </a:xfrm>
          <a:prstGeom prst="roundRect">
            <a:avLst>
              <a:gd name="adj" fmla="val 50000"/>
            </a:avLst>
          </a:prstGeom>
          <a:solidFill>
            <a:srgbClr val="1B1B27"/>
          </a:solidFill>
          <a:ln w="9525">
            <a:solidFill>
              <a:srgbClr val="3A3A50"/>
            </a:solidFill>
            <a:prstDash val="solid"/>
          </a:ln>
        </p:spPr>
      </p:sp>
      <p:sp>
        <p:nvSpPr>
          <p:cNvPr id="31" name="Text 26"/>
          <p:cNvSpPr txBox="1"/>
          <p:nvPr/>
        </p:nvSpPr>
        <p:spPr>
          <a:xfrm>
            <a:off x="457200" y="2183470"/>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Session recorded</a:t>
            </a:r>
            <a:endParaRPr lang="en-US" sz="950" dirty="0"/>
          </a:p>
        </p:txBody>
      </p:sp>
      <p:sp>
        <p:nvSpPr>
          <p:cNvPr id="32" name="Shape 27"/>
          <p:cNvSpPr/>
          <p:nvPr/>
        </p:nvSpPr>
        <p:spPr>
          <a:xfrm>
            <a:off x="457200" y="2522528"/>
            <a:ext cx="2377440" cy="246888"/>
          </a:xfrm>
          <a:prstGeom prst="roundRect">
            <a:avLst>
              <a:gd name="adj" fmla="val 50000"/>
            </a:avLst>
          </a:prstGeom>
          <a:solidFill>
            <a:srgbClr val="1B1B27"/>
          </a:solidFill>
          <a:ln w="9525">
            <a:solidFill>
              <a:srgbClr val="3A3A50"/>
            </a:solidFill>
            <a:prstDash val="solid"/>
          </a:ln>
        </p:spPr>
      </p:sp>
      <p:sp>
        <p:nvSpPr>
          <p:cNvPr id="33" name="Text 28"/>
          <p:cNvSpPr txBox="1"/>
          <p:nvPr/>
        </p:nvSpPr>
        <p:spPr>
          <a:xfrm>
            <a:off x="457200" y="2522528"/>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Recording stored</a:t>
            </a:r>
            <a:endParaRPr lang="en-US" sz="950" dirty="0"/>
          </a:p>
        </p:txBody>
      </p:sp>
      <p:sp>
        <p:nvSpPr>
          <p:cNvPr id="34" name="Shape 29"/>
          <p:cNvSpPr/>
          <p:nvPr/>
        </p:nvSpPr>
        <p:spPr>
          <a:xfrm>
            <a:off x="457200" y="2861586"/>
            <a:ext cx="2377440" cy="246888"/>
          </a:xfrm>
          <a:prstGeom prst="roundRect">
            <a:avLst>
              <a:gd name="adj" fmla="val 50000"/>
            </a:avLst>
          </a:prstGeom>
          <a:solidFill>
            <a:srgbClr val="1B1B27"/>
          </a:solidFill>
          <a:ln w="9525">
            <a:solidFill>
              <a:srgbClr val="3A3A50"/>
            </a:solidFill>
            <a:prstDash val="solid"/>
          </a:ln>
        </p:spPr>
      </p:sp>
      <p:sp>
        <p:nvSpPr>
          <p:cNvPr id="35" name="Text 30"/>
          <p:cNvSpPr txBox="1"/>
          <p:nvPr/>
        </p:nvSpPr>
        <p:spPr>
          <a:xfrm>
            <a:off x="457200" y="2861586"/>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Pipeline starts</a:t>
            </a:r>
            <a:endParaRPr lang="en-US" sz="950" dirty="0"/>
          </a:p>
        </p:txBody>
      </p:sp>
      <p:sp>
        <p:nvSpPr>
          <p:cNvPr id="36" name="Shape 31"/>
          <p:cNvSpPr/>
          <p:nvPr/>
        </p:nvSpPr>
        <p:spPr>
          <a:xfrm>
            <a:off x="457200" y="3200645"/>
            <a:ext cx="2377440" cy="246888"/>
          </a:xfrm>
          <a:prstGeom prst="roundRect">
            <a:avLst>
              <a:gd name="adj" fmla="val 50000"/>
            </a:avLst>
          </a:prstGeom>
          <a:solidFill>
            <a:srgbClr val="1B1B27"/>
          </a:solidFill>
          <a:ln w="9525">
            <a:solidFill>
              <a:srgbClr val="3A3A50"/>
            </a:solidFill>
            <a:prstDash val="solid"/>
          </a:ln>
        </p:spPr>
      </p:sp>
      <p:sp>
        <p:nvSpPr>
          <p:cNvPr id="37" name="Text 32"/>
          <p:cNvSpPr txBox="1"/>
          <p:nvPr/>
        </p:nvSpPr>
        <p:spPr>
          <a:xfrm>
            <a:off x="457200" y="3200645"/>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Transcript</a:t>
            </a:r>
            <a:endParaRPr lang="en-US" sz="950" dirty="0"/>
          </a:p>
        </p:txBody>
      </p:sp>
      <p:sp>
        <p:nvSpPr>
          <p:cNvPr id="38" name="Shape 33"/>
          <p:cNvSpPr/>
          <p:nvPr/>
        </p:nvSpPr>
        <p:spPr>
          <a:xfrm>
            <a:off x="457200" y="3539703"/>
            <a:ext cx="2377440" cy="246888"/>
          </a:xfrm>
          <a:prstGeom prst="roundRect">
            <a:avLst>
              <a:gd name="adj" fmla="val 50000"/>
            </a:avLst>
          </a:prstGeom>
          <a:solidFill>
            <a:srgbClr val="1B1B27"/>
          </a:solidFill>
          <a:ln w="9525">
            <a:solidFill>
              <a:srgbClr val="3A3A50"/>
            </a:solidFill>
            <a:prstDash val="solid"/>
          </a:ln>
        </p:spPr>
      </p:sp>
      <p:sp>
        <p:nvSpPr>
          <p:cNvPr id="39" name="Text 34"/>
          <p:cNvSpPr txBox="1"/>
          <p:nvPr/>
        </p:nvSpPr>
        <p:spPr>
          <a:xfrm>
            <a:off x="457200" y="3539703"/>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AI analysis</a:t>
            </a:r>
            <a:endParaRPr lang="en-US" sz="950" dirty="0"/>
          </a:p>
        </p:txBody>
      </p:sp>
      <p:sp>
        <p:nvSpPr>
          <p:cNvPr id="40" name="Shape 35"/>
          <p:cNvSpPr/>
          <p:nvPr/>
        </p:nvSpPr>
        <p:spPr>
          <a:xfrm>
            <a:off x="457200" y="3878761"/>
            <a:ext cx="2377440" cy="246888"/>
          </a:xfrm>
          <a:prstGeom prst="roundRect">
            <a:avLst>
              <a:gd name="adj" fmla="val 50000"/>
            </a:avLst>
          </a:prstGeom>
          <a:solidFill>
            <a:srgbClr val="1B1B27"/>
          </a:solidFill>
          <a:ln w="9525">
            <a:solidFill>
              <a:srgbClr val="3A3A50"/>
            </a:solidFill>
            <a:prstDash val="solid"/>
          </a:ln>
        </p:spPr>
      </p:sp>
      <p:sp>
        <p:nvSpPr>
          <p:cNvPr id="41" name="Text 36"/>
          <p:cNvSpPr txBox="1"/>
          <p:nvPr/>
        </p:nvSpPr>
        <p:spPr>
          <a:xfrm>
            <a:off x="457200" y="3878761"/>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4 drafts in parallel</a:t>
            </a:r>
            <a:endParaRPr lang="en-US" sz="950" dirty="0"/>
          </a:p>
        </p:txBody>
      </p:sp>
      <p:sp>
        <p:nvSpPr>
          <p:cNvPr id="42" name="Shape 37"/>
          <p:cNvSpPr/>
          <p:nvPr/>
        </p:nvSpPr>
        <p:spPr>
          <a:xfrm>
            <a:off x="457200" y="4217819"/>
            <a:ext cx="2377440" cy="246888"/>
          </a:xfrm>
          <a:prstGeom prst="roundRect">
            <a:avLst>
              <a:gd name="adj" fmla="val 50000"/>
            </a:avLst>
          </a:prstGeom>
          <a:solidFill>
            <a:srgbClr val="1B1B27"/>
          </a:solidFill>
          <a:ln w="9525">
            <a:solidFill>
              <a:srgbClr val="3A3A50"/>
            </a:solidFill>
            <a:prstDash val="solid"/>
          </a:ln>
        </p:spPr>
      </p:sp>
      <p:sp>
        <p:nvSpPr>
          <p:cNvPr id="43" name="Text 38"/>
          <p:cNvSpPr txBox="1"/>
          <p:nvPr/>
        </p:nvSpPr>
        <p:spPr>
          <a:xfrm>
            <a:off x="457200" y="4217819"/>
            <a:ext cx="2377440" cy="246888"/>
          </a:xfrm>
          <a:prstGeom prst="rect">
            <a:avLst/>
          </a:prstGeom>
          <a:noFill/>
          <a:ln/>
        </p:spPr>
        <p:txBody>
          <a:bodyPr wrap="square" lIns="0" tIns="0" rIns="0" bIns="0" rtlCol="0" anchor="ctr"/>
          <a:lstStyle/>
          <a:p>
            <a:pPr algn="ctr" indent="0" marL="0">
              <a:buNone/>
            </a:pPr>
            <a:r>
              <a:rPr lang="en-US" sz="950" b="1" dirty="0">
                <a:solidFill>
                  <a:srgbClr val="E8E8F0"/>
                </a:solidFill>
                <a:latin typeface="Arial" pitchFamily="34" charset="0"/>
                <a:ea typeface="Arial" pitchFamily="34" charset="-122"/>
                <a:cs typeface="Arial" pitchFamily="34" charset="-120"/>
              </a:rPr>
              <a:t>Approval queue</a:t>
            </a:r>
            <a:endParaRPr lang="en-US" sz="950" dirty="0"/>
          </a:p>
        </p:txBody>
      </p:sp>
      <p:sp>
        <p:nvSpPr>
          <p:cNvPr id="44" name="Shape 39"/>
          <p:cNvSpPr/>
          <p:nvPr/>
        </p:nvSpPr>
        <p:spPr>
          <a:xfrm>
            <a:off x="457200" y="4556877"/>
            <a:ext cx="2377440" cy="246888"/>
          </a:xfrm>
          <a:prstGeom prst="roundRect">
            <a:avLst>
              <a:gd name="adj" fmla="val 50000"/>
            </a:avLst>
          </a:prstGeom>
          <a:solidFill>
            <a:srgbClr val="231E12"/>
          </a:solidFill>
          <a:ln w="9525">
            <a:solidFill>
              <a:srgbClr val="C9A84C"/>
            </a:solidFill>
            <a:prstDash val="solid"/>
          </a:ln>
        </p:spPr>
      </p:sp>
      <p:sp>
        <p:nvSpPr>
          <p:cNvPr id="45" name="Text 40"/>
          <p:cNvSpPr txBox="1"/>
          <p:nvPr/>
        </p:nvSpPr>
        <p:spPr>
          <a:xfrm>
            <a:off x="457200" y="4556877"/>
            <a:ext cx="2377440" cy="246888"/>
          </a:xfrm>
          <a:prstGeom prst="rect">
            <a:avLst/>
          </a:prstGeom>
          <a:noFill/>
          <a:ln/>
        </p:spPr>
        <p:txBody>
          <a:bodyPr wrap="square" lIns="0" tIns="0" rIns="0" bIns="0" rtlCol="0" anchor="ctr"/>
          <a:lstStyle/>
          <a:p>
            <a:pPr algn="ctr" indent="0" marL="0">
              <a:buNone/>
            </a:pPr>
            <a:r>
              <a:rPr lang="en-US" sz="950" b="1" dirty="0">
                <a:solidFill>
                  <a:srgbClr val="F0C96B"/>
                </a:solidFill>
                <a:latin typeface="Arial" pitchFamily="34" charset="0"/>
                <a:ea typeface="Arial" pitchFamily="34" charset="-122"/>
                <a:cs typeface="Arial" pitchFamily="34" charset="-120"/>
              </a:rPr>
              <a:t>One human approves</a:t>
            </a:r>
            <a:endParaRPr lang="en-US" sz="950" dirty="0"/>
          </a:p>
        </p:txBody>
      </p:sp>
      <p:sp>
        <p:nvSpPr>
          <p:cNvPr id="46" name="Text 41"/>
          <p:cNvSpPr txBox="1"/>
          <p:nvPr/>
        </p:nvSpPr>
        <p:spPr>
          <a:xfrm>
            <a:off x="457200" y="5361549"/>
            <a:ext cx="2377440" cy="90830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Automated:</a:t>
            </a:r>
            <a:r>
              <a:rPr lang="en-US" sz="1400" dirty="0">
                <a:solidFill>
                  <a:srgbClr val="E8E8F0"/>
                </a:solidFill>
                <a:latin typeface="Arial" pitchFamily="34" charset="0"/>
                <a:ea typeface="Arial" pitchFamily="34" charset="-122"/>
                <a:cs typeface="Arial" pitchFamily="34" charset="-120"/>
              </a:rPr>
              <a:t> from the session recording to four drafts, with no manual step</a:t>
            </a:r>
            <a:endParaRPr lang="en-US" sz="1400" dirty="0"/>
          </a:p>
        </p:txBody>
      </p:sp>
      <p:sp>
        <p:nvSpPr>
          <p:cNvPr id="47" name="Text 4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48"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52969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29195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MASTERCLASS</a:t>
            </a:r>
            <a:endParaRPr lang="en-US" sz="900" dirty="0"/>
          </a:p>
        </p:txBody>
      </p:sp>
      <p:sp>
        <p:nvSpPr>
          <p:cNvPr id="5" name="Shape 2"/>
          <p:cNvSpPr/>
          <p:nvPr/>
        </p:nvSpPr>
        <p:spPr>
          <a:xfrm>
            <a:off x="3151487" y="470916"/>
            <a:ext cx="82296" cy="82296"/>
          </a:xfrm>
          <a:prstGeom prst="ellipse">
            <a:avLst/>
          </a:prstGeom>
          <a:solidFill>
            <a:srgbClr val="9B7A2E"/>
          </a:solidFill>
          <a:ln/>
        </p:spPr>
      </p:sp>
      <p:sp>
        <p:nvSpPr>
          <p:cNvPr id="6" name="Shape 3"/>
          <p:cNvSpPr/>
          <p:nvPr/>
        </p:nvSpPr>
        <p:spPr>
          <a:xfrm>
            <a:off x="3293219" y="470916"/>
            <a:ext cx="82296" cy="82296"/>
          </a:xfrm>
          <a:prstGeom prst="ellipse">
            <a:avLst/>
          </a:prstGeom>
          <a:solidFill>
            <a:srgbClr val="9B7A2E"/>
          </a:solidFill>
          <a:ln/>
        </p:spPr>
      </p:sp>
      <p:sp>
        <p:nvSpPr>
          <p:cNvPr id="7" name="Shape 4"/>
          <p:cNvSpPr/>
          <p:nvPr/>
        </p:nvSpPr>
        <p:spPr>
          <a:xfrm>
            <a:off x="3434951" y="470916"/>
            <a:ext cx="82296" cy="82296"/>
          </a:xfrm>
          <a:prstGeom prst="ellipse">
            <a:avLst/>
          </a:prstGeom>
          <a:solidFill>
            <a:srgbClr val="9B7A2E"/>
          </a:solidFill>
          <a:ln/>
        </p:spPr>
      </p:sp>
      <p:sp>
        <p:nvSpPr>
          <p:cNvPr id="8" name="Shape 5"/>
          <p:cNvSpPr/>
          <p:nvPr/>
        </p:nvSpPr>
        <p:spPr>
          <a:xfrm>
            <a:off x="3576683" y="470916"/>
            <a:ext cx="82296" cy="82296"/>
          </a:xfrm>
          <a:prstGeom prst="ellipse">
            <a:avLst/>
          </a:prstGeom>
          <a:solidFill>
            <a:srgbClr val="9B7A2E"/>
          </a:solidFill>
          <a:ln/>
        </p:spPr>
      </p:sp>
      <p:sp>
        <p:nvSpPr>
          <p:cNvPr id="9" name="Shape 6"/>
          <p:cNvSpPr/>
          <p:nvPr/>
        </p:nvSpPr>
        <p:spPr>
          <a:xfrm>
            <a:off x="3718415" y="470916"/>
            <a:ext cx="82296" cy="82296"/>
          </a:xfrm>
          <a:prstGeom prst="ellipse">
            <a:avLst/>
          </a:prstGeom>
          <a:solidFill>
            <a:srgbClr val="F0C96B"/>
          </a:solidFill>
          <a:ln/>
        </p:spPr>
      </p:sp>
      <p:sp>
        <p:nvSpPr>
          <p:cNvPr id="10" name="Shape 7"/>
          <p:cNvSpPr/>
          <p:nvPr/>
        </p:nvSpPr>
        <p:spPr>
          <a:xfrm>
            <a:off x="3860147" y="470916"/>
            <a:ext cx="82296" cy="82296"/>
          </a:xfrm>
          <a:prstGeom prst="ellipse">
            <a:avLst/>
          </a:prstGeom>
          <a:solidFill>
            <a:srgbClr val="34344A"/>
          </a:solidFill>
          <a:ln/>
        </p:spPr>
      </p:sp>
      <p:sp>
        <p:nvSpPr>
          <p:cNvPr id="11" name="Shape 8"/>
          <p:cNvSpPr/>
          <p:nvPr/>
        </p:nvSpPr>
        <p:spPr>
          <a:xfrm>
            <a:off x="4111607" y="384048"/>
            <a:ext cx="2491610" cy="256032"/>
          </a:xfrm>
          <a:prstGeom prst="roundRect">
            <a:avLst>
              <a:gd name="adj" fmla="val 50000"/>
            </a:avLst>
          </a:prstGeom>
          <a:solidFill>
            <a:srgbClr val="1B1B27"/>
          </a:solidFill>
          <a:ln w="9525">
            <a:solidFill>
              <a:srgbClr val="3A3A50"/>
            </a:solidFill>
            <a:prstDash val="solid"/>
          </a:ln>
        </p:spPr>
      </p:sp>
      <p:sp>
        <p:nvSpPr>
          <p:cNvPr id="12" name="Text 9"/>
          <p:cNvSpPr txBox="1"/>
          <p:nvPr/>
        </p:nvSpPr>
        <p:spPr>
          <a:xfrm>
            <a:off x="4267055" y="384048"/>
            <a:ext cx="2253866"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PILLAR 03 · OPEN KNOWLEDGE</a:t>
            </a:r>
            <a:endParaRPr lang="en-US" sz="900" dirty="0"/>
          </a:p>
        </p:txBody>
      </p:sp>
      <p:sp>
        <p:nvSpPr>
          <p:cNvPr id="13" name="Text 10"/>
          <p:cNvSpPr txBox="1"/>
          <p:nvPr/>
        </p:nvSpPr>
        <p:spPr>
          <a:xfrm>
            <a:off x="6877538" y="384048"/>
            <a:ext cx="4856958"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Dr. Amira Haddad (staff), Layla (viewer) · The expert is fictitious</a:t>
            </a:r>
            <a:endParaRPr lang="en-US" sz="1050" dirty="0"/>
          </a:p>
        </p:txBody>
      </p:sp>
      <p:sp>
        <p:nvSpPr>
          <p:cNvPr id="14" name="Text 11"/>
          <p:cNvSpPr txBox="1"/>
          <p:nvPr/>
        </p:nvSpPr>
        <p:spPr>
          <a:xfrm>
            <a:off x="457200" y="768096"/>
            <a:ext cx="7406640" cy="990295"/>
          </a:xfrm>
          <a:prstGeom prst="rect">
            <a:avLst/>
          </a:prstGeom>
          <a:noFill/>
          <a:ln/>
        </p:spPr>
        <p:txBody>
          <a:bodyPr wrap="square" lIns="0" tIns="0" rIns="0" bIns="0" rtlCol="0" anchor="t"/>
          <a:lstStyle/>
          <a:p>
            <a:pPr indent="0" marL="0">
              <a:lnSpc>
                <a:spcPct val="93000"/>
              </a:lnSpc>
              <a:buNone/>
            </a:pPr>
            <a:r>
              <a:rPr lang="en-US" sz="3300" b="1" dirty="0">
                <a:solidFill>
                  <a:srgbClr val="FFFFFF"/>
                </a:solidFill>
                <a:latin typeface="Arial" pitchFamily="34" charset="0"/>
                <a:ea typeface="Arial" pitchFamily="34" charset="-122"/>
                <a:cs typeface="Arial" pitchFamily="34" charset="-120"/>
              </a:rPr>
              <a:t>Digital-twin masterclasses: scale an expert, with consent</a:t>
            </a:r>
            <a:endParaRPr lang="en-US" sz="3300" dirty="0"/>
          </a:p>
        </p:txBody>
      </p:sp>
      <p:sp>
        <p:nvSpPr>
          <p:cNvPr id="15" name="Text 12"/>
          <p:cNvSpPr txBox="1"/>
          <p:nvPr/>
        </p:nvSpPr>
        <p:spPr>
          <a:xfrm>
            <a:off x="8275320" y="770839"/>
            <a:ext cx="3459175" cy="941832"/>
          </a:xfrm>
          <a:prstGeom prst="rect">
            <a:avLst/>
          </a:prstGeom>
          <a:noFill/>
          <a:ln/>
        </p:spPr>
        <p:txBody>
          <a:bodyPr wrap="square" lIns="0" tIns="0" rIns="0" bIns="0" rtlCol="0" anchor="b"/>
          <a:lstStyle/>
          <a:p>
            <a:pPr indent="0" marL="0">
              <a:buNone/>
            </a:pPr>
            <a:r>
              <a:rPr lang="en-US" sz="1500" dirty="0">
                <a:solidFill>
                  <a:srgbClr val="B4B4C8"/>
                </a:solidFill>
                <a:latin typeface="Arial" pitchFamily="34" charset="0"/>
                <a:ea typeface="Arial" pitchFamily="34" charset="-122"/>
                <a:cs typeface="Arial" pitchFamily="34" charset="-120"/>
              </a:rPr>
              <a:t>An AI twin built from the expert's own published work, which prepares questions for the expert to approve and can teach live</a:t>
            </a:r>
            <a:endParaRPr lang="en-US" sz="1500" dirty="0"/>
          </a:p>
        </p:txBody>
      </p:sp>
      <p:pic>
        <p:nvPicPr>
          <p:cNvPr id="16" name="Image 0" descr="/tmp/claude-0/-home-user-Chronopoli/d7458f57-86b2-5920-914e-8615357fee63/scratchpad/deck-master/framed_v5/digital_twin.png">    </p:cNvPr>
          <p:cNvPicPr>
            <a:picLocks noChangeAspect="1"/>
          </p:cNvPicPr>
          <p:nvPr/>
        </p:nvPicPr>
        <p:blipFill>
          <a:blip r:embed="rId2"/>
          <a:stretch>
            <a:fillRect/>
          </a:stretch>
        </p:blipFill>
        <p:spPr>
          <a:xfrm>
            <a:off x="798483" y="1862238"/>
            <a:ext cx="5212360" cy="3505076"/>
          </a:xfrm>
          <a:prstGeom prst="rect">
            <a:avLst/>
          </a:prstGeom>
        </p:spPr>
      </p:pic>
      <p:sp>
        <p:nvSpPr>
          <p:cNvPr id="17" name="Shape 13"/>
          <p:cNvSpPr/>
          <p:nvPr/>
        </p:nvSpPr>
        <p:spPr>
          <a:xfrm>
            <a:off x="936300" y="5366656"/>
            <a:ext cx="2480869" cy="219456"/>
          </a:xfrm>
          <a:prstGeom prst="roundRect">
            <a:avLst>
              <a:gd name="adj" fmla="val 50000"/>
            </a:avLst>
          </a:prstGeom>
          <a:solidFill>
            <a:srgbClr val="1B1B27"/>
          </a:solidFill>
          <a:ln w="9525">
            <a:solidFill>
              <a:srgbClr val="3A3A50"/>
            </a:solidFill>
            <a:prstDash val="solid"/>
          </a:ln>
        </p:spPr>
      </p:sp>
      <p:sp>
        <p:nvSpPr>
          <p:cNvPr id="18" name="Shape 14"/>
          <p:cNvSpPr/>
          <p:nvPr/>
        </p:nvSpPr>
        <p:spPr>
          <a:xfrm>
            <a:off x="1027740" y="5439808"/>
            <a:ext cx="73152" cy="73152"/>
          </a:xfrm>
          <a:prstGeom prst="ellipse">
            <a:avLst/>
          </a:prstGeom>
          <a:solidFill>
            <a:srgbClr val="A9A9C6"/>
          </a:solidFill>
          <a:ln/>
        </p:spPr>
      </p:sp>
      <p:sp>
        <p:nvSpPr>
          <p:cNvPr id="19" name="Text 15"/>
          <p:cNvSpPr txBox="1"/>
          <p:nvPr/>
        </p:nvSpPr>
        <p:spPr>
          <a:xfrm>
            <a:off x="1155756" y="5366656"/>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0" name="Text 16"/>
          <p:cNvSpPr txBox="1"/>
          <p:nvPr/>
        </p:nvSpPr>
        <p:spPr>
          <a:xfrm>
            <a:off x="3526897" y="5398660"/>
            <a:ext cx="234613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Twin staff view</a:t>
            </a:r>
            <a:endParaRPr lang="en-US" sz="1000" dirty="0"/>
          </a:p>
        </p:txBody>
      </p:sp>
      <p:sp>
        <p:nvSpPr>
          <p:cNvPr id="21" name="Text 17"/>
          <p:cNvSpPr txBox="1"/>
          <p:nvPr/>
        </p:nvSpPr>
        <p:spPr>
          <a:xfrm>
            <a:off x="936300" y="5787280"/>
            <a:ext cx="4936726"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Built from the expert's own work:</a:t>
            </a:r>
            <a:r>
              <a:rPr lang="en-US" sz="1400" dirty="0">
                <a:solidFill>
                  <a:srgbClr val="E8E8F0"/>
                </a:solidFill>
                <a:latin typeface="Arial" pitchFamily="34" charset="0"/>
                <a:ea typeface="Arial" pitchFamily="34" charset="-122"/>
                <a:cs typeface="Arial" pitchFamily="34" charset="-120"/>
              </a:rPr>
              <a:t> AI maps the expert's positions; the expert approves every question</a:t>
            </a:r>
            <a:endParaRPr lang="en-US" sz="1400" dirty="0"/>
          </a:p>
        </p:txBody>
      </p:sp>
      <p:pic>
        <p:nvPicPr>
          <p:cNvPr id="22" name="Image 1" descr="/tmp/claude-0/-home-user-Chronopoli/d7458f57-86b2-5920-914e-8615357fee63/scratchpad/deck-master/framed_v5/masterclass.png">    </p:cNvPr>
          <p:cNvPicPr>
            <a:picLocks noChangeAspect="1"/>
          </p:cNvPicPr>
          <p:nvPr/>
        </p:nvPicPr>
        <p:blipFill>
          <a:blip r:embed="rId3"/>
          <a:stretch>
            <a:fillRect/>
          </a:stretch>
        </p:blipFill>
        <p:spPr>
          <a:xfrm>
            <a:off x="6098739" y="1860008"/>
            <a:ext cx="5296703" cy="3509536"/>
          </a:xfrm>
          <a:prstGeom prst="rect">
            <a:avLst/>
          </a:prstGeom>
        </p:spPr>
      </p:pic>
      <p:sp>
        <p:nvSpPr>
          <p:cNvPr id="23" name="Shape 18"/>
          <p:cNvSpPr/>
          <p:nvPr/>
        </p:nvSpPr>
        <p:spPr>
          <a:xfrm>
            <a:off x="6238786" y="5366656"/>
            <a:ext cx="2480869" cy="219456"/>
          </a:xfrm>
          <a:prstGeom prst="roundRect">
            <a:avLst>
              <a:gd name="adj" fmla="val 50000"/>
            </a:avLst>
          </a:prstGeom>
          <a:solidFill>
            <a:srgbClr val="1B1B27"/>
          </a:solidFill>
          <a:ln w="9525">
            <a:solidFill>
              <a:srgbClr val="3A3A50"/>
            </a:solidFill>
            <a:prstDash val="solid"/>
          </a:ln>
        </p:spPr>
      </p:sp>
      <p:sp>
        <p:nvSpPr>
          <p:cNvPr id="24" name="Shape 19"/>
          <p:cNvSpPr/>
          <p:nvPr/>
        </p:nvSpPr>
        <p:spPr>
          <a:xfrm>
            <a:off x="6330226" y="5439808"/>
            <a:ext cx="73152" cy="73152"/>
          </a:xfrm>
          <a:prstGeom prst="ellipse">
            <a:avLst/>
          </a:prstGeom>
          <a:solidFill>
            <a:srgbClr val="A9A9C6"/>
          </a:solidFill>
          <a:ln/>
        </p:spPr>
      </p:sp>
      <p:sp>
        <p:nvSpPr>
          <p:cNvPr id="25" name="Text 20"/>
          <p:cNvSpPr txBox="1"/>
          <p:nvPr/>
        </p:nvSpPr>
        <p:spPr>
          <a:xfrm>
            <a:off x="6458242" y="5366656"/>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6" name="Text 21"/>
          <p:cNvSpPr txBox="1"/>
          <p:nvPr/>
        </p:nvSpPr>
        <p:spPr>
          <a:xfrm>
            <a:off x="8829383" y="5398660"/>
            <a:ext cx="242601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Live masterclass, 10 Nov 2026</a:t>
            </a:r>
            <a:endParaRPr lang="en-US" sz="1000" dirty="0"/>
          </a:p>
        </p:txBody>
      </p:sp>
      <p:sp>
        <p:nvSpPr>
          <p:cNvPr id="27" name="Text 22"/>
          <p:cNvSpPr txBox="1"/>
          <p:nvPr/>
        </p:nvSpPr>
        <p:spPr>
          <a:xfrm>
            <a:off x="6238786" y="5787280"/>
            <a:ext cx="5016609"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Live with consent:</a:t>
            </a:r>
            <a:r>
              <a:rPr lang="en-US" sz="1400" dirty="0">
                <a:solidFill>
                  <a:srgbClr val="E8E8F0"/>
                </a:solidFill>
                <a:latin typeface="Arial" pitchFamily="34" charset="0"/>
                <a:ea typeface="Arial" pitchFamily="34" charset="-122"/>
                <a:cs typeface="Arial" pitchFamily="34" charset="-120"/>
              </a:rPr>
              <a:t> AI-disclosed voice and avatar; written expert consent (required before launch)</a:t>
            </a:r>
            <a:endParaRPr lang="en-US" sz="1400" dirty="0"/>
          </a:p>
        </p:txBody>
      </p:sp>
      <p:sp>
        <p:nvSpPr>
          <p:cNvPr id="28" name="Text 2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8496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4721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MARKET OPPORTUNITY · INVESTOR VIEW</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$45B total addressable market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Five fast-growing markets, connected for the first time by one platform</a:t>
            </a:r>
            <a:endParaRPr lang="en-US" sz="1600" dirty="0"/>
          </a:p>
        </p:txBody>
      </p:sp>
      <p:sp>
        <p:nvSpPr>
          <p:cNvPr id="7" name="Shape 4"/>
          <p:cNvSpPr/>
          <p:nvPr/>
        </p:nvSpPr>
        <p:spPr>
          <a:xfrm>
            <a:off x="632308" y="1942795"/>
            <a:ext cx="3856025" cy="3856025"/>
          </a:xfrm>
          <a:prstGeom prst="ellipse">
            <a:avLst/>
          </a:prstGeom>
          <a:solidFill>
            <a:srgbClr val="15151F"/>
          </a:solidFill>
          <a:ln w="12700">
            <a:solidFill>
              <a:srgbClr val="5A4A22"/>
            </a:solidFill>
            <a:prstDash val="solid"/>
          </a:ln>
        </p:spPr>
      </p:sp>
      <p:sp>
        <p:nvSpPr>
          <p:cNvPr id="8" name="Shape 5"/>
          <p:cNvSpPr/>
          <p:nvPr/>
        </p:nvSpPr>
        <p:spPr>
          <a:xfrm>
            <a:off x="1326392" y="3330964"/>
            <a:ext cx="2467856" cy="2467856"/>
          </a:xfrm>
          <a:prstGeom prst="ellipse">
            <a:avLst/>
          </a:prstGeom>
          <a:solidFill>
            <a:srgbClr val="231E12"/>
          </a:solidFill>
          <a:ln w="12700">
            <a:solidFill>
              <a:srgbClr val="9B7A2E"/>
            </a:solidFill>
            <a:prstDash val="solid"/>
          </a:ln>
        </p:spPr>
      </p:sp>
      <p:sp>
        <p:nvSpPr>
          <p:cNvPr id="9" name="Shape 6"/>
          <p:cNvSpPr/>
          <p:nvPr/>
        </p:nvSpPr>
        <p:spPr>
          <a:xfrm>
            <a:off x="1981916" y="4642013"/>
            <a:ext cx="1156807" cy="1156807"/>
          </a:xfrm>
          <a:prstGeom prst="ellipse">
            <a:avLst/>
          </a:prstGeom>
          <a:solidFill>
            <a:srgbClr val="C9A84C"/>
          </a:solidFill>
          <a:ln w="12700">
            <a:solidFill>
              <a:srgbClr val="C9A84C"/>
            </a:solidFill>
            <a:prstDash val="solid"/>
          </a:ln>
        </p:spPr>
      </p:sp>
      <p:sp>
        <p:nvSpPr>
          <p:cNvPr id="10" name="Text 7"/>
          <p:cNvSpPr txBox="1"/>
          <p:nvPr/>
        </p:nvSpPr>
        <p:spPr>
          <a:xfrm>
            <a:off x="1097280" y="2125675"/>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TAM</a:t>
            </a:r>
            <a:endParaRPr lang="en-US" sz="900" dirty="0"/>
          </a:p>
        </p:txBody>
      </p:sp>
      <p:sp>
        <p:nvSpPr>
          <p:cNvPr id="11" name="Text 8"/>
          <p:cNvSpPr txBox="1"/>
          <p:nvPr/>
        </p:nvSpPr>
        <p:spPr>
          <a:xfrm>
            <a:off x="1097280" y="2308555"/>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$45B</a:t>
            </a:r>
            <a:endParaRPr lang="en-US" sz="2600" dirty="0"/>
          </a:p>
        </p:txBody>
      </p:sp>
      <p:sp>
        <p:nvSpPr>
          <p:cNvPr id="12" name="Text 9"/>
          <p:cNvSpPr txBox="1"/>
          <p:nvPr/>
        </p:nvSpPr>
        <p:spPr>
          <a:xfrm>
            <a:off x="1097280" y="2747467"/>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Professional digital-economy training</a:t>
            </a:r>
            <a:endParaRPr lang="en-US" sz="1000" dirty="0"/>
          </a:p>
        </p:txBody>
      </p:sp>
      <p:sp>
        <p:nvSpPr>
          <p:cNvPr id="13" name="Text 10"/>
          <p:cNvSpPr txBox="1"/>
          <p:nvPr/>
        </p:nvSpPr>
        <p:spPr>
          <a:xfrm>
            <a:off x="1097280" y="3495556"/>
            <a:ext cx="29260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SAM</a:t>
            </a:r>
            <a:endParaRPr lang="en-US" sz="900" dirty="0"/>
          </a:p>
        </p:txBody>
      </p:sp>
      <p:sp>
        <p:nvSpPr>
          <p:cNvPr id="14" name="Text 11"/>
          <p:cNvSpPr txBox="1"/>
          <p:nvPr/>
        </p:nvSpPr>
        <p:spPr>
          <a:xfrm>
            <a:off x="1097280" y="3678436"/>
            <a:ext cx="2926080" cy="420624"/>
          </a:xfrm>
          <a:prstGeom prst="rect">
            <a:avLst/>
          </a:prstGeom>
          <a:noFill/>
          <a:ln/>
        </p:spPr>
        <p:txBody>
          <a:bodyPr wrap="square" lIns="0" tIns="0" rIns="0" bIns="0" rtlCol="0" anchor="t"/>
          <a:lstStyle/>
          <a:p>
            <a:pPr algn="ctr" indent="0" marL="0">
              <a:buNone/>
            </a:pPr>
            <a:r>
              <a:rPr lang="en-US" sz="2600" b="1" dirty="0">
                <a:solidFill>
                  <a:srgbClr val="F0C96B"/>
                </a:solidFill>
                <a:latin typeface="Arial" pitchFamily="34" charset="0"/>
                <a:ea typeface="Arial" pitchFamily="34" charset="-122"/>
                <a:cs typeface="Arial" pitchFamily="34" charset="-120"/>
              </a:rPr>
              <a:t>$8.5B</a:t>
            </a:r>
            <a:endParaRPr lang="en-US" sz="2600" dirty="0"/>
          </a:p>
        </p:txBody>
      </p:sp>
      <p:sp>
        <p:nvSpPr>
          <p:cNvPr id="15" name="Text 12"/>
          <p:cNvSpPr txBox="1"/>
          <p:nvPr/>
        </p:nvSpPr>
        <p:spPr>
          <a:xfrm>
            <a:off x="1097280" y="4117348"/>
            <a:ext cx="2926080" cy="201168"/>
          </a:xfrm>
          <a:prstGeom prst="rect">
            <a:avLst/>
          </a:prstGeom>
          <a:noFill/>
          <a:ln/>
        </p:spPr>
        <p:txBody>
          <a:bodyPr wrap="square" lIns="0" tIns="0" rIns="0" bIns="0" rtlCol="0" anchor="t"/>
          <a:lstStyle/>
          <a:p>
            <a:pPr algn="ctr" indent="0" marL="0">
              <a:buNone/>
            </a:pPr>
            <a:r>
              <a:rPr lang="en-US" sz="1000" dirty="0">
                <a:solidFill>
                  <a:srgbClr val="B4B4C8"/>
                </a:solidFill>
                <a:latin typeface="Arial" pitchFamily="34" charset="0"/>
                <a:ea typeface="Arial" pitchFamily="34" charset="-122"/>
                <a:cs typeface="Arial" pitchFamily="34" charset="-120"/>
              </a:rPr>
              <a:t>MENA + Europe, enterprise</a:t>
            </a:r>
            <a:endParaRPr lang="en-US" sz="1000" dirty="0"/>
          </a:p>
        </p:txBody>
      </p:sp>
      <p:sp>
        <p:nvSpPr>
          <p:cNvPr id="16" name="Text 13"/>
          <p:cNvSpPr txBox="1"/>
          <p:nvPr/>
        </p:nvSpPr>
        <p:spPr>
          <a:xfrm>
            <a:off x="1981916" y="4824893"/>
            <a:ext cx="1156807" cy="164592"/>
          </a:xfrm>
          <a:prstGeom prst="rect">
            <a:avLst/>
          </a:prstGeom>
          <a:noFill/>
          <a:ln/>
        </p:spPr>
        <p:txBody>
          <a:bodyPr wrap="square" lIns="0" tIns="0" rIns="0" bIns="0" rtlCol="0" anchor="t"/>
          <a:lstStyle/>
          <a:p>
            <a:pPr algn="ctr" indent="0" marL="0">
              <a:buNone/>
            </a:pPr>
            <a:r>
              <a:rPr lang="en-US" sz="850" b="1" spc="100" kern="0" dirty="0">
                <a:solidFill>
                  <a:srgbClr val="0A0A0F"/>
                </a:solidFill>
                <a:latin typeface="Arial" pitchFamily="34" charset="0"/>
                <a:ea typeface="Arial" pitchFamily="34" charset="-122"/>
                <a:cs typeface="Arial" pitchFamily="34" charset="-120"/>
              </a:rPr>
              <a:t>SOM</a:t>
            </a:r>
            <a:endParaRPr lang="en-US" sz="850" dirty="0"/>
          </a:p>
        </p:txBody>
      </p:sp>
      <p:sp>
        <p:nvSpPr>
          <p:cNvPr id="17" name="Text 14"/>
          <p:cNvSpPr txBox="1"/>
          <p:nvPr/>
        </p:nvSpPr>
        <p:spPr>
          <a:xfrm>
            <a:off x="1981916" y="4989485"/>
            <a:ext cx="1156807" cy="310896"/>
          </a:xfrm>
          <a:prstGeom prst="rect">
            <a:avLst/>
          </a:prstGeom>
          <a:noFill/>
          <a:ln/>
        </p:spPr>
        <p:txBody>
          <a:bodyPr wrap="square" lIns="0" tIns="0" rIns="0" bIns="0" rtlCol="0" anchor="t"/>
          <a:lstStyle/>
          <a:p>
            <a:pPr algn="ctr" indent="0" marL="0">
              <a:buNone/>
            </a:pPr>
            <a:r>
              <a:rPr lang="en-US" sz="1700" b="1" dirty="0">
                <a:solidFill>
                  <a:srgbClr val="0A0A0F"/>
                </a:solidFill>
                <a:latin typeface="Arial" pitchFamily="34" charset="0"/>
                <a:ea typeface="Arial" pitchFamily="34" charset="-122"/>
                <a:cs typeface="Arial" pitchFamily="34" charset="-120"/>
              </a:rPr>
              <a:t>$9.6M</a:t>
            </a:r>
            <a:endParaRPr lang="en-US" sz="1700" dirty="0"/>
          </a:p>
        </p:txBody>
      </p:sp>
      <p:sp>
        <p:nvSpPr>
          <p:cNvPr id="18" name="Text 15"/>
          <p:cNvSpPr txBox="1"/>
          <p:nvPr/>
        </p:nvSpPr>
        <p:spPr>
          <a:xfrm>
            <a:off x="1981916" y="5300381"/>
            <a:ext cx="1156807" cy="164592"/>
          </a:xfrm>
          <a:prstGeom prst="rect">
            <a:avLst/>
          </a:prstGeom>
          <a:noFill/>
          <a:ln/>
        </p:spPr>
        <p:txBody>
          <a:bodyPr wrap="square" lIns="0" tIns="0" rIns="0" bIns="0" rtlCol="0" anchor="t"/>
          <a:lstStyle/>
          <a:p>
            <a:pPr algn="ctr" indent="0" marL="0">
              <a:buNone/>
            </a:pPr>
            <a:r>
              <a:rPr lang="en-US" sz="900" dirty="0">
                <a:solidFill>
                  <a:srgbClr val="0A0A0F"/>
                </a:solidFill>
                <a:latin typeface="Arial" pitchFamily="34" charset="0"/>
                <a:ea typeface="Arial" pitchFamily="34" charset="-122"/>
                <a:cs typeface="Arial" pitchFamily="34" charset="-120"/>
              </a:rPr>
              <a:t>Year 3</a:t>
            </a:r>
            <a:endParaRPr lang="en-US" sz="900" dirty="0"/>
          </a:p>
        </p:txBody>
      </p:sp>
      <p:sp>
        <p:nvSpPr>
          <p:cNvPr id="19" name="Shape 16"/>
          <p:cNvSpPr/>
          <p:nvPr/>
        </p:nvSpPr>
        <p:spPr>
          <a:xfrm>
            <a:off x="5120640" y="1942795"/>
            <a:ext cx="6613855" cy="3901745"/>
          </a:xfrm>
          <a:prstGeom prst="roundRect">
            <a:avLst>
              <a:gd name="adj" fmla="val 2812"/>
            </a:avLst>
          </a:prstGeom>
          <a:solidFill>
            <a:srgbClr val="171722"/>
          </a:solidFill>
          <a:ln w="9525">
            <a:solidFill>
              <a:srgbClr val="2C2C3E"/>
            </a:solidFill>
            <a:prstDash val="solid"/>
          </a:ln>
        </p:spPr>
      </p:sp>
      <p:graphicFrame>
        <p:nvGraphicFramePr>
          <p:cNvPr id="20" name="Chart 0" descr=""/>
          <p:cNvGraphicFramePr/>
          <p:nvPr/>
        </p:nvGraphicFramePr>
        <p:xfrm>
          <a:off x="5257800" y="2034235"/>
          <a:ext cx="6339535" cy="3718865"/>
        </p:xfrm>
        <a:graphic xmlns:a="http://schemas.openxmlformats.org/drawingml/2006/main">
          <a:graphicData uri="http://schemas.openxmlformats.org/drawingml/2006/chart">
            <c:chart xmlns:c="http://schemas.openxmlformats.org/drawingml/2006/chart" r:id="rId2"/>
          </a:graphicData>
        </a:graphic>
      </p:graphicFrame>
      <p:sp>
        <p:nvSpPr>
          <p:cNvPr id="21" name="Text 17"/>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estimates (March 2026), not independently verified. The segments overlap, so the TAM is not their sum.</a:t>
            </a:r>
            <a:endParaRPr lang="en-US" sz="950" dirty="0"/>
          </a:p>
        </p:txBody>
      </p:sp>
      <p:sp>
        <p:nvSpPr>
          <p:cNvPr id="22"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5307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1532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BUSINESS MODEL</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fund the ecosystem before a single student pays</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788920"/>
                <a:gridCol w="1188720"/>
                <a:gridCol w="1188720"/>
                <a:gridCol w="2057400"/>
              </a:tblGrid>
              <a:tr h="488671">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1</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r" indent="0" marL="0">
                        <a:buNone/>
                      </a:pPr>
                      <a:r>
                        <a:rPr lang="en-US" sz="900" b="1" spc="100" kern="0" dirty="0">
                          <a:solidFill>
                            <a:srgbClr val="F0C96B"/>
                          </a:solidFill>
                          <a:latin typeface="Arial" pitchFamily="34" charset="0"/>
                          <a:ea typeface="Arial" pitchFamily="34" charset="-122"/>
                          <a:cs typeface="Arial" pitchFamily="34" charset="-120"/>
                        </a:rPr>
                        <a:t>YEAR 3</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algn="l" indent="0" marL="0">
                        <a:buNone/>
                      </a:pPr>
                      <a:r>
                        <a:rPr lang="en-US" sz="900" b="1" spc="100" kern="0" dirty="0">
                          <a:solidFill>
                            <a:srgbClr val="F0C96B"/>
                          </a:solidFill>
                          <a:latin typeface="Arial" pitchFamily="34" charset="0"/>
                          <a:ea typeface="Arial" pitchFamily="34" charset="-122"/>
                          <a:cs typeface="Arial" pitchFamily="34" charset="-120"/>
                        </a:rPr>
                        <a:t>PRICING</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$825K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Corporate Team Subs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$480K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$280K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$2.8M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Open Marketplace (30%)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$100K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$750K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Creator 70%</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Certification Fees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$30K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$240K</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$15 / cert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488671">
                <a:tc>
                  <a:txBody>
                    <a:bodyPr/>
                    <a:lstStyle/>
                    <a:p>
                      <a:pPr algn="l" indent="0" marL="0">
                        <a:buNone/>
                      </a:pPr>
                      <a:r>
                        <a:rPr lang="en-US" sz="1300" dirty="0">
                          <a:solidFill>
                            <a:srgbClr val="E8E8F0"/>
                          </a:solidFill>
                          <a:latin typeface="Arial" pitchFamily="34" charset="0"/>
                          <a:ea typeface="Arial" pitchFamily="34" charset="-122"/>
                          <a:cs typeface="Arial" pitchFamily="34" charset="-120"/>
                        </a:rPr>
                        <a:t>Summit + Research</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dirty="0">
                          <a:solidFill>
                            <a:srgbClr val="E8E8F0"/>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$1.0M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algn="l" indent="0" marL="0">
                        <a:buNone/>
                      </a:pPr>
                      <a:r>
                        <a:rPr lang="en-US" sz="1300" dirty="0">
                          <a:solidFill>
                            <a:srgbClr val="B4B4C8"/>
                          </a:solidFill>
                          <a:latin typeface="Arial" pitchFamily="34" charset="0"/>
                          <a:ea typeface="Arial" pitchFamily="34" charset="-122"/>
                          <a:cs typeface="Arial" pitchFamily="34" charset="-120"/>
                        </a:rPr>
                        <a:t>From Year 2</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488671">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TOTAL REVENUE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$1.72M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r" indent="0" marL="0">
                        <a:buNone/>
                      </a:pPr>
                      <a:r>
                        <a:rPr lang="en-US" sz="1300" b="1" dirty="0">
                          <a:solidFill>
                            <a:srgbClr val="F0C96B"/>
                          </a:solidFill>
                          <a:latin typeface="Arial" pitchFamily="34" charset="0"/>
                          <a:ea typeface="Arial" pitchFamily="34" charset="-122"/>
                          <a:cs typeface="Arial" pitchFamily="34" charset="-120"/>
                        </a:rPr>
                        <a:t>$9.59M</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algn="l" indent="0" marL="0">
                        <a:buNone/>
                      </a:pPr>
                      <a:r>
                        <a:rPr lang="en-US" sz="1300" b="1" dirty="0">
                          <a:solidFill>
                            <a:srgbClr val="F0C96B"/>
                          </a:solidFill>
                          <a:latin typeface="Arial" pitchFamily="34" charset="0"/>
                          <a:ea typeface="Arial" pitchFamily="34" charset="-122"/>
                          <a:cs typeface="Arial" pitchFamily="34" charset="-120"/>
                        </a:rPr>
                        <a:t>67.5% EBITDA (Y1)</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Text 4"/>
          <p:cNvSpPr txBox="1"/>
          <p:nvPr/>
        </p:nvSpPr>
        <p:spPr>
          <a:xfrm>
            <a:off x="457200" y="5980176"/>
            <a:ext cx="7223760"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a:t>
            </a:r>
            <a:endParaRPr lang="en-US" sz="950" dirty="0"/>
          </a:p>
        </p:txBody>
      </p:sp>
      <p:sp>
        <p:nvSpPr>
          <p:cNvPr id="9" name="Shape 5"/>
          <p:cNvSpPr/>
          <p:nvPr/>
        </p:nvSpPr>
        <p:spPr>
          <a:xfrm>
            <a:off x="8092440" y="1942795"/>
            <a:ext cx="3642055" cy="2138172"/>
          </a:xfrm>
          <a:prstGeom prst="roundRect">
            <a:avLst>
              <a:gd name="adj" fmla="val 5132"/>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5989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 as counted in the projections.</a:t>
            </a:r>
            <a:endParaRPr lang="en-US" sz="1250" dirty="0"/>
          </a:p>
        </p:txBody>
      </p:sp>
      <p:sp>
        <p:nvSpPr>
          <p:cNvPr id="12" name="Text 8"/>
          <p:cNvSpPr txBox="1"/>
          <p:nvPr/>
        </p:nvSpPr>
        <p:spPr>
          <a:xfrm>
            <a:off x="8293608" y="31177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23-25):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355287"/>
            <a:ext cx="3642055" cy="1862633"/>
          </a:xfrm>
          <a:prstGeom prst="roundRect">
            <a:avLst>
              <a:gd name="adj" fmla="val 5891"/>
            </a:avLst>
          </a:prstGeom>
          <a:solidFill>
            <a:srgbClr val="231E12"/>
          </a:solidFill>
          <a:ln w="9525">
            <a:solidFill>
              <a:srgbClr val="C9A84C"/>
            </a:solidFill>
            <a:prstDash val="solid"/>
          </a:ln>
        </p:spPr>
      </p:sp>
      <p:sp>
        <p:nvSpPr>
          <p:cNvPr id="14" name="Text 10"/>
          <p:cNvSpPr txBox="1"/>
          <p:nvPr/>
        </p:nvSpPr>
        <p:spPr>
          <a:xfrm>
            <a:off x="8293608" y="45381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A FOUNDING ACADEMY, PER YEAR</a:t>
            </a:r>
            <a:endParaRPr lang="en-US" sz="850" dirty="0"/>
          </a:p>
        </p:txBody>
      </p:sp>
      <p:sp>
        <p:nvSpPr>
          <p:cNvPr id="15" name="Text 11"/>
          <p:cNvSpPr txBox="1"/>
          <p:nvPr/>
        </p:nvSpPr>
        <p:spPr>
          <a:xfrm>
            <a:off x="8293608" y="47576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361127"/>
            <a:ext cx="3239719" cy="765353"/>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Trained staff and regulators, verified credentials, candidates sent to its hiring team, and Intelligence Reports. One recruiter placement costs about $20K.</a:t>
            </a:r>
            <a:endParaRPr lang="en-US" sz="125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Layla Al-Mansoori · Illustrative mock data</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In the product: how each price is charged</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Layer prices for single purchases, seats for teams, 70/30 on partner courses; academy fees and subscriptions: slide 22</a:t>
            </a:r>
            <a:endParaRPr lang="en-US" sz="1600" dirty="0"/>
          </a:p>
        </p:txBody>
      </p:sp>
      <p:pic>
        <p:nvPicPr>
          <p:cNvPr id="14" name="Image 0" descr="/tmp/claude-0/-home-user-Chronopoli/d7458f57-86b2-5920-914e-8615357fee63/scratchpad/deck-master/framed_v5/course_pricing.png">    </p:cNvPr>
          <p:cNvPicPr>
            <a:picLocks noChangeAspect="1"/>
          </p:cNvPicPr>
          <p:nvPr/>
        </p:nvPicPr>
        <p:blipFill>
          <a:blip r:embed="rId2"/>
          <a:stretch>
            <a:fillRect/>
          </a:stretch>
        </p:blipFill>
        <p:spPr>
          <a:xfrm>
            <a:off x="6309619" y="1758888"/>
            <a:ext cx="5572207" cy="4118684"/>
          </a:xfrm>
          <a:prstGeom prst="rect">
            <a:avLst/>
          </a:prstGeom>
        </p:spPr>
      </p:pic>
      <p:sp>
        <p:nvSpPr>
          <p:cNvPr id="15" name="Shape 11"/>
          <p:cNvSpPr/>
          <p:nvPr/>
        </p:nvSpPr>
        <p:spPr>
          <a:xfrm>
            <a:off x="6456951" y="5867400"/>
            <a:ext cx="2480869"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6548391" y="5940552"/>
            <a:ext cx="73152" cy="73152"/>
          </a:xfrm>
          <a:prstGeom prst="ellipse">
            <a:avLst/>
          </a:prstGeom>
          <a:solidFill>
            <a:srgbClr val="A9A9C6"/>
          </a:solidFill>
          <a:ln/>
        </p:spPr>
      </p:sp>
      <p:sp>
        <p:nvSpPr>
          <p:cNvPr id="17" name="Text 13"/>
          <p:cNvSpPr txBox="1"/>
          <p:nvPr/>
        </p:nvSpPr>
        <p:spPr>
          <a:xfrm>
            <a:off x="6676407" y="5867400"/>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18" name="Text 14"/>
          <p:cNvSpPr txBox="1"/>
          <p:nvPr/>
        </p:nvSpPr>
        <p:spPr>
          <a:xfrm>
            <a:off x="9047547" y="5899404"/>
            <a:ext cx="268694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USDT-201 page with the L1-L4 price ladder</a:t>
            </a:r>
            <a:endParaRPr lang="en-US" sz="1000" dirty="0"/>
          </a:p>
        </p:txBody>
      </p:sp>
      <p:sp>
        <p:nvSpPr>
          <p:cNvPr id="19" name="Shape 15"/>
          <p:cNvSpPr/>
          <p:nvPr/>
        </p:nvSpPr>
        <p:spPr>
          <a:xfrm>
            <a:off x="457200" y="1906219"/>
            <a:ext cx="2693551" cy="2055266"/>
          </a:xfrm>
          <a:prstGeom prst="roundRect">
            <a:avLst>
              <a:gd name="adj" fmla="val 4449"/>
            </a:avLst>
          </a:prstGeom>
          <a:solidFill>
            <a:srgbClr val="171722"/>
          </a:solidFill>
          <a:ln w="9525">
            <a:solidFill>
              <a:srgbClr val="2C2C3E"/>
            </a:solidFill>
            <a:prstDash val="solid"/>
          </a:ln>
        </p:spPr>
      </p:sp>
      <p:sp>
        <p:nvSpPr>
          <p:cNvPr id="20" name="Text 16"/>
          <p:cNvSpPr txBox="1"/>
          <p:nvPr/>
        </p:nvSpPr>
        <p:spPr>
          <a:xfrm>
            <a:off x="621792" y="2052523"/>
            <a:ext cx="2364367"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SINGLE-COURSE PURCHASE</a:t>
            </a:r>
            <a:endParaRPr lang="en-US" sz="850" dirty="0"/>
          </a:p>
        </p:txBody>
      </p:sp>
      <p:sp>
        <p:nvSpPr>
          <p:cNvPr id="21" name="Text 17"/>
          <p:cNvSpPr txBox="1"/>
          <p:nvPr/>
        </p:nvSpPr>
        <p:spPr>
          <a:xfrm>
            <a:off x="621792" y="2290267"/>
            <a:ext cx="2364367"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$0–$2,499</a:t>
            </a:r>
            <a:endParaRPr lang="en-US" sz="2200" dirty="0"/>
          </a:p>
        </p:txBody>
      </p:sp>
      <p:sp>
        <p:nvSpPr>
          <p:cNvPr id="22" name="Text 18"/>
          <p:cNvSpPr txBox="1"/>
          <p:nvPr/>
        </p:nvSpPr>
        <p:spPr>
          <a:xfrm>
            <a:off x="621792" y="2753563"/>
            <a:ext cx="2364367" cy="1116482"/>
          </a:xfrm>
          <a:prstGeom prst="rect">
            <a:avLst/>
          </a:prstGeom>
          <a:noFill/>
          <a:ln/>
        </p:spPr>
        <p:txBody>
          <a:bodyPr wrap="square" lIns="0" tIns="0" rIns="0" bIns="0" rtlCol="0" anchor="t"/>
          <a:lstStyle/>
          <a:p>
            <a:pPr indent="0" marL="0">
              <a:buNone/>
            </a:pPr>
            <a:r>
              <a:rPr lang="en-US" sz="1350" dirty="0">
                <a:solidFill>
                  <a:srgbClr val="B4B4C8"/>
                </a:solidFill>
                <a:latin typeface="Arial" pitchFamily="34" charset="0"/>
                <a:ea typeface="Arial" pitchFamily="34" charset="-122"/>
                <a:cs typeface="Arial" pitchFamily="34" charset="-120"/>
              </a:rPr>
              <a:t>L1 Entry: $0–$149</a:t>
            </a:r>
            <a:endParaRPr lang="en-US" sz="1350" dirty="0"/>
          </a:p>
          <a:p>
            <a:pPr indent="0" marL="0">
              <a:buNone/>
            </a:pPr>
            <a:r>
              <a:rPr lang="en-US" sz="1350" dirty="0">
                <a:solidFill>
                  <a:srgbClr val="B4B4C8"/>
                </a:solidFill>
                <a:latin typeface="Arial" pitchFamily="34" charset="0"/>
                <a:ea typeface="Arial" pitchFamily="34" charset="-122"/>
                <a:cs typeface="Arial" pitchFamily="34" charset="-120"/>
              </a:rPr>
              <a:t>L2 Professional: $299–$799</a:t>
            </a:r>
            <a:endParaRPr lang="en-US" sz="1350" dirty="0"/>
          </a:p>
          <a:p>
            <a:pPr indent="0" marL="0">
              <a:buNone/>
            </a:pPr>
            <a:r>
              <a:rPr lang="en-US" sz="1350" dirty="0">
                <a:solidFill>
                  <a:srgbClr val="B4B4C8"/>
                </a:solidFill>
                <a:latin typeface="Arial" pitchFamily="34" charset="0"/>
                <a:ea typeface="Arial" pitchFamily="34" charset="-122"/>
                <a:cs typeface="Arial" pitchFamily="34" charset="-120"/>
              </a:rPr>
              <a:t>L3 Institutional: $999–$2,499</a:t>
            </a:r>
            <a:endParaRPr lang="en-US" sz="1350" dirty="0"/>
          </a:p>
        </p:txBody>
      </p:sp>
      <p:sp>
        <p:nvSpPr>
          <p:cNvPr id="23" name="Shape 19"/>
          <p:cNvSpPr/>
          <p:nvPr/>
        </p:nvSpPr>
        <p:spPr>
          <a:xfrm>
            <a:off x="3351919" y="1906219"/>
            <a:ext cx="2693551" cy="2055266"/>
          </a:xfrm>
          <a:prstGeom prst="roundRect">
            <a:avLst>
              <a:gd name="adj" fmla="val 4449"/>
            </a:avLst>
          </a:prstGeom>
          <a:solidFill>
            <a:srgbClr val="171722"/>
          </a:solidFill>
          <a:ln w="9525">
            <a:solidFill>
              <a:srgbClr val="2C2C3E"/>
            </a:solidFill>
            <a:prstDash val="solid"/>
          </a:ln>
        </p:spPr>
      </p:sp>
      <p:sp>
        <p:nvSpPr>
          <p:cNvPr id="24" name="Text 20"/>
          <p:cNvSpPr txBox="1"/>
          <p:nvPr/>
        </p:nvSpPr>
        <p:spPr>
          <a:xfrm>
            <a:off x="3516511" y="2052523"/>
            <a:ext cx="2364367"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CORPORATE TEAM SUBS</a:t>
            </a:r>
            <a:endParaRPr lang="en-US" sz="850" dirty="0"/>
          </a:p>
        </p:txBody>
      </p:sp>
      <p:sp>
        <p:nvSpPr>
          <p:cNvPr id="25" name="Text 21"/>
          <p:cNvSpPr txBox="1"/>
          <p:nvPr/>
        </p:nvSpPr>
        <p:spPr>
          <a:xfrm>
            <a:off x="3516511" y="2290267"/>
            <a:ext cx="2364367"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$1,500 / seat / yr</a:t>
            </a:r>
            <a:endParaRPr lang="en-US" sz="2200" dirty="0"/>
          </a:p>
        </p:txBody>
      </p:sp>
      <p:sp>
        <p:nvSpPr>
          <p:cNvPr id="26" name="Text 22"/>
          <p:cNvSpPr txBox="1"/>
          <p:nvPr/>
        </p:nvSpPr>
        <p:spPr>
          <a:xfrm>
            <a:off x="3516511" y="2753563"/>
            <a:ext cx="2364367"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$125 per seat per month; employers buy seats for digital-asset, risk and compliance teams</a:t>
            </a:r>
            <a:endParaRPr lang="en-US" sz="1400" dirty="0"/>
          </a:p>
        </p:txBody>
      </p:sp>
      <p:sp>
        <p:nvSpPr>
          <p:cNvPr id="27" name="Shape 23"/>
          <p:cNvSpPr/>
          <p:nvPr/>
        </p:nvSpPr>
        <p:spPr>
          <a:xfrm>
            <a:off x="457200" y="4162654"/>
            <a:ext cx="2693551" cy="2055266"/>
          </a:xfrm>
          <a:prstGeom prst="roundRect">
            <a:avLst>
              <a:gd name="adj" fmla="val 4449"/>
            </a:avLst>
          </a:prstGeom>
          <a:solidFill>
            <a:srgbClr val="171722"/>
          </a:solidFill>
          <a:ln w="9525">
            <a:solidFill>
              <a:srgbClr val="2C2C3E"/>
            </a:solidFill>
            <a:prstDash val="solid"/>
          </a:ln>
        </p:spPr>
      </p:sp>
      <p:sp>
        <p:nvSpPr>
          <p:cNvPr id="28" name="Text 24"/>
          <p:cNvSpPr txBox="1"/>
          <p:nvPr/>
        </p:nvSpPr>
        <p:spPr>
          <a:xfrm>
            <a:off x="621792" y="4308958"/>
            <a:ext cx="2364367"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MARKETPLACE SPLIT</a:t>
            </a:r>
            <a:endParaRPr lang="en-US" sz="850" dirty="0"/>
          </a:p>
        </p:txBody>
      </p:sp>
      <p:sp>
        <p:nvSpPr>
          <p:cNvPr id="29" name="Text 25"/>
          <p:cNvSpPr txBox="1"/>
          <p:nvPr/>
        </p:nvSpPr>
        <p:spPr>
          <a:xfrm>
            <a:off x="621792" y="4546702"/>
            <a:ext cx="2364367"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70 / 30</a:t>
            </a:r>
            <a:endParaRPr lang="en-US" sz="2200" dirty="0"/>
          </a:p>
        </p:txBody>
      </p:sp>
      <p:sp>
        <p:nvSpPr>
          <p:cNvPr id="30" name="Text 26"/>
          <p:cNvSpPr txBox="1"/>
          <p:nvPr/>
        </p:nvSpPr>
        <p:spPr>
          <a:xfrm>
            <a:off x="621792" y="5009998"/>
            <a:ext cx="2364367"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Every partner-course sale splits at checkout: 70% to the creator, paid out automatically</a:t>
            </a:r>
            <a:endParaRPr lang="en-US" sz="1400" dirty="0"/>
          </a:p>
        </p:txBody>
      </p:sp>
      <p:sp>
        <p:nvSpPr>
          <p:cNvPr id="31" name="Shape 27"/>
          <p:cNvSpPr/>
          <p:nvPr/>
        </p:nvSpPr>
        <p:spPr>
          <a:xfrm>
            <a:off x="3351919" y="4162654"/>
            <a:ext cx="2693551" cy="2055266"/>
          </a:xfrm>
          <a:prstGeom prst="roundRect">
            <a:avLst>
              <a:gd name="adj" fmla="val 4449"/>
            </a:avLst>
          </a:prstGeom>
          <a:solidFill>
            <a:srgbClr val="171722"/>
          </a:solidFill>
          <a:ln w="9525">
            <a:solidFill>
              <a:srgbClr val="2C2C3E"/>
            </a:solidFill>
            <a:prstDash val="solid"/>
          </a:ln>
        </p:spPr>
      </p:sp>
      <p:sp>
        <p:nvSpPr>
          <p:cNvPr id="32" name="Text 28"/>
          <p:cNvSpPr txBox="1"/>
          <p:nvPr/>
        </p:nvSpPr>
        <p:spPr>
          <a:xfrm>
            <a:off x="3516511" y="4308958"/>
            <a:ext cx="2364367"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L4 LIVE FORMATS &amp; TIERS</a:t>
            </a:r>
            <a:endParaRPr lang="en-US" sz="850" dirty="0"/>
          </a:p>
        </p:txBody>
      </p:sp>
      <p:sp>
        <p:nvSpPr>
          <p:cNvPr id="33" name="Text 29"/>
          <p:cNvSpPr txBox="1"/>
          <p:nvPr/>
        </p:nvSpPr>
        <p:spPr>
          <a:xfrm>
            <a:off x="3516511" y="4546702"/>
            <a:ext cx="2364367" cy="371856"/>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$3,000–$8,000</a:t>
            </a:r>
            <a:endParaRPr lang="en-US" sz="2200" dirty="0"/>
          </a:p>
        </p:txBody>
      </p:sp>
      <p:sp>
        <p:nvSpPr>
          <p:cNvPr id="34" name="Text 30"/>
          <p:cNvSpPr txBox="1"/>
          <p:nvPr/>
        </p:nvSpPr>
        <p:spPr>
          <a:xfrm>
            <a:off x="3516511" y="5009998"/>
            <a:ext cx="2364367" cy="1116482"/>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Influence cohorts, round tables and masterclasses; the partner tier (slide 33) sets the benefits</a:t>
            </a:r>
            <a:endParaRPr lang="en-US" sz="1400" dirty="0"/>
          </a:p>
        </p:txBody>
      </p:sp>
      <p:sp>
        <p:nvSpPr>
          <p:cNvPr id="35" name="Text 3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6" name="Text 3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Personas: Nadia Karim in the admin (left), Layla as billing contact (right)</a:t>
            </a:r>
            <a:endParaRPr lang="en-US" sz="1050" dirty="0"/>
          </a:p>
        </p:txBody>
      </p:sp>
      <p:sp>
        <p:nvSpPr>
          <p:cNvPr id="12" name="Text 9"/>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Prices sit in the platform; companies buy seats</a:t>
            </a:r>
            <a:endParaRPr lang="en-US" sz="3600" dirty="0"/>
          </a:p>
        </p:txBody>
      </p:sp>
      <p:sp>
        <p:nvSpPr>
          <p:cNvPr id="13" name="Text 10"/>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course run carries its own price, and employers buy seats for whole teams</a:t>
            </a:r>
            <a:endParaRPr lang="en-US" sz="1600" dirty="0"/>
          </a:p>
        </p:txBody>
      </p:sp>
      <p:pic>
        <p:nvPicPr>
          <p:cNvPr id="14" name="Image 0" descr="/tmp/claude-0/-home-user-Chronopoli/d7458f57-86b2-5920-914e-8615357fee63/scratchpad/deck-master/framed/course_modes.png">    </p:cNvPr>
          <p:cNvPicPr>
            <a:picLocks noChangeAspect="1"/>
          </p:cNvPicPr>
          <p:nvPr/>
        </p:nvPicPr>
        <p:blipFill>
          <a:blip r:embed="rId2"/>
          <a:stretch>
            <a:fillRect/>
          </a:stretch>
        </p:blipFill>
        <p:spPr>
          <a:xfrm>
            <a:off x="291203" y="1784742"/>
            <a:ext cx="6278146" cy="3530528"/>
          </a:xfrm>
          <a:prstGeom prst="rect">
            <a:avLst/>
          </a:prstGeom>
        </p:spPr>
      </p:pic>
      <p:sp>
        <p:nvSpPr>
          <p:cNvPr id="15" name="Shape 11"/>
          <p:cNvSpPr/>
          <p:nvPr/>
        </p:nvSpPr>
        <p:spPr>
          <a:xfrm>
            <a:off x="457200" y="5286433"/>
            <a:ext cx="1802384" cy="219456"/>
          </a:xfrm>
          <a:prstGeom prst="roundRect">
            <a:avLst>
              <a:gd name="adj" fmla="val 50000"/>
            </a:avLst>
          </a:prstGeom>
          <a:solidFill>
            <a:srgbClr val="1B1B27"/>
          </a:solidFill>
          <a:ln w="9525">
            <a:solidFill>
              <a:srgbClr val="3A3A50"/>
            </a:solidFill>
            <a:prstDash val="solid"/>
          </a:ln>
        </p:spPr>
      </p:sp>
      <p:sp>
        <p:nvSpPr>
          <p:cNvPr id="16" name="Shape 12"/>
          <p:cNvSpPr/>
          <p:nvPr/>
        </p:nvSpPr>
        <p:spPr>
          <a:xfrm>
            <a:off x="548640" y="5359585"/>
            <a:ext cx="73152" cy="73152"/>
          </a:xfrm>
          <a:prstGeom prst="ellipse">
            <a:avLst/>
          </a:prstGeom>
          <a:solidFill>
            <a:srgbClr val="34D399"/>
          </a:solidFill>
          <a:ln/>
        </p:spPr>
      </p:sp>
      <p:sp>
        <p:nvSpPr>
          <p:cNvPr id="17" name="Text 13"/>
          <p:cNvSpPr txBox="1"/>
          <p:nvPr/>
        </p:nvSpPr>
        <p:spPr>
          <a:xfrm>
            <a:off x="676656" y="5286433"/>
            <a:ext cx="1546352"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REAL PLATFORM SCREEN</a:t>
            </a:r>
            <a:endParaRPr lang="en-US" sz="800" dirty="0"/>
          </a:p>
        </p:txBody>
      </p:sp>
      <p:sp>
        <p:nvSpPr>
          <p:cNvPr id="18" name="Text 14"/>
          <p:cNvSpPr txBox="1"/>
          <p:nvPr/>
        </p:nvSpPr>
        <p:spPr>
          <a:xfrm>
            <a:off x="2369312" y="5318437"/>
            <a:ext cx="403404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Back-office course prices</a:t>
            </a:r>
            <a:endParaRPr lang="en-US" sz="1000" dirty="0"/>
          </a:p>
        </p:txBody>
      </p:sp>
      <p:sp>
        <p:nvSpPr>
          <p:cNvPr id="19" name="Text 15"/>
          <p:cNvSpPr txBox="1"/>
          <p:nvPr/>
        </p:nvSpPr>
        <p:spPr>
          <a:xfrm>
            <a:off x="457200" y="5670481"/>
            <a:ext cx="5946152" cy="557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Course prices:</a:t>
            </a:r>
            <a:r>
              <a:rPr lang="en-US" sz="1400" dirty="0">
                <a:solidFill>
                  <a:srgbClr val="E8E8F0"/>
                </a:solidFill>
                <a:latin typeface="Arial" pitchFamily="34" charset="0"/>
                <a:ea typeface="Arial" pitchFamily="34" charset="-122"/>
                <a:cs typeface="Arial" pitchFamily="34" charset="-120"/>
              </a:rPr>
              <a:t> from $0 (USDT-101) to $4,500 (USDT-401)</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Next:</a:t>
            </a:r>
            <a:r>
              <a:rPr lang="en-US" sz="1400" dirty="0">
                <a:solidFill>
                  <a:srgbClr val="E8E8F0"/>
                </a:solidFill>
                <a:latin typeface="Arial" pitchFamily="34" charset="0"/>
                <a:ea typeface="Arial" pitchFamily="34" charset="-122"/>
                <a:cs typeface="Arial" pitchFamily="34" charset="-120"/>
              </a:rPr>
              <a:t> the same price settings make payment a condition of access</a:t>
            </a:r>
            <a:endParaRPr lang="en-US" sz="1400" dirty="0"/>
          </a:p>
        </p:txBody>
      </p:sp>
      <p:pic>
        <p:nvPicPr>
          <p:cNvPr id="20" name="Image 1" descr="/tmp/claude-0/-home-user-Chronopoli/d7458f57-86b2-5920-914e-8615357fee63/scratchpad/deck-master/framed_v5/team_licence.png">    </p:cNvPr>
          <p:cNvPicPr>
            <a:picLocks noChangeAspect="1"/>
          </p:cNvPicPr>
          <p:nvPr/>
        </p:nvPicPr>
        <p:blipFill>
          <a:blip r:embed="rId3"/>
          <a:stretch>
            <a:fillRect/>
          </a:stretch>
        </p:blipFill>
        <p:spPr>
          <a:xfrm>
            <a:off x="6630495" y="1812122"/>
            <a:ext cx="5242617" cy="3475768"/>
          </a:xfrm>
          <a:prstGeom prst="rect">
            <a:avLst/>
          </a:prstGeom>
        </p:spPr>
      </p:pic>
      <p:sp>
        <p:nvSpPr>
          <p:cNvPr id="21" name="Shape 16"/>
          <p:cNvSpPr/>
          <p:nvPr/>
        </p:nvSpPr>
        <p:spPr>
          <a:xfrm>
            <a:off x="6769112" y="5286433"/>
            <a:ext cx="2480869" cy="219456"/>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6860552" y="5359585"/>
            <a:ext cx="73152" cy="73152"/>
          </a:xfrm>
          <a:prstGeom prst="ellipse">
            <a:avLst/>
          </a:prstGeom>
          <a:solidFill>
            <a:srgbClr val="A9A9C6"/>
          </a:solidFill>
          <a:ln/>
        </p:spPr>
      </p:sp>
      <p:sp>
        <p:nvSpPr>
          <p:cNvPr id="23" name="Text 18"/>
          <p:cNvSpPr txBox="1"/>
          <p:nvPr/>
        </p:nvSpPr>
        <p:spPr>
          <a:xfrm>
            <a:off x="6988568" y="5286433"/>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24" name="Text 19"/>
          <p:cNvSpPr txBox="1"/>
          <p:nvPr/>
        </p:nvSpPr>
        <p:spPr>
          <a:xfrm>
            <a:off x="9359709" y="5318437"/>
            <a:ext cx="2374786"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Team licence page</a:t>
            </a:r>
            <a:endParaRPr lang="en-US" sz="1000" dirty="0"/>
          </a:p>
        </p:txBody>
      </p:sp>
      <p:sp>
        <p:nvSpPr>
          <p:cNvPr id="25" name="Text 20"/>
          <p:cNvSpPr txBox="1"/>
          <p:nvPr/>
        </p:nvSpPr>
        <p:spPr>
          <a:xfrm>
            <a:off x="6769112" y="5670481"/>
            <a:ext cx="4965383" cy="481584"/>
          </a:xfrm>
          <a:prstGeom prst="rect">
            <a:avLst/>
          </a:prstGeom>
          <a:noFill/>
          <a:ln/>
        </p:spPr>
        <p:txBody>
          <a:bodyPr wrap="square" lIns="0" tIns="0" rIns="0" bIns="0" rtlCol="0" anchor="t"/>
          <a:lstStyle/>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Gulf Digital Exchange:</a:t>
            </a:r>
            <a:r>
              <a:rPr lang="en-US" sz="1400" dirty="0">
                <a:solidFill>
                  <a:srgbClr val="E8E8F0"/>
                </a:solidFill>
                <a:latin typeface="Arial" pitchFamily="34" charset="0"/>
                <a:ea typeface="Arial" pitchFamily="34" charset="-122"/>
                <a:cs typeface="Arial" pitchFamily="34" charset="-120"/>
              </a:rPr>
              <a:t> 25 seats × $125 = $3,125 a month</a:t>
            </a:r>
            <a:endParaRPr lang="en-US" sz="1400" dirty="0"/>
          </a:p>
        </p:txBody>
      </p:sp>
      <p:sp>
        <p:nvSpPr>
          <p:cNvPr id="26" name="Text 21"/>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7"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7691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3916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SIDE · EARN</a:t>
            </a:r>
            <a:endParaRPr lang="en-US" sz="900" dirty="0"/>
          </a:p>
        </p:txBody>
      </p:sp>
      <p:sp>
        <p:nvSpPr>
          <p:cNvPr id="5" name="Shape 2"/>
          <p:cNvSpPr/>
          <p:nvPr/>
        </p:nvSpPr>
        <p:spPr>
          <a:xfrm>
            <a:off x="2498705" y="470916"/>
            <a:ext cx="82296" cy="82296"/>
          </a:xfrm>
          <a:prstGeom prst="ellipse">
            <a:avLst/>
          </a:prstGeom>
          <a:solidFill>
            <a:srgbClr val="9B7A2E"/>
          </a:solidFill>
          <a:ln/>
        </p:spPr>
      </p:sp>
      <p:sp>
        <p:nvSpPr>
          <p:cNvPr id="6" name="Shape 3"/>
          <p:cNvSpPr/>
          <p:nvPr/>
        </p:nvSpPr>
        <p:spPr>
          <a:xfrm>
            <a:off x="2640437" y="470916"/>
            <a:ext cx="82296" cy="82296"/>
          </a:xfrm>
          <a:prstGeom prst="ellipse">
            <a:avLst/>
          </a:prstGeom>
          <a:solidFill>
            <a:srgbClr val="9B7A2E"/>
          </a:solidFill>
          <a:ln/>
        </p:spPr>
      </p:sp>
      <p:sp>
        <p:nvSpPr>
          <p:cNvPr id="7" name="Shape 4"/>
          <p:cNvSpPr/>
          <p:nvPr/>
        </p:nvSpPr>
        <p:spPr>
          <a:xfrm>
            <a:off x="2782169" y="470916"/>
            <a:ext cx="82296" cy="82296"/>
          </a:xfrm>
          <a:prstGeom prst="ellipse">
            <a:avLst/>
          </a:prstGeom>
          <a:solidFill>
            <a:srgbClr val="9B7A2E"/>
          </a:solidFill>
          <a:ln/>
        </p:spPr>
      </p:sp>
      <p:sp>
        <p:nvSpPr>
          <p:cNvPr id="8" name="Shape 5"/>
          <p:cNvSpPr/>
          <p:nvPr/>
        </p:nvSpPr>
        <p:spPr>
          <a:xfrm>
            <a:off x="2923901" y="470916"/>
            <a:ext cx="82296" cy="82296"/>
          </a:xfrm>
          <a:prstGeom prst="ellipse">
            <a:avLst/>
          </a:prstGeom>
          <a:solidFill>
            <a:srgbClr val="9B7A2E"/>
          </a:solidFill>
          <a:ln/>
        </p:spPr>
      </p:sp>
      <p:sp>
        <p:nvSpPr>
          <p:cNvPr id="9" name="Shape 6"/>
          <p:cNvSpPr/>
          <p:nvPr/>
        </p:nvSpPr>
        <p:spPr>
          <a:xfrm>
            <a:off x="3065633" y="470916"/>
            <a:ext cx="82296" cy="82296"/>
          </a:xfrm>
          <a:prstGeom prst="ellipse">
            <a:avLst/>
          </a:prstGeom>
          <a:solidFill>
            <a:srgbClr val="9B7A2E"/>
          </a:solidFill>
          <a:ln/>
        </p:spPr>
      </p:sp>
      <p:sp>
        <p:nvSpPr>
          <p:cNvPr id="10" name="Shape 7"/>
          <p:cNvSpPr/>
          <p:nvPr/>
        </p:nvSpPr>
        <p:spPr>
          <a:xfrm>
            <a:off x="3207365" y="470916"/>
            <a:ext cx="82296" cy="82296"/>
          </a:xfrm>
          <a:prstGeom prst="ellipse">
            <a:avLst/>
          </a:prstGeom>
          <a:solidFill>
            <a:srgbClr val="F0C96B"/>
          </a:solidFill>
          <a:ln/>
        </p:spPr>
      </p:sp>
      <p:sp>
        <p:nvSpPr>
          <p:cNvPr id="11" name="Text 8"/>
          <p:cNvSpPr txBox="1"/>
          <p:nvPr/>
        </p:nvSpPr>
        <p:spPr>
          <a:xfrm>
            <a:off x="3623417" y="384048"/>
            <a:ext cx="8111079" cy="256032"/>
          </a:xfrm>
          <a:prstGeom prst="rect">
            <a:avLst/>
          </a:prstGeom>
          <a:noFill/>
          <a:ln/>
        </p:spPr>
        <p:txBody>
          <a:bodyPr wrap="square" lIns="0" tIns="0" rIns="0" bIns="0" rtlCol="0" anchor="ctr"/>
          <a:lstStyle/>
          <a:p>
            <a:pPr algn="r" indent="0" marL="0">
              <a:buNone/>
            </a:pPr>
            <a:r>
              <a:rPr lang="en-US" sz="1050" dirty="0">
                <a:solidFill>
                  <a:srgbClr val="8E8EA2"/>
                </a:solidFill>
                <a:latin typeface="Arial" pitchFamily="34" charset="0"/>
                <a:ea typeface="Arial" pitchFamily="34" charset="-122"/>
                <a:cs typeface="Arial" pitchFamily="34" charset="-120"/>
              </a:rPr>
              <a:t>Persona: Nadia Karim · Illustrative mock data</a:t>
            </a:r>
            <a:endParaRPr lang="en-US" sz="1050" dirty="0"/>
          </a:p>
        </p:txBody>
      </p:sp>
      <p:sp>
        <p:nvSpPr>
          <p:cNvPr id="12" name="Text 9"/>
          <p:cNvSpPr txBox="1"/>
          <p:nvPr/>
        </p:nvSpPr>
        <p:spPr>
          <a:xfrm>
            <a:off x="457200" y="768096"/>
            <a:ext cx="11277295" cy="1075334"/>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70% of every partner-course sale goes to the partner, automatically</a:t>
            </a:r>
            <a:endParaRPr lang="en-US" sz="3600" dirty="0"/>
          </a:p>
        </p:txBody>
      </p:sp>
      <p:pic>
        <p:nvPicPr>
          <p:cNvPr id="13" name="Image 0" descr="/tmp/claude-0/-home-user-Chronopoli/d7458f57-86b2-5920-914e-8615357fee63/scratchpad/deck-master/framed_v5/payouts.png">    </p:cNvPr>
          <p:cNvPicPr>
            <a:picLocks noChangeAspect="1"/>
          </p:cNvPicPr>
          <p:nvPr/>
        </p:nvPicPr>
        <p:blipFill>
          <a:blip r:embed="rId2"/>
          <a:stretch>
            <a:fillRect/>
          </a:stretch>
        </p:blipFill>
        <p:spPr>
          <a:xfrm>
            <a:off x="288995" y="1894682"/>
            <a:ext cx="6361659" cy="4134827"/>
          </a:xfrm>
          <a:prstGeom prst="rect">
            <a:avLst/>
          </a:prstGeom>
        </p:spPr>
      </p:pic>
      <p:sp>
        <p:nvSpPr>
          <p:cNvPr id="14" name="Shape 10"/>
          <p:cNvSpPr/>
          <p:nvPr/>
        </p:nvSpPr>
        <p:spPr>
          <a:xfrm>
            <a:off x="457200" y="5998464"/>
            <a:ext cx="2480869" cy="219456"/>
          </a:xfrm>
          <a:prstGeom prst="roundRect">
            <a:avLst>
              <a:gd name="adj" fmla="val 50000"/>
            </a:avLst>
          </a:prstGeom>
          <a:solidFill>
            <a:srgbClr val="1B1B27"/>
          </a:solidFill>
          <a:ln w="9525">
            <a:solidFill>
              <a:srgbClr val="3A3A50"/>
            </a:solidFill>
            <a:prstDash val="solid"/>
          </a:ln>
        </p:spPr>
      </p:sp>
      <p:sp>
        <p:nvSpPr>
          <p:cNvPr id="15" name="Shape 11"/>
          <p:cNvSpPr/>
          <p:nvPr/>
        </p:nvSpPr>
        <p:spPr>
          <a:xfrm>
            <a:off x="548640" y="6071616"/>
            <a:ext cx="73152" cy="73152"/>
          </a:xfrm>
          <a:prstGeom prst="ellipse">
            <a:avLst/>
          </a:prstGeom>
          <a:solidFill>
            <a:srgbClr val="A9A9C6"/>
          </a:solidFill>
          <a:ln/>
        </p:spPr>
      </p:sp>
      <p:sp>
        <p:nvSpPr>
          <p:cNvPr id="16" name="Text 12"/>
          <p:cNvSpPr txBox="1"/>
          <p:nvPr/>
        </p:nvSpPr>
        <p:spPr>
          <a:xfrm>
            <a:off x="676656" y="5998464"/>
            <a:ext cx="2224837"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DESIGN PROTOTYPE (NOT YET BUILT)</a:t>
            </a:r>
            <a:endParaRPr lang="en-US" sz="800" dirty="0"/>
          </a:p>
        </p:txBody>
      </p:sp>
      <p:sp>
        <p:nvSpPr>
          <p:cNvPr id="17" name="Text 13"/>
          <p:cNvSpPr txBox="1"/>
          <p:nvPr/>
        </p:nvSpPr>
        <p:spPr>
          <a:xfrm>
            <a:off x="3047797" y="6030468"/>
            <a:ext cx="3434653"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payouts view</a:t>
            </a:r>
            <a:endParaRPr lang="en-US" sz="1000" dirty="0"/>
          </a:p>
        </p:txBody>
      </p:sp>
      <p:sp>
        <p:nvSpPr>
          <p:cNvPr id="18" name="Text 14"/>
          <p:cNvSpPr txBox="1"/>
          <p:nvPr/>
        </p:nvSpPr>
        <p:spPr>
          <a:xfrm>
            <a:off x="6939649" y="2159203"/>
            <a:ext cx="4794846" cy="576072"/>
          </a:xfrm>
          <a:prstGeom prst="rect">
            <a:avLst/>
          </a:prstGeom>
          <a:noFill/>
          <a:ln/>
        </p:spPr>
        <p:txBody>
          <a:bodyPr wrap="square" lIns="0" tIns="0" rIns="0" bIns="0" rtlCol="0" anchor="t"/>
          <a:lstStyle/>
          <a:p>
            <a:pPr indent="0" marL="0">
              <a:buNone/>
            </a:pPr>
            <a:r>
              <a:rPr lang="en-US" sz="1800" dirty="0">
                <a:solidFill>
                  <a:srgbClr val="FFFFFF"/>
                </a:solidFill>
                <a:latin typeface="Arial" pitchFamily="34" charset="0"/>
                <a:ea typeface="Arial" pitchFamily="34" charset="-122"/>
                <a:cs typeface="Arial" pitchFamily="34" charset="-120"/>
              </a:rPr>
              <a:t>The checkout splits each payment at the moment it is made</a:t>
            </a:r>
            <a:endParaRPr lang="en-US" sz="1800" dirty="0"/>
          </a:p>
        </p:txBody>
      </p:sp>
      <p:sp>
        <p:nvSpPr>
          <p:cNvPr id="19" name="Text 15"/>
          <p:cNvSpPr txBox="1"/>
          <p:nvPr/>
        </p:nvSpPr>
        <p:spPr>
          <a:xfrm>
            <a:off x="6939649" y="3073603"/>
            <a:ext cx="4794846" cy="45720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Illustrative Q3: $1,108,440 gross from 1,610 paid enrolments</a:t>
            </a:r>
            <a:endParaRPr lang="en-US" sz="1400" dirty="0"/>
          </a:p>
        </p:txBody>
      </p:sp>
      <p:sp>
        <p:nvSpPr>
          <p:cNvPr id="20" name="Shape 16"/>
          <p:cNvSpPr/>
          <p:nvPr/>
        </p:nvSpPr>
        <p:spPr>
          <a:xfrm>
            <a:off x="6939649" y="3701491"/>
            <a:ext cx="3338104" cy="146304"/>
          </a:xfrm>
          <a:prstGeom prst="rect">
            <a:avLst/>
          </a:prstGeom>
          <a:solidFill>
            <a:srgbClr val="C9A84C"/>
          </a:solidFill>
          <a:ln/>
        </p:spPr>
      </p:sp>
      <p:sp>
        <p:nvSpPr>
          <p:cNvPr id="21" name="Shape 17"/>
          <p:cNvSpPr/>
          <p:nvPr/>
        </p:nvSpPr>
        <p:spPr>
          <a:xfrm>
            <a:off x="10296041" y="3701491"/>
            <a:ext cx="1438454" cy="146304"/>
          </a:xfrm>
          <a:prstGeom prst="rect">
            <a:avLst/>
          </a:prstGeom>
          <a:solidFill>
            <a:srgbClr val="5A5A6E"/>
          </a:solidFill>
          <a:ln/>
        </p:spPr>
      </p:sp>
      <p:sp>
        <p:nvSpPr>
          <p:cNvPr id="22" name="Text 18"/>
          <p:cNvSpPr txBox="1"/>
          <p:nvPr/>
        </p:nvSpPr>
        <p:spPr>
          <a:xfrm>
            <a:off x="6939649" y="4012387"/>
            <a:ext cx="2305983" cy="530352"/>
          </a:xfrm>
          <a:prstGeom prst="rect">
            <a:avLst/>
          </a:prstGeom>
          <a:noFill/>
          <a:ln/>
        </p:spPr>
        <p:txBody>
          <a:bodyPr wrap="square" lIns="0" tIns="0" rIns="0" bIns="0" rtlCol="0" anchor="t"/>
          <a:lstStyle/>
          <a:p>
            <a:pPr indent="0" marL="0">
              <a:buNone/>
            </a:pPr>
            <a:r>
              <a:rPr lang="en-US" sz="3200" b="1" dirty="0">
                <a:solidFill>
                  <a:srgbClr val="F0C96B"/>
                </a:solidFill>
                <a:latin typeface="Arial" pitchFamily="34" charset="0"/>
                <a:ea typeface="Arial" pitchFamily="34" charset="-122"/>
                <a:cs typeface="Arial" pitchFamily="34" charset="-120"/>
              </a:rPr>
              <a:t>$775,908</a:t>
            </a:r>
            <a:endParaRPr lang="en-US" sz="3200" dirty="0"/>
          </a:p>
        </p:txBody>
      </p:sp>
      <p:sp>
        <p:nvSpPr>
          <p:cNvPr id="23" name="Text 19"/>
          <p:cNvSpPr txBox="1"/>
          <p:nvPr/>
        </p:nvSpPr>
        <p:spPr>
          <a:xfrm>
            <a:off x="6939649"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the partner (70%)</a:t>
            </a:r>
            <a:endParaRPr lang="en-US" sz="1300" dirty="0"/>
          </a:p>
        </p:txBody>
      </p:sp>
      <p:sp>
        <p:nvSpPr>
          <p:cNvPr id="24" name="Text 20"/>
          <p:cNvSpPr txBox="1"/>
          <p:nvPr/>
        </p:nvSpPr>
        <p:spPr>
          <a:xfrm>
            <a:off x="9337072" y="4012387"/>
            <a:ext cx="2305983" cy="530352"/>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$332,532</a:t>
            </a:r>
            <a:endParaRPr lang="en-US" sz="3200" dirty="0"/>
          </a:p>
        </p:txBody>
      </p:sp>
      <p:sp>
        <p:nvSpPr>
          <p:cNvPr id="25" name="Text 21"/>
          <p:cNvSpPr txBox="1"/>
          <p:nvPr/>
        </p:nvSpPr>
        <p:spPr>
          <a:xfrm>
            <a:off x="9337072" y="4561027"/>
            <a:ext cx="2305983" cy="228600"/>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to Chronopoli (30%)</a:t>
            </a:r>
            <a:endParaRPr lang="en-US" sz="1300" dirty="0"/>
          </a:p>
        </p:txBody>
      </p:sp>
      <p:sp>
        <p:nvSpPr>
          <p:cNvPr id="26" name="Shape 22"/>
          <p:cNvSpPr/>
          <p:nvPr/>
        </p:nvSpPr>
        <p:spPr>
          <a:xfrm>
            <a:off x="6939649" y="5109667"/>
            <a:ext cx="4794846" cy="0"/>
          </a:xfrm>
          <a:prstGeom prst="line">
            <a:avLst/>
          </a:prstGeom>
          <a:noFill/>
          <a:ln w="9525">
            <a:solidFill>
              <a:srgbClr val="2C2C3E"/>
            </a:solidFill>
            <a:prstDash val="solid"/>
          </a:ln>
        </p:spPr>
      </p:sp>
      <p:sp>
        <p:nvSpPr>
          <p:cNvPr id="27" name="Text 23"/>
          <p:cNvSpPr txBox="1"/>
          <p:nvPr/>
        </p:nvSpPr>
        <p:spPr>
          <a:xfrm>
            <a:off x="6939649" y="5338267"/>
            <a:ext cx="4794846" cy="481584"/>
          </a:xfrm>
          <a:prstGeom prst="rect">
            <a:avLst/>
          </a:prstGeom>
          <a:noFill/>
          <a:ln/>
        </p:spPr>
        <p:txBody>
          <a:bodyPr wrap="square" lIns="0" tIns="0" rIns="0" bIns="0" rtlCol="0" anchor="t"/>
          <a:lstStyle/>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One payout record per purchase, split by course; buyer e-mails are masked for partners</a:t>
            </a:r>
            <a:endParaRPr lang="en-US" sz="1400" dirty="0"/>
          </a:p>
        </p:txBody>
      </p:sp>
      <p:sp>
        <p:nvSpPr>
          <p:cNvPr id="28" name="Text 2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29" name="Text 2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2573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0196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SCENARIO · ONE ACADEMY</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one academy could look like (illustrative)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Fictitious Tether scenario, Q3 2026: demo numbers that show the mechanics, not traction</a:t>
            </a:r>
            <a:endParaRPr lang="en-US" sz="1600" dirty="0"/>
          </a:p>
        </p:txBody>
      </p:sp>
      <p:sp>
        <p:nvSpPr>
          <p:cNvPr id="7" name="Shape 4"/>
          <p:cNvSpPr/>
          <p:nvPr/>
        </p:nvSpPr>
        <p:spPr>
          <a:xfrm>
            <a:off x="457200" y="1906219"/>
            <a:ext cx="6766560" cy="4311701"/>
          </a:xfrm>
          <a:prstGeom prst="roundRect">
            <a:avLst>
              <a:gd name="adj" fmla="val 2545"/>
            </a:avLst>
          </a:prstGeom>
          <a:solidFill>
            <a:srgbClr val="171722"/>
          </a:solidFill>
          <a:ln w="9525">
            <a:solidFill>
              <a:srgbClr val="2C2C3E"/>
            </a:solidFill>
            <a:prstDash val="solid"/>
          </a:ln>
        </p:spPr>
      </p:sp>
      <p:graphicFrame>
        <p:nvGraphicFramePr>
          <p:cNvPr id="8" name="Chart 0" descr=""/>
          <p:cNvGraphicFramePr/>
          <p:nvPr/>
        </p:nvGraphicFramePr>
        <p:xfrm>
          <a:off x="594360" y="1997659"/>
          <a:ext cx="6492240" cy="3744773"/>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1762963" y="2766548"/>
            <a:ext cx="82296" cy="255032"/>
          </a:xfrm>
          <a:prstGeom prst="rect">
            <a:avLst/>
          </a:prstGeom>
          <a:solidFill>
            <a:srgbClr val="171722"/>
          </a:solidFill>
          <a:ln w="9525">
            <a:solidFill>
              <a:srgbClr val="C9A84C"/>
            </a:solidFill>
            <a:prstDash val="dash"/>
          </a:ln>
        </p:spPr>
      </p:sp>
      <p:sp>
        <p:nvSpPr>
          <p:cNvPr id="10" name="Text 6"/>
          <p:cNvSpPr txBox="1"/>
          <p:nvPr/>
        </p:nvSpPr>
        <p:spPr>
          <a:xfrm>
            <a:off x="1927555" y="2766548"/>
            <a:ext cx="3108960" cy="255032"/>
          </a:xfrm>
          <a:prstGeom prst="rect">
            <a:avLst/>
          </a:prstGeom>
          <a:noFill/>
          <a:ln/>
        </p:spPr>
        <p:txBody>
          <a:bodyPr wrap="square" lIns="0" tIns="0" rIns="0" bIns="0" rtlCol="0" anchor="ctr"/>
          <a:lstStyle/>
          <a:p>
            <a:pPr indent="0" marL="0">
              <a:buNone/>
            </a:pPr>
            <a:r>
              <a:rPr lang="en-US" sz="950" dirty="0">
                <a:solidFill>
                  <a:srgbClr val="F0C96B"/>
                </a:solidFill>
                <a:latin typeface="Arial" pitchFamily="34" charset="0"/>
                <a:ea typeface="Arial" pitchFamily="34" charset="-122"/>
                <a:cs typeface="Arial" pitchFamily="34" charset="-120"/>
              </a:rPr>
              <a:t>Free · 2,140 enrolments · $0 revenue</a:t>
            </a:r>
            <a:endParaRPr lang="en-US" sz="950" dirty="0"/>
          </a:p>
        </p:txBody>
      </p:sp>
      <p:sp>
        <p:nvSpPr>
          <p:cNvPr id="11" name="Text 7"/>
          <p:cNvSpPr txBox="1"/>
          <p:nvPr/>
        </p:nvSpPr>
        <p:spPr>
          <a:xfrm>
            <a:off x="685800" y="5760720"/>
            <a:ext cx="6309360" cy="182880"/>
          </a:xfrm>
          <a:prstGeom prst="rect">
            <a:avLst/>
          </a:prstGeom>
          <a:noFill/>
          <a:ln/>
        </p:spPr>
        <p:txBody>
          <a:bodyPr wrap="square" lIns="0" tIns="0" rIns="0" bIns="0" rtlCol="0" anchor="t"/>
          <a:lstStyle/>
          <a:p>
            <a:pPr indent="0" marL="0">
              <a:buNone/>
            </a:pPr>
            <a:r>
              <a:rPr lang="en-US" sz="1050" dirty="0">
                <a:solidFill>
                  <a:srgbClr val="F0C96B"/>
                </a:solidFill>
                <a:latin typeface="Arial" pitchFamily="34" charset="0"/>
                <a:ea typeface="Arial" pitchFamily="34" charset="-122"/>
                <a:cs typeface="Arial" pitchFamily="34" charset="-120"/>
              </a:rPr>
              <a:t>The free USDT-101 is the funnel: 2,140 of 4,812 enrolments (44%)</a:t>
            </a:r>
            <a:endParaRPr lang="en-US" sz="1050" dirty="0"/>
          </a:p>
        </p:txBody>
      </p:sp>
      <p:sp>
        <p:nvSpPr>
          <p:cNvPr id="12" name="Text 8"/>
          <p:cNvSpPr txBox="1"/>
          <p:nvPr/>
        </p:nvSpPr>
        <p:spPr>
          <a:xfrm>
            <a:off x="685800" y="5961888"/>
            <a:ext cx="6309360" cy="164592"/>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Source: illustrative scenario, paid enrolments × list price · segments under $20k unlabelled</a:t>
            </a:r>
            <a:endParaRPr lang="en-US" sz="900" dirty="0"/>
          </a:p>
        </p:txBody>
      </p:sp>
      <p:sp>
        <p:nvSpPr>
          <p:cNvPr id="13" name="Shape 9"/>
          <p:cNvSpPr/>
          <p:nvPr/>
        </p:nvSpPr>
        <p:spPr>
          <a:xfrm>
            <a:off x="7543800" y="1906219"/>
            <a:ext cx="2003908" cy="932688"/>
          </a:xfrm>
          <a:prstGeom prst="roundRect">
            <a:avLst>
              <a:gd name="adj" fmla="val 9804"/>
            </a:avLst>
          </a:prstGeom>
          <a:solidFill>
            <a:srgbClr val="171722"/>
          </a:solidFill>
          <a:ln w="9525">
            <a:solidFill>
              <a:srgbClr val="2C2C3E"/>
            </a:solidFill>
            <a:prstDash val="solid"/>
          </a:ln>
        </p:spPr>
      </p:sp>
      <p:sp>
        <p:nvSpPr>
          <p:cNvPr id="14" name="Text 10"/>
          <p:cNvSpPr txBox="1"/>
          <p:nvPr/>
        </p:nvSpPr>
        <p:spPr>
          <a:xfrm>
            <a:off x="7708392"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5" name="Text 11"/>
          <p:cNvSpPr txBox="1"/>
          <p:nvPr/>
        </p:nvSpPr>
        <p:spPr>
          <a:xfrm>
            <a:off x="7708392"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6" name="Text 12"/>
          <p:cNvSpPr txBox="1"/>
          <p:nvPr/>
        </p:nvSpPr>
        <p:spPr>
          <a:xfrm>
            <a:off x="7708392" y="2601163"/>
            <a:ext cx="1729588"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7" name="Shape 13"/>
          <p:cNvSpPr/>
          <p:nvPr/>
        </p:nvSpPr>
        <p:spPr>
          <a:xfrm>
            <a:off x="9730588" y="1906219"/>
            <a:ext cx="2003908" cy="932688"/>
          </a:xfrm>
          <a:prstGeom prst="roundRect">
            <a:avLst>
              <a:gd name="adj" fmla="val 9804"/>
            </a:avLst>
          </a:prstGeom>
          <a:solidFill>
            <a:srgbClr val="171722"/>
          </a:solidFill>
          <a:ln w="9525">
            <a:solidFill>
              <a:srgbClr val="2C2C3E"/>
            </a:solidFill>
            <a:prstDash val="solid"/>
          </a:ln>
        </p:spPr>
      </p:sp>
      <p:sp>
        <p:nvSpPr>
          <p:cNvPr id="18" name="Text 14"/>
          <p:cNvSpPr txBox="1"/>
          <p:nvPr/>
        </p:nvSpPr>
        <p:spPr>
          <a:xfrm>
            <a:off x="9895180" y="2025091"/>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9" name="Text 15"/>
          <p:cNvSpPr txBox="1"/>
          <p:nvPr/>
        </p:nvSpPr>
        <p:spPr>
          <a:xfrm>
            <a:off x="9895180" y="2235403"/>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20" name="Text 16"/>
          <p:cNvSpPr txBox="1"/>
          <p:nvPr/>
        </p:nvSpPr>
        <p:spPr>
          <a:xfrm>
            <a:off x="9895180" y="2601163"/>
            <a:ext cx="1729588"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21" name="Shape 17"/>
          <p:cNvSpPr/>
          <p:nvPr/>
        </p:nvSpPr>
        <p:spPr>
          <a:xfrm>
            <a:off x="7543800" y="3021787"/>
            <a:ext cx="2003908" cy="932688"/>
          </a:xfrm>
          <a:prstGeom prst="roundRect">
            <a:avLst>
              <a:gd name="adj" fmla="val 9804"/>
            </a:avLst>
          </a:prstGeom>
          <a:solidFill>
            <a:srgbClr val="171722"/>
          </a:solidFill>
          <a:ln w="9525">
            <a:solidFill>
              <a:srgbClr val="2C2C3E"/>
            </a:solidFill>
            <a:prstDash val="solid"/>
          </a:ln>
        </p:spPr>
      </p:sp>
      <p:sp>
        <p:nvSpPr>
          <p:cNvPr id="22" name="Text 18"/>
          <p:cNvSpPr txBox="1"/>
          <p:nvPr/>
        </p:nvSpPr>
        <p:spPr>
          <a:xfrm>
            <a:off x="7708392"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 ISSUED</a:t>
            </a:r>
            <a:endParaRPr lang="en-US" sz="850" dirty="0"/>
          </a:p>
        </p:txBody>
      </p:sp>
      <p:sp>
        <p:nvSpPr>
          <p:cNvPr id="23" name="Text 19"/>
          <p:cNvSpPr txBox="1"/>
          <p:nvPr/>
        </p:nvSpPr>
        <p:spPr>
          <a:xfrm>
            <a:off x="7708392" y="3350971"/>
            <a:ext cx="1729588"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4" name="Shape 20"/>
          <p:cNvSpPr/>
          <p:nvPr/>
        </p:nvSpPr>
        <p:spPr>
          <a:xfrm>
            <a:off x="9730588" y="3021787"/>
            <a:ext cx="2003908" cy="932688"/>
          </a:xfrm>
          <a:prstGeom prst="roundRect">
            <a:avLst>
              <a:gd name="adj" fmla="val 9804"/>
            </a:avLst>
          </a:prstGeom>
          <a:solidFill>
            <a:srgbClr val="171722"/>
          </a:solidFill>
          <a:ln w="9525">
            <a:solidFill>
              <a:srgbClr val="2C2C3E"/>
            </a:solidFill>
            <a:prstDash val="solid"/>
          </a:ln>
        </p:spPr>
      </p:sp>
      <p:sp>
        <p:nvSpPr>
          <p:cNvPr id="25" name="Text 21"/>
          <p:cNvSpPr txBox="1"/>
          <p:nvPr/>
        </p:nvSpPr>
        <p:spPr>
          <a:xfrm>
            <a:off x="9895180" y="3140659"/>
            <a:ext cx="172958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SHARE</a:t>
            </a:r>
            <a:endParaRPr lang="en-US" sz="850" dirty="0"/>
          </a:p>
        </p:txBody>
      </p:sp>
      <p:sp>
        <p:nvSpPr>
          <p:cNvPr id="26" name="Text 22"/>
          <p:cNvSpPr txBox="1"/>
          <p:nvPr/>
        </p:nvSpPr>
        <p:spPr>
          <a:xfrm>
            <a:off x="9895180" y="3350971"/>
            <a:ext cx="1729588" cy="384048"/>
          </a:xfrm>
          <a:prstGeom prst="rect">
            <a:avLst/>
          </a:prstGeom>
          <a:noFill/>
          <a:ln/>
        </p:spPr>
        <p:txBody>
          <a:bodyPr wrap="square" lIns="0" tIns="0" rIns="0" bIns="0" rtlCol="0" anchor="t"/>
          <a:lstStyle/>
          <a:p>
            <a:pPr indent="0" marL="0">
              <a:buNone/>
            </a:pPr>
            <a:r>
              <a:rPr lang="en-US" sz="2400" b="1" dirty="0">
                <a:solidFill>
                  <a:srgbClr val="F0C96B"/>
                </a:solidFill>
                <a:latin typeface="Arial" pitchFamily="34" charset="0"/>
                <a:ea typeface="Arial" pitchFamily="34" charset="-122"/>
                <a:cs typeface="Arial" pitchFamily="34" charset="-120"/>
              </a:rPr>
              <a:t>$775,908</a:t>
            </a:r>
            <a:endParaRPr lang="en-US" sz="2400" dirty="0"/>
          </a:p>
        </p:txBody>
      </p:sp>
      <p:sp>
        <p:nvSpPr>
          <p:cNvPr id="27" name="Text 23"/>
          <p:cNvSpPr txBox="1"/>
          <p:nvPr/>
        </p:nvSpPr>
        <p:spPr>
          <a:xfrm>
            <a:off x="7543800" y="4100779"/>
            <a:ext cx="4190695" cy="13248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Gross:</a:t>
            </a:r>
            <a:r>
              <a:rPr lang="en-US" sz="1400" dirty="0">
                <a:solidFill>
                  <a:srgbClr val="E8E8F0"/>
                </a:solidFill>
                <a:latin typeface="Arial" pitchFamily="34" charset="0"/>
                <a:ea typeface="Arial" pitchFamily="34" charset="-122"/>
                <a:cs typeface="Arial" pitchFamily="34" charset="-120"/>
              </a:rPr>
              <a:t> $1,108,440 individual sales · $775,908 partner (70%) · $332,532 platform (30%)</a:t>
            </a:r>
            <a:endParaRPr lang="en-US" sz="1400" dirty="0"/>
          </a:p>
          <a:p>
            <a:pPr marL="165100" indent="-165100">
              <a:spcAft>
                <a:spcPts val="8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Depth pays:</a:t>
            </a:r>
            <a:r>
              <a:rPr lang="en-US" sz="1400" dirty="0">
                <a:solidFill>
                  <a:srgbClr val="E8E8F0"/>
                </a:solidFill>
                <a:latin typeface="Arial" pitchFamily="34" charset="0"/>
                <a:ea typeface="Arial" pitchFamily="34" charset="-122"/>
                <a:cs typeface="Arial" pitchFamily="34" charset="-120"/>
              </a:rPr>
              <a:t> L3/L4 courses bring about 50% of gross from about 17% of paid enrolments</a:t>
            </a:r>
            <a:endParaRPr lang="en-US" sz="1400" dirty="0"/>
          </a:p>
          <a:p>
            <a:pPr marL="165100" indent="-165100">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Not included:</a:t>
            </a:r>
            <a:r>
              <a:rPr lang="en-US" sz="1400" dirty="0">
                <a:solidFill>
                  <a:srgbClr val="E8E8F0"/>
                </a:solidFill>
                <a:latin typeface="Arial" pitchFamily="34" charset="0"/>
                <a:ea typeface="Arial" pitchFamily="34" charset="-122"/>
                <a:cs typeface="Arial" pitchFamily="34" charset="-120"/>
              </a:rPr>
              <a:t> team-licence revenue</a:t>
            </a:r>
            <a:endParaRPr lang="en-US" sz="1400" dirty="0"/>
          </a:p>
        </p:txBody>
      </p:sp>
      <p:sp>
        <p:nvSpPr>
          <p:cNvPr id="28" name="Shape 24"/>
          <p:cNvSpPr/>
          <p:nvPr/>
        </p:nvSpPr>
        <p:spPr>
          <a:xfrm>
            <a:off x="7543800" y="5687568"/>
            <a:ext cx="1873971" cy="219456"/>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635240" y="5760720"/>
            <a:ext cx="73152" cy="73152"/>
          </a:xfrm>
          <a:prstGeom prst="ellipse">
            <a:avLst/>
          </a:prstGeom>
          <a:solidFill>
            <a:srgbClr val="F0C96B"/>
          </a:solidFill>
          <a:ln/>
        </p:spPr>
      </p:sp>
      <p:sp>
        <p:nvSpPr>
          <p:cNvPr id="30" name="Text 26"/>
          <p:cNvSpPr txBox="1"/>
          <p:nvPr/>
        </p:nvSpPr>
        <p:spPr>
          <a:xfrm>
            <a:off x="7763256" y="5687568"/>
            <a:ext cx="1617939" cy="219456"/>
          </a:xfrm>
          <a:prstGeom prst="rect">
            <a:avLst/>
          </a:prstGeom>
          <a:noFill/>
          <a:ln/>
        </p:spPr>
        <p:txBody>
          <a:bodyPr wrap="square" lIns="0" tIns="0" rIns="0" bIns="0" rtlCol="0" anchor="ctr"/>
          <a:lstStyle/>
          <a:p>
            <a:pPr indent="0" marL="0">
              <a:buNone/>
            </a:pPr>
            <a:r>
              <a:rPr lang="en-US" sz="800" b="1" spc="60" kern="0" dirty="0">
                <a:solidFill>
                  <a:srgbClr val="D6D6E4"/>
                </a:solidFill>
                <a:latin typeface="Arial" pitchFamily="34" charset="0"/>
                <a:ea typeface="Arial" pitchFamily="34" charset="-122"/>
                <a:cs typeface="Arial" pitchFamily="34" charset="-120"/>
              </a:rPr>
              <a:t>ILLUSTRATIVE MOCK DATA</a:t>
            </a:r>
            <a:endParaRPr lang="en-US" sz="800" dirty="0"/>
          </a:p>
        </p:txBody>
      </p:sp>
      <p:sp>
        <p:nvSpPr>
          <p:cNvPr id="31" name="Text 27"/>
          <p:cNvSpPr txBox="1"/>
          <p:nvPr/>
        </p:nvSpPr>
        <p:spPr>
          <a:xfrm>
            <a:off x="7543800" y="5961888"/>
            <a:ext cx="4190695"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academy; no partnership or real traction implied</a:t>
            </a:r>
            <a:endParaRPr lang="en-US" sz="1000" dirty="0"/>
          </a:p>
        </p:txBody>
      </p:sp>
      <p:sp>
        <p:nvSpPr>
          <p:cNvPr id="32"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a:t>
            </a:r>
            <a:endParaRPr lang="en-US" sz="900" dirty="0"/>
          </a:p>
        </p:txBody>
      </p:sp>
      <p:sp>
        <p:nvSpPr>
          <p:cNvPr id="33"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0236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86462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FINANCIAL HIGHLIGHTS · PROJECTIONS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Projected profitable from month 5</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Chronopoli Master Document projections: a lean cost base, and companies fund everything</a:t>
            </a:r>
            <a:endParaRPr lang="en-US" sz="1600" dirty="0"/>
          </a:p>
        </p:txBody>
      </p:sp>
      <p:sp>
        <p:nvSpPr>
          <p:cNvPr id="7" name="Shape 4"/>
          <p:cNvSpPr/>
          <p:nvPr/>
        </p:nvSpPr>
        <p:spPr>
          <a:xfrm>
            <a:off x="457200" y="1924507"/>
            <a:ext cx="2109155" cy="1097280"/>
          </a:xfrm>
          <a:prstGeom prst="roundRect">
            <a:avLst>
              <a:gd name="adj" fmla="val 8333"/>
            </a:avLst>
          </a:prstGeom>
          <a:solidFill>
            <a:srgbClr val="171722"/>
          </a:solidFill>
          <a:ln w="9525">
            <a:solidFill>
              <a:srgbClr val="2C2C3E"/>
            </a:solidFill>
            <a:prstDash val="solid"/>
          </a:ln>
        </p:spPr>
      </p:sp>
      <p:sp>
        <p:nvSpPr>
          <p:cNvPr id="8" name="Text 5"/>
          <p:cNvSpPr txBox="1"/>
          <p:nvPr/>
        </p:nvSpPr>
        <p:spPr>
          <a:xfrm>
            <a:off x="62179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$1.72M</a:t>
            </a:r>
            <a:endParaRPr lang="en-US" sz="2800" dirty="0"/>
          </a:p>
        </p:txBody>
      </p:sp>
      <p:sp>
        <p:nvSpPr>
          <p:cNvPr id="9" name="Text 6"/>
          <p:cNvSpPr txBox="1"/>
          <p:nvPr/>
        </p:nvSpPr>
        <p:spPr>
          <a:xfrm>
            <a:off x="62179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1 revenue</a:t>
            </a:r>
            <a:endParaRPr lang="en-US" sz="1200" dirty="0"/>
          </a:p>
        </p:txBody>
      </p:sp>
      <p:sp>
        <p:nvSpPr>
          <p:cNvPr id="10" name="Text 7"/>
          <p:cNvSpPr txBox="1"/>
          <p:nvPr/>
        </p:nvSpPr>
        <p:spPr>
          <a:xfrm>
            <a:off x="62179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9 partners + subscriptions</a:t>
            </a:r>
            <a:endParaRPr lang="en-US" sz="1000" dirty="0"/>
          </a:p>
        </p:txBody>
      </p:sp>
      <p:sp>
        <p:nvSpPr>
          <p:cNvPr id="11" name="Shape 8"/>
          <p:cNvSpPr/>
          <p:nvPr/>
        </p:nvSpPr>
        <p:spPr>
          <a:xfrm>
            <a:off x="2749235" y="1924507"/>
            <a:ext cx="2109155" cy="1097280"/>
          </a:xfrm>
          <a:prstGeom prst="roundRect">
            <a:avLst>
              <a:gd name="adj" fmla="val 8333"/>
            </a:avLst>
          </a:prstGeom>
          <a:solidFill>
            <a:srgbClr val="171722"/>
          </a:solidFill>
          <a:ln w="9525">
            <a:solidFill>
              <a:srgbClr val="2C2C3E"/>
            </a:solidFill>
            <a:prstDash val="solid"/>
          </a:ln>
        </p:spPr>
      </p:sp>
      <p:sp>
        <p:nvSpPr>
          <p:cNvPr id="12" name="Text 9"/>
          <p:cNvSpPr txBox="1"/>
          <p:nvPr/>
        </p:nvSpPr>
        <p:spPr>
          <a:xfrm>
            <a:off x="291382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67.5%</a:t>
            </a:r>
            <a:endParaRPr lang="en-US" sz="2800" dirty="0"/>
          </a:p>
        </p:txBody>
      </p:sp>
      <p:sp>
        <p:nvSpPr>
          <p:cNvPr id="13" name="Text 10"/>
          <p:cNvSpPr txBox="1"/>
          <p:nvPr/>
        </p:nvSpPr>
        <p:spPr>
          <a:xfrm>
            <a:off x="291382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EBITDA margin Y1</a:t>
            </a:r>
            <a:endParaRPr lang="en-US" sz="1200" dirty="0"/>
          </a:p>
        </p:txBody>
      </p:sp>
      <p:sp>
        <p:nvSpPr>
          <p:cNvPr id="14" name="Text 11"/>
          <p:cNvSpPr txBox="1"/>
          <p:nvPr/>
        </p:nvSpPr>
        <p:spPr>
          <a:xfrm>
            <a:off x="291382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Projected, Year 1</a:t>
            </a:r>
            <a:endParaRPr lang="en-US" sz="1000" dirty="0"/>
          </a:p>
        </p:txBody>
      </p:sp>
      <p:sp>
        <p:nvSpPr>
          <p:cNvPr id="15" name="Shape 12"/>
          <p:cNvSpPr/>
          <p:nvPr/>
        </p:nvSpPr>
        <p:spPr>
          <a:xfrm>
            <a:off x="5041270" y="1924507"/>
            <a:ext cx="2109155" cy="1097280"/>
          </a:xfrm>
          <a:prstGeom prst="roundRect">
            <a:avLst>
              <a:gd name="adj" fmla="val 8333"/>
            </a:avLst>
          </a:prstGeom>
          <a:solidFill>
            <a:srgbClr val="171722"/>
          </a:solidFill>
          <a:ln w="9525">
            <a:solidFill>
              <a:srgbClr val="2C2C3E"/>
            </a:solidFill>
            <a:prstDash val="solid"/>
          </a:ln>
        </p:spPr>
      </p:sp>
      <p:sp>
        <p:nvSpPr>
          <p:cNvPr id="16" name="Text 13"/>
          <p:cNvSpPr txBox="1"/>
          <p:nvPr/>
        </p:nvSpPr>
        <p:spPr>
          <a:xfrm>
            <a:off x="520586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$9.59M</a:t>
            </a:r>
            <a:endParaRPr lang="en-US" sz="2800" dirty="0"/>
          </a:p>
        </p:txBody>
      </p:sp>
      <p:sp>
        <p:nvSpPr>
          <p:cNvPr id="17" name="Text 14"/>
          <p:cNvSpPr txBox="1"/>
          <p:nvPr/>
        </p:nvSpPr>
        <p:spPr>
          <a:xfrm>
            <a:off x="520586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Year 3 revenue</a:t>
            </a:r>
            <a:endParaRPr lang="en-US" sz="1200" dirty="0"/>
          </a:p>
        </p:txBody>
      </p:sp>
      <p:sp>
        <p:nvSpPr>
          <p:cNvPr id="18" name="Text 15"/>
          <p:cNvSpPr txBox="1"/>
          <p:nvPr/>
        </p:nvSpPr>
        <p:spPr>
          <a:xfrm>
            <a:off x="520586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19" name="Shape 16"/>
          <p:cNvSpPr/>
          <p:nvPr/>
        </p:nvSpPr>
        <p:spPr>
          <a:xfrm>
            <a:off x="7333305" y="1924507"/>
            <a:ext cx="2109155" cy="1097280"/>
          </a:xfrm>
          <a:prstGeom prst="roundRect">
            <a:avLst>
              <a:gd name="adj" fmla="val 8333"/>
            </a:avLst>
          </a:prstGeom>
          <a:solidFill>
            <a:srgbClr val="171722"/>
          </a:solidFill>
          <a:ln w="9525">
            <a:solidFill>
              <a:srgbClr val="2C2C3E"/>
            </a:solidFill>
            <a:prstDash val="solid"/>
          </a:ln>
        </p:spPr>
      </p:sp>
      <p:sp>
        <p:nvSpPr>
          <p:cNvPr id="20" name="Text 17"/>
          <p:cNvSpPr txBox="1"/>
          <p:nvPr/>
        </p:nvSpPr>
        <p:spPr>
          <a:xfrm>
            <a:off x="7497897"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$44.9M</a:t>
            </a:r>
            <a:endParaRPr lang="en-US" sz="2800" dirty="0"/>
          </a:p>
        </p:txBody>
      </p:sp>
      <p:sp>
        <p:nvSpPr>
          <p:cNvPr id="21" name="Text 18"/>
          <p:cNvSpPr txBox="1"/>
          <p:nvPr/>
        </p:nvSpPr>
        <p:spPr>
          <a:xfrm>
            <a:off x="7497897"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Cash in Year 5</a:t>
            </a:r>
            <a:endParaRPr lang="en-US" sz="1200" dirty="0"/>
          </a:p>
        </p:txBody>
      </p:sp>
      <p:sp>
        <p:nvSpPr>
          <p:cNvPr id="22" name="Text 19"/>
          <p:cNvSpPr txBox="1"/>
          <p:nvPr/>
        </p:nvSpPr>
        <p:spPr>
          <a:xfrm>
            <a:off x="7497897"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Debt-free model</a:t>
            </a:r>
            <a:endParaRPr lang="en-US" sz="1000" dirty="0"/>
          </a:p>
        </p:txBody>
      </p:sp>
      <p:sp>
        <p:nvSpPr>
          <p:cNvPr id="23" name="Shape 20"/>
          <p:cNvSpPr/>
          <p:nvPr/>
        </p:nvSpPr>
        <p:spPr>
          <a:xfrm>
            <a:off x="9625340" y="1924507"/>
            <a:ext cx="2109155" cy="1097280"/>
          </a:xfrm>
          <a:prstGeom prst="roundRect">
            <a:avLst>
              <a:gd name="adj" fmla="val 8333"/>
            </a:avLst>
          </a:prstGeom>
          <a:solidFill>
            <a:srgbClr val="171722"/>
          </a:solidFill>
          <a:ln w="9525">
            <a:solidFill>
              <a:srgbClr val="2C2C3E"/>
            </a:solidFill>
            <a:prstDash val="solid"/>
          </a:ln>
        </p:spPr>
      </p:sp>
      <p:sp>
        <p:nvSpPr>
          <p:cNvPr id="24" name="Text 21"/>
          <p:cNvSpPr txBox="1"/>
          <p:nvPr/>
        </p:nvSpPr>
        <p:spPr>
          <a:xfrm>
            <a:off x="9789932" y="2034235"/>
            <a:ext cx="1834835" cy="457200"/>
          </a:xfrm>
          <a:prstGeom prst="rect">
            <a:avLst/>
          </a:prstGeom>
          <a:noFill/>
          <a:ln/>
        </p:spPr>
        <p:txBody>
          <a:bodyPr wrap="square" lIns="0" tIns="0" rIns="0" bIns="0" rtlCol="0" anchor="t"/>
          <a:lstStyle/>
          <a:p>
            <a:pPr indent="0" marL="0">
              <a:buNone/>
            </a:pPr>
            <a:r>
              <a:rPr lang="en-US" sz="2800" b="1" dirty="0">
                <a:solidFill>
                  <a:srgbClr val="F0C96B"/>
                </a:solidFill>
                <a:latin typeface="Arial" pitchFamily="34" charset="0"/>
                <a:ea typeface="Arial" pitchFamily="34" charset="-122"/>
                <a:cs typeface="Arial" pitchFamily="34" charset="-120"/>
              </a:rPr>
              <a:t>$1.09M</a:t>
            </a:r>
            <a:endParaRPr lang="en-US" sz="2800" dirty="0"/>
          </a:p>
        </p:txBody>
      </p:sp>
      <p:sp>
        <p:nvSpPr>
          <p:cNvPr id="25" name="Text 22"/>
          <p:cNvSpPr txBox="1"/>
          <p:nvPr/>
        </p:nvSpPr>
        <p:spPr>
          <a:xfrm>
            <a:off x="9789932" y="2509723"/>
            <a:ext cx="1834835" cy="219456"/>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Net income Y1</a:t>
            </a:r>
            <a:endParaRPr lang="en-US" sz="1200" dirty="0"/>
          </a:p>
        </p:txBody>
      </p:sp>
      <p:sp>
        <p:nvSpPr>
          <p:cNvPr id="26" name="Text 23"/>
          <p:cNvSpPr txBox="1"/>
          <p:nvPr/>
        </p:nvSpPr>
        <p:spPr>
          <a:xfrm>
            <a:off x="9789932" y="2729179"/>
            <a:ext cx="1834835" cy="201168"/>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Master Document estimate</a:t>
            </a:r>
            <a:endParaRPr lang="en-US" sz="1000" dirty="0"/>
          </a:p>
        </p:txBody>
      </p:sp>
      <p:sp>
        <p:nvSpPr>
          <p:cNvPr id="27" name="Shape 24"/>
          <p:cNvSpPr/>
          <p:nvPr/>
        </p:nvSpPr>
        <p:spPr>
          <a:xfrm>
            <a:off x="457200" y="3296107"/>
            <a:ext cx="11277295" cy="2630729"/>
          </a:xfrm>
          <a:prstGeom prst="roundRect">
            <a:avLst>
              <a:gd name="adj" fmla="val 4171"/>
            </a:avLst>
          </a:prstGeom>
          <a:solidFill>
            <a:srgbClr val="171722"/>
          </a:solidFill>
          <a:ln w="9525">
            <a:solidFill>
              <a:srgbClr val="2C2C3E"/>
            </a:solidFill>
            <a:prstDash val="solid"/>
          </a:ln>
        </p:spPr>
      </p:sp>
      <p:graphicFrame>
        <p:nvGraphicFramePr>
          <p:cNvPr id="28" name="Chart 0" descr=""/>
          <p:cNvGraphicFramePr/>
          <p:nvPr/>
        </p:nvGraphicFramePr>
        <p:xfrm>
          <a:off x="594360" y="3387547"/>
          <a:ext cx="11002975" cy="2447849"/>
        </p:xfrm>
        <a:graphic xmlns:a="http://schemas.openxmlformats.org/drawingml/2006/main">
          <a:graphicData uri="http://schemas.openxmlformats.org/drawingml/2006/chart">
            <c:chart xmlns:c="http://schemas.openxmlformats.org/drawingml/2006/chart" r:id="rId2"/>
          </a:graphicData>
        </a:graphic>
      </p:graphicFrame>
      <p:sp>
        <p:nvSpPr>
          <p:cNvPr id="29" name="Text 25"/>
          <p:cNvSpPr txBox="1"/>
          <p:nvPr/>
        </p:nvSpPr>
        <p:spPr>
          <a:xfrm>
            <a:off x="457200" y="6073140"/>
            <a:ext cx="11277295" cy="17221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Document projections (March 2026), not audited. Month 5 counts from the commercial launch, which follows the 90-day plan (slide 32).</a:t>
            </a:r>
            <a:endParaRPr lang="en-US" sz="950" dirty="0"/>
          </a:p>
        </p:txBody>
      </p:sp>
      <p:sp>
        <p:nvSpPr>
          <p:cNvPr id="30" name="Text 2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Platform built.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Built, not yet live; launch plan in place. Anchor confirmed, MOU in progress, nothing signed yet</a:t>
            </a:r>
            <a:endParaRPr lang="en-US" sz="1600" dirty="0"/>
          </a:p>
        </p:txBody>
      </p:sp>
      <p:sp>
        <p:nvSpPr>
          <p:cNvPr id="7" name="Shape 4"/>
          <p:cNvSpPr/>
          <p:nvPr/>
        </p:nvSpPr>
        <p:spPr>
          <a:xfrm>
            <a:off x="457200" y="1942795"/>
            <a:ext cx="3576218" cy="1643786"/>
          </a:xfrm>
          <a:prstGeom prst="roundRect">
            <a:avLst>
              <a:gd name="adj" fmla="val 6675"/>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67908" y="2235403"/>
            <a:ext cx="636910"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67908" y="2235403"/>
            <a:ext cx="636910"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BUILT</a:t>
            </a:r>
            <a:endParaRPr lang="en-US" sz="800" dirty="0"/>
          </a:p>
        </p:txBody>
      </p:sp>
      <p:sp>
        <p:nvSpPr>
          <p:cNvPr id="12" name="Text 8"/>
          <p:cNvSpPr txBox="1"/>
          <p:nvPr/>
        </p:nvSpPr>
        <p:spPr>
          <a:xfrm>
            <a:off x="1243584" y="2262835"/>
            <a:ext cx="184202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3" name="Text 9"/>
          <p:cNvSpPr txBox="1"/>
          <p:nvPr/>
        </p:nvSpPr>
        <p:spPr>
          <a:xfrm>
            <a:off x="685800"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Built, not yet live</a:t>
            </a:r>
            <a:endParaRPr lang="en-US" sz="2200" dirty="0"/>
          </a:p>
        </p:txBody>
      </p:sp>
      <p:sp>
        <p:nvSpPr>
          <p:cNvPr id="14" name="Text 10"/>
          <p:cNvSpPr txBox="1"/>
          <p:nvPr/>
        </p:nvSpPr>
        <p:spPr>
          <a:xfrm>
            <a:off x="685800"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Real screens show the working product; prototypes are still to be built</a:t>
            </a:r>
            <a:endParaRPr lang="en-US" sz="1200" dirty="0"/>
          </a:p>
        </p:txBody>
      </p:sp>
      <p:sp>
        <p:nvSpPr>
          <p:cNvPr id="15" name="Shape 11"/>
          <p:cNvSpPr/>
          <p:nvPr/>
        </p:nvSpPr>
        <p:spPr>
          <a:xfrm>
            <a:off x="4307738" y="1942795"/>
            <a:ext cx="3576218" cy="1643786"/>
          </a:xfrm>
          <a:prstGeom prst="roundRect">
            <a:avLst>
              <a:gd name="adj" fmla="val 6675"/>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LAUNCH</a:t>
            </a:r>
            <a:endParaRPr lang="en-US" sz="850" dirty="0"/>
          </a:p>
        </p:txBody>
      </p:sp>
      <p:sp>
        <p:nvSpPr>
          <p:cNvPr id="21" name="Text 16"/>
          <p:cNvSpPr txBox="1"/>
          <p:nvPr/>
        </p:nvSpPr>
        <p:spPr>
          <a:xfrm>
            <a:off x="4536338" y="2674315"/>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Plan in place</a:t>
            </a:r>
            <a:endParaRPr lang="en-US" sz="2200" dirty="0"/>
          </a:p>
        </p:txBody>
      </p:sp>
      <p:sp>
        <p:nvSpPr>
          <p:cNvPr id="22" name="Text 17"/>
          <p:cNvSpPr txBox="1"/>
          <p:nvPr/>
        </p:nvSpPr>
        <p:spPr>
          <a:xfrm>
            <a:off x="4536338"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Hosted in the UAE · going live is step one of the 90-day plan (slide 32)</a:t>
            </a:r>
            <a:endParaRPr lang="en-US" sz="1200" dirty="0"/>
          </a:p>
        </p:txBody>
      </p:sp>
      <p:sp>
        <p:nvSpPr>
          <p:cNvPr id="23" name="Shape 18"/>
          <p:cNvSpPr/>
          <p:nvPr/>
        </p:nvSpPr>
        <p:spPr>
          <a:xfrm>
            <a:off x="8158277" y="1942795"/>
            <a:ext cx="3576218" cy="1643786"/>
          </a:xfrm>
          <a:prstGeom prst="roundRect">
            <a:avLst>
              <a:gd name="adj" fmla="val 6675"/>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74315"/>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94939"/>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60902"/>
            <a:ext cx="3576218" cy="1643786"/>
          </a:xfrm>
          <a:prstGeom prst="roundRect">
            <a:avLst>
              <a:gd name="adj" fmla="val 6675"/>
            </a:avLst>
          </a:prstGeom>
          <a:solidFill>
            <a:srgbClr val="171722"/>
          </a:solidFill>
          <a:ln w="9525">
            <a:solidFill>
              <a:srgbClr val="2C2C3E"/>
            </a:solidFill>
            <a:prstDash val="solid"/>
          </a:ln>
        </p:spPr>
      </p:sp>
      <p:sp>
        <p:nvSpPr>
          <p:cNvPr id="32" name="Shape 26"/>
          <p:cNvSpPr/>
          <p:nvPr/>
        </p:nvSpPr>
        <p:spPr>
          <a:xfrm>
            <a:off x="685800" y="4062070"/>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67226"/>
            <a:ext cx="210312" cy="210312"/>
          </a:xfrm>
          <a:prstGeom prst="rect">
            <a:avLst/>
          </a:prstGeom>
        </p:spPr>
      </p:pic>
      <p:sp>
        <p:nvSpPr>
          <p:cNvPr id="34" name="Shape 27"/>
          <p:cNvSpPr/>
          <p:nvPr/>
        </p:nvSpPr>
        <p:spPr>
          <a:xfrm>
            <a:off x="2685105" y="4153510"/>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53510"/>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80942"/>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target: 30 CPD credits a year recognised</a:t>
            </a:r>
            <a:endParaRPr lang="en-US" sz="1200" dirty="0"/>
          </a:p>
        </p:txBody>
      </p:sp>
      <p:sp>
        <p:nvSpPr>
          <p:cNvPr id="39" name="Shape 32"/>
          <p:cNvSpPr/>
          <p:nvPr/>
        </p:nvSpPr>
        <p:spPr>
          <a:xfrm>
            <a:off x="4307738" y="3860902"/>
            <a:ext cx="3576218" cy="1643786"/>
          </a:xfrm>
          <a:prstGeom prst="roundRect">
            <a:avLst>
              <a:gd name="adj" fmla="val 6675"/>
            </a:avLst>
          </a:prstGeom>
          <a:solidFill>
            <a:srgbClr val="171722"/>
          </a:solidFill>
          <a:ln w="9525">
            <a:solidFill>
              <a:srgbClr val="2C2C3E"/>
            </a:solidFill>
            <a:prstDash val="solid"/>
          </a:ln>
        </p:spPr>
      </p:sp>
      <p:sp>
        <p:nvSpPr>
          <p:cNvPr id="40" name="Shape 33"/>
          <p:cNvSpPr/>
          <p:nvPr/>
        </p:nvSpPr>
        <p:spPr>
          <a:xfrm>
            <a:off x="4536338" y="4062070"/>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67226"/>
            <a:ext cx="210312" cy="210312"/>
          </a:xfrm>
          <a:prstGeom prst="rect">
            <a:avLst/>
          </a:prstGeom>
        </p:spPr>
      </p:pic>
      <p:sp>
        <p:nvSpPr>
          <p:cNvPr id="42" name="Shape 34"/>
          <p:cNvSpPr/>
          <p:nvPr/>
        </p:nvSpPr>
        <p:spPr>
          <a:xfrm>
            <a:off x="6887180" y="4153510"/>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53510"/>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80942"/>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TETHER</a:t>
            </a:r>
            <a:endParaRPr lang="en-US" sz="850" dirty="0"/>
          </a:p>
        </p:txBody>
      </p:sp>
      <p:sp>
        <p:nvSpPr>
          <p:cNvPr id="45" name="Text 37"/>
          <p:cNvSpPr txBox="1"/>
          <p:nvPr/>
        </p:nvSpPr>
        <p:spPr>
          <a:xfrm>
            <a:off x="4536338"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Target partner</a:t>
            </a:r>
            <a:endParaRPr lang="en-US" sz="2200" dirty="0"/>
          </a:p>
        </p:txBody>
      </p:sp>
      <p:sp>
        <p:nvSpPr>
          <p:cNvPr id="46" name="Text 38"/>
          <p:cNvSpPr txBox="1"/>
          <p:nvPr/>
        </p:nvSpPr>
        <p:spPr>
          <a:xfrm>
            <a:off x="4536338"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Strategic tier · illustrative demo academy (slide 8), no partnership</a:t>
            </a:r>
            <a:endParaRPr lang="en-US" sz="1200" dirty="0"/>
          </a:p>
        </p:txBody>
      </p:sp>
      <p:sp>
        <p:nvSpPr>
          <p:cNvPr id="47" name="Shape 39"/>
          <p:cNvSpPr/>
          <p:nvPr/>
        </p:nvSpPr>
        <p:spPr>
          <a:xfrm>
            <a:off x="8158277" y="3860902"/>
            <a:ext cx="3576218" cy="1643786"/>
          </a:xfrm>
          <a:prstGeom prst="roundRect">
            <a:avLst>
              <a:gd name="adj" fmla="val 6675"/>
            </a:avLst>
          </a:prstGeom>
          <a:solidFill>
            <a:srgbClr val="171722"/>
          </a:solidFill>
          <a:ln w="9525">
            <a:solidFill>
              <a:srgbClr val="2C2C3E"/>
            </a:solidFill>
            <a:prstDash val="solid"/>
          </a:ln>
        </p:spPr>
      </p:sp>
      <p:sp>
        <p:nvSpPr>
          <p:cNvPr id="48" name="Shape 40"/>
          <p:cNvSpPr/>
          <p:nvPr/>
        </p:nvSpPr>
        <p:spPr>
          <a:xfrm>
            <a:off x="8386877" y="4062070"/>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67226"/>
            <a:ext cx="210312" cy="210312"/>
          </a:xfrm>
          <a:prstGeom prst="rect">
            <a:avLst/>
          </a:prstGeom>
        </p:spPr>
      </p:pic>
      <p:sp>
        <p:nvSpPr>
          <p:cNvPr id="50" name="Shape 41"/>
          <p:cNvSpPr/>
          <p:nvPr/>
        </p:nvSpPr>
        <p:spPr>
          <a:xfrm>
            <a:off x="10892841" y="4153510"/>
            <a:ext cx="613054"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892841" y="4153510"/>
            <a:ext cx="613054"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OPEN</a:t>
            </a:r>
            <a:endParaRPr lang="en-US" sz="800" dirty="0"/>
          </a:p>
        </p:txBody>
      </p:sp>
      <p:sp>
        <p:nvSpPr>
          <p:cNvPr id="52" name="Text 43"/>
          <p:cNvSpPr txBox="1"/>
          <p:nvPr/>
        </p:nvSpPr>
        <p:spPr>
          <a:xfrm>
            <a:off x="8944661" y="4180942"/>
            <a:ext cx="186588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9242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5013046"/>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 to close before public launch (slide 32)</a:t>
            </a:r>
            <a:endParaRPr lang="en-US" sz="1200" dirty="0"/>
          </a:p>
        </p:txBody>
      </p:sp>
      <p:sp>
        <p:nvSpPr>
          <p:cNvPr id="55" name="Shape 46"/>
          <p:cNvSpPr/>
          <p:nvPr/>
        </p:nvSpPr>
        <p:spPr>
          <a:xfrm>
            <a:off x="457200" y="5779008"/>
            <a:ext cx="11277295" cy="438912"/>
          </a:xfrm>
          <a:prstGeom prst="roundRect">
            <a:avLst>
              <a:gd name="adj" fmla="val 2083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97880"/>
            <a:ext cx="201168" cy="201168"/>
          </a:xfrm>
          <a:prstGeom prst="rect">
            <a:avLst/>
          </a:prstGeom>
        </p:spPr>
      </p:pic>
      <p:sp>
        <p:nvSpPr>
          <p:cNvPr id="57" name="Text 47"/>
          <p:cNvSpPr txBox="1"/>
          <p:nvPr/>
        </p:nvSpPr>
        <p:spPr>
          <a:xfrm>
            <a:off x="914400" y="5779008"/>
            <a:ext cx="10728655" cy="438912"/>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Tether is a target partner, and the Tether academy in the product tour is illustrative mock data (slide 8).</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817925"/>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71310"/>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71310"/>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71310"/>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3878"/>
            <a:ext cx="237744" cy="237744"/>
          </a:xfrm>
          <a:prstGeom prst="rect">
            <a:avLst/>
          </a:prstGeom>
        </p:spPr>
      </p:pic>
      <p:sp>
        <p:nvSpPr>
          <p:cNvPr id="20" name="Text 13"/>
          <p:cNvSpPr txBox="1"/>
          <p:nvPr/>
        </p:nvSpPr>
        <p:spPr>
          <a:xfrm>
            <a:off x="10652760" y="227197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19</a:t>
            </a:r>
            <a:endParaRPr lang="en-US" sz="1050" dirty="0"/>
          </a:p>
        </p:txBody>
      </p:sp>
      <p:sp>
        <p:nvSpPr>
          <p:cNvPr id="21" name="Shape 14"/>
          <p:cNvSpPr/>
          <p:nvPr/>
        </p:nvSpPr>
        <p:spPr>
          <a:xfrm>
            <a:off x="457200" y="2653521"/>
            <a:ext cx="11277295" cy="0"/>
          </a:xfrm>
          <a:prstGeom prst="line">
            <a:avLst/>
          </a:prstGeom>
          <a:noFill/>
          <a:ln w="6350">
            <a:solidFill>
              <a:srgbClr val="2C2C3E"/>
            </a:solidFill>
            <a:prstDash val="solid"/>
          </a:ln>
        </p:spPr>
      </p:sp>
      <p:sp>
        <p:nvSpPr>
          <p:cNvPr id="22" name="Text 15"/>
          <p:cNvSpPr txBox="1"/>
          <p:nvPr/>
        </p:nvSpPr>
        <p:spPr>
          <a:xfrm>
            <a:off x="566928" y="2653521"/>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52852"/>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52852"/>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52852"/>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25420"/>
            <a:ext cx="237744" cy="237744"/>
          </a:xfrm>
          <a:prstGeom prst="rect">
            <a:avLst/>
          </a:prstGeom>
        </p:spPr>
      </p:pic>
      <p:sp>
        <p:nvSpPr>
          <p:cNvPr id="27" name="Text 16"/>
          <p:cNvSpPr txBox="1"/>
          <p:nvPr/>
        </p:nvSpPr>
        <p:spPr>
          <a:xfrm>
            <a:off x="10652760" y="2653521"/>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18, 19</a:t>
            </a:r>
            <a:endParaRPr lang="en-US" sz="1050" dirty="0"/>
          </a:p>
        </p:txBody>
      </p:sp>
      <p:sp>
        <p:nvSpPr>
          <p:cNvPr id="28" name="Shape 17"/>
          <p:cNvSpPr/>
          <p:nvPr/>
        </p:nvSpPr>
        <p:spPr>
          <a:xfrm>
            <a:off x="457200" y="3035063"/>
            <a:ext cx="11277295" cy="0"/>
          </a:xfrm>
          <a:prstGeom prst="line">
            <a:avLst/>
          </a:prstGeom>
          <a:noFill/>
          <a:ln w="6350">
            <a:solidFill>
              <a:srgbClr val="2C2C3E"/>
            </a:solidFill>
            <a:prstDash val="solid"/>
          </a:ln>
        </p:spPr>
      </p:sp>
      <p:sp>
        <p:nvSpPr>
          <p:cNvPr id="29" name="Text 18"/>
          <p:cNvSpPr txBox="1"/>
          <p:nvPr/>
        </p:nvSpPr>
        <p:spPr>
          <a:xfrm>
            <a:off x="566928" y="3035063"/>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34394"/>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34394"/>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34394"/>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106962"/>
            <a:ext cx="237744" cy="237744"/>
          </a:xfrm>
          <a:prstGeom prst="rect">
            <a:avLst/>
          </a:prstGeom>
        </p:spPr>
      </p:pic>
      <p:sp>
        <p:nvSpPr>
          <p:cNvPr id="34" name="Text 19"/>
          <p:cNvSpPr txBox="1"/>
          <p:nvPr/>
        </p:nvSpPr>
        <p:spPr>
          <a:xfrm>
            <a:off x="10652760" y="3035063"/>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20</a:t>
            </a:r>
            <a:endParaRPr lang="en-US" sz="1050" dirty="0"/>
          </a:p>
        </p:txBody>
      </p:sp>
      <p:sp>
        <p:nvSpPr>
          <p:cNvPr id="35" name="Shape 20"/>
          <p:cNvSpPr/>
          <p:nvPr/>
        </p:nvSpPr>
        <p:spPr>
          <a:xfrm>
            <a:off x="457200" y="3416605"/>
            <a:ext cx="11277295" cy="0"/>
          </a:xfrm>
          <a:prstGeom prst="line">
            <a:avLst/>
          </a:prstGeom>
          <a:noFill/>
          <a:ln w="6350">
            <a:solidFill>
              <a:srgbClr val="2C2C3E"/>
            </a:solidFill>
            <a:prstDash val="solid"/>
          </a:ln>
        </p:spPr>
      </p:sp>
      <p:sp>
        <p:nvSpPr>
          <p:cNvPr id="36" name="Text 21"/>
          <p:cNvSpPr txBox="1"/>
          <p:nvPr/>
        </p:nvSpPr>
        <p:spPr>
          <a:xfrm>
            <a:off x="566928" y="3416605"/>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15936"/>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15936"/>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15936"/>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88504"/>
            <a:ext cx="237744" cy="237744"/>
          </a:xfrm>
          <a:prstGeom prst="rect">
            <a:avLst/>
          </a:prstGeom>
        </p:spPr>
      </p:pic>
      <p:sp>
        <p:nvSpPr>
          <p:cNvPr id="41" name="Text 22"/>
          <p:cNvSpPr txBox="1"/>
          <p:nvPr/>
        </p:nvSpPr>
        <p:spPr>
          <a:xfrm>
            <a:off x="10652760" y="3416605"/>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3</a:t>
            </a:r>
            <a:endParaRPr lang="en-US" sz="1050" dirty="0"/>
          </a:p>
        </p:txBody>
      </p:sp>
      <p:sp>
        <p:nvSpPr>
          <p:cNvPr id="42" name="Shape 23"/>
          <p:cNvSpPr/>
          <p:nvPr/>
        </p:nvSpPr>
        <p:spPr>
          <a:xfrm>
            <a:off x="457200" y="3798147"/>
            <a:ext cx="11277295" cy="0"/>
          </a:xfrm>
          <a:prstGeom prst="line">
            <a:avLst/>
          </a:prstGeom>
          <a:noFill/>
          <a:ln w="6350">
            <a:solidFill>
              <a:srgbClr val="2C2C3E"/>
            </a:solidFill>
            <a:prstDash val="solid"/>
          </a:ln>
        </p:spPr>
      </p:sp>
      <p:sp>
        <p:nvSpPr>
          <p:cNvPr id="43" name="Text 24"/>
          <p:cNvSpPr txBox="1"/>
          <p:nvPr/>
        </p:nvSpPr>
        <p:spPr>
          <a:xfrm>
            <a:off x="566928" y="3798147"/>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97478"/>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97478"/>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97478"/>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70046"/>
            <a:ext cx="237744" cy="237744"/>
          </a:xfrm>
          <a:prstGeom prst="rect">
            <a:avLst/>
          </a:prstGeom>
        </p:spPr>
      </p:pic>
      <p:sp>
        <p:nvSpPr>
          <p:cNvPr id="48" name="Text 25"/>
          <p:cNvSpPr txBox="1"/>
          <p:nvPr/>
        </p:nvSpPr>
        <p:spPr>
          <a:xfrm>
            <a:off x="10652760" y="3798147"/>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49" name="Shape 26"/>
          <p:cNvSpPr/>
          <p:nvPr/>
        </p:nvSpPr>
        <p:spPr>
          <a:xfrm>
            <a:off x="457200" y="4179689"/>
            <a:ext cx="11277295" cy="0"/>
          </a:xfrm>
          <a:prstGeom prst="line">
            <a:avLst/>
          </a:prstGeom>
          <a:noFill/>
          <a:ln w="6350">
            <a:solidFill>
              <a:srgbClr val="2C2C3E"/>
            </a:solidFill>
            <a:prstDash val="solid"/>
          </a:ln>
        </p:spPr>
      </p:sp>
      <p:sp>
        <p:nvSpPr>
          <p:cNvPr id="50" name="Text 27"/>
          <p:cNvSpPr txBox="1"/>
          <p:nvPr/>
        </p:nvSpPr>
        <p:spPr>
          <a:xfrm>
            <a:off x="566928" y="4179689"/>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79019"/>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79019"/>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79019"/>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51587"/>
            <a:ext cx="237744" cy="237744"/>
          </a:xfrm>
          <a:prstGeom prst="rect">
            <a:avLst/>
          </a:prstGeom>
        </p:spPr>
      </p:pic>
      <p:sp>
        <p:nvSpPr>
          <p:cNvPr id="55" name="Text 28"/>
          <p:cNvSpPr txBox="1"/>
          <p:nvPr/>
        </p:nvSpPr>
        <p:spPr>
          <a:xfrm>
            <a:off x="10652760" y="4179689"/>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13</a:t>
            </a:r>
            <a:endParaRPr lang="en-US" sz="1050" dirty="0"/>
          </a:p>
        </p:txBody>
      </p:sp>
      <p:sp>
        <p:nvSpPr>
          <p:cNvPr id="56" name="Shape 29"/>
          <p:cNvSpPr/>
          <p:nvPr/>
        </p:nvSpPr>
        <p:spPr>
          <a:xfrm>
            <a:off x="457200" y="4561230"/>
            <a:ext cx="11277295" cy="0"/>
          </a:xfrm>
          <a:prstGeom prst="line">
            <a:avLst/>
          </a:prstGeom>
          <a:noFill/>
          <a:ln w="6350">
            <a:solidFill>
              <a:srgbClr val="2C2C3E"/>
            </a:solidFill>
            <a:prstDash val="solid"/>
          </a:ln>
        </p:spPr>
      </p:sp>
      <p:sp>
        <p:nvSpPr>
          <p:cNvPr id="57" name="Text 30"/>
          <p:cNvSpPr txBox="1"/>
          <p:nvPr/>
        </p:nvSpPr>
        <p:spPr>
          <a:xfrm>
            <a:off x="566928" y="4561230"/>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60561"/>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60561"/>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60561"/>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33129"/>
            <a:ext cx="237744" cy="237744"/>
          </a:xfrm>
          <a:prstGeom prst="rect">
            <a:avLst/>
          </a:prstGeom>
        </p:spPr>
      </p:pic>
      <p:sp>
        <p:nvSpPr>
          <p:cNvPr id="62" name="Text 31"/>
          <p:cNvSpPr txBox="1"/>
          <p:nvPr/>
        </p:nvSpPr>
        <p:spPr>
          <a:xfrm>
            <a:off x="10652760" y="4561230"/>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17, 19</a:t>
            </a:r>
            <a:endParaRPr lang="en-US" sz="1050" dirty="0"/>
          </a:p>
        </p:txBody>
      </p:sp>
      <p:sp>
        <p:nvSpPr>
          <p:cNvPr id="63" name="Shape 32"/>
          <p:cNvSpPr/>
          <p:nvPr/>
        </p:nvSpPr>
        <p:spPr>
          <a:xfrm>
            <a:off x="457200" y="4942772"/>
            <a:ext cx="11277295" cy="0"/>
          </a:xfrm>
          <a:prstGeom prst="line">
            <a:avLst/>
          </a:prstGeom>
          <a:noFill/>
          <a:ln w="6350">
            <a:solidFill>
              <a:srgbClr val="2C2C3E"/>
            </a:solidFill>
            <a:prstDash val="solid"/>
          </a:ln>
        </p:spPr>
      </p:sp>
      <p:sp>
        <p:nvSpPr>
          <p:cNvPr id="64" name="Text 33"/>
          <p:cNvSpPr txBox="1"/>
          <p:nvPr/>
        </p:nvSpPr>
        <p:spPr>
          <a:xfrm>
            <a:off x="566928" y="4942772"/>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4210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4210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4210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5014671"/>
            <a:ext cx="237744" cy="237744"/>
          </a:xfrm>
          <a:prstGeom prst="rect">
            <a:avLst/>
          </a:prstGeom>
        </p:spPr>
      </p:pic>
      <p:sp>
        <p:nvSpPr>
          <p:cNvPr id="69" name="Text 34"/>
          <p:cNvSpPr txBox="1"/>
          <p:nvPr/>
        </p:nvSpPr>
        <p:spPr>
          <a:xfrm>
            <a:off x="10652760" y="4942772"/>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16, 19</a:t>
            </a:r>
            <a:endParaRPr lang="en-US" sz="1050" dirty="0"/>
          </a:p>
        </p:txBody>
      </p:sp>
      <p:sp>
        <p:nvSpPr>
          <p:cNvPr id="70" name="Shape 35"/>
          <p:cNvSpPr/>
          <p:nvPr/>
        </p:nvSpPr>
        <p:spPr>
          <a:xfrm>
            <a:off x="457200" y="5324314"/>
            <a:ext cx="11277295" cy="0"/>
          </a:xfrm>
          <a:prstGeom prst="line">
            <a:avLst/>
          </a:prstGeom>
          <a:noFill/>
          <a:ln w="6350">
            <a:solidFill>
              <a:srgbClr val="2C2C3E"/>
            </a:solidFill>
            <a:prstDash val="solid"/>
          </a:ln>
        </p:spPr>
      </p:sp>
      <p:sp>
        <p:nvSpPr>
          <p:cNvPr id="71" name="Text 36"/>
          <p:cNvSpPr txBox="1"/>
          <p:nvPr/>
        </p:nvSpPr>
        <p:spPr>
          <a:xfrm>
            <a:off x="566928" y="5324314"/>
            <a:ext cx="4160520" cy="381542"/>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423645"/>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423645"/>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423645"/>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96213"/>
            <a:ext cx="237744" cy="237744"/>
          </a:xfrm>
          <a:prstGeom prst="rect">
            <a:avLst/>
          </a:prstGeom>
        </p:spPr>
      </p:pic>
      <p:sp>
        <p:nvSpPr>
          <p:cNvPr id="76" name="Text 37"/>
          <p:cNvSpPr txBox="1"/>
          <p:nvPr/>
        </p:nvSpPr>
        <p:spPr>
          <a:xfrm>
            <a:off x="10652760" y="5324314"/>
            <a:ext cx="1081735" cy="381542"/>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3, 33</a:t>
            </a:r>
            <a:endParaRPr lang="en-US" sz="1050" dirty="0"/>
          </a:p>
        </p:txBody>
      </p:sp>
      <p:sp>
        <p:nvSpPr>
          <p:cNvPr id="77" name="Shape 38"/>
          <p:cNvSpPr/>
          <p:nvPr/>
        </p:nvSpPr>
        <p:spPr>
          <a:xfrm>
            <a:off x="457200" y="5705856"/>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61888"/>
            <a:ext cx="182880" cy="182880"/>
          </a:xfrm>
          <a:prstGeom prst="rect">
            <a:avLst/>
          </a:prstGeom>
        </p:spPr>
      </p:pic>
      <p:sp>
        <p:nvSpPr>
          <p:cNvPr id="79" name="Text 39"/>
          <p:cNvSpPr txBox="1"/>
          <p:nvPr/>
        </p:nvSpPr>
        <p:spPr>
          <a:xfrm>
            <a:off x="694944"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61888"/>
            <a:ext cx="182880" cy="182880"/>
          </a:xfrm>
          <a:prstGeom prst="rect">
            <a:avLst/>
          </a:prstGeom>
        </p:spPr>
      </p:pic>
      <p:sp>
        <p:nvSpPr>
          <p:cNvPr id="81" name="Text 40"/>
          <p:cNvSpPr txBox="1"/>
          <p:nvPr/>
        </p:nvSpPr>
        <p:spPr>
          <a:xfrm>
            <a:off x="1414527"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61888"/>
            <a:ext cx="182880" cy="182880"/>
          </a:xfrm>
          <a:prstGeom prst="rect">
            <a:avLst/>
          </a:prstGeom>
        </p:spPr>
      </p:pic>
      <p:sp>
        <p:nvSpPr>
          <p:cNvPr id="83" name="Text 41"/>
          <p:cNvSpPr txBox="1"/>
          <p:nvPr/>
        </p:nvSpPr>
        <p:spPr>
          <a:xfrm>
            <a:off x="2289810" y="5907024"/>
            <a:ext cx="731520" cy="292608"/>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2895349" y="5907024"/>
            <a:ext cx="8839147" cy="292608"/>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Document. Chronopoli column: built, not yet live; goes live with the launch plan. The 48-hour update is a design target.</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8919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5144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MOATS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two: the longer the platform runs, the harder it is to replicate</a:t>
            </a:r>
            <a:endParaRPr lang="en-US" sz="1600" dirty="0"/>
          </a:p>
        </p:txBody>
      </p:sp>
      <p:sp>
        <p:nvSpPr>
          <p:cNvPr id="7" name="Shape 4"/>
          <p:cNvSpPr/>
          <p:nvPr/>
        </p:nvSpPr>
        <p:spPr>
          <a:xfrm>
            <a:off x="457200" y="1942795"/>
            <a:ext cx="3576218" cy="3108960"/>
          </a:xfrm>
          <a:prstGeom prst="roundRect">
            <a:avLst>
              <a:gd name="adj" fmla="val 3529"/>
            </a:avLst>
          </a:prstGeom>
          <a:solidFill>
            <a:srgbClr val="171722"/>
          </a:solidFill>
          <a:ln w="9525">
            <a:solidFill>
              <a:srgbClr val="2C2C3E"/>
            </a:solidFill>
            <a:prstDash val="solid"/>
          </a:ln>
        </p:spPr>
      </p:sp>
      <p:sp>
        <p:nvSpPr>
          <p:cNvPr id="8" name="Shape 5"/>
          <p:cNvSpPr/>
          <p:nvPr/>
        </p:nvSpPr>
        <p:spPr>
          <a:xfrm>
            <a:off x="713232" y="2180539"/>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299411"/>
            <a:ext cx="237744" cy="237744"/>
          </a:xfrm>
          <a:prstGeom prst="rect">
            <a:avLst/>
          </a:prstGeom>
        </p:spPr>
      </p:pic>
      <p:sp>
        <p:nvSpPr>
          <p:cNvPr id="10" name="Text 6"/>
          <p:cNvSpPr txBox="1"/>
          <p:nvPr/>
        </p:nvSpPr>
        <p:spPr>
          <a:xfrm>
            <a:off x="1335024"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Proprietary Knowledge Moat</a:t>
            </a:r>
            <a:endParaRPr lang="en-US" sz="1800" dirty="0"/>
          </a:p>
        </p:txBody>
      </p:sp>
      <p:sp>
        <p:nvSpPr>
          <p:cNvPr id="11" name="Text 7"/>
          <p:cNvSpPr txBox="1"/>
          <p:nvPr/>
        </p:nvSpPr>
        <p:spPr>
          <a:xfrm>
            <a:off x="713232" y="2838907"/>
            <a:ext cx="3064154" cy="14904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round table, opinion paper and masterclass feeds the AI Tutor. After 12 months, no general-purpose AI has access to this knowledge base. It compounds like interest.</a:t>
            </a:r>
            <a:endParaRPr lang="en-US" sz="1600" dirty="0"/>
          </a:p>
        </p:txBody>
      </p:sp>
      <p:sp>
        <p:nvSpPr>
          <p:cNvPr id="12" name="Text 8"/>
          <p:cNvSpPr txBox="1"/>
          <p:nvPr/>
        </p:nvSpPr>
        <p:spPr>
          <a:xfrm>
            <a:off x="713232" y="4576267"/>
            <a:ext cx="3064154" cy="201168"/>
          </a:xfrm>
          <a:prstGeom prst="rect">
            <a:avLst/>
          </a:prstGeom>
          <a:noFill/>
          <a:ln/>
        </p:spPr>
        <p:txBody>
          <a:bodyPr wrap="square" lIns="0" tIns="0" rIns="0" bIns="0" rtlCol="0" anchor="t"/>
          <a:lstStyle/>
          <a:p>
            <a:pPr indent="0" marL="0">
              <a:buNone/>
            </a:pPr>
            <a:r>
              <a:rPr lang="en-US" sz="1100" dirty="0">
                <a:solidFill>
                  <a:srgbClr val="C9A84C"/>
                </a:solidFill>
                <a:latin typeface="Arial" pitchFamily="34" charset="0"/>
                <a:ea typeface="Arial" pitchFamily="34" charset="-122"/>
                <a:cs typeface="Arial" pitchFamily="34" charset="-120"/>
              </a:rPr>
              <a:t>In this deck: slides 11, 19</a:t>
            </a:r>
            <a:endParaRPr lang="en-US" sz="1100" dirty="0"/>
          </a:p>
        </p:txBody>
      </p:sp>
      <p:sp>
        <p:nvSpPr>
          <p:cNvPr id="13" name="Shape 9"/>
          <p:cNvSpPr/>
          <p:nvPr/>
        </p:nvSpPr>
        <p:spPr>
          <a:xfrm>
            <a:off x="4307738" y="1942795"/>
            <a:ext cx="3576218" cy="3108960"/>
          </a:xfrm>
          <a:prstGeom prst="roundRect">
            <a:avLst>
              <a:gd name="adj" fmla="val 3529"/>
            </a:avLst>
          </a:prstGeom>
          <a:solidFill>
            <a:srgbClr val="171722"/>
          </a:solidFill>
          <a:ln w="9525">
            <a:solidFill>
              <a:srgbClr val="2C2C3E"/>
            </a:solidFill>
            <a:prstDash val="solid"/>
          </a:ln>
        </p:spPr>
      </p:sp>
      <p:sp>
        <p:nvSpPr>
          <p:cNvPr id="14" name="Shape 10"/>
          <p:cNvSpPr/>
          <p:nvPr/>
        </p:nvSpPr>
        <p:spPr>
          <a:xfrm>
            <a:off x="4563770" y="2180539"/>
            <a:ext cx="475488" cy="47548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4682642" y="2299411"/>
            <a:ext cx="237744" cy="237744"/>
          </a:xfrm>
          <a:prstGeom prst="rect">
            <a:avLst/>
          </a:prstGeom>
        </p:spPr>
      </p:pic>
      <p:sp>
        <p:nvSpPr>
          <p:cNvPr id="16" name="Text 11"/>
          <p:cNvSpPr txBox="1"/>
          <p:nvPr/>
        </p:nvSpPr>
        <p:spPr>
          <a:xfrm>
            <a:off x="5185562"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Partner Lock-in Moat</a:t>
            </a:r>
            <a:endParaRPr lang="en-US" sz="1800" dirty="0"/>
          </a:p>
        </p:txBody>
      </p:sp>
      <p:sp>
        <p:nvSpPr>
          <p:cNvPr id="17" name="Text 12"/>
          <p:cNvSpPr txBox="1"/>
          <p:nvPr/>
        </p:nvSpPr>
        <p:spPr>
          <a:xfrm>
            <a:off x="4563770" y="2838907"/>
            <a:ext cx="3064154" cy="14904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Leaving means giving up its own institutional knowledge base.</a:t>
            </a:r>
            <a:endParaRPr lang="en-US" sz="1600" dirty="0"/>
          </a:p>
        </p:txBody>
      </p:sp>
      <p:sp>
        <p:nvSpPr>
          <p:cNvPr id="18" name="Text 13"/>
          <p:cNvSpPr txBox="1"/>
          <p:nvPr/>
        </p:nvSpPr>
        <p:spPr>
          <a:xfrm>
            <a:off x="4563770" y="4576267"/>
            <a:ext cx="3064154" cy="201168"/>
          </a:xfrm>
          <a:prstGeom prst="rect">
            <a:avLst/>
          </a:prstGeom>
          <a:noFill/>
          <a:ln/>
        </p:spPr>
        <p:txBody>
          <a:bodyPr wrap="square" lIns="0" tIns="0" rIns="0" bIns="0" rtlCol="0" anchor="t"/>
          <a:lstStyle/>
          <a:p>
            <a:pPr indent="0" marL="0">
              <a:buNone/>
            </a:pPr>
            <a:r>
              <a:rPr lang="en-US" sz="1100" dirty="0">
                <a:solidFill>
                  <a:srgbClr val="C9A84C"/>
                </a:solidFill>
                <a:latin typeface="Arial" pitchFamily="34" charset="0"/>
                <a:ea typeface="Arial" pitchFamily="34" charset="-122"/>
                <a:cs typeface="Arial" pitchFamily="34" charset="-120"/>
              </a:rPr>
              <a:t>In this deck: slides 8, 13</a:t>
            </a:r>
            <a:endParaRPr lang="en-US" sz="1100" dirty="0"/>
          </a:p>
        </p:txBody>
      </p:sp>
      <p:sp>
        <p:nvSpPr>
          <p:cNvPr id="19" name="Shape 14"/>
          <p:cNvSpPr/>
          <p:nvPr/>
        </p:nvSpPr>
        <p:spPr>
          <a:xfrm>
            <a:off x="8158277" y="1942795"/>
            <a:ext cx="3576218" cy="3108960"/>
          </a:xfrm>
          <a:prstGeom prst="roundRect">
            <a:avLst>
              <a:gd name="adj" fmla="val 3529"/>
            </a:avLst>
          </a:prstGeom>
          <a:solidFill>
            <a:srgbClr val="171722"/>
          </a:solidFill>
          <a:ln w="9525">
            <a:solidFill>
              <a:srgbClr val="2C2C3E"/>
            </a:solidFill>
            <a:prstDash val="solid"/>
          </a:ln>
        </p:spPr>
      </p:sp>
      <p:sp>
        <p:nvSpPr>
          <p:cNvPr id="20" name="Shape 15"/>
          <p:cNvSpPr/>
          <p:nvPr/>
        </p:nvSpPr>
        <p:spPr>
          <a:xfrm>
            <a:off x="8414309" y="2180539"/>
            <a:ext cx="475488" cy="475488"/>
          </a:xfrm>
          <a:prstGeom prst="ellipse">
            <a:avLst/>
          </a:prstGeom>
          <a:solidFill>
            <a:srgbClr val="1E1A10"/>
          </a:solidFill>
          <a:ln w="9525">
            <a:solidFill>
              <a:srgbClr val="5A4A22"/>
            </a:solidFill>
            <a:prstDash val="solid"/>
          </a:ln>
        </p:spPr>
      </p:sp>
      <p:pic>
        <p:nvPicPr>
          <p:cNvPr id="21" name="Image 2" descr="preencoded.png">    </p:cNvPr>
          <p:cNvPicPr>
            <a:picLocks noChangeAspect="1"/>
          </p:cNvPicPr>
          <p:nvPr/>
        </p:nvPicPr>
        <p:blipFill>
          <a:blip r:embed="rId4"/>
          <a:stretch>
            <a:fillRect/>
          </a:stretch>
        </p:blipFill>
        <p:spPr>
          <a:xfrm>
            <a:off x="8533181" y="2299411"/>
            <a:ext cx="237744" cy="237744"/>
          </a:xfrm>
          <a:prstGeom prst="rect">
            <a:avLst/>
          </a:prstGeom>
        </p:spPr>
      </p:pic>
      <p:sp>
        <p:nvSpPr>
          <p:cNvPr id="22" name="Text 16"/>
          <p:cNvSpPr txBox="1"/>
          <p:nvPr/>
        </p:nvSpPr>
        <p:spPr>
          <a:xfrm>
            <a:off x="9036101" y="2180539"/>
            <a:ext cx="2424074" cy="475488"/>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Network Effects Moat</a:t>
            </a:r>
            <a:endParaRPr lang="en-US" sz="1800" dirty="0"/>
          </a:p>
        </p:txBody>
      </p:sp>
      <p:sp>
        <p:nvSpPr>
          <p:cNvPr id="23" name="Text 17"/>
          <p:cNvSpPr txBox="1"/>
          <p:nvPr/>
        </p:nvSpPr>
        <p:spPr>
          <a:xfrm>
            <a:off x="8414309" y="2838907"/>
            <a:ext cx="3064154" cy="14904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marketplace flywheel in a high-value niche.</a:t>
            </a:r>
            <a:endParaRPr lang="en-US" sz="1600" dirty="0"/>
          </a:p>
        </p:txBody>
      </p:sp>
      <p:sp>
        <p:nvSpPr>
          <p:cNvPr id="24" name="Text 18"/>
          <p:cNvSpPr txBox="1"/>
          <p:nvPr/>
        </p:nvSpPr>
        <p:spPr>
          <a:xfrm>
            <a:off x="8414309" y="4576267"/>
            <a:ext cx="3064154" cy="201168"/>
          </a:xfrm>
          <a:prstGeom prst="rect">
            <a:avLst/>
          </a:prstGeom>
          <a:noFill/>
          <a:ln/>
        </p:spPr>
        <p:txBody>
          <a:bodyPr wrap="square" lIns="0" tIns="0" rIns="0" bIns="0" rtlCol="0" anchor="t"/>
          <a:lstStyle/>
          <a:p>
            <a:pPr indent="0" marL="0">
              <a:buNone/>
            </a:pPr>
            <a:r>
              <a:rPr lang="en-US" sz="1100" dirty="0">
                <a:solidFill>
                  <a:srgbClr val="C9A84C"/>
                </a:solidFill>
                <a:latin typeface="Arial" pitchFamily="34" charset="0"/>
                <a:ea typeface="Arial" pitchFamily="34" charset="-122"/>
                <a:cs typeface="Arial" pitchFamily="34" charset="-120"/>
              </a:rPr>
              <a:t>In this deck: slides 4, 18</a:t>
            </a:r>
            <a:endParaRPr lang="en-US" sz="1100" dirty="0"/>
          </a:p>
        </p:txBody>
      </p:sp>
      <p:sp>
        <p:nvSpPr>
          <p:cNvPr id="25" name="Shape 19"/>
          <p:cNvSpPr/>
          <p:nvPr/>
        </p:nvSpPr>
        <p:spPr>
          <a:xfrm>
            <a:off x="457200" y="5326075"/>
            <a:ext cx="11277295" cy="891845"/>
          </a:xfrm>
          <a:prstGeom prst="roundRect">
            <a:avLst>
              <a:gd name="adj" fmla="val 12303"/>
            </a:avLst>
          </a:prstGeom>
          <a:solidFill>
            <a:srgbClr val="231E12"/>
          </a:solidFill>
          <a:ln w="9525">
            <a:solidFill>
              <a:srgbClr val="C9A84C"/>
            </a:solidFill>
            <a:prstDash val="solid"/>
          </a:ln>
        </p:spPr>
      </p:sp>
      <p:sp>
        <p:nvSpPr>
          <p:cNvPr id="26" name="Shape 20"/>
          <p:cNvSpPr/>
          <p:nvPr/>
        </p:nvSpPr>
        <p:spPr>
          <a:xfrm>
            <a:off x="676656" y="5543398"/>
            <a:ext cx="457200" cy="457200"/>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790956" y="5657698"/>
            <a:ext cx="228600" cy="228600"/>
          </a:xfrm>
          <a:prstGeom prst="rect">
            <a:avLst/>
          </a:prstGeom>
        </p:spPr>
      </p:pic>
      <p:sp>
        <p:nvSpPr>
          <p:cNvPr id="28" name="Text 21"/>
          <p:cNvSpPr txBox="1"/>
          <p:nvPr/>
        </p:nvSpPr>
        <p:spPr>
          <a:xfrm>
            <a:off x="1325880" y="5326075"/>
            <a:ext cx="10225735" cy="891845"/>
          </a:xfrm>
          <a:prstGeom prst="rect">
            <a:avLst/>
          </a:prstGeom>
          <a:noFill/>
          <a:ln/>
        </p:spPr>
        <p:txBody>
          <a:bodyPr wrap="square" lIns="0" tIns="0" rIns="0" bIns="0" rtlCol="0" anchor="ctr"/>
          <a:lstStyle/>
          <a:p>
            <a:pPr indent="0" marL="0">
              <a:buNone/>
            </a:pPr>
            <a:r>
              <a:rPr lang="en-US" sz="1600" b="1" dirty="0">
                <a:solidFill>
                  <a:srgbClr val="F0C96B"/>
                </a:solidFill>
                <a:latin typeface="Arial" pitchFamily="34" charset="0"/>
                <a:ea typeface="Arial" pitchFamily="34" charset="-122"/>
                <a:cs typeface="Arial" pitchFamily="34" charset="-120"/>
              </a:rPr>
              <a:t>Behind all three: </a:t>
            </a:r>
            <a:r>
              <a:rPr lang="en-US" sz="1600" dirty="0">
                <a:solidFill>
                  <a:srgbClr val="FFFFFF"/>
                </a:solidFill>
                <a:latin typeface="Arial" pitchFamily="34" charset="0"/>
                <a:ea typeface="Arial" pitchFamily="34" charset="-122"/>
                <a:cs typeface="Arial" pitchFamily="34" charset="-120"/>
              </a:rPr>
              <a:t>a lean cost base, so SaaS competitors cannot undercut our prices without operating at a loss.</a:t>
            </a:r>
            <a:endParaRPr lang="en-US" sz="1600" dirty="0"/>
          </a:p>
        </p:txBody>
      </p:sp>
      <p:sp>
        <p:nvSpPr>
          <p:cNvPr id="29" name="Text 22"/>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695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57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TEAM</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The right people at the right time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Compliance expertise + defence tech + blockchain infrastructure + UAE institutional access</a:t>
            </a:r>
            <a:endParaRPr lang="en-US" sz="1600" dirty="0"/>
          </a:p>
        </p:txBody>
      </p:sp>
      <p:sp>
        <p:nvSpPr>
          <p:cNvPr id="7" name="Shape 4"/>
          <p:cNvSpPr/>
          <p:nvPr/>
        </p:nvSpPr>
        <p:spPr>
          <a:xfrm>
            <a:off x="457200" y="1942795"/>
            <a:ext cx="5501488" cy="3488741"/>
          </a:xfrm>
          <a:prstGeom prst="roundRect">
            <a:avLst>
              <a:gd name="adj" fmla="val 3145"/>
            </a:avLst>
          </a:prstGeom>
          <a:solidFill>
            <a:srgbClr val="171722"/>
          </a:solidFill>
          <a:ln w="9525">
            <a:solidFill>
              <a:srgbClr val="5A4A22"/>
            </a:solidFill>
            <a:prstDash val="solid"/>
          </a:ln>
        </p:spPr>
      </p:sp>
      <p:sp>
        <p:nvSpPr>
          <p:cNvPr id="8" name="Shape 5"/>
          <p:cNvSpPr/>
          <p:nvPr/>
        </p:nvSpPr>
        <p:spPr>
          <a:xfrm>
            <a:off x="713232" y="2198827"/>
            <a:ext cx="731520" cy="7315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96112" y="2381707"/>
            <a:ext cx="365760" cy="365760"/>
          </a:xfrm>
          <a:prstGeom prst="rect">
            <a:avLst/>
          </a:prstGeom>
        </p:spPr>
      </p:pic>
      <p:sp>
        <p:nvSpPr>
          <p:cNvPr id="10" name="Text 6"/>
          <p:cNvSpPr txBox="1"/>
          <p:nvPr/>
        </p:nvSpPr>
        <p:spPr>
          <a:xfrm>
            <a:off x="1627632" y="2198827"/>
            <a:ext cx="407502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Chris</a:t>
            </a:r>
            <a:endParaRPr lang="en-US" sz="2000" dirty="0"/>
          </a:p>
        </p:txBody>
      </p:sp>
      <p:sp>
        <p:nvSpPr>
          <p:cNvPr id="11" name="Text 7"/>
          <p:cNvSpPr txBox="1"/>
          <p:nvPr/>
        </p:nvSpPr>
        <p:spPr>
          <a:xfrm>
            <a:off x="1627632"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&amp; COO · Regulatory Client Manager, Bank Frick</a:t>
            </a:r>
            <a:endParaRPr lang="en-US" sz="1250" dirty="0"/>
          </a:p>
        </p:txBody>
      </p:sp>
      <p:sp>
        <p:nvSpPr>
          <p:cNvPr id="12" name="Shape 8"/>
          <p:cNvSpPr/>
          <p:nvPr/>
        </p:nvSpPr>
        <p:spPr>
          <a:xfrm>
            <a:off x="713232" y="3268675"/>
            <a:ext cx="4989424" cy="0"/>
          </a:xfrm>
          <a:prstGeom prst="line">
            <a:avLst/>
          </a:prstGeom>
          <a:noFill/>
          <a:ln w="9525">
            <a:solidFill>
              <a:srgbClr val="2C2C3E"/>
            </a:solidFill>
            <a:prstDash val="solid"/>
          </a:ln>
        </p:spPr>
      </p:sp>
      <p:sp>
        <p:nvSpPr>
          <p:cNvPr id="13" name="Text 9"/>
          <p:cNvSpPr txBox="1"/>
          <p:nvPr/>
        </p:nvSpPr>
        <p:spPr>
          <a:xfrm>
            <a:off x="713232"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14" name="Text 10"/>
          <p:cNvSpPr txBox="1"/>
          <p:nvPr/>
        </p:nvSpPr>
        <p:spPr>
          <a:xfrm>
            <a:off x="713232" y="3689299"/>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KYC/AML/EDD expert · FMA Liechtenstein · FINMA Switzerland · UAE VARA · digital-assets compliance across 5+ jurisdictions</a:t>
            </a:r>
            <a:endParaRPr lang="en-US" sz="1300" dirty="0"/>
          </a:p>
        </p:txBody>
      </p:sp>
      <p:sp>
        <p:nvSpPr>
          <p:cNvPr id="15" name="Text 11"/>
          <p:cNvSpPr txBox="1"/>
          <p:nvPr/>
        </p:nvSpPr>
        <p:spPr>
          <a:xfrm>
            <a:off x="713232" y="435985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16" name="Text 12"/>
          <p:cNvSpPr txBox="1"/>
          <p:nvPr/>
        </p:nvSpPr>
        <p:spPr>
          <a:xfrm>
            <a:off x="713232" y="459760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Co-Founder PHLX AG (Swiss defence tech) · WorldBitEnergy · Dubai Blockchain Center</a:t>
            </a:r>
            <a:endParaRPr lang="en-US" sz="1300" dirty="0"/>
          </a:p>
        </p:txBody>
      </p:sp>
      <p:sp>
        <p:nvSpPr>
          <p:cNvPr id="17" name="Shape 13"/>
          <p:cNvSpPr/>
          <p:nvPr/>
        </p:nvSpPr>
        <p:spPr>
          <a:xfrm>
            <a:off x="6233008" y="1942795"/>
            <a:ext cx="5501488" cy="3488741"/>
          </a:xfrm>
          <a:prstGeom prst="roundRect">
            <a:avLst>
              <a:gd name="adj" fmla="val 3145"/>
            </a:avLst>
          </a:prstGeom>
          <a:solidFill>
            <a:srgbClr val="171722"/>
          </a:solidFill>
          <a:ln w="9525">
            <a:solidFill>
              <a:srgbClr val="2C2C3E"/>
            </a:solidFill>
            <a:prstDash val="solid"/>
          </a:ln>
        </p:spPr>
      </p:sp>
      <p:sp>
        <p:nvSpPr>
          <p:cNvPr id="18" name="Shape 14"/>
          <p:cNvSpPr/>
          <p:nvPr/>
        </p:nvSpPr>
        <p:spPr>
          <a:xfrm>
            <a:off x="6489040" y="2198827"/>
            <a:ext cx="731520" cy="73152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6671920" y="2381707"/>
            <a:ext cx="365760" cy="365760"/>
          </a:xfrm>
          <a:prstGeom prst="rect">
            <a:avLst/>
          </a:prstGeom>
        </p:spPr>
      </p:pic>
      <p:sp>
        <p:nvSpPr>
          <p:cNvPr id="20" name="Text 15"/>
          <p:cNvSpPr txBox="1"/>
          <p:nvPr/>
        </p:nvSpPr>
        <p:spPr>
          <a:xfrm>
            <a:off x="7403440" y="2198827"/>
            <a:ext cx="4075024" cy="365760"/>
          </a:xfrm>
          <a:prstGeom prst="rect">
            <a:avLst/>
          </a:prstGeom>
          <a:noFill/>
          <a:ln/>
        </p:spPr>
        <p:txBody>
          <a:bodyPr wrap="square" lIns="0" tIns="0" rIns="0" bIns="0" rtlCol="0" anchor="t"/>
          <a:lstStyle/>
          <a:p>
            <a:pPr indent="0" marL="0">
              <a:buNone/>
            </a:pPr>
            <a:r>
              <a:rPr lang="en-US" sz="2000" b="1" dirty="0">
                <a:solidFill>
                  <a:srgbClr val="B4B4C8"/>
                </a:solidFill>
                <a:latin typeface="Arial" pitchFamily="34" charset="0"/>
                <a:ea typeface="Arial" pitchFamily="34" charset="-122"/>
                <a:cs typeface="Arial" pitchFamily="34" charset="-120"/>
              </a:rPr>
              <a:t>CTO (to be confirmed)</a:t>
            </a:r>
            <a:endParaRPr lang="en-US" sz="2000" dirty="0"/>
          </a:p>
        </p:txBody>
      </p:sp>
      <p:sp>
        <p:nvSpPr>
          <p:cNvPr id="21" name="Text 16"/>
          <p:cNvSpPr txBox="1"/>
          <p:nvPr/>
        </p:nvSpPr>
        <p:spPr>
          <a:xfrm>
            <a:off x="7403440" y="2582875"/>
            <a:ext cx="4075024" cy="457200"/>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Co-Founder · platform &amp; infrastructure lead</a:t>
            </a:r>
            <a:endParaRPr lang="en-US" sz="1250" dirty="0"/>
          </a:p>
        </p:txBody>
      </p:sp>
      <p:sp>
        <p:nvSpPr>
          <p:cNvPr id="22" name="Shape 17"/>
          <p:cNvSpPr/>
          <p:nvPr/>
        </p:nvSpPr>
        <p:spPr>
          <a:xfrm>
            <a:off x="6489040" y="3268675"/>
            <a:ext cx="4989424" cy="0"/>
          </a:xfrm>
          <a:prstGeom prst="line">
            <a:avLst/>
          </a:prstGeom>
          <a:noFill/>
          <a:ln w="9525">
            <a:solidFill>
              <a:srgbClr val="2C2C3E"/>
            </a:solidFill>
            <a:prstDash val="solid"/>
          </a:ln>
        </p:spPr>
      </p:sp>
      <p:sp>
        <p:nvSpPr>
          <p:cNvPr id="23" name="Text 18"/>
          <p:cNvSpPr txBox="1"/>
          <p:nvPr/>
        </p:nvSpPr>
        <p:spPr>
          <a:xfrm>
            <a:off x="6489040" y="3451555"/>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BACKGROUND</a:t>
            </a:r>
            <a:endParaRPr lang="en-US" sz="850" dirty="0"/>
          </a:p>
        </p:txBody>
      </p:sp>
      <p:sp>
        <p:nvSpPr>
          <p:cNvPr id="24" name="Text 19"/>
          <p:cNvSpPr txBox="1"/>
          <p:nvPr/>
        </p:nvSpPr>
        <p:spPr>
          <a:xfrm>
            <a:off x="6489040" y="3689299"/>
            <a:ext cx="4989424" cy="62179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Learning-platform engineering · hosting and infrastructure · AI-pipeline architecture. Search in progress for a world-class technical co-founder with MENA experience</a:t>
            </a:r>
            <a:endParaRPr lang="en-US" sz="1300" dirty="0"/>
          </a:p>
        </p:txBody>
      </p:sp>
      <p:sp>
        <p:nvSpPr>
          <p:cNvPr id="25" name="Text 20"/>
          <p:cNvSpPr txBox="1"/>
          <p:nvPr/>
        </p:nvSpPr>
        <p:spPr>
          <a:xfrm>
            <a:off x="6489040" y="4557979"/>
            <a:ext cx="498942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VENTURES &amp; CONTEXT</a:t>
            </a:r>
            <a:endParaRPr lang="en-US" sz="850" dirty="0"/>
          </a:p>
        </p:txBody>
      </p:sp>
      <p:sp>
        <p:nvSpPr>
          <p:cNvPr id="26" name="Text 21"/>
          <p:cNvSpPr txBox="1"/>
          <p:nvPr/>
        </p:nvSpPr>
        <p:spPr>
          <a:xfrm>
            <a:off x="6489040" y="4795723"/>
            <a:ext cx="4989424"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Takes over a built platform and a concrete launch plan (slides 28 and 32)</a:t>
            </a:r>
            <a:endParaRPr lang="en-US" sz="1300" dirty="0"/>
          </a:p>
        </p:txBody>
      </p:sp>
      <p:sp>
        <p:nvSpPr>
          <p:cNvPr id="27" name="Shape 22"/>
          <p:cNvSpPr/>
          <p:nvPr/>
        </p:nvSpPr>
        <p:spPr>
          <a:xfrm>
            <a:off x="457200" y="5705856"/>
            <a:ext cx="11277295" cy="512064"/>
          </a:xfrm>
          <a:prstGeom prst="roundRect">
            <a:avLst>
              <a:gd name="adj" fmla="val 17857"/>
            </a:avLst>
          </a:prstGeom>
          <a:solidFill>
            <a:srgbClr val="15151F"/>
          </a:solidFill>
          <a:ln w="9525">
            <a:solidFill>
              <a:srgbClr val="5A4A22"/>
            </a:solidFill>
            <a:prstDash val="solid"/>
          </a:ln>
        </p:spPr>
      </p:sp>
      <p:sp>
        <p:nvSpPr>
          <p:cNvPr id="28" name="Text 23"/>
          <p:cNvSpPr txBox="1"/>
          <p:nvPr/>
        </p:nvSpPr>
        <p:spPr>
          <a:xfrm>
            <a:off x="685800" y="5705856"/>
            <a:ext cx="10911535" cy="512064"/>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ADVISORS   </a:t>
            </a:r>
            <a:r>
              <a:rPr lang="en-US" sz="1300" dirty="0">
                <a:solidFill>
                  <a:srgbClr val="E8E8F0"/>
                </a:solidFill>
                <a:latin typeface="Arial" pitchFamily="34" charset="0"/>
                <a:ea typeface="Arial" pitchFamily="34" charset="-122"/>
                <a:cs typeface="Arial" pitchFamily="34" charset="-120"/>
              </a:rPr>
              <a:t>Maria Papadaki (BUiD, academic partner) · DBCC leadership · Compliance advisor (TBC) · Regional investor (TBC)</a:t>
            </a:r>
            <a:endParaRPr lang="en-US" sz="1300" dirty="0"/>
          </a:p>
        </p:txBody>
      </p:sp>
      <p:sp>
        <p:nvSpPr>
          <p:cNvPr id="29" name="Text 2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9539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5765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GO-TO-MARKET · TARGETS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90-day plan to first revenue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Go live in the UAE, close two Founding Partners, then launch publicly</a:t>
            </a:r>
            <a:endParaRPr lang="en-US" sz="1600" dirty="0"/>
          </a:p>
        </p:txBody>
      </p:sp>
      <p:sp>
        <p:nvSpPr>
          <p:cNvPr id="7" name="Shape 4"/>
          <p:cNvSpPr/>
          <p:nvPr/>
        </p:nvSpPr>
        <p:spPr>
          <a:xfrm>
            <a:off x="585216" y="2052523"/>
            <a:ext cx="8663711" cy="0"/>
          </a:xfrm>
          <a:prstGeom prst="line">
            <a:avLst/>
          </a:prstGeom>
          <a:noFill/>
          <a:ln w="15875">
            <a:solidFill>
              <a:srgbClr val="9B7A2E"/>
            </a:solidFill>
            <a:prstDash val="solid"/>
          </a:ln>
        </p:spPr>
      </p:sp>
      <p:sp>
        <p:nvSpPr>
          <p:cNvPr id="8" name="Shape 5"/>
          <p:cNvSpPr/>
          <p:nvPr/>
        </p:nvSpPr>
        <p:spPr>
          <a:xfrm>
            <a:off x="493776" y="1961083"/>
            <a:ext cx="182880" cy="182880"/>
          </a:xfrm>
          <a:prstGeom prst="ellipse">
            <a:avLst/>
          </a:prstGeom>
          <a:solidFill>
            <a:srgbClr val="F0C96B"/>
          </a:solidFill>
          <a:ln w="15875">
            <a:solidFill>
              <a:srgbClr val="C9A84C"/>
            </a:solidFill>
            <a:prstDash val="solid"/>
          </a:ln>
        </p:spPr>
      </p:sp>
      <p:sp>
        <p:nvSpPr>
          <p:cNvPr id="9" name="Text 6"/>
          <p:cNvSpPr txBox="1"/>
          <p:nvPr/>
        </p:nvSpPr>
        <p:spPr>
          <a:xfrm>
            <a:off x="493776"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NOW → MONTH 3</a:t>
            </a:r>
            <a:endParaRPr lang="en-US" sz="950" dirty="0"/>
          </a:p>
        </p:txBody>
      </p:sp>
      <p:sp>
        <p:nvSpPr>
          <p:cNvPr id="10" name="Shape 7"/>
          <p:cNvSpPr/>
          <p:nvPr/>
        </p:nvSpPr>
        <p:spPr>
          <a:xfrm>
            <a:off x="457200" y="2546299"/>
            <a:ext cx="2613584" cy="3031541"/>
          </a:xfrm>
          <a:prstGeom prst="roundRect">
            <a:avLst>
              <a:gd name="adj" fmla="val 4198"/>
            </a:avLst>
          </a:prstGeom>
          <a:solidFill>
            <a:srgbClr val="231E12"/>
          </a:solidFill>
          <a:ln w="9525">
            <a:solidFill>
              <a:srgbClr val="C9A84C"/>
            </a:solidFill>
            <a:prstDash val="solid"/>
          </a:ln>
        </p:spPr>
      </p:sp>
      <p:sp>
        <p:nvSpPr>
          <p:cNvPr id="11" name="Text 8"/>
          <p:cNvSpPr txBox="1"/>
          <p:nvPr/>
        </p:nvSpPr>
        <p:spPr>
          <a:xfrm>
            <a:off x="685800"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Go live &amp; close</a:t>
            </a:r>
            <a:endParaRPr lang="en-US" sz="2000" dirty="0"/>
          </a:p>
        </p:txBody>
      </p:sp>
      <p:pic>
        <p:nvPicPr>
          <p:cNvPr id="12" name="Image 0" descr="preencoded.png">    </p:cNvPr>
          <p:cNvPicPr>
            <a:picLocks noChangeAspect="1"/>
          </p:cNvPicPr>
          <p:nvPr/>
        </p:nvPicPr>
        <p:blipFill>
          <a:blip r:embed="rId2"/>
          <a:stretch>
            <a:fillRect/>
          </a:stretch>
        </p:blipFill>
        <p:spPr>
          <a:xfrm>
            <a:off x="685800" y="3305251"/>
            <a:ext cx="182880" cy="182880"/>
          </a:xfrm>
          <a:prstGeom prst="rect">
            <a:avLst/>
          </a:prstGeom>
        </p:spPr>
      </p:pic>
      <p:sp>
        <p:nvSpPr>
          <p:cNvPr id="13" name="Text 9"/>
          <p:cNvSpPr txBox="1"/>
          <p:nvPr/>
        </p:nvSpPr>
        <p:spPr>
          <a:xfrm>
            <a:off x="978408" y="3277819"/>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Finish launch preparation and go live</a:t>
            </a:r>
            <a:endParaRPr lang="en-US" sz="1300" dirty="0"/>
          </a:p>
        </p:txBody>
      </p:sp>
      <p:pic>
        <p:nvPicPr>
          <p:cNvPr id="14" name="Image 1" descr="preencoded.png">    </p:cNvPr>
          <p:cNvPicPr>
            <a:picLocks noChangeAspect="1"/>
          </p:cNvPicPr>
          <p:nvPr/>
        </p:nvPicPr>
        <p:blipFill>
          <a:blip r:embed="rId3"/>
          <a:stretch>
            <a:fillRect/>
          </a:stretch>
        </p:blipFill>
        <p:spPr>
          <a:xfrm>
            <a:off x="685800" y="3856939"/>
            <a:ext cx="182880" cy="182880"/>
          </a:xfrm>
          <a:prstGeom prst="rect">
            <a:avLst/>
          </a:prstGeom>
        </p:spPr>
      </p:pic>
      <p:sp>
        <p:nvSpPr>
          <p:cNvPr id="15" name="Text 10"/>
          <p:cNvSpPr txBox="1"/>
          <p:nvPr/>
        </p:nvSpPr>
        <p:spPr>
          <a:xfrm>
            <a:off x="978408" y="382950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Tether academy pitch (1 slide, 1 demo)</a:t>
            </a:r>
            <a:endParaRPr lang="en-US" sz="1300" dirty="0"/>
          </a:p>
        </p:txBody>
      </p:sp>
      <p:pic>
        <p:nvPicPr>
          <p:cNvPr id="16" name="Image 2" descr="preencoded.png">    </p:cNvPr>
          <p:cNvPicPr>
            <a:picLocks noChangeAspect="1"/>
          </p:cNvPicPr>
          <p:nvPr/>
        </p:nvPicPr>
        <p:blipFill>
          <a:blip r:embed="rId4"/>
          <a:stretch>
            <a:fillRect/>
          </a:stretch>
        </p:blipFill>
        <p:spPr>
          <a:xfrm>
            <a:off x="685800" y="4408627"/>
            <a:ext cx="182880" cy="182880"/>
          </a:xfrm>
          <a:prstGeom prst="rect">
            <a:avLst/>
          </a:prstGeom>
        </p:spPr>
      </p:pic>
      <p:sp>
        <p:nvSpPr>
          <p:cNvPr id="17" name="Text 11"/>
          <p:cNvSpPr txBox="1"/>
          <p:nvPr/>
        </p:nvSpPr>
        <p:spPr>
          <a:xfrm>
            <a:off x="978408" y="438119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beta round tables via DBCC</a:t>
            </a:r>
            <a:endParaRPr lang="en-US" sz="1300" dirty="0"/>
          </a:p>
        </p:txBody>
      </p:sp>
      <p:pic>
        <p:nvPicPr>
          <p:cNvPr id="18" name="Image 3" descr="preencoded.png">    </p:cNvPr>
          <p:cNvPicPr>
            <a:picLocks noChangeAspect="1"/>
          </p:cNvPicPr>
          <p:nvPr/>
        </p:nvPicPr>
        <p:blipFill>
          <a:blip r:embed="rId5"/>
          <a:stretch>
            <a:fillRect/>
          </a:stretch>
        </p:blipFill>
        <p:spPr>
          <a:xfrm>
            <a:off x="685800" y="4960315"/>
            <a:ext cx="182880" cy="182880"/>
          </a:xfrm>
          <a:prstGeom prst="rect">
            <a:avLst/>
          </a:prstGeom>
        </p:spPr>
      </p:pic>
      <p:sp>
        <p:nvSpPr>
          <p:cNvPr id="19" name="Text 12"/>
          <p:cNvSpPr txBox="1"/>
          <p:nvPr/>
        </p:nvSpPr>
        <p:spPr>
          <a:xfrm>
            <a:off x="978408" y="4932883"/>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BUiD MOU signed</a:t>
            </a:r>
            <a:endParaRPr lang="en-US" sz="1300" dirty="0"/>
          </a:p>
        </p:txBody>
      </p:sp>
      <p:sp>
        <p:nvSpPr>
          <p:cNvPr id="20" name="Shape 13"/>
          <p:cNvSpPr/>
          <p:nvPr/>
        </p:nvSpPr>
        <p:spPr>
          <a:xfrm>
            <a:off x="3381680" y="1961083"/>
            <a:ext cx="182880" cy="182880"/>
          </a:xfrm>
          <a:prstGeom prst="ellipse">
            <a:avLst/>
          </a:prstGeom>
          <a:solidFill>
            <a:srgbClr val="1E1A10"/>
          </a:solidFill>
          <a:ln w="15875">
            <a:solidFill>
              <a:srgbClr val="C9A84C"/>
            </a:solidFill>
            <a:prstDash val="solid"/>
          </a:ln>
        </p:spPr>
      </p:sp>
      <p:sp>
        <p:nvSpPr>
          <p:cNvPr id="21" name="Text 14"/>
          <p:cNvSpPr txBox="1"/>
          <p:nvPr/>
        </p:nvSpPr>
        <p:spPr>
          <a:xfrm>
            <a:off x="3381680"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3 → 6</a:t>
            </a:r>
            <a:endParaRPr lang="en-US" sz="950" dirty="0"/>
          </a:p>
        </p:txBody>
      </p:sp>
      <p:sp>
        <p:nvSpPr>
          <p:cNvPr id="22" name="Shape 15"/>
          <p:cNvSpPr/>
          <p:nvPr/>
        </p:nvSpPr>
        <p:spPr>
          <a:xfrm>
            <a:off x="3345104" y="2546299"/>
            <a:ext cx="2613584" cy="3031541"/>
          </a:xfrm>
          <a:prstGeom prst="roundRect">
            <a:avLst>
              <a:gd name="adj" fmla="val 4198"/>
            </a:avLst>
          </a:prstGeom>
          <a:solidFill>
            <a:srgbClr val="171722"/>
          </a:solidFill>
          <a:ln w="9525">
            <a:solidFill>
              <a:srgbClr val="2C2C3E"/>
            </a:solidFill>
            <a:prstDash val="solid"/>
          </a:ln>
        </p:spPr>
      </p:sp>
      <p:sp>
        <p:nvSpPr>
          <p:cNvPr id="23" name="Text 16"/>
          <p:cNvSpPr txBox="1"/>
          <p:nvPr/>
        </p:nvSpPr>
        <p:spPr>
          <a:xfrm>
            <a:off x="3573704"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Launch &amp; grow</a:t>
            </a:r>
            <a:endParaRPr lang="en-US" sz="2000" dirty="0"/>
          </a:p>
        </p:txBody>
      </p:sp>
      <p:pic>
        <p:nvPicPr>
          <p:cNvPr id="24" name="Image 4" descr="preencoded.png">    </p:cNvPr>
          <p:cNvPicPr>
            <a:picLocks noChangeAspect="1"/>
          </p:cNvPicPr>
          <p:nvPr/>
        </p:nvPicPr>
        <p:blipFill>
          <a:blip r:embed="rId6"/>
          <a:stretch>
            <a:fillRect/>
          </a:stretch>
        </p:blipFill>
        <p:spPr>
          <a:xfrm>
            <a:off x="3573704" y="3305251"/>
            <a:ext cx="182880" cy="182880"/>
          </a:xfrm>
          <a:prstGeom prst="rect">
            <a:avLst/>
          </a:prstGeom>
        </p:spPr>
      </p:pic>
      <p:sp>
        <p:nvSpPr>
          <p:cNvPr id="25" name="Text 17"/>
          <p:cNvSpPr txBox="1"/>
          <p:nvPr/>
        </p:nvSpPr>
        <p:spPr>
          <a:xfrm>
            <a:off x="3866312"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Public free-tier launch</a:t>
            </a:r>
            <a:endParaRPr lang="en-US" sz="1300" dirty="0"/>
          </a:p>
        </p:txBody>
      </p:sp>
      <p:pic>
        <p:nvPicPr>
          <p:cNvPr id="26" name="Image 5" descr="preencoded.png">    </p:cNvPr>
          <p:cNvPicPr>
            <a:picLocks noChangeAspect="1"/>
          </p:cNvPicPr>
          <p:nvPr/>
        </p:nvPicPr>
        <p:blipFill>
          <a:blip r:embed="rId7"/>
          <a:stretch>
            <a:fillRect/>
          </a:stretch>
        </p:blipFill>
        <p:spPr>
          <a:xfrm>
            <a:off x="3573704" y="3658819"/>
            <a:ext cx="182880" cy="182880"/>
          </a:xfrm>
          <a:prstGeom prst="rect">
            <a:avLst/>
          </a:prstGeom>
        </p:spPr>
      </p:pic>
      <p:sp>
        <p:nvSpPr>
          <p:cNvPr id="27" name="Text 18"/>
          <p:cNvSpPr txBox="1"/>
          <p:nvPr/>
        </p:nvSpPr>
        <p:spPr>
          <a:xfrm>
            <a:off x="3866312"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opinion papers published on LinkedIn</a:t>
            </a:r>
            <a:endParaRPr lang="en-US" sz="1300" dirty="0"/>
          </a:p>
        </p:txBody>
      </p:sp>
      <p:pic>
        <p:nvPicPr>
          <p:cNvPr id="28" name="Image 6" descr="preencoded.png">    </p:cNvPr>
          <p:cNvPicPr>
            <a:picLocks noChangeAspect="1"/>
          </p:cNvPicPr>
          <p:nvPr/>
        </p:nvPicPr>
        <p:blipFill>
          <a:blip r:embed="rId8"/>
          <a:stretch>
            <a:fillRect/>
          </a:stretch>
        </p:blipFill>
        <p:spPr>
          <a:xfrm>
            <a:off x="3573704" y="4210507"/>
            <a:ext cx="182880" cy="182880"/>
          </a:xfrm>
          <a:prstGeom prst="rect">
            <a:avLst/>
          </a:prstGeom>
        </p:spPr>
      </p:pic>
      <p:sp>
        <p:nvSpPr>
          <p:cNvPr id="29" name="Text 19"/>
          <p:cNvSpPr txBox="1"/>
          <p:nvPr/>
        </p:nvSpPr>
        <p:spPr>
          <a:xfrm>
            <a:off x="3866312"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2,000 registrations target</a:t>
            </a:r>
            <a:endParaRPr lang="en-US" sz="1300" dirty="0"/>
          </a:p>
        </p:txBody>
      </p:sp>
      <p:pic>
        <p:nvPicPr>
          <p:cNvPr id="30" name="Image 7" descr="preencoded.png">    </p:cNvPr>
          <p:cNvPicPr>
            <a:picLocks noChangeAspect="1"/>
          </p:cNvPicPr>
          <p:nvPr/>
        </p:nvPicPr>
        <p:blipFill>
          <a:blip r:embed="rId9"/>
          <a:stretch>
            <a:fillRect/>
          </a:stretch>
        </p:blipFill>
        <p:spPr>
          <a:xfrm>
            <a:off x="3573704" y="4762195"/>
            <a:ext cx="182880" cy="182880"/>
          </a:xfrm>
          <a:prstGeom prst="rect">
            <a:avLst/>
          </a:prstGeom>
        </p:spPr>
      </p:pic>
      <p:sp>
        <p:nvSpPr>
          <p:cNvPr id="31" name="Text 20"/>
          <p:cNvSpPr txBox="1"/>
          <p:nvPr/>
        </p:nvSpPr>
        <p:spPr>
          <a:xfrm>
            <a:off x="3866312"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Company Academy live</a:t>
            </a:r>
            <a:endParaRPr lang="en-US" sz="1300" dirty="0"/>
          </a:p>
        </p:txBody>
      </p:sp>
      <p:sp>
        <p:nvSpPr>
          <p:cNvPr id="32" name="Shape 21"/>
          <p:cNvSpPr/>
          <p:nvPr/>
        </p:nvSpPr>
        <p:spPr>
          <a:xfrm>
            <a:off x="6269584" y="1961083"/>
            <a:ext cx="182880" cy="182880"/>
          </a:xfrm>
          <a:prstGeom prst="ellipse">
            <a:avLst/>
          </a:prstGeom>
          <a:solidFill>
            <a:srgbClr val="1E1A10"/>
          </a:solidFill>
          <a:ln w="15875">
            <a:solidFill>
              <a:srgbClr val="C9A84C"/>
            </a:solidFill>
            <a:prstDash val="solid"/>
          </a:ln>
        </p:spPr>
      </p:sp>
      <p:sp>
        <p:nvSpPr>
          <p:cNvPr id="33" name="Text 22"/>
          <p:cNvSpPr txBox="1"/>
          <p:nvPr/>
        </p:nvSpPr>
        <p:spPr>
          <a:xfrm>
            <a:off x="6269584"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6 → 12</a:t>
            </a:r>
            <a:endParaRPr lang="en-US" sz="950" dirty="0"/>
          </a:p>
        </p:txBody>
      </p:sp>
      <p:sp>
        <p:nvSpPr>
          <p:cNvPr id="34" name="Shape 23"/>
          <p:cNvSpPr/>
          <p:nvPr/>
        </p:nvSpPr>
        <p:spPr>
          <a:xfrm>
            <a:off x="6233008" y="2546299"/>
            <a:ext cx="2613584" cy="3031541"/>
          </a:xfrm>
          <a:prstGeom prst="roundRect">
            <a:avLst>
              <a:gd name="adj" fmla="val 4198"/>
            </a:avLst>
          </a:prstGeom>
          <a:solidFill>
            <a:srgbClr val="171722"/>
          </a:solidFill>
          <a:ln w="9525">
            <a:solidFill>
              <a:srgbClr val="2C2C3E"/>
            </a:solidFill>
            <a:prstDash val="solid"/>
          </a:ln>
        </p:spPr>
      </p:sp>
      <p:sp>
        <p:nvSpPr>
          <p:cNvPr id="35" name="Text 24"/>
          <p:cNvSpPr txBox="1"/>
          <p:nvPr/>
        </p:nvSpPr>
        <p:spPr>
          <a:xfrm>
            <a:off x="6461608"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Scale</a:t>
            </a:r>
            <a:endParaRPr lang="en-US" sz="2000" dirty="0"/>
          </a:p>
        </p:txBody>
      </p:sp>
      <p:pic>
        <p:nvPicPr>
          <p:cNvPr id="36" name="Image 8" descr="preencoded.png">    </p:cNvPr>
          <p:cNvPicPr>
            <a:picLocks noChangeAspect="1"/>
          </p:cNvPicPr>
          <p:nvPr/>
        </p:nvPicPr>
        <p:blipFill>
          <a:blip r:embed="rId10"/>
          <a:stretch>
            <a:fillRect/>
          </a:stretch>
        </p:blipFill>
        <p:spPr>
          <a:xfrm>
            <a:off x="6461608" y="3305251"/>
            <a:ext cx="182880" cy="182880"/>
          </a:xfrm>
          <a:prstGeom prst="rect">
            <a:avLst/>
          </a:prstGeom>
        </p:spPr>
      </p:pic>
      <p:sp>
        <p:nvSpPr>
          <p:cNvPr id="37" name="Text 25"/>
          <p:cNvSpPr txBox="1"/>
          <p:nvPr/>
        </p:nvSpPr>
        <p:spPr>
          <a:xfrm>
            <a:off x="6754216" y="3277819"/>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400 paid subscribers</a:t>
            </a:r>
            <a:endParaRPr lang="en-US" sz="1300" dirty="0"/>
          </a:p>
        </p:txBody>
      </p:sp>
      <p:pic>
        <p:nvPicPr>
          <p:cNvPr id="38" name="Image 9" descr="preencoded.png">    </p:cNvPr>
          <p:cNvPicPr>
            <a:picLocks noChangeAspect="1"/>
          </p:cNvPicPr>
          <p:nvPr/>
        </p:nvPicPr>
        <p:blipFill>
          <a:blip r:embed="rId11"/>
          <a:stretch>
            <a:fillRect/>
          </a:stretch>
        </p:blipFill>
        <p:spPr>
          <a:xfrm>
            <a:off x="6461608" y="3658819"/>
            <a:ext cx="182880" cy="182880"/>
          </a:xfrm>
          <a:prstGeom prst="rect">
            <a:avLst/>
          </a:prstGeom>
        </p:spPr>
      </p:pic>
      <p:sp>
        <p:nvSpPr>
          <p:cNvPr id="39" name="Text 26"/>
          <p:cNvSpPr txBox="1"/>
          <p:nvPr/>
        </p:nvSpPr>
        <p:spPr>
          <a:xfrm>
            <a:off x="6754216" y="363138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4 corporate team licences</a:t>
            </a:r>
            <a:endParaRPr lang="en-US" sz="1300" dirty="0"/>
          </a:p>
        </p:txBody>
      </p:sp>
      <p:pic>
        <p:nvPicPr>
          <p:cNvPr id="40" name="Image 10" descr="preencoded.png">    </p:cNvPr>
          <p:cNvPicPr>
            <a:picLocks noChangeAspect="1"/>
          </p:cNvPicPr>
          <p:nvPr/>
        </p:nvPicPr>
        <p:blipFill>
          <a:blip r:embed="rId12"/>
          <a:stretch>
            <a:fillRect/>
          </a:stretch>
        </p:blipFill>
        <p:spPr>
          <a:xfrm>
            <a:off x="6461608" y="4210507"/>
            <a:ext cx="182880" cy="182880"/>
          </a:xfrm>
          <a:prstGeom prst="rect">
            <a:avLst/>
          </a:prstGeom>
        </p:spPr>
      </p:pic>
      <p:sp>
        <p:nvSpPr>
          <p:cNvPr id="41" name="Text 27"/>
          <p:cNvSpPr txBox="1"/>
          <p:nvPr/>
        </p:nvSpPr>
        <p:spPr>
          <a:xfrm>
            <a:off x="6754216" y="4183075"/>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3 more strategic partners</a:t>
            </a:r>
            <a:endParaRPr lang="en-US" sz="1300" dirty="0"/>
          </a:p>
        </p:txBody>
      </p:sp>
      <p:pic>
        <p:nvPicPr>
          <p:cNvPr id="42" name="Image 11" descr="preencoded.png">    </p:cNvPr>
          <p:cNvPicPr>
            <a:picLocks noChangeAspect="1"/>
          </p:cNvPicPr>
          <p:nvPr/>
        </p:nvPicPr>
        <p:blipFill>
          <a:blip r:embed="rId13"/>
          <a:stretch>
            <a:fillRect/>
          </a:stretch>
        </p:blipFill>
        <p:spPr>
          <a:xfrm>
            <a:off x="6461608" y="4762195"/>
            <a:ext cx="182880" cy="182880"/>
          </a:xfrm>
          <a:prstGeom prst="rect">
            <a:avLst/>
          </a:prstGeom>
        </p:spPr>
      </p:pic>
      <p:sp>
        <p:nvSpPr>
          <p:cNvPr id="43" name="Text 28"/>
          <p:cNvSpPr txBox="1"/>
          <p:nvPr/>
        </p:nvSpPr>
        <p:spPr>
          <a:xfrm>
            <a:off x="6754216"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First Digital Twin masterclass</a:t>
            </a:r>
            <a:endParaRPr lang="en-US" sz="1300" dirty="0"/>
          </a:p>
        </p:txBody>
      </p:sp>
      <p:sp>
        <p:nvSpPr>
          <p:cNvPr id="44" name="Shape 29"/>
          <p:cNvSpPr/>
          <p:nvPr/>
        </p:nvSpPr>
        <p:spPr>
          <a:xfrm>
            <a:off x="9157487" y="1961083"/>
            <a:ext cx="182880" cy="182880"/>
          </a:xfrm>
          <a:prstGeom prst="ellipse">
            <a:avLst/>
          </a:prstGeom>
          <a:solidFill>
            <a:srgbClr val="1E1A10"/>
          </a:solidFill>
          <a:ln w="15875">
            <a:solidFill>
              <a:srgbClr val="C9A84C"/>
            </a:solidFill>
            <a:prstDash val="solid"/>
          </a:ln>
        </p:spPr>
      </p:sp>
      <p:sp>
        <p:nvSpPr>
          <p:cNvPr id="45" name="Text 30"/>
          <p:cNvSpPr txBox="1"/>
          <p:nvPr/>
        </p:nvSpPr>
        <p:spPr>
          <a:xfrm>
            <a:off x="9157487" y="2235403"/>
            <a:ext cx="2522144" cy="182880"/>
          </a:xfrm>
          <a:prstGeom prst="rect">
            <a:avLst/>
          </a:prstGeom>
          <a:noFill/>
          <a:ln/>
        </p:spPr>
        <p:txBody>
          <a:bodyPr wrap="square" lIns="0" tIns="0" rIns="0" bIns="0" rtlCol="0" anchor="ctr"/>
          <a:lstStyle/>
          <a:p>
            <a:pPr indent="0" marL="0">
              <a:buNone/>
            </a:pPr>
            <a:r>
              <a:rPr lang="en-US" sz="950" b="1" spc="120" kern="0" dirty="0">
                <a:solidFill>
                  <a:srgbClr val="F0C96B"/>
                </a:solidFill>
                <a:latin typeface="Arial" pitchFamily="34" charset="0"/>
                <a:ea typeface="Arial" pitchFamily="34" charset="-122"/>
                <a:cs typeface="Arial" pitchFamily="34" charset="-120"/>
              </a:rPr>
              <a:t>MONTH 12 → 24</a:t>
            </a:r>
            <a:endParaRPr lang="en-US" sz="950" dirty="0"/>
          </a:p>
        </p:txBody>
      </p:sp>
      <p:sp>
        <p:nvSpPr>
          <p:cNvPr id="46" name="Shape 31"/>
          <p:cNvSpPr/>
          <p:nvPr/>
        </p:nvSpPr>
        <p:spPr>
          <a:xfrm>
            <a:off x="9120911" y="2546299"/>
            <a:ext cx="2613584" cy="3031541"/>
          </a:xfrm>
          <a:prstGeom prst="roundRect">
            <a:avLst>
              <a:gd name="adj" fmla="val 4198"/>
            </a:avLst>
          </a:prstGeom>
          <a:solidFill>
            <a:srgbClr val="171722"/>
          </a:solidFill>
          <a:ln w="9525">
            <a:solidFill>
              <a:srgbClr val="2C2C3E"/>
            </a:solidFill>
            <a:prstDash val="solid"/>
          </a:ln>
        </p:spPr>
      </p:sp>
      <p:sp>
        <p:nvSpPr>
          <p:cNvPr id="47" name="Text 32"/>
          <p:cNvSpPr txBox="1"/>
          <p:nvPr/>
        </p:nvSpPr>
        <p:spPr>
          <a:xfrm>
            <a:off x="9349511" y="2747467"/>
            <a:ext cx="2156384"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Expand</a:t>
            </a:r>
            <a:endParaRPr lang="en-US" sz="2000" dirty="0"/>
          </a:p>
        </p:txBody>
      </p:sp>
      <p:pic>
        <p:nvPicPr>
          <p:cNvPr id="48" name="Image 12" descr="preencoded.png">    </p:cNvPr>
          <p:cNvPicPr>
            <a:picLocks noChangeAspect="1"/>
          </p:cNvPicPr>
          <p:nvPr/>
        </p:nvPicPr>
        <p:blipFill>
          <a:blip r:embed="rId14"/>
          <a:stretch>
            <a:fillRect/>
          </a:stretch>
        </p:blipFill>
        <p:spPr>
          <a:xfrm>
            <a:off x="9349511" y="3305251"/>
            <a:ext cx="182880" cy="182880"/>
          </a:xfrm>
          <a:prstGeom prst="rect">
            <a:avLst/>
          </a:prstGeom>
        </p:spPr>
      </p:pic>
      <p:sp>
        <p:nvSpPr>
          <p:cNvPr id="49" name="Text 33"/>
          <p:cNvSpPr txBox="1"/>
          <p:nvPr/>
        </p:nvSpPr>
        <p:spPr>
          <a:xfrm>
            <a:off x="9642119" y="3277819"/>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TOKEN2049 Dubai + Singapore</a:t>
            </a:r>
            <a:endParaRPr lang="en-US" sz="1300" dirty="0"/>
          </a:p>
        </p:txBody>
      </p:sp>
      <p:pic>
        <p:nvPicPr>
          <p:cNvPr id="50" name="Image 13" descr="preencoded.png">    </p:cNvPr>
          <p:cNvPicPr>
            <a:picLocks noChangeAspect="1"/>
          </p:cNvPicPr>
          <p:nvPr/>
        </p:nvPicPr>
        <p:blipFill>
          <a:blip r:embed="rId15"/>
          <a:stretch>
            <a:fillRect/>
          </a:stretch>
        </p:blipFill>
        <p:spPr>
          <a:xfrm>
            <a:off x="9349511" y="3856939"/>
            <a:ext cx="182880" cy="182880"/>
          </a:xfrm>
          <a:prstGeom prst="rect">
            <a:avLst/>
          </a:prstGeom>
        </p:spPr>
      </p:pic>
      <p:sp>
        <p:nvSpPr>
          <p:cNvPr id="51" name="Text 34"/>
          <p:cNvSpPr txBox="1"/>
          <p:nvPr/>
        </p:nvSpPr>
        <p:spPr>
          <a:xfrm>
            <a:off x="9642119" y="3829507"/>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Annual summit (50–100 participants)</a:t>
            </a:r>
            <a:endParaRPr lang="en-US" sz="1300" dirty="0"/>
          </a:p>
        </p:txBody>
      </p:sp>
      <p:pic>
        <p:nvPicPr>
          <p:cNvPr id="52" name="Image 14" descr="preencoded.png">    </p:cNvPr>
          <p:cNvPicPr>
            <a:picLocks noChangeAspect="1"/>
          </p:cNvPicPr>
          <p:nvPr/>
        </p:nvPicPr>
        <p:blipFill>
          <a:blip r:embed="rId16"/>
          <a:stretch>
            <a:fillRect/>
          </a:stretch>
        </p:blipFill>
        <p:spPr>
          <a:xfrm>
            <a:off x="9349511" y="4408627"/>
            <a:ext cx="182880" cy="182880"/>
          </a:xfrm>
          <a:prstGeom prst="rect">
            <a:avLst/>
          </a:prstGeom>
        </p:spPr>
      </p:pic>
      <p:sp>
        <p:nvSpPr>
          <p:cNvPr id="53" name="Text 35"/>
          <p:cNvSpPr txBox="1"/>
          <p:nvPr/>
        </p:nvSpPr>
        <p:spPr>
          <a:xfrm>
            <a:off x="9642119" y="4381195"/>
            <a:ext cx="1863776" cy="22555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Singapore market entry</a:t>
            </a:r>
            <a:endParaRPr lang="en-US" sz="1300" dirty="0"/>
          </a:p>
        </p:txBody>
      </p:sp>
      <p:pic>
        <p:nvPicPr>
          <p:cNvPr id="54" name="Image 15" descr="preencoded.png">    </p:cNvPr>
          <p:cNvPicPr>
            <a:picLocks noChangeAspect="1"/>
          </p:cNvPicPr>
          <p:nvPr/>
        </p:nvPicPr>
        <p:blipFill>
          <a:blip r:embed="rId17"/>
          <a:stretch>
            <a:fillRect/>
          </a:stretch>
        </p:blipFill>
        <p:spPr>
          <a:xfrm>
            <a:off x="9349511" y="4762195"/>
            <a:ext cx="182880" cy="182880"/>
          </a:xfrm>
          <a:prstGeom prst="rect">
            <a:avLst/>
          </a:prstGeom>
        </p:spPr>
      </p:pic>
      <p:sp>
        <p:nvSpPr>
          <p:cNvPr id="55" name="Text 36"/>
          <p:cNvSpPr txBox="1"/>
          <p:nvPr/>
        </p:nvSpPr>
        <p:spPr>
          <a:xfrm>
            <a:off x="9642119" y="4734763"/>
            <a:ext cx="1863776" cy="423672"/>
          </a:xfrm>
          <a:prstGeom prst="rect">
            <a:avLst/>
          </a:prstGeom>
          <a:noFill/>
          <a:ln/>
        </p:spPr>
        <p:txBody>
          <a:bodyPr wrap="square" lIns="0" tIns="0" rIns="0" bIns="0" rtlCol="0" anchor="t"/>
          <a:lstStyle/>
          <a:p>
            <a:pPr indent="0" marL="0">
              <a:buNone/>
            </a:pPr>
            <a:r>
              <a:rPr lang="en-US" sz="1300" dirty="0">
                <a:solidFill>
                  <a:srgbClr val="E8E8F0"/>
                </a:solidFill>
                <a:latin typeface="Arial" pitchFamily="34" charset="0"/>
                <a:ea typeface="Arial" pitchFamily="34" charset="-122"/>
                <a:cs typeface="Arial" pitchFamily="34" charset="-120"/>
              </a:rPr>
              <a:t>10,000+ registered users</a:t>
            </a:r>
            <a:endParaRPr lang="en-US" sz="1300" dirty="0"/>
          </a:p>
        </p:txBody>
      </p:sp>
      <p:sp>
        <p:nvSpPr>
          <p:cNvPr id="56" name="Shape 3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57" name="Image 16" descr="preencoded.png">    </p:cNvPr>
          <p:cNvPicPr>
            <a:picLocks noChangeAspect="1"/>
          </p:cNvPicPr>
          <p:nvPr/>
        </p:nvPicPr>
        <p:blipFill>
          <a:blip r:embed="rId18"/>
          <a:stretch>
            <a:fillRect/>
          </a:stretch>
        </p:blipFill>
        <p:spPr>
          <a:xfrm>
            <a:off x="603504" y="5925312"/>
            <a:ext cx="201168" cy="201168"/>
          </a:xfrm>
          <a:prstGeom prst="rect">
            <a:avLst/>
          </a:prstGeom>
        </p:spPr>
      </p:pic>
      <p:sp>
        <p:nvSpPr>
          <p:cNvPr id="58" name="Text 3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Month counts are master-plan targets, not dated commitments. Public launch follows the first two Founding Partners.</a:t>
            </a:r>
            <a:endParaRPr lang="en-US" sz="1150" dirty="0"/>
          </a:p>
        </p:txBody>
      </p:sp>
      <p:sp>
        <p:nvSpPr>
          <p:cNvPr id="59" name="Text 3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9012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36634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PARTNER ROADMAP · TARGETS, NOT AGREEMENTS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Partner roadmap: four tiers, one named focus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What each tier gets. Tether is the one named target partner; no agreements are signed.</a:t>
            </a:r>
            <a:endParaRPr lang="en-US" sz="1600" dirty="0"/>
          </a:p>
        </p:txBody>
      </p:sp>
      <p:sp>
        <p:nvSpPr>
          <p:cNvPr id="7" name="Text 4"/>
          <p:cNvSpPr txBox="1"/>
          <p:nvPr/>
        </p:nvSpPr>
        <p:spPr>
          <a:xfrm>
            <a:off x="1234440" y="1906219"/>
            <a:ext cx="233172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TIER</a:t>
            </a:r>
            <a:endParaRPr lang="en-US" sz="900" dirty="0"/>
          </a:p>
        </p:txBody>
      </p:sp>
      <p:sp>
        <p:nvSpPr>
          <p:cNvPr id="8" name="Text 5"/>
          <p:cNvSpPr txBox="1"/>
          <p:nvPr/>
        </p:nvSpPr>
        <p:spPr>
          <a:xfrm>
            <a:off x="3657600" y="1906219"/>
            <a:ext cx="338328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PARTNERS (NONE SIGNED)</a:t>
            </a:r>
            <a:endParaRPr lang="en-US" sz="900" dirty="0"/>
          </a:p>
        </p:txBody>
      </p:sp>
      <p:sp>
        <p:nvSpPr>
          <p:cNvPr id="9" name="Text 6"/>
          <p:cNvSpPr txBox="1"/>
          <p:nvPr/>
        </p:nvSpPr>
        <p:spPr>
          <a:xfrm>
            <a:off x="7223760" y="1906219"/>
            <a:ext cx="4343400"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WHAT THE TIER GETS</a:t>
            </a:r>
            <a:endParaRPr lang="en-US" sz="900" dirty="0"/>
          </a:p>
        </p:txBody>
      </p:sp>
      <p:sp>
        <p:nvSpPr>
          <p:cNvPr id="10" name="Shape 7"/>
          <p:cNvSpPr/>
          <p:nvPr/>
        </p:nvSpPr>
        <p:spPr>
          <a:xfrm>
            <a:off x="457200" y="2180539"/>
            <a:ext cx="11277295" cy="776173"/>
          </a:xfrm>
          <a:prstGeom prst="roundRect">
            <a:avLst>
              <a:gd name="adj" fmla="val 11781"/>
            </a:avLst>
          </a:prstGeom>
          <a:solidFill>
            <a:srgbClr val="171722"/>
          </a:solidFill>
          <a:ln w="9525">
            <a:solidFill>
              <a:srgbClr val="2C2C3E"/>
            </a:solidFill>
            <a:prstDash val="solid"/>
          </a:ln>
        </p:spPr>
      </p:sp>
      <p:sp>
        <p:nvSpPr>
          <p:cNvPr id="11" name="Shape 8"/>
          <p:cNvSpPr/>
          <p:nvPr/>
        </p:nvSpPr>
        <p:spPr>
          <a:xfrm>
            <a:off x="621792" y="2367458"/>
            <a:ext cx="402336" cy="402336"/>
          </a:xfrm>
          <a:prstGeom prst="ellipse">
            <a:avLst/>
          </a:prstGeom>
          <a:solidFill>
            <a:srgbClr val="1E1A10"/>
          </a:solidFill>
          <a:ln w="9525">
            <a:solidFill>
              <a:srgbClr val="5A4A22"/>
            </a:solidFill>
            <a:prstDash val="solid"/>
          </a:ln>
        </p:spPr>
      </p:sp>
      <p:pic>
        <p:nvPicPr>
          <p:cNvPr id="12" name="Image 0" descr="preencoded.png">    </p:cNvPr>
          <p:cNvPicPr>
            <a:picLocks noChangeAspect="1"/>
          </p:cNvPicPr>
          <p:nvPr/>
        </p:nvPicPr>
        <p:blipFill>
          <a:blip r:embed="rId2"/>
          <a:stretch>
            <a:fillRect/>
          </a:stretch>
        </p:blipFill>
        <p:spPr>
          <a:xfrm>
            <a:off x="722376" y="2468042"/>
            <a:ext cx="201168" cy="201168"/>
          </a:xfrm>
          <a:prstGeom prst="rect">
            <a:avLst/>
          </a:prstGeom>
        </p:spPr>
      </p:pic>
      <p:sp>
        <p:nvSpPr>
          <p:cNvPr id="13" name="Text 9"/>
          <p:cNvSpPr txBox="1"/>
          <p:nvPr/>
        </p:nvSpPr>
        <p:spPr>
          <a:xfrm>
            <a:off x="1234440" y="2180539"/>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Founding</a:t>
            </a:r>
            <a:endParaRPr lang="en-US" sz="1500" dirty="0"/>
          </a:p>
        </p:txBody>
      </p:sp>
      <p:sp>
        <p:nvSpPr>
          <p:cNvPr id="14" name="Text 10"/>
          <p:cNvSpPr txBox="1"/>
          <p:nvPr/>
        </p:nvSpPr>
        <p:spPr>
          <a:xfrm>
            <a:off x="3657600" y="2180539"/>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Two seats to fill before launch</a:t>
            </a:r>
            <a:endParaRPr lang="en-US" sz="1500" dirty="0"/>
          </a:p>
        </p:txBody>
      </p:sp>
      <p:sp>
        <p:nvSpPr>
          <p:cNvPr id="15" name="Text 11"/>
          <p:cNvSpPr txBox="1"/>
          <p:nvPr/>
        </p:nvSpPr>
        <p:spPr>
          <a:xfrm>
            <a:off x="7223760" y="2180539"/>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Flagship tracks or a $150K Founding Academy, co-hosted symposia, a seat on the curriculum board</a:t>
            </a:r>
            <a:endParaRPr lang="en-US" sz="1300" dirty="0"/>
          </a:p>
        </p:txBody>
      </p:sp>
      <p:sp>
        <p:nvSpPr>
          <p:cNvPr id="16" name="Shape 12"/>
          <p:cNvSpPr/>
          <p:nvPr/>
        </p:nvSpPr>
        <p:spPr>
          <a:xfrm>
            <a:off x="457200" y="3084728"/>
            <a:ext cx="11277295" cy="776173"/>
          </a:xfrm>
          <a:prstGeom prst="roundRect">
            <a:avLst>
              <a:gd name="adj" fmla="val 11781"/>
            </a:avLst>
          </a:prstGeom>
          <a:solidFill>
            <a:srgbClr val="171722"/>
          </a:solidFill>
          <a:ln w="9525">
            <a:solidFill>
              <a:srgbClr val="2C2C3E"/>
            </a:solidFill>
            <a:prstDash val="solid"/>
          </a:ln>
        </p:spPr>
      </p:sp>
      <p:sp>
        <p:nvSpPr>
          <p:cNvPr id="17" name="Shape 13"/>
          <p:cNvSpPr/>
          <p:nvPr/>
        </p:nvSpPr>
        <p:spPr>
          <a:xfrm>
            <a:off x="621792" y="3271647"/>
            <a:ext cx="402336" cy="402336"/>
          </a:xfrm>
          <a:prstGeom prst="ellipse">
            <a:avLst/>
          </a:prstGeom>
          <a:solidFill>
            <a:srgbClr val="1E1A10"/>
          </a:solidFill>
          <a:ln w="9525">
            <a:solidFill>
              <a:srgbClr val="5A4A22"/>
            </a:solidFill>
            <a:prstDash val="solid"/>
          </a:ln>
        </p:spPr>
      </p:sp>
      <p:pic>
        <p:nvPicPr>
          <p:cNvPr id="18" name="Image 1" descr="preencoded.png">    </p:cNvPr>
          <p:cNvPicPr>
            <a:picLocks noChangeAspect="1"/>
          </p:cNvPicPr>
          <p:nvPr/>
        </p:nvPicPr>
        <p:blipFill>
          <a:blip r:embed="rId3"/>
          <a:stretch>
            <a:fillRect/>
          </a:stretch>
        </p:blipFill>
        <p:spPr>
          <a:xfrm>
            <a:off x="722376" y="3372231"/>
            <a:ext cx="201168" cy="201168"/>
          </a:xfrm>
          <a:prstGeom prst="rect">
            <a:avLst/>
          </a:prstGeom>
        </p:spPr>
      </p:pic>
      <p:sp>
        <p:nvSpPr>
          <p:cNvPr id="19" name="Text 14"/>
          <p:cNvSpPr txBox="1"/>
          <p:nvPr/>
        </p:nvSpPr>
        <p:spPr>
          <a:xfrm>
            <a:off x="1234440" y="308472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Strategic</a:t>
            </a:r>
            <a:endParaRPr lang="en-US" sz="1500" dirty="0"/>
          </a:p>
        </p:txBody>
      </p:sp>
      <p:sp>
        <p:nvSpPr>
          <p:cNvPr id="20" name="Text 15"/>
          <p:cNvSpPr txBox="1"/>
          <p:nvPr/>
        </p:nvSpPr>
        <p:spPr>
          <a:xfrm>
            <a:off x="3657600" y="308472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Tether (target partner)</a:t>
            </a:r>
            <a:endParaRPr lang="en-US" sz="1500" dirty="0"/>
          </a:p>
        </p:txBody>
      </p:sp>
      <p:sp>
        <p:nvSpPr>
          <p:cNvPr id="21" name="Text 16"/>
          <p:cNvSpPr txBox="1"/>
          <p:nvPr/>
        </p:nvSpPr>
        <p:spPr>
          <a:xfrm>
            <a:off x="7223760" y="308472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Branded academy, pathways and badges, talent pipeline, as in the tour’s illustrative academy</a:t>
            </a:r>
            <a:endParaRPr lang="en-US" sz="1300" dirty="0"/>
          </a:p>
        </p:txBody>
      </p:sp>
      <p:sp>
        <p:nvSpPr>
          <p:cNvPr id="22" name="Shape 17"/>
          <p:cNvSpPr/>
          <p:nvPr/>
        </p:nvSpPr>
        <p:spPr>
          <a:xfrm>
            <a:off x="457200" y="3988918"/>
            <a:ext cx="11277295" cy="776173"/>
          </a:xfrm>
          <a:prstGeom prst="roundRect">
            <a:avLst>
              <a:gd name="adj" fmla="val 11781"/>
            </a:avLst>
          </a:prstGeom>
          <a:solidFill>
            <a:srgbClr val="171722"/>
          </a:solidFill>
          <a:ln w="9525">
            <a:solidFill>
              <a:srgbClr val="2C2C3E"/>
            </a:solidFill>
            <a:prstDash val="solid"/>
          </a:ln>
        </p:spPr>
      </p:sp>
      <p:sp>
        <p:nvSpPr>
          <p:cNvPr id="23" name="Shape 18"/>
          <p:cNvSpPr/>
          <p:nvPr/>
        </p:nvSpPr>
        <p:spPr>
          <a:xfrm>
            <a:off x="621792" y="4175836"/>
            <a:ext cx="402336" cy="402336"/>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722376" y="4276420"/>
            <a:ext cx="201168" cy="201168"/>
          </a:xfrm>
          <a:prstGeom prst="rect">
            <a:avLst/>
          </a:prstGeom>
        </p:spPr>
      </p:pic>
      <p:sp>
        <p:nvSpPr>
          <p:cNvPr id="25" name="Text 19"/>
          <p:cNvSpPr txBox="1"/>
          <p:nvPr/>
        </p:nvSpPr>
        <p:spPr>
          <a:xfrm>
            <a:off x="1234440" y="3988918"/>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Content</a:t>
            </a:r>
            <a:endParaRPr lang="en-US" sz="1500" dirty="0"/>
          </a:p>
        </p:txBody>
      </p:sp>
      <p:sp>
        <p:nvSpPr>
          <p:cNvPr id="26" name="Text 20"/>
          <p:cNvSpPr txBox="1"/>
          <p:nvPr/>
        </p:nvSpPr>
        <p:spPr>
          <a:xfrm>
            <a:off x="3657600" y="3988918"/>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Specialist course providers</a:t>
            </a:r>
            <a:endParaRPr lang="en-US" sz="1500" dirty="0"/>
          </a:p>
        </p:txBody>
      </p:sp>
      <p:sp>
        <p:nvSpPr>
          <p:cNvPr id="27" name="Text 21"/>
          <p:cNvSpPr txBox="1"/>
          <p:nvPr/>
        </p:nvSpPr>
        <p:spPr>
          <a:xfrm>
            <a:off x="7223760" y="3988918"/>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Specialist courses inside a district, e.g. investigation, compliance or AI</a:t>
            </a:r>
            <a:endParaRPr lang="en-US" sz="1300" dirty="0"/>
          </a:p>
        </p:txBody>
      </p:sp>
      <p:sp>
        <p:nvSpPr>
          <p:cNvPr id="28" name="Shape 22"/>
          <p:cNvSpPr/>
          <p:nvPr/>
        </p:nvSpPr>
        <p:spPr>
          <a:xfrm>
            <a:off x="457200" y="4893107"/>
            <a:ext cx="11277295" cy="776173"/>
          </a:xfrm>
          <a:prstGeom prst="roundRect">
            <a:avLst>
              <a:gd name="adj" fmla="val 11781"/>
            </a:avLst>
          </a:prstGeom>
          <a:solidFill>
            <a:srgbClr val="171722"/>
          </a:solidFill>
          <a:ln w="9525">
            <a:solidFill>
              <a:srgbClr val="2C2C3E"/>
            </a:solidFill>
            <a:prstDash val="solid"/>
          </a:ln>
        </p:spPr>
      </p:sp>
      <p:sp>
        <p:nvSpPr>
          <p:cNvPr id="29" name="Shape 23"/>
          <p:cNvSpPr/>
          <p:nvPr/>
        </p:nvSpPr>
        <p:spPr>
          <a:xfrm>
            <a:off x="621792" y="5080025"/>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722376" y="5180609"/>
            <a:ext cx="201168" cy="201168"/>
          </a:xfrm>
          <a:prstGeom prst="rect">
            <a:avLst/>
          </a:prstGeom>
        </p:spPr>
      </p:pic>
      <p:sp>
        <p:nvSpPr>
          <p:cNvPr id="31" name="Text 24"/>
          <p:cNvSpPr txBox="1"/>
          <p:nvPr/>
        </p:nvSpPr>
        <p:spPr>
          <a:xfrm>
            <a:off x="1234440" y="4893107"/>
            <a:ext cx="2331720" cy="776173"/>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Institutional</a:t>
            </a:r>
            <a:endParaRPr lang="en-US" sz="1500" dirty="0"/>
          </a:p>
        </p:txBody>
      </p:sp>
      <p:sp>
        <p:nvSpPr>
          <p:cNvPr id="32" name="Text 25"/>
          <p:cNvSpPr txBox="1"/>
          <p:nvPr/>
        </p:nvSpPr>
        <p:spPr>
          <a:xfrm>
            <a:off x="3657600" y="4893107"/>
            <a:ext cx="3383280" cy="776173"/>
          </a:xfrm>
          <a:prstGeom prst="rect">
            <a:avLst/>
          </a:prstGeom>
          <a:noFill/>
          <a:ln/>
        </p:spPr>
        <p:txBody>
          <a:bodyPr wrap="square" lIns="0" tIns="0" rIns="0" bIns="0" rtlCol="0" anchor="ctr"/>
          <a:lstStyle/>
          <a:p>
            <a:pPr indent="0" marL="0">
              <a:buNone/>
            </a:pPr>
            <a:r>
              <a:rPr lang="en-US" sz="1500" dirty="0">
                <a:solidFill>
                  <a:srgbClr val="F0C96B"/>
                </a:solidFill>
                <a:latin typeface="Arial" pitchFamily="34" charset="0"/>
                <a:ea typeface="Arial" pitchFamily="34" charset="-122"/>
                <a:cs typeface="Arial" pitchFamily="34" charset="-120"/>
              </a:rPr>
              <a:t>Universities (BUiD MOU in progress), think tanks, banks</a:t>
            </a:r>
            <a:endParaRPr lang="en-US" sz="1500" dirty="0"/>
          </a:p>
        </p:txBody>
      </p:sp>
      <p:sp>
        <p:nvSpPr>
          <p:cNvPr id="33" name="Text 26"/>
          <p:cNvSpPr txBox="1"/>
          <p:nvPr/>
        </p:nvSpPr>
        <p:spPr>
          <a:xfrm>
            <a:off x="7223760" y="4893107"/>
            <a:ext cx="4343400" cy="776173"/>
          </a:xfrm>
          <a:prstGeom prst="rect">
            <a:avLst/>
          </a:prstGeom>
          <a:noFill/>
          <a:ln/>
        </p:spPr>
        <p:txBody>
          <a:bodyPr wrap="square" lIns="0" tIns="0" rIns="0" bIns="0" rtlCol="0" anchor="ctr"/>
          <a:lstStyle/>
          <a:p>
            <a:pPr indent="0" marL="0">
              <a:buNone/>
            </a:pPr>
            <a:r>
              <a:rPr lang="en-US" sz="1300" dirty="0">
                <a:solidFill>
                  <a:srgbClr val="B4B4C8"/>
                </a:solidFill>
                <a:latin typeface="Arial" pitchFamily="34" charset="0"/>
                <a:ea typeface="Arial" pitchFamily="34" charset="-122"/>
                <a:cs typeface="Arial" pitchFamily="34" charset="-120"/>
              </a:rPr>
              <a:t>Co-certification and research round tables</a:t>
            </a:r>
            <a:endParaRPr lang="en-US" sz="1300" dirty="0"/>
          </a:p>
        </p:txBody>
      </p:sp>
      <p:sp>
        <p:nvSpPr>
          <p:cNvPr id="34" name="Shape 27"/>
          <p:cNvSpPr/>
          <p:nvPr/>
        </p:nvSpPr>
        <p:spPr>
          <a:xfrm>
            <a:off x="457200" y="5833872"/>
            <a:ext cx="11277295" cy="384048"/>
          </a:xfrm>
          <a:prstGeom prst="roundRect">
            <a:avLst>
              <a:gd name="adj" fmla="val 23810"/>
            </a:avLst>
          </a:prstGeom>
          <a:solidFill>
            <a:srgbClr val="15151F"/>
          </a:solidFill>
          <a:ln w="9525">
            <a:solidFill>
              <a:srgbClr val="5A4A22"/>
            </a:solidFill>
            <a:prstDash val="solid"/>
          </a:ln>
        </p:spPr>
      </p:sp>
      <p:pic>
        <p:nvPicPr>
          <p:cNvPr id="35" name="Image 4" descr="preencoded.png">    </p:cNvPr>
          <p:cNvPicPr>
            <a:picLocks noChangeAspect="1"/>
          </p:cNvPicPr>
          <p:nvPr/>
        </p:nvPicPr>
        <p:blipFill>
          <a:blip r:embed="rId6"/>
          <a:stretch>
            <a:fillRect/>
          </a:stretch>
        </p:blipFill>
        <p:spPr>
          <a:xfrm>
            <a:off x="603504" y="5925312"/>
            <a:ext cx="201168" cy="201168"/>
          </a:xfrm>
          <a:prstGeom prst="rect">
            <a:avLst/>
          </a:prstGeom>
        </p:spPr>
      </p:pic>
      <p:sp>
        <p:nvSpPr>
          <p:cNvPr id="36" name="Text 28"/>
          <p:cNvSpPr txBox="1"/>
          <p:nvPr/>
        </p:nvSpPr>
        <p:spPr>
          <a:xfrm>
            <a:off x="914400" y="5833872"/>
            <a:ext cx="10728655" cy="38404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Tether is a roadmap target, not an agreement. Status today (slide 28): DBCC confirmed anchor · BUiD MOU in progress · Tether target Strategic partner</a:t>
            </a:r>
            <a:endParaRPr lang="en-US" sz="1100" dirty="0"/>
          </a:p>
        </p:txBody>
      </p:sp>
      <p:sp>
        <p:nvSpPr>
          <p:cNvPr id="37"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86422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62648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INVESTORS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Raising $2,000,000 seed round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Pre-money valuation $8,000,000 · Equity / SAFE · 18-month runway</a:t>
            </a:r>
            <a:endParaRPr lang="en-US" sz="1600" dirty="0"/>
          </a:p>
        </p:txBody>
      </p:sp>
      <p:sp>
        <p:nvSpPr>
          <p:cNvPr id="7" name="Shape 4"/>
          <p:cNvSpPr/>
          <p:nvPr/>
        </p:nvSpPr>
        <p:spPr>
          <a:xfrm>
            <a:off x="457200" y="1942795"/>
            <a:ext cx="5394960" cy="1325880"/>
          </a:xfrm>
          <a:prstGeom prst="roundRect">
            <a:avLst>
              <a:gd name="adj" fmla="val 8276"/>
            </a:avLst>
          </a:prstGeom>
          <a:solidFill>
            <a:srgbClr val="231E12"/>
          </a:solidFill>
          <a:ln w="15875">
            <a:solidFill>
              <a:srgbClr val="C9A84C"/>
            </a:solidFill>
            <a:prstDash val="solid"/>
          </a:ln>
        </p:spPr>
      </p:sp>
      <p:sp>
        <p:nvSpPr>
          <p:cNvPr id="8" name="Text 5"/>
          <p:cNvSpPr txBox="1"/>
          <p:nvPr/>
        </p:nvSpPr>
        <p:spPr>
          <a:xfrm>
            <a:off x="731520" y="2089099"/>
            <a:ext cx="4846320" cy="731520"/>
          </a:xfrm>
          <a:prstGeom prst="rect">
            <a:avLst/>
          </a:prstGeom>
          <a:noFill/>
          <a:ln/>
        </p:spPr>
        <p:txBody>
          <a:bodyPr wrap="square" lIns="0" tIns="0" rIns="0" bIns="0" rtlCol="0" anchor="t"/>
          <a:lstStyle/>
          <a:p>
            <a:pPr indent="0" marL="0">
              <a:buNone/>
            </a:pPr>
            <a:r>
              <a:rPr lang="en-US" sz="5000" b="1" dirty="0">
                <a:solidFill>
                  <a:srgbClr val="F0C96B"/>
                </a:solidFill>
                <a:latin typeface="Arial" pitchFamily="34" charset="0"/>
                <a:ea typeface="Arial" pitchFamily="34" charset="-122"/>
                <a:cs typeface="Arial" pitchFamily="34" charset="-120"/>
              </a:rPr>
              <a:t>$2,000,000</a:t>
            </a:r>
            <a:endParaRPr lang="en-US" sz="5000" dirty="0"/>
          </a:p>
        </p:txBody>
      </p:sp>
      <p:sp>
        <p:nvSpPr>
          <p:cNvPr id="9" name="Text 6"/>
          <p:cNvSpPr txBox="1"/>
          <p:nvPr/>
        </p:nvSpPr>
        <p:spPr>
          <a:xfrm>
            <a:off x="731520" y="2857195"/>
            <a:ext cx="4846320" cy="219456"/>
          </a:xfrm>
          <a:prstGeom prst="rect">
            <a:avLst/>
          </a:prstGeom>
          <a:noFill/>
          <a:ln/>
        </p:spPr>
        <p:txBody>
          <a:bodyPr wrap="square" lIns="0" tIns="0" rIns="0" bIns="0" rtlCol="0" anchor="t"/>
          <a:lstStyle/>
          <a:p>
            <a:pPr indent="0" marL="0">
              <a:buNone/>
            </a:pPr>
            <a:r>
              <a:rPr lang="en-US" sz="1000" b="1" spc="120" kern="0" dirty="0">
                <a:solidFill>
                  <a:srgbClr val="FFFFFF"/>
                </a:solidFill>
                <a:latin typeface="Arial" pitchFamily="34" charset="0"/>
                <a:ea typeface="Arial" pitchFamily="34" charset="-122"/>
                <a:cs typeface="Arial" pitchFamily="34" charset="-120"/>
              </a:rPr>
              <a:t>SEED ROUND · $8M PRE-MONEY · EQUITY / SAFE</a:t>
            </a:r>
            <a:endParaRPr lang="en-US" sz="1000" dirty="0"/>
          </a:p>
        </p:txBody>
      </p:sp>
      <p:sp>
        <p:nvSpPr>
          <p:cNvPr id="10" name="Text 7"/>
          <p:cNvSpPr txBox="1"/>
          <p:nvPr/>
        </p:nvSpPr>
        <p:spPr>
          <a:xfrm>
            <a:off x="457200" y="3561283"/>
            <a:ext cx="539496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USE OF FUNDS</a:t>
            </a:r>
            <a:endParaRPr lang="en-US" sz="850" dirty="0"/>
          </a:p>
        </p:txBody>
      </p:sp>
      <p:graphicFrame>
        <p:nvGraphicFramePr>
          <p:cNvPr id="11" name="Chart 0" descr=""/>
          <p:cNvGraphicFramePr/>
          <p:nvPr/>
        </p:nvGraphicFramePr>
        <p:xfrm>
          <a:off x="411480" y="3835603"/>
          <a:ext cx="2286000" cy="2286000"/>
        </p:xfrm>
        <a:graphic xmlns:a="http://schemas.openxmlformats.org/drawingml/2006/main">
          <a:graphicData uri="http://schemas.openxmlformats.org/drawingml/2006/chart">
            <c:chart xmlns:c="http://schemas.openxmlformats.org/drawingml/2006/chart" r:id="rId2"/>
          </a:graphicData>
        </a:graphic>
      </p:graphicFrame>
      <p:sp>
        <p:nvSpPr>
          <p:cNvPr id="12" name="Shape 8"/>
          <p:cNvSpPr/>
          <p:nvPr/>
        </p:nvSpPr>
        <p:spPr>
          <a:xfrm>
            <a:off x="2971800" y="3991051"/>
            <a:ext cx="146304" cy="146304"/>
          </a:xfrm>
          <a:prstGeom prst="ellipse">
            <a:avLst/>
          </a:prstGeom>
          <a:solidFill>
            <a:srgbClr val="C9A84C"/>
          </a:solidFill>
          <a:ln/>
        </p:spPr>
      </p:sp>
      <p:sp>
        <p:nvSpPr>
          <p:cNvPr id="13" name="Text 9"/>
          <p:cNvSpPr txBox="1"/>
          <p:nvPr/>
        </p:nvSpPr>
        <p:spPr>
          <a:xfrm>
            <a:off x="3227832" y="392704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Sales &amp; partnership team</a:t>
            </a:r>
            <a:endParaRPr lang="en-US" sz="1250" dirty="0"/>
          </a:p>
        </p:txBody>
      </p:sp>
      <p:sp>
        <p:nvSpPr>
          <p:cNvPr id="14" name="Text 10"/>
          <p:cNvSpPr txBox="1"/>
          <p:nvPr/>
        </p:nvSpPr>
        <p:spPr>
          <a:xfrm>
            <a:off x="3227832" y="416478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15" name="Shape 11"/>
          <p:cNvSpPr/>
          <p:nvPr/>
        </p:nvSpPr>
        <p:spPr>
          <a:xfrm>
            <a:off x="2971800" y="4516831"/>
            <a:ext cx="146304" cy="146304"/>
          </a:xfrm>
          <a:prstGeom prst="ellipse">
            <a:avLst/>
          </a:prstGeom>
          <a:solidFill>
            <a:srgbClr val="F0C96B"/>
          </a:solidFill>
          <a:ln/>
        </p:spPr>
      </p:sp>
      <p:sp>
        <p:nvSpPr>
          <p:cNvPr id="16" name="Text 12"/>
          <p:cNvSpPr txBox="1"/>
          <p:nvPr/>
        </p:nvSpPr>
        <p:spPr>
          <a:xfrm>
            <a:off x="3227832" y="445282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Marketing &amp; conferences</a:t>
            </a:r>
            <a:endParaRPr lang="en-US" sz="1250" dirty="0"/>
          </a:p>
        </p:txBody>
      </p:sp>
      <p:sp>
        <p:nvSpPr>
          <p:cNvPr id="17" name="Text 13"/>
          <p:cNvSpPr txBox="1"/>
          <p:nvPr/>
        </p:nvSpPr>
        <p:spPr>
          <a:xfrm>
            <a:off x="3227832" y="469056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18" name="Shape 14"/>
          <p:cNvSpPr/>
          <p:nvPr/>
        </p:nvSpPr>
        <p:spPr>
          <a:xfrm>
            <a:off x="2971800" y="5042611"/>
            <a:ext cx="146304" cy="146304"/>
          </a:xfrm>
          <a:prstGeom prst="ellipse">
            <a:avLst/>
          </a:prstGeom>
          <a:solidFill>
            <a:srgbClr val="8A8AA0"/>
          </a:solidFill>
          <a:ln/>
        </p:spPr>
      </p:sp>
      <p:sp>
        <p:nvSpPr>
          <p:cNvPr id="19" name="Text 15"/>
          <p:cNvSpPr txBox="1"/>
          <p:nvPr/>
        </p:nvSpPr>
        <p:spPr>
          <a:xfrm>
            <a:off x="3227832" y="497860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Platform scaling</a:t>
            </a:r>
            <a:endParaRPr lang="en-US" sz="1250" dirty="0"/>
          </a:p>
        </p:txBody>
      </p:sp>
      <p:sp>
        <p:nvSpPr>
          <p:cNvPr id="20" name="Text 16"/>
          <p:cNvSpPr txBox="1"/>
          <p:nvPr/>
        </p:nvSpPr>
        <p:spPr>
          <a:xfrm>
            <a:off x="3227832" y="521634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$400K · 20%</a:t>
            </a:r>
            <a:endParaRPr lang="en-US" sz="1200" dirty="0"/>
          </a:p>
        </p:txBody>
      </p:sp>
      <p:sp>
        <p:nvSpPr>
          <p:cNvPr id="21" name="Shape 17"/>
          <p:cNvSpPr/>
          <p:nvPr/>
        </p:nvSpPr>
        <p:spPr>
          <a:xfrm>
            <a:off x="2971800" y="5568391"/>
            <a:ext cx="146304" cy="146304"/>
          </a:xfrm>
          <a:prstGeom prst="ellipse">
            <a:avLst/>
          </a:prstGeom>
          <a:solidFill>
            <a:srgbClr val="D6D6E4"/>
          </a:solidFill>
          <a:ln/>
        </p:spPr>
      </p:sp>
      <p:sp>
        <p:nvSpPr>
          <p:cNvPr id="22" name="Text 18"/>
          <p:cNvSpPr txBox="1"/>
          <p:nvPr/>
        </p:nvSpPr>
        <p:spPr>
          <a:xfrm>
            <a:off x="3227832" y="5504383"/>
            <a:ext cx="2624328" cy="237744"/>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G&amp;A, legal, operations</a:t>
            </a:r>
            <a:endParaRPr lang="en-US" sz="1250" dirty="0"/>
          </a:p>
        </p:txBody>
      </p:sp>
      <p:sp>
        <p:nvSpPr>
          <p:cNvPr id="23" name="Text 19"/>
          <p:cNvSpPr txBox="1"/>
          <p:nvPr/>
        </p:nvSpPr>
        <p:spPr>
          <a:xfrm>
            <a:off x="3227832" y="5742127"/>
            <a:ext cx="2624328"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$600K · 30%</a:t>
            </a:r>
            <a:endParaRPr lang="en-US" sz="1200" dirty="0"/>
          </a:p>
        </p:txBody>
      </p:sp>
      <p:sp>
        <p:nvSpPr>
          <p:cNvPr id="24" name="Shape 20"/>
          <p:cNvSpPr/>
          <p:nvPr/>
        </p:nvSpPr>
        <p:spPr>
          <a:xfrm>
            <a:off x="6263640" y="1942795"/>
            <a:ext cx="2621128" cy="2023262"/>
          </a:xfrm>
          <a:prstGeom prst="roundRect">
            <a:avLst>
              <a:gd name="adj" fmla="val 5423"/>
            </a:avLst>
          </a:prstGeom>
          <a:solidFill>
            <a:srgbClr val="171722"/>
          </a:solidFill>
          <a:ln w="9525">
            <a:solidFill>
              <a:srgbClr val="2C2C3E"/>
            </a:solidFill>
            <a:prstDash val="solid"/>
          </a:ln>
        </p:spPr>
      </p:sp>
      <p:sp>
        <p:nvSpPr>
          <p:cNvPr id="25" name="Shape 21"/>
          <p:cNvSpPr/>
          <p:nvPr/>
        </p:nvSpPr>
        <p:spPr>
          <a:xfrm>
            <a:off x="6464808" y="2143963"/>
            <a:ext cx="420624" cy="420624"/>
          </a:xfrm>
          <a:prstGeom prst="ellipse">
            <a:avLst/>
          </a:prstGeom>
          <a:solidFill>
            <a:srgbClr val="1E1A10"/>
          </a:solidFill>
          <a:ln w="9525">
            <a:solidFill>
              <a:srgbClr val="5A4A22"/>
            </a:solidFill>
            <a:prstDash val="solid"/>
          </a:ln>
        </p:spPr>
      </p:sp>
      <p:pic>
        <p:nvPicPr>
          <p:cNvPr id="26" name="Image 0" descr="preencoded.png">    </p:cNvPr>
          <p:cNvPicPr>
            <a:picLocks noChangeAspect="1"/>
          </p:cNvPicPr>
          <p:nvPr/>
        </p:nvPicPr>
        <p:blipFill>
          <a:blip r:embed="rId3"/>
          <a:stretch>
            <a:fillRect/>
          </a:stretch>
        </p:blipFill>
        <p:spPr>
          <a:xfrm>
            <a:off x="6569964" y="2249119"/>
            <a:ext cx="210312" cy="210312"/>
          </a:xfrm>
          <a:prstGeom prst="rect">
            <a:avLst/>
          </a:prstGeom>
        </p:spPr>
      </p:pic>
      <p:sp>
        <p:nvSpPr>
          <p:cNvPr id="27" name="Text 22"/>
          <p:cNvSpPr txBox="1"/>
          <p:nvPr/>
        </p:nvSpPr>
        <p:spPr>
          <a:xfrm>
            <a:off x="6464808"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Platform built</a:t>
            </a:r>
            <a:endParaRPr lang="en-US" sz="1500" dirty="0"/>
          </a:p>
        </p:txBody>
      </p:sp>
      <p:sp>
        <p:nvSpPr>
          <p:cNvPr id="28" name="Text 23"/>
          <p:cNvSpPr txBox="1"/>
          <p:nvPr/>
        </p:nvSpPr>
        <p:spPr>
          <a:xfrm>
            <a:off x="6464808" y="2994355"/>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The product runs, as the screens show. Not live yet: going live starts the 90-day plan (slide 32)</a:t>
            </a:r>
            <a:endParaRPr lang="en-US" sz="1200" dirty="0"/>
          </a:p>
        </p:txBody>
      </p:sp>
      <p:sp>
        <p:nvSpPr>
          <p:cNvPr id="29" name="Shape 24"/>
          <p:cNvSpPr/>
          <p:nvPr/>
        </p:nvSpPr>
        <p:spPr>
          <a:xfrm>
            <a:off x="9113368" y="1942795"/>
            <a:ext cx="2621128" cy="2023262"/>
          </a:xfrm>
          <a:prstGeom prst="roundRect">
            <a:avLst>
              <a:gd name="adj" fmla="val 5423"/>
            </a:avLst>
          </a:prstGeom>
          <a:solidFill>
            <a:srgbClr val="171722"/>
          </a:solidFill>
          <a:ln w="9525">
            <a:solidFill>
              <a:srgbClr val="2C2C3E"/>
            </a:solidFill>
            <a:prstDash val="solid"/>
          </a:ln>
        </p:spPr>
      </p:sp>
      <p:sp>
        <p:nvSpPr>
          <p:cNvPr id="30" name="Shape 25"/>
          <p:cNvSpPr/>
          <p:nvPr/>
        </p:nvSpPr>
        <p:spPr>
          <a:xfrm>
            <a:off x="9314536" y="2143963"/>
            <a:ext cx="420624" cy="420624"/>
          </a:xfrm>
          <a:prstGeom prst="ellipse">
            <a:avLst/>
          </a:prstGeom>
          <a:solidFill>
            <a:srgbClr val="1E1A10"/>
          </a:solidFill>
          <a:ln w="9525">
            <a:solidFill>
              <a:srgbClr val="5A4A22"/>
            </a:solidFill>
            <a:prstDash val="solid"/>
          </a:ln>
        </p:spPr>
      </p:sp>
      <p:pic>
        <p:nvPicPr>
          <p:cNvPr id="31" name="Image 1" descr="preencoded.png">    </p:cNvPr>
          <p:cNvPicPr>
            <a:picLocks noChangeAspect="1"/>
          </p:cNvPicPr>
          <p:nvPr/>
        </p:nvPicPr>
        <p:blipFill>
          <a:blip r:embed="rId4"/>
          <a:stretch>
            <a:fillRect/>
          </a:stretch>
        </p:blipFill>
        <p:spPr>
          <a:xfrm>
            <a:off x="9419692" y="2249119"/>
            <a:ext cx="210312" cy="210312"/>
          </a:xfrm>
          <a:prstGeom prst="rect">
            <a:avLst/>
          </a:prstGeom>
        </p:spPr>
      </p:pic>
      <p:sp>
        <p:nvSpPr>
          <p:cNvPr id="32" name="Text 26"/>
          <p:cNvSpPr txBox="1"/>
          <p:nvPr/>
        </p:nvSpPr>
        <p:spPr>
          <a:xfrm>
            <a:off x="9314536" y="2692603"/>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Companies pay us</a:t>
            </a:r>
            <a:endParaRPr lang="en-US" sz="1500" dirty="0"/>
          </a:p>
        </p:txBody>
      </p:sp>
      <p:sp>
        <p:nvSpPr>
          <p:cNvPr id="33" name="Text 27"/>
          <p:cNvSpPr txBox="1"/>
          <p:nvPr/>
        </p:nvSpPr>
        <p:spPr>
          <a:xfrm>
            <a:off x="9314536" y="2994355"/>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B2B-first: $150K academy deals fund the model before students pay a dollar</a:t>
            </a:r>
            <a:endParaRPr lang="en-US" sz="1200" dirty="0"/>
          </a:p>
        </p:txBody>
      </p:sp>
      <p:sp>
        <p:nvSpPr>
          <p:cNvPr id="34" name="Shape 28"/>
          <p:cNvSpPr/>
          <p:nvPr/>
        </p:nvSpPr>
        <p:spPr>
          <a:xfrm>
            <a:off x="6263640" y="4194658"/>
            <a:ext cx="2621128" cy="2023262"/>
          </a:xfrm>
          <a:prstGeom prst="roundRect">
            <a:avLst>
              <a:gd name="adj" fmla="val 5423"/>
            </a:avLst>
          </a:prstGeom>
          <a:solidFill>
            <a:srgbClr val="171722"/>
          </a:solidFill>
          <a:ln w="9525">
            <a:solidFill>
              <a:srgbClr val="2C2C3E"/>
            </a:solidFill>
            <a:prstDash val="solid"/>
          </a:ln>
        </p:spPr>
      </p:sp>
      <p:sp>
        <p:nvSpPr>
          <p:cNvPr id="35" name="Shape 29"/>
          <p:cNvSpPr/>
          <p:nvPr/>
        </p:nvSpPr>
        <p:spPr>
          <a:xfrm>
            <a:off x="6464808" y="4395826"/>
            <a:ext cx="420624" cy="420624"/>
          </a:xfrm>
          <a:prstGeom prst="ellipse">
            <a:avLst/>
          </a:prstGeom>
          <a:solidFill>
            <a:srgbClr val="1E1A10"/>
          </a:solidFill>
          <a:ln w="9525">
            <a:solidFill>
              <a:srgbClr val="5A4A22"/>
            </a:solidFill>
            <a:prstDash val="solid"/>
          </a:ln>
        </p:spPr>
      </p:sp>
      <p:pic>
        <p:nvPicPr>
          <p:cNvPr id="36" name="Image 2" descr="preencoded.png">    </p:cNvPr>
          <p:cNvPicPr>
            <a:picLocks noChangeAspect="1"/>
          </p:cNvPicPr>
          <p:nvPr/>
        </p:nvPicPr>
        <p:blipFill>
          <a:blip r:embed="rId5"/>
          <a:stretch>
            <a:fillRect/>
          </a:stretch>
        </p:blipFill>
        <p:spPr>
          <a:xfrm>
            <a:off x="6569964" y="4500982"/>
            <a:ext cx="210312" cy="210312"/>
          </a:xfrm>
          <a:prstGeom prst="rect">
            <a:avLst/>
          </a:prstGeom>
        </p:spPr>
      </p:pic>
      <p:sp>
        <p:nvSpPr>
          <p:cNvPr id="37" name="Text 30"/>
          <p:cNvSpPr txBox="1"/>
          <p:nvPr/>
        </p:nvSpPr>
        <p:spPr>
          <a:xfrm>
            <a:off x="6464808"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Lean operating model</a:t>
            </a:r>
            <a:endParaRPr lang="en-US" sz="1500" dirty="0"/>
          </a:p>
        </p:txBody>
      </p:sp>
      <p:sp>
        <p:nvSpPr>
          <p:cNvPr id="38" name="Text 31"/>
          <p:cNvSpPr txBox="1"/>
          <p:nvPr/>
        </p:nvSpPr>
        <p:spPr>
          <a:xfrm>
            <a:off x="6464808" y="5246218"/>
            <a:ext cx="2218792"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Projected 67.5% EBITDA margin in Year 1, profitable from month 5 (projection)</a:t>
            </a:r>
            <a:endParaRPr lang="en-US" sz="1200" dirty="0"/>
          </a:p>
        </p:txBody>
      </p:sp>
      <p:sp>
        <p:nvSpPr>
          <p:cNvPr id="39" name="Shape 32"/>
          <p:cNvSpPr/>
          <p:nvPr/>
        </p:nvSpPr>
        <p:spPr>
          <a:xfrm>
            <a:off x="9113368" y="4194658"/>
            <a:ext cx="2621128" cy="2023262"/>
          </a:xfrm>
          <a:prstGeom prst="roundRect">
            <a:avLst>
              <a:gd name="adj" fmla="val 5423"/>
            </a:avLst>
          </a:prstGeom>
          <a:solidFill>
            <a:srgbClr val="171722"/>
          </a:solidFill>
          <a:ln w="9525">
            <a:solidFill>
              <a:srgbClr val="2C2C3E"/>
            </a:solidFill>
            <a:prstDash val="solid"/>
          </a:ln>
        </p:spPr>
      </p:sp>
      <p:sp>
        <p:nvSpPr>
          <p:cNvPr id="40" name="Shape 33"/>
          <p:cNvSpPr/>
          <p:nvPr/>
        </p:nvSpPr>
        <p:spPr>
          <a:xfrm>
            <a:off x="9314536" y="4395826"/>
            <a:ext cx="420624" cy="420624"/>
          </a:xfrm>
          <a:prstGeom prst="ellipse">
            <a:avLst/>
          </a:prstGeom>
          <a:solidFill>
            <a:srgbClr val="1E1A10"/>
          </a:solidFill>
          <a:ln w="9525">
            <a:solidFill>
              <a:srgbClr val="5A4A22"/>
            </a:solidFill>
            <a:prstDash val="solid"/>
          </a:ln>
        </p:spPr>
      </p:sp>
      <p:pic>
        <p:nvPicPr>
          <p:cNvPr id="41" name="Image 3" descr="preencoded.png">    </p:cNvPr>
          <p:cNvPicPr>
            <a:picLocks noChangeAspect="1"/>
          </p:cNvPicPr>
          <p:nvPr/>
        </p:nvPicPr>
        <p:blipFill>
          <a:blip r:embed="rId6"/>
          <a:stretch>
            <a:fillRect/>
          </a:stretch>
        </p:blipFill>
        <p:spPr>
          <a:xfrm>
            <a:off x="9419692" y="4500982"/>
            <a:ext cx="210312" cy="210312"/>
          </a:xfrm>
          <a:prstGeom prst="rect">
            <a:avLst/>
          </a:prstGeom>
        </p:spPr>
      </p:pic>
      <p:sp>
        <p:nvSpPr>
          <p:cNvPr id="42" name="Text 34"/>
          <p:cNvSpPr txBox="1"/>
          <p:nvPr/>
        </p:nvSpPr>
        <p:spPr>
          <a:xfrm>
            <a:off x="9314536" y="4944466"/>
            <a:ext cx="2218792" cy="256032"/>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UAE tax advantage</a:t>
            </a:r>
            <a:endParaRPr lang="en-US" sz="1500" dirty="0"/>
          </a:p>
        </p:txBody>
      </p:sp>
      <p:sp>
        <p:nvSpPr>
          <p:cNvPr id="43" name="Text 35"/>
          <p:cNvSpPr txBox="1"/>
          <p:nvPr/>
        </p:nvSpPr>
        <p:spPr>
          <a:xfrm>
            <a:off x="9314536" y="5246218"/>
            <a:ext cx="2218792" cy="75895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9% corporate tax on profits above $102K, no personal income tax for employees, DBCC as institutional anchor</a:t>
            </a:r>
            <a:endParaRPr lang="en-US" sz="1200" dirty="0"/>
          </a:p>
        </p:txBody>
      </p:sp>
      <p:sp>
        <p:nvSpPr>
          <p:cNvPr id="44" name="Text 36"/>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181718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157944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ASK · PARTNERS</a:t>
            </a:r>
            <a:endParaRPr lang="en-US" sz="900" dirty="0"/>
          </a:p>
        </p:txBody>
      </p:sp>
      <p:sp>
        <p:nvSpPr>
          <p:cNvPr id="5" name="Text 2"/>
          <p:cNvSpPr txBox="1"/>
          <p:nvPr/>
        </p:nvSpPr>
        <p:spPr>
          <a:xfrm>
            <a:off x="457200" y="1024128"/>
            <a:ext cx="11277295" cy="77724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Become a founding Knowledge Partner</a:t>
            </a:r>
            <a:endParaRPr lang="en-US" sz="4400" dirty="0"/>
          </a:p>
        </p:txBody>
      </p:sp>
      <p:sp>
        <p:nvSpPr>
          <p:cNvPr id="6" name="Text 3"/>
          <p:cNvSpPr txBox="1"/>
          <p:nvPr/>
        </p:nvSpPr>
        <p:spPr>
          <a:xfrm>
            <a:off x="457200" y="1847088"/>
            <a:ext cx="11277295" cy="365760"/>
          </a:xfrm>
          <a:prstGeom prst="rect">
            <a:avLst/>
          </a:prstGeom>
          <a:noFill/>
          <a:ln/>
        </p:spPr>
        <p:txBody>
          <a:bodyPr wrap="square" lIns="0" tIns="0" rIns="0" bIns="0" rtlCol="0" anchor="t"/>
          <a:lstStyle/>
          <a:p>
            <a:pPr indent="0" marL="0">
              <a:buNone/>
            </a:pPr>
            <a:r>
              <a:rPr lang="en-US" sz="1900" dirty="0">
                <a:solidFill>
                  <a:srgbClr val="B4B4C8"/>
                </a:solidFill>
                <a:latin typeface="Arial" pitchFamily="34" charset="0"/>
                <a:ea typeface="Arial" pitchFamily="34" charset="-122"/>
                <a:cs typeface="Arial" pitchFamily="34" charset="-120"/>
              </a:rPr>
              <a:t>Help build the place where the digital economy learns, hosted by Dubai Blockchain Center</a:t>
            </a:r>
            <a:endParaRPr lang="en-US" sz="1900" dirty="0"/>
          </a:p>
        </p:txBody>
      </p:sp>
      <p:sp>
        <p:nvSpPr>
          <p:cNvPr id="7" name="Shape 4"/>
          <p:cNvSpPr/>
          <p:nvPr/>
        </p:nvSpPr>
        <p:spPr>
          <a:xfrm>
            <a:off x="457200" y="2468880"/>
            <a:ext cx="3576218" cy="2362200"/>
          </a:xfrm>
          <a:prstGeom prst="roundRect">
            <a:avLst>
              <a:gd name="adj" fmla="val 4645"/>
            </a:avLst>
          </a:prstGeom>
          <a:solidFill>
            <a:srgbClr val="171722"/>
          </a:solidFill>
          <a:ln w="15875">
            <a:solidFill>
              <a:srgbClr val="C9A84C"/>
            </a:solidFill>
            <a:prstDash val="solid"/>
          </a:ln>
        </p:spPr>
      </p:sp>
      <p:sp>
        <p:nvSpPr>
          <p:cNvPr id="8" name="Shape 5"/>
          <p:cNvSpPr/>
          <p:nvPr/>
        </p:nvSpPr>
        <p:spPr>
          <a:xfrm>
            <a:off x="713232" y="2724912"/>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32104" y="2843784"/>
            <a:ext cx="237744" cy="237744"/>
          </a:xfrm>
          <a:prstGeom prst="rect">
            <a:avLst/>
          </a:prstGeom>
        </p:spPr>
      </p:pic>
      <p:sp>
        <p:nvSpPr>
          <p:cNvPr id="10" name="Text 6"/>
          <p:cNvSpPr txBox="1"/>
          <p:nvPr/>
        </p:nvSpPr>
        <p:spPr>
          <a:xfrm>
            <a:off x="713232" y="3337560"/>
            <a:ext cx="3064154" cy="310896"/>
          </a:xfrm>
          <a:prstGeom prst="rect">
            <a:avLst/>
          </a:prstGeom>
          <a:noFill/>
          <a:ln/>
        </p:spPr>
        <p:txBody>
          <a:bodyPr wrap="square" lIns="0" tIns="0" rIns="0" bIns="0" rtlCol="0" anchor="t"/>
          <a:lstStyle/>
          <a:p>
            <a:pPr indent="0" marL="0">
              <a:buNone/>
            </a:pPr>
            <a:r>
              <a:rPr lang="en-US" sz="1800" b="1" dirty="0">
                <a:solidFill>
                  <a:srgbClr val="F0C96B"/>
                </a:solidFill>
                <a:latin typeface="Arial" pitchFamily="34" charset="0"/>
                <a:ea typeface="Arial" pitchFamily="34" charset="-122"/>
                <a:cs typeface="Arial" pitchFamily="34" charset="-120"/>
              </a:rPr>
              <a:t>Founding partners</a:t>
            </a:r>
            <a:endParaRPr lang="en-US" sz="1800" dirty="0"/>
          </a:p>
        </p:txBody>
      </p:sp>
      <p:sp>
        <p:nvSpPr>
          <p:cNvPr id="11" name="Text 7"/>
          <p:cNvSpPr txBox="1"/>
          <p:nvPr/>
        </p:nvSpPr>
        <p:spPr>
          <a:xfrm>
            <a:off x="713232"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Co-design a flagship track or an academy around the roles you hire for, co-host the first round tables, sit on the curriculum board</a:t>
            </a:r>
            <a:endParaRPr lang="en-US" sz="1400" dirty="0"/>
          </a:p>
        </p:txBody>
      </p:sp>
      <p:sp>
        <p:nvSpPr>
          <p:cNvPr id="12" name="Shape 8"/>
          <p:cNvSpPr/>
          <p:nvPr/>
        </p:nvSpPr>
        <p:spPr>
          <a:xfrm>
            <a:off x="4307738" y="2468880"/>
            <a:ext cx="3576218" cy="2362200"/>
          </a:xfrm>
          <a:prstGeom prst="roundRect">
            <a:avLst>
              <a:gd name="adj" fmla="val 4645"/>
            </a:avLst>
          </a:prstGeom>
          <a:solidFill>
            <a:srgbClr val="171722"/>
          </a:solidFill>
          <a:ln w="9525">
            <a:solidFill>
              <a:srgbClr val="2C2C3E"/>
            </a:solidFill>
            <a:prstDash val="solid"/>
          </a:ln>
        </p:spPr>
      </p:sp>
      <p:sp>
        <p:nvSpPr>
          <p:cNvPr id="13" name="Shape 9"/>
          <p:cNvSpPr/>
          <p:nvPr/>
        </p:nvSpPr>
        <p:spPr>
          <a:xfrm>
            <a:off x="4563770" y="2724912"/>
            <a:ext cx="475488" cy="475488"/>
          </a:xfrm>
          <a:prstGeom prst="ellipse">
            <a:avLst/>
          </a:prstGeom>
          <a:solidFill>
            <a:srgbClr val="1E1A10"/>
          </a:solidFill>
          <a:ln w="9525">
            <a:solidFill>
              <a:srgbClr val="5A4A22"/>
            </a:solidFill>
            <a:prstDash val="solid"/>
          </a:ln>
        </p:spPr>
      </p:sp>
      <p:pic>
        <p:nvPicPr>
          <p:cNvPr id="14" name="Image 1" descr="preencoded.png">    </p:cNvPr>
          <p:cNvPicPr>
            <a:picLocks noChangeAspect="1"/>
          </p:cNvPicPr>
          <p:nvPr/>
        </p:nvPicPr>
        <p:blipFill>
          <a:blip r:embed="rId3"/>
          <a:stretch>
            <a:fillRect/>
          </a:stretch>
        </p:blipFill>
        <p:spPr>
          <a:xfrm>
            <a:off x="4682642" y="2843784"/>
            <a:ext cx="237744" cy="237744"/>
          </a:xfrm>
          <a:prstGeom prst="rect">
            <a:avLst/>
          </a:prstGeom>
        </p:spPr>
      </p:pic>
      <p:sp>
        <p:nvSpPr>
          <p:cNvPr id="15" name="Text 10"/>
          <p:cNvSpPr txBox="1"/>
          <p:nvPr/>
        </p:nvSpPr>
        <p:spPr>
          <a:xfrm>
            <a:off x="4563770"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Pilot institutions</a:t>
            </a:r>
            <a:endParaRPr lang="en-US" sz="1800" dirty="0"/>
          </a:p>
        </p:txBody>
      </p:sp>
      <p:sp>
        <p:nvSpPr>
          <p:cNvPr id="16" name="Text 11"/>
          <p:cNvSpPr txBox="1"/>
          <p:nvPr/>
        </p:nvSpPr>
        <p:spPr>
          <a:xfrm>
            <a:off x="4563770"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Regulators, FIUs, banks and VASPs for the first team-licence cohorts, with feedback on L2-L3 content</a:t>
            </a:r>
            <a:endParaRPr lang="en-US" sz="1400" dirty="0"/>
          </a:p>
        </p:txBody>
      </p:sp>
      <p:sp>
        <p:nvSpPr>
          <p:cNvPr id="17" name="Shape 12"/>
          <p:cNvSpPr/>
          <p:nvPr/>
        </p:nvSpPr>
        <p:spPr>
          <a:xfrm>
            <a:off x="8158277" y="2468880"/>
            <a:ext cx="3576218" cy="2362200"/>
          </a:xfrm>
          <a:prstGeom prst="roundRect">
            <a:avLst>
              <a:gd name="adj" fmla="val 4645"/>
            </a:avLst>
          </a:prstGeom>
          <a:solidFill>
            <a:srgbClr val="171722"/>
          </a:solidFill>
          <a:ln w="9525">
            <a:solidFill>
              <a:srgbClr val="2C2C3E"/>
            </a:solidFill>
            <a:prstDash val="solid"/>
          </a:ln>
        </p:spPr>
      </p:sp>
      <p:sp>
        <p:nvSpPr>
          <p:cNvPr id="18" name="Shape 13"/>
          <p:cNvSpPr/>
          <p:nvPr/>
        </p:nvSpPr>
        <p:spPr>
          <a:xfrm>
            <a:off x="8414309" y="2724912"/>
            <a:ext cx="475488" cy="475488"/>
          </a:xfrm>
          <a:prstGeom prst="ellipse">
            <a:avLst/>
          </a:prstGeom>
          <a:solidFill>
            <a:srgbClr val="1E1A10"/>
          </a:solidFill>
          <a:ln w="9525">
            <a:solidFill>
              <a:srgbClr val="5A4A22"/>
            </a:solidFill>
            <a:prstDash val="solid"/>
          </a:ln>
        </p:spPr>
      </p:sp>
      <p:pic>
        <p:nvPicPr>
          <p:cNvPr id="19" name="Image 2" descr="preencoded.png">    </p:cNvPr>
          <p:cNvPicPr>
            <a:picLocks noChangeAspect="1"/>
          </p:cNvPicPr>
          <p:nvPr/>
        </p:nvPicPr>
        <p:blipFill>
          <a:blip r:embed="rId4"/>
          <a:stretch>
            <a:fillRect/>
          </a:stretch>
        </p:blipFill>
        <p:spPr>
          <a:xfrm>
            <a:off x="8533181" y="2843784"/>
            <a:ext cx="237744" cy="237744"/>
          </a:xfrm>
          <a:prstGeom prst="rect">
            <a:avLst/>
          </a:prstGeom>
        </p:spPr>
      </p:pic>
      <p:sp>
        <p:nvSpPr>
          <p:cNvPr id="20" name="Text 14"/>
          <p:cNvSpPr txBox="1"/>
          <p:nvPr/>
        </p:nvSpPr>
        <p:spPr>
          <a:xfrm>
            <a:off x="8414309" y="3337560"/>
            <a:ext cx="3064154" cy="310896"/>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Investors</a:t>
            </a:r>
            <a:endParaRPr lang="en-US" sz="1800" dirty="0"/>
          </a:p>
        </p:txBody>
      </p:sp>
      <p:sp>
        <p:nvSpPr>
          <p:cNvPr id="21" name="Text 15"/>
          <p:cNvSpPr txBox="1"/>
          <p:nvPr/>
        </p:nvSpPr>
        <p:spPr>
          <a:xfrm>
            <a:off x="8414309" y="3703320"/>
            <a:ext cx="3064154" cy="1036320"/>
          </a:xfrm>
          <a:prstGeom prst="rect">
            <a:avLst/>
          </a:prstGeom>
          <a:noFill/>
          <a:ln/>
        </p:spPr>
        <p:txBody>
          <a:bodyPr wrap="square" lIns="0" tIns="0" rIns="0" bIns="0" rtlCol="0" anchor="t"/>
          <a:lstStyle/>
          <a:p>
            <a:pPr indent="0" marL="0">
              <a:buNone/>
            </a:pPr>
            <a:r>
              <a:rPr lang="en-US" sz="1400" dirty="0">
                <a:solidFill>
                  <a:srgbClr val="B4B4C8"/>
                </a:solidFill>
                <a:latin typeface="Arial" pitchFamily="34" charset="0"/>
                <a:ea typeface="Arial" pitchFamily="34" charset="-122"/>
                <a:cs typeface="Arial" pitchFamily="34" charset="-120"/>
              </a:rPr>
              <a:t>Fund the go-live and the first partner academies: the $2M seed on slide 34</a:t>
            </a:r>
            <a:endParaRPr lang="en-US" sz="1400" dirty="0"/>
          </a:p>
        </p:txBody>
      </p:sp>
      <p:sp>
        <p:nvSpPr>
          <p:cNvPr id="22" name="Shape 16"/>
          <p:cNvSpPr/>
          <p:nvPr/>
        </p:nvSpPr>
        <p:spPr>
          <a:xfrm>
            <a:off x="457200" y="5105400"/>
            <a:ext cx="11277295" cy="658368"/>
          </a:xfrm>
          <a:prstGeom prst="roundRect">
            <a:avLst>
              <a:gd name="adj" fmla="val 16667"/>
            </a:avLst>
          </a:prstGeom>
          <a:solidFill>
            <a:srgbClr val="231E12"/>
          </a:solidFill>
          <a:ln w="9525">
            <a:solidFill>
              <a:srgbClr val="C9A84C"/>
            </a:solidFill>
            <a:prstDash val="solid"/>
          </a:ln>
        </p:spPr>
      </p:sp>
      <p:sp>
        <p:nvSpPr>
          <p:cNvPr id="23" name="Shape 17"/>
          <p:cNvSpPr/>
          <p:nvPr/>
        </p:nvSpPr>
        <p:spPr>
          <a:xfrm>
            <a:off x="640080" y="5224272"/>
            <a:ext cx="420624" cy="420624"/>
          </a:xfrm>
          <a:prstGeom prst="ellipse">
            <a:avLst/>
          </a:prstGeom>
          <a:solidFill>
            <a:srgbClr val="C9A84C"/>
          </a:solidFill>
          <a:ln w="9525">
            <a:solidFill>
              <a:srgbClr val="C9A84C"/>
            </a:solidFill>
            <a:prstDash val="solid"/>
          </a:ln>
        </p:spPr>
      </p:sp>
      <p:pic>
        <p:nvPicPr>
          <p:cNvPr id="24" name="Image 3" descr="preencoded.png">    </p:cNvPr>
          <p:cNvPicPr>
            <a:picLocks noChangeAspect="1"/>
          </p:cNvPicPr>
          <p:nvPr/>
        </p:nvPicPr>
        <p:blipFill>
          <a:blip r:embed="rId5"/>
          <a:stretch>
            <a:fillRect/>
          </a:stretch>
        </p:blipFill>
        <p:spPr>
          <a:xfrm>
            <a:off x="745236" y="5329428"/>
            <a:ext cx="210312" cy="210312"/>
          </a:xfrm>
          <a:prstGeom prst="rect">
            <a:avLst/>
          </a:prstGeom>
        </p:spPr>
      </p:pic>
      <p:sp>
        <p:nvSpPr>
          <p:cNvPr id="25" name="Text 18"/>
          <p:cNvSpPr txBox="1"/>
          <p:nvPr/>
        </p:nvSpPr>
        <p:spPr>
          <a:xfrm>
            <a:off x="1234440" y="5105400"/>
            <a:ext cx="10362895" cy="658368"/>
          </a:xfrm>
          <a:prstGeom prst="rect">
            <a:avLst/>
          </a:prstGeom>
          <a:noFill/>
          <a:ln/>
        </p:spPr>
        <p:txBody>
          <a:bodyPr wrap="square" lIns="0" tIns="0" rIns="0" bIns="0" rtlCol="0" anchor="ctr"/>
          <a:lstStyle/>
          <a:p>
            <a:pPr indent="0" marL="0">
              <a:buNone/>
            </a:pPr>
            <a:r>
              <a:rPr lang="en-US" sz="1700" b="1" dirty="0">
                <a:solidFill>
                  <a:srgbClr val="F0C96B"/>
                </a:solidFill>
                <a:latin typeface="Arial" pitchFamily="34" charset="0"/>
                <a:ea typeface="Arial" pitchFamily="34" charset="-122"/>
                <a:cs typeface="Arial" pitchFamily="34" charset="-120"/>
              </a:rPr>
              <a:t>Next step: </a:t>
            </a:r>
            <a:r>
              <a:rPr lang="en-US" sz="1700" dirty="0">
                <a:solidFill>
                  <a:srgbClr val="FFFFFF"/>
                </a:solidFill>
                <a:latin typeface="Arial" pitchFamily="34" charset="0"/>
                <a:ea typeface="Arial" pitchFamily="34" charset="-122"/>
                <a:cs typeface="Arial" pitchFamily="34" charset="-120"/>
              </a:rPr>
              <a:t>a working session to choose your district, first track and first round table</a:t>
            </a:r>
            <a:endParaRPr lang="en-US" sz="1700" dirty="0"/>
          </a:p>
        </p:txBody>
      </p:sp>
      <p:sp>
        <p:nvSpPr>
          <p:cNvPr id="26" name="Text 19"/>
          <p:cNvSpPr txBox="1"/>
          <p:nvPr/>
        </p:nvSpPr>
        <p:spPr>
          <a:xfrm>
            <a:off x="1234440" y="5946648"/>
            <a:ext cx="103628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Contact: </a:t>
            </a:r>
            <a:r>
              <a:rPr lang="en-US" sz="1400" dirty="0">
                <a:solidFill>
                  <a:srgbClr val="E8E8F0"/>
                </a:solidFill>
                <a:latin typeface="Arial" pitchFamily="34" charset="0"/>
                <a:ea typeface="Arial" pitchFamily="34" charset="-122"/>
                <a:cs typeface="Arial" pitchFamily="34" charset="-120"/>
              </a:rPr>
              <a:t>partners@chronopoli.io · chronopoli.io</a:t>
            </a:r>
            <a:endParaRPr lang="en-US" sz="1400" dirty="0"/>
          </a:p>
        </p:txBody>
      </p:sp>
      <p:sp>
        <p:nvSpPr>
          <p:cNvPr id="27"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In the UAE</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Confidential · for authorised recipients only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Pitch Deck</dc:title>
  <dc:subject>Investor and partner presentation (v5, aligned with the March 2026 master papers; Tether as the one named partner focus)</dc:subject>
  <dc:creator>Chronopoli</dc:creator>
  <cp:lastModifiedBy>Chronopoli</cp:lastModifiedBy>
  <cp:revision>1</cp:revision>
  <dcterms:created xsi:type="dcterms:W3CDTF">2026-09-30T12:51:10Z</dcterms:created>
  <dcterms:modified xsi:type="dcterms:W3CDTF">2026-09-30T12:51:10Z</dcterms:modified>
</cp:coreProperties>
</file>