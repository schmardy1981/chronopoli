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8E8F0"/>
                </a:solidFill>
                <a:latin typeface="Arial"/>
              </a:defRPr>
            </a:pPr>
            <a:r>
              <a:rPr sz="1200" b="0" i="0" u="none" strike="noStrike">
                <a:solidFill>
                  <a:srgbClr val="E8E8F0"/>
                </a:solidFill>
                <a:latin typeface="Arial"/>
              </a:rPr>
              <a:t>Gross individual sales by course, Q3 2026 (USD, illustrative)</a:t>
            </a:r>
          </a:p>
        </c:rich>
      </c:tx>
      <c:layout/>
      <c:overlay val="0"/>
    </c:title>
    <c:autoTitleDeleted val="0"/>
    <c:plotArea>
      <c:layout>
        <c:manualLayout>
          <c:layoutTarget val="inner"/>
          <c:xMode val="edge"/>
          <c:yMode val="edge"/>
          <c:x val="0.22"/>
          <c:y val="0.18"/>
          <c:w val="0.74"/>
          <c:h val="0.71"/>
        </c:manualLayout>
      </c:layout>
      <c:barChart>
        <c:barDir val="bar"/>
        <c:grouping val="stacked"/>
        <c:varyColors val="0"/>
        <c:ser>
          <c:idx val="0"/>
          <c:order val="0"/>
          <c:tx>
            <c:strRef>
              <c:f>Sheet1!$B$1</c:f>
              <c:strCache>
                <c:ptCount val="1"/>
                <c:pt idx="0">
                  <c:v>Partner 70%</c:v>
                </c:pt>
              </c:strCache>
            </c:strRef>
          </c:tx>
          <c:spPr>
            <a:solidFill>
              <a:srgbClr val="C9A84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Sheet1!$B$2:$B$9</c:f>
              <c:numCache>
                <c:formatCode>General</c:formatCode>
                <c:ptCount val="8"/>
                <c:pt idx="0">
                  <c:v>0</c:v>
                </c:pt>
                <c:pt idx="1">
                  <c:v>39634</c:v>
                </c:pt>
                <c:pt idx="2">
                  <c:v>218036</c:v>
                </c:pt>
                <c:pt idx="3">
                  <c:v>72618</c:v>
                </c:pt>
                <c:pt idx="4">
                  <c:v>59381</c:v>
                </c:pt>
                <c:pt idx="5">
                  <c:v>146902</c:v>
                </c:pt>
                <c:pt idx="6">
                  <c:v>81837</c:v>
                </c:pt>
                <c:pt idx="7">
                  <c:v>157500</c:v>
                </c:pt>
              </c:numCache>
            </c:numRef>
          </c:val>
        </c:ser>
        <c:ser>
          <c:idx val="1"/>
          <c:order val="1"/>
          <c:tx>
            <c:strRef>
              <c:f>Sheet1!$C$1</c:f>
              <c:strCache>
                <c:ptCount val="1"/>
                <c:pt idx="0">
                  <c:v>Chronopoli 30%</c:v>
                </c:pt>
              </c:strCache>
            </c:strRef>
          </c:tx>
          <c:spPr>
            <a:solidFill>
              <a:srgbClr val="88889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USDT-101 · L1</c:v>
                  </c:pt>
                  <c:pt idx="1">
                    <c:v>USDT-102 · L1</c:v>
                  </c:pt>
                  <c:pt idx="2">
                    <c:v>USDT-201 · L2</c:v>
                  </c:pt>
                  <c:pt idx="3">
                    <c:v>USDT-202 · L2</c:v>
                  </c:pt>
                  <c:pt idx="4">
                    <c:v>USDT-203 · L2</c:v>
                  </c:pt>
                  <c:pt idx="5">
                    <c:v>USDT-301 · L3</c:v>
                  </c:pt>
                  <c:pt idx="6">
                    <c:v>USDT-302 · L3</c:v>
                  </c:pt>
                  <c:pt idx="7">
                    <c:v>USDT-401 · L4</c:v>
                  </c:pt>
                </c:lvl>
              </c:multiLvlStrCache>
            </c:multiLvlStrRef>
          </c:cat>
          <c:val>
            <c:numRef>
              <c:f>Sheet1!$C$2:$C$9</c:f>
              <c:numCache>
                <c:formatCode>General</c:formatCode>
                <c:ptCount val="8"/>
                <c:pt idx="0">
                  <c:v>0</c:v>
                </c:pt>
                <c:pt idx="1">
                  <c:v>16986</c:v>
                </c:pt>
                <c:pt idx="2">
                  <c:v>93444</c:v>
                </c:pt>
                <c:pt idx="3">
                  <c:v>31122</c:v>
                </c:pt>
                <c:pt idx="4">
                  <c:v>25449</c:v>
                </c:pt>
                <c:pt idx="5">
                  <c:v>62958</c:v>
                </c:pt>
                <c:pt idx="6">
                  <c:v>35073</c:v>
                </c:pt>
                <c:pt idx="7">
                  <c:v>67500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D6D6E4"/>
                </a:solidFill>
                <a:latin typeface="Arial"/>
              </a:defRPr>
            </a:pPr>
            <a:endParaRPr lang="en-US"/>
          </a:p>
        </c:txPr>
        <c:crossAx val="2094734552"/>
        <c:crosses val="autoZero"/>
        <c:auto val="1"/>
        <c:lblAlgn val="ctr"/>
        <c:noMultiLvlLbl val="1"/>
      </c:catAx>
      <c:valAx>
        <c:axId val="2094734552"/>
        <c:scaling>
          <c:orientation val="minMax"/>
          <c:max val="42000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B4B4C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Thank you for the time. In 20 minutes I'll show you two things. For a Knowledge Partner: how you get your own academy that educates your market and feeds you talent. For an enterprise team: how you train and certify digital-asset, risk and compliance staff, and show the evidence to management or a supervisor. Every screen is labelled either as a real platform screen or as a design prototype that is not yet built, and slide 5 shows the status of every deliverable on one page. The platform in one picture is the three pillars on slide 4: your academy is a branded partner academy inside the city. We're pre-launch and looking for Founding Partners and pilot teams. BEFORE ANY MEETING WITH A REAL STABLECOIN ISSUER OR ITS COMPETITOR: say up front that the Tether academy in this deck is an illustrative example built without Tether's involvement, and that no partnership exists. OBJECTION: 'Is this live?' ANSWER: Not yet. The platform is built and its core runs on our demo system; there's a launch plan, and that's why founding partners get to shape what launches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Two buyers, one platform. Partners bring the expertise and the brand; enterprises bring the learners and the budget. Both sit in the same seven districts and four layers, so the digital-asset team of a bank or a fintech and a stablecoin issuer's academy meet in the Digital Assets District, with risk, compliance and investigation one district away. Ask early which column the room is in and route the talk. PARTNER TALK: 1-12 and 17-28 (backup 29 on request). ENTERPRISE TALK: 1-5, 10, 13-22, 24-28 (skip 23; on 20 and 21 speak only to the team-subscription rows; on 22 use the data-access panel; on 24 use the enterprise lane). INSTITUTIONS (universities, think tanks): 1-9, 12, 17-22, 24-28 (skip 11 and 23; 29 only if asked). The roadmap line names one company, Tether, as a target partner; nothing is signed, and the Tether academy in this deck is an illustrative scenario with mock data. The traction slide (slide 19) gives the exact statuses. Before a meeting with a competitor of Tether, decide how to frame the Tether scenario and whether to show that slide. OBJECTION: 'Are these partners on board?' ANSWER: No. Dubai Blockchain Center is the confirmed anchor and the BUiD MOU is in progress; no partner is signed. The offer is about being a founder, not joining a crowd. OBJECTION: 'We already have an LMS.' ANSWER: For internal policy training, keep it. Chronopoli is for specialist digital-economy content and credentials, and the platform's standard reports export as CSV to whatever system you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 digital economy has a structural knowledge gap, and both buyers feel it in the same four ways. Fragmentation: stablecoin infrastructure, AI governance, regulation, risk and forensics live in silos, so nobody gets a path by role or a single record. Speed mismatch is the killer fact: universities take 18 months to update a curriculum and training firms 6, while MiCA, FATF guidance and crime typologies change every month. Fake credentials: a certificate proves attendance, not competence, and when a regulator or internal audit asks who was trained, the answer is a spreadsheet. No neutral convener: nobody puts a protocol, a regulator, an investigator and a researcher in one room and turns the conversation into institutional knowledge. Let the buyer pick the problem that hurts most, then jump to that proof slide. For partners it's usually the pipeline and owning the standard; for banks, VASPs and fintechs it's skills across product, treasury, risk and compliance, with proof for the supervisor; for universities it's reach into practice. Be precise on credentials: what exists today is the real platform grade report (slide 15); the one-click evidence pack is designed with pilot teams (slide 16). The 18- and 6-month figures come from our master papers; don't quote market sizes in a sales meeting. Instead ask: how long did your last evidence request take to answer? OBJECTION: 'Our vendor already gives us certificates.' ANSWER: A certificate from one course isn't a role-based pathway or a grade record. We show both, with the pass mark,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Three pillars, one platform. Symposia is the community intelligence engine: closed-door round tables that become papers, posts and a Partner Intelligence Report. Company Academies are branded partner academies: your academy with pathways, badges and a talent pipeline. Open Knowledge is the AI tutor, digital twins and the open course marketplace with its 70/30 split. Every feature serves the network effect: more partners bring more content, which makes the AI smarter, which brings more value to every academy. Each proof slide carries its pillar in a label next to the kicker. Be precise on two points: publishing needs one human approval, and TikTok is on the roadmap, not yet built. Enterprise teams mostly use the shared platform core: seats, cohorts, grades and reports. OBJECTION: 'So we become part of your brand?' ANSWER: Your academy carries your name, content and signatory; 'Powered by Chronopoli' and the co-issued badge are the link to the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whole offer on one page, and the status of each piece. Left is what a partner owns, right is what a team buys. The chip says what exists: green 'shown working' is running software you'll see on real screens; gold 'built' is our own product, demonstrated on test data but not live yet; grey means it is still to be finished before launch, or only designed so far. Say it before the buyer finds it: most of the partner experience is built but not yet live, and several manager-facing pages are still design. The parts that carry your data (course authoring, enrolment, grades and reports) are standard platform features that already work. Each tag is a proof slide, and the tag sits in the corner of that slide. OBJECTION: 'So most of this is vapour?' ANSWER: No. It's built, with a launch plan, and the chips show exactly which items are still design. That's what Founding Partners and pilot teams help shape. OBJECTION: 'What does it cost?' ANSWER: Slide 20: Company Academies $25K–$150K a year, team seats $1,500 a year ($125 a month), 70/30 on course sales; slide 21 shows the packages. The three pillars behind the P and E lines are on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outcome a partner buys: your own school, under your name, inside the city. Three very different academies on one design: a protocol educates its market, an exchange trains its own staff, a university runs executive-education modules. Point to the right-hand screen first: that's the academy page today, and the name, pathways and jobs already change per partner. The three tiles on the left show the same page with your colours, logo and tagline; that change is small and scheduled before launch, so it's labelled a prototype. Your own web address (&lt;partner&gt;.chronopoli.io) is also switched on before launch. OBJECTION: 'Can we use our own domain, like academy.ourbrand.com?' ANSWER: The model is &lt;partner&gt;.chronopoli.io. A custom domain isn't planned today, so treat it as a request for the partner agreement. OBJECTION: 'Is my internal academy private?' ANSWER: Access for staff-only academies is set in the partner agreement; don't promise a login gate beyond that. OBJECTION: 'Can we drop Chronopoli entirely?' ANSWER: The academy says 'Powered by Chronopoli' and the badge is co-issued; that's part of the model. This is the Company Academies pillar: your branded partner academy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worry that content production is the expensive part. Here it's familiar tooling: the demo courses were built and imported this way. If you already have course material in a standard format, onboarding means import and quality review, not a software project. The outline shows the depth of one course: six modules down to a graded capstone. The certificate carries your signatory; it's configured but not activated, so on real screens we say 'certificate eligible', not 'issued'. OBJECTION: 'Who owns the content?' ANSWER: You author it; it exports in a standard course format; what rights Chronopoli gets, for how long and what happens on exit are set in the partner agreement. Don't promise a specific rights model. OBJECTION: 'We don't have instructional designers.' ANSWER: You bring subject-matter experts. Content QA with the Chronopoli team is a fixed step in the onboarding plan (slide 24). Don't promise a content-production service; its scope and price are set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a partner, this is standard-setting. You define what a competent stablecoin professional knows, here for compliance, and the same way for treasury, reserves or investigation pathways, and the credential carries your academy's name next to Chronopoli's. For enterprises, it's the same badge their people earn. Badges follow the Open Badges 2.0 standard, so they aren't locked to our platform. Public online verification of each badge comes before launch, so don't promise third-party verification yet. FOR UNIVERSITIES: co-issued means your academy's name is on the badge under criteria you set; academic credit, if any, is granted by your institution under your own quality assurance, not by the platform. OBJECTION: 'Will regulators recognise this badge?' ANSWER: We don't claim regulatory accreditation. The badge shows what it proves: the courses, the 70% pass mark and the capstone, and the underlying grade evidence is on slide 15. OBJECTION: 'Who sets the criteria?' ANSWER: You do, with our instructional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slide partners remember. Education turns into recruiting: you stop paying to find people and start growing them to your own standard. The mock data shows 37 applications across four postings in one quarter; that's illustrative, showing the mechanics. Be clear on status: the job board and application flow are built; the explicit candidate consent step is required before launch, and the pipeline does not switch on without it. FOR UNIVERSITIES: present this as graduate placement. Who is data controller for applicant data is set in the partner agreement. OBJECTION: 'Privacy: we can't receive candidate data without consent.' ANSWER: Agreed. No consent, no data. The target hosting region is the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Completion is where training programmes fail. Two things keep learners moving: an answer at the moment they're stuck, and peers doing the same job. The tutor is designed to answer from your course content and name its sources, here USDT-201 Lesson 3.1 and a FATF Recommendation 15 guidance summary. Say it clearly: the answer on screen is scripted demo copy, not a live AI answer. Building the knowledge base from your courses, its access rules and how learner questions are logged and kept are all finished before launch. The community on the right is real and ran on our demo system. In the enterprise talk, this slide shows what your staff get as learners. OBJECTION: 'Where do our staff's questions go? Are they used for training?' ANSWER: Data handling for tutor questions is settled before launch and written into the pilot order; we make no model-training guarantee beyond what's built. OBJECTION: 'What if the AI gives wrong advice in our name?' ANSWER: It's labelled a learning aid, not advice; it cites sources so the learner can check them, and it's scoped to course content. This is the AI Tutor of the Open Knowledge pillar; it compounds with every approved round-table output. If a partner asks whether its content feeds a tutor other academies use: which content enters the shared knowledge base is set per partner in the partner agreement (moats, slide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Partners fund education and rarely know what it achieved. The dashboard answers it: who enrolled, who finished, who earned your badge and who applied for your jobs, and the Monday e-mail means leadership sees it without logging in. The payouts page is the economic core: the split is applied at checkout, so there's no invoicing and no quarterly reconciliation argument. Status: the analytics, the weekly e-mail and the 70/30 split are built; the dashboard and payouts pages and the payout-account set-up come before launch. Every number is illustrative, a model of one academy; we'll walk through the money once, on slide 23. OBJECTION: 'Refunds, chargebacks, VAT, payout timing?' ANSWER: Refund handling and payout status are finished before launch; payout timing follows our payment provider's standard schedule; tax treatment is set in the partner agreement. OBJECTION: 'Does 70/30 also apply to team licences?' ANSWER: Team-licence revenue sharing isn't defined yet, so it's set in the partner agreement. OBJECTION: 'Can we get the raw data?' ANSWER: Course-level data comes from the platform's standard CSV reports (slide 15); learner-level sharing follows the access model on slide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For many partners this is worth more than courses. You convene regulators, banks and exchanges behind closed doors, and you leave with five outputs in about 3 hours: an opinion paper, LinkedIn posts, an Instagram carousel, a Partner Intelligence Report on what the market thinks, and, once approved, an update to the AI tutor's knowledge base. One human approves everything, in about 10 minutes. Say that 3 hours and 10 minutes are design targets, and that TikTok is on the roadmap, not yet built. This is the Symposia pillar, the community intelligence engine. The pipeline runs from the session recording to a transcript, an AI analysis and four drafts. The attribution caveat is on the slide on purpose: sessions run under the Chatham House Rule, but today the opinion paper can print attributed quotes and participant names, and the analysis picks out named key quotes. Removing attribution is fixed before launch; until then the one-human approve/reject step is the safeguard. The queue approves or rejects; it doesn't edit, and the approver is Chronopoli staff, not the partner, so sponsor sign-off is an agreement item. Live streaming is designed, but no session has been streamed yet. The session shown is 'Stablecoins as Settlement Rails in the GCC'. FOR UNIVERSITIES: position this as a research round table you co-convene; publication rights, ownership of transcripts and ethics review are set in the partner agreement. Don't claim co-moderator rights; the queue is staff-only. OBJECTION: 'What does sponsorship cost?' ANSWER: Set in the partner agreement. OBJECTION: 'Will AI misquote our panellists?' ANSWER: Every output waits in the approval queue, and one human can reject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Now for the enterprise buyer. Everything on this and the next two slides is the real platform, running on our demo system. A 25-seat team licence has 18 people assigned: 17 new employees plus Layla, the MLRO, who was already enrolled. That's why the paste shows 17 and the cohort 18. The third line is deliberate: standard enrolment puts people on the default track, so for this demo we moved the 17 to the verified track in the back office. In the pilot our team does that step for you; the team-admin console automates it. OBJECTION: 'Do our staff need to create accounts first?' ANSWER: No. With Auto Enroll they're enrolled when they activate with that address. OBJECTION: 'How much admin work is this for us?' ANSWER: In the pilot you send a seat list; our team runs enrolment, track and cohort. In the master pricing this is a Corporate Team Subscription: $1,500 per seat per year, the same as the $125 per seat per month list price in the product (slide 20). Layla is one persona of several, and USDT-201 is one course of eight: the same seats cover the other Tether (illustrative) courses, from USDT-101 fundamentals and USDT-102 multichain to USDT-202 reserves and attestations, USDT-203 payments and treasury, USDT-301 investigations, USDT-302 regulation and the USDT-401 executive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These grades are genuine. Each test learner worked through the course in a browser, one attempt per question, some wrong on purpose, with no overrides. The manager's question is 'who needs help?', and this answers it in one view. You set the pass mark and weights in course authoring: here 70%, knowledge checks 40%, capstone 60%. Address data access before they ask: '18 of 812' means this staff view covers everyone in the course, including other companies. That's why in the pilot only our staff hold that role and you get cohort-filtered views; slide 22 shows the full access model. OBJECTION: 'Can we trust auto-graded checks for regulatory training?' ANSWER: The report shows every component and the capstone, not just a completion tick, and you set the thresholds. OBJECTION: 'Our team leads won't log in to an instructor dashboard.' ANSWER: Fair. The simpler team-admin console on slide 16 comes with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answer to 'show me who was trained'. It's a system-generated file from the platform itself: who, which course, what grade, against which pass mark. Be precise: the platform produces one file for the whole course; we filter it to your cohort's rows and hand those to you. Nine of eighteen are eligible; the other nine are visible too, which is what an auditor wants to see. The file has 829 rows: 812 enrolled learners plus 17 unenrolled test placeholders, and Layla's row uses her second demo address. Certificates are not activated, so the file says 'eligible', not 'issued'. Say the storage point yourself: today report files sit in publicly reachable storage, one of the open critical issues from our security review; it is fixed before launch, and until then we deliver pilot reports directly. OBJECTION: 'Is this accepted by VARA or our regulator?' ANSWER: We don't claim regulatory acceptance. We provide the underlying evidence in a standard format, and your compliance function decides how to present it. OBJECTION: 'Who actually sat the test?' ANSWER: Identity is the learner's own account; we don't claim proctoring or ID verification. The 'ID Verified' value here was set manually on the demo system. OBJECTION: 'Where is this data stored?' ANSWER: The target is hosting in the UAE.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Slides 13-15 are what exists. This is where it's going, and it's why we want pilot teams: you tell us what your team leads, risk and compliance officers and auditors need on this page. The team-licence records (seats and seats used) are already built, and billing is on purchased seats; these pages turn them into a console. Numbers here come from a separate sample roster, so they won't match the cohort on the previous slides; don't compare them. OBJECTION: 'Why are only 12 in scope?' ANSWER: In this sample the team admin scoped the report to the USDT-201 group; the rest of the seat holders are on other pathways or not assigned to this course. OBJECTION: 'Why buy before it exists?' ANSWER: A pilot team trains on the same standard platform shown on slides 13-15, with reports delivered by our team, and the console is designed with you. OBJECTION: 'Can we move seats when people leave?' ANSWER: That's the design: the team admin reassigns seats. OBJECTION: 'Can our regulator verify the badge ID online?' ANSWER: Not yet. Public online verification comes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We are not a better Coursera; we are a different architecture. Coursera and LinkedIn Learning sell content, ACAMS and ICA sell certification, vendor academies teach their own product. None of them has the pipeline, the round tables, digital twins, cross-sector districts or neutral positioning. For a buyer that means one place for your market, your staff and your regulator's view, rather than three vendors. The competitor ratings are from our master papers. The Chronopoli column means built and shown in this deck, but not live yet; it goes live with the launch plan, and the status of each item is on the offer slide (slide 5). The 48-hour update is a design target. OBJECTION: 'We already use ACAMS.' ANSWER: Keep it for the certification; Chronopoli adds the stablecoin, AI and on-chain depth, your own academy and the grade evidence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Four moats, and each one works for you. The knowledge moat: every round table, paper and masterclass feeds the AI tutor, so your learners get answers grounded in your district's own sessions, which no general-purpose AI has. Partner lock-in, in your favour: your credential history, talent pipeline and community grow inside your academy every year, and the exit stays open with a standard course export and your badge records. Network effects: every new partner brings learners, experts and employers into your district. Cost structure: about $374 a month of infrastructure to start, so a lean cost base keeps overhead out of your price. Don't promise a price freeze; prices are set in the partner agreement or pilot order. OBJECTION: 'Does our content train a tutor that our competitors' learners use?' ANSWER: The master papers describe one tutor grounded in all platform content; which of your courses and round-table outputs enter the shared knowledge base, and which stay scoped to your academy, is set per partner in the partner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the statuses exactly as they are. The platform is built but not live yet, and the launch plan is in place; the pages marked as design prototypes are still to be built, as the offer slide (slide 5) shows item by item. Hosting is planned in the UAE. Dubai Blockchain Center is the confirmed anchor, with a network of more than 500 companies. The BUiD academic MOU is in progress, with 30 CPD credits a year as the recognition target. Tether is the one named target partner, for the Strategic tier: the demo academy in this deck is built around an illustrative Tether scenario with mock data, and no partnership is implied. The two Founding Partner seats, $150K a year each, are open. Nothing is signed. BEFORE A MEETING WITH A COMPETITOR OF TETHER: decide whether to show this slide; it names Tether. OBJECTION: 'Who else has signed?' ANSWER: Nobody yet; that's why the founding seats are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Companies pay, students benefit. The model is B2B-first: Company Academy fees and team seats fund the city before a single student pays. A Company Academy costs $25K to $150K a year depending on scope; a Founding Academy, for example, is $150K a year. For that you get your academy, trained staff and regulators, co-issued credentials, qualified candidates sent to your hiring team and a Partner Intelligence Report per round table. Compare that with about $20,000 for a single recruiter placement. Enterprise teams pay $1,500 per seat per year, which is the $125 a month list price in the product. Individual subscriptions run from $490 to $1,490 a year, marketplace course sales split 70/30 in the creator's favour, and a certificate costs $15. Whether the $15 certificate fee is included in team seats or charged per certificate is set in the pilot order; don't promise either. The right-hand box shows the second pricing view, the one already built into the product: per-course layer prices, seats and the 70/30 split. Where your academy sits in the range, the term and any exclusivity are set in the partner agreement. Don't quote revenue projections in a sales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Tiers describe the depth of partnership and what we ask of you, not a paywall on features. Everyone gets the academy, the credentials, the pipeline and the 70/30 split. Founding Partners give the most (co-design time, a flagship track, the first round table) and get the most influence. The prices follow the master commercial terms on slide 20: Company Academies $25K–$150K a year by scope, with a Founding Academy at $150K a year as the example, and team seats at $1,500 a year, which is the $125 a month list price fixed in the product together with the 70/30 split. Where a tier sits in the academy range, term, exclusivity and content rights are in one place: the partner agreement. Also agreed there: round-table sponsorship, district exclusivity, and whether an institutional MOU uses the fee or other terms. Team-licence access to partner-priced courses and any team-licence revenue share are set in the partner agreement or pilot order. The tier is a label on the partner record and does not restrict features; the emphasis per tier is our proposal. ENTERPRISE TALK: point only to the gold row. You pay for purchased seats, not assigned ones; the example is 25 seats at list, $3,125 a month. What a seat unlocks (catalogue scope), the minimum term and the pilot length go in the pilot order. OBJECTION: 'What does a Founding Partnership cost?' ANSWER: A Founding Academy is $150K a year in our master pricing; the exact scope is co-designed, and term and exclusivity are set in the partner agreement. OBJECTION: 'Why choose Founding over Content?' ANSWER: Influence: flagship tracks, the first round tables and a co-design seat. The ask is higher too. OBJECTION: 'Is $125 fixed?' ANSWER: It's the list price; volume and multi-year terms are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page legal, the academic senate and the data-protection officer ask for. Left, for partners and institutions: you control content, criteria and signatory; we run the platform and approve AI outputs; your IP stays yours, the rights you grant are in the agreement, and on exit you take a standard export and your badge records. Right, for enterprise teams: who can see your staff's grades. Your admin sees your cohort, a partner academy sees aggregates unless a learner consents, and Chronopoli staff operate the platform. The pilot environment and the kind of learner data allowed in it are written into the pilot order; until data protection is hardened before launch we recommend pseudonymous usernames. Every line here is a proposal, not a signed term. OBJECTION: 'Do you have an academic advisory board?' ANSWER: Not today, and we don't claim one. OBJECTION: 'Do you offer a DPA and a retention period?' ANSWER: Data-processing terms are set in the pilot order or partner agreement; we don't quote a retention period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Say it plainly: this is a model, not a result. We're pre-launch, and nobody has earned this money. Start with the unit line, because it's the one you can apply to your own funnel: every hundred paid seats on a $599 professional course is $41,930 to you. The quarter shows the lever: a free entry course fills the funnel, and professional and institutional courses carry the revenue. So a partner's best investment is one strong L3 course and a live L4 cohort, not ten entry videos. The last line matters: your expert time, content production and your annual Company Academy fee (slide 20) aren't in this model. OBJECTION: 'Where did 4,812 enrolments come from?' ANSWER: It's mock data built to demonstrate the dashboard and the split, not a forecast. In the workshop we run the same model with your own audience size and price points. OBJECTION: 'A 40% completion rate seems high.' ANSWER: It's an assumption in the mock, not a benchmark, and we don't promise 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This is the project plan in one picture. Two lanes: partners on top, enterprise teams below, both counting from our kick-off. Answer reach before they ask: you bring your audience first; inside the city the 5-question onboarding sends new learners to your district, and the district community and round tables keep them. We don't promise audience numbers. Your effort: a sponsor, one admin, experts per module and one QA cycle; we estimate hours together in the workshop, not on a slide. The fictitious university on screen has two of six steps done, five of six experts confirmed and its first track 57% built. The dates on screen are that fictitious example's mock plan; we don't commit to a calendar go-live. ENTERPRISE: the pilot environment and what learner data may go into it are written into the pilot order; until data protection is hardened before launch we recommend pseudonymous usernames. OBJECTION: 'So when are we live?' ANSWER: After our launch preparation, and we'll give you a date as soon as it is fixed. Your content, brand and pathways will be ready in a preview, so you launch on day one of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Regulators and banks buy trust first. Each tile is either in the product (the approval queue, Open Badges, standard reports, continuous upgrades) or a named commitment before launch (consent steps, attribution removal, private report storage, strict access rights, tutor scoping). We're open about status: our own security review logged 37 issues, 6 critical, 18 high and 13 medium. Eight are fixed and three partly fixed; 26 are open, including five critical ones, and one of those is learner grade files in publicly reachable storage. Of the 26 open, 22 are scheduled in the launch preparation and the rest are still being planned. We'd rather tell you than have you find it in due diligence. Every outside service we use is listed in the data-processing terms of the pilot order or partner agreement, so your procurement team gets the full list there. OBJECTION: 'Are you ISO 27001 or SOC 2 certified?' ANSWER: No, and we don't claim it; we're pre-launch. We can share the review summary and the security work planned before launch, and we'll answer your vendor due-diligence questionnaire against that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Use this as the objection-handling slide. Invite the hardest question; if it isn't here, write it down and answer in writing. Never improvise a date, a fee, an SLA or a certification: the right answer is 'set in the partner agreement', 'set in the pilot order' or 'on request'. We don't list roadmap names on this slide: the exact statuses are on slide 19 (DBCC confirmed anchor, BUiD MOU in progress, Tether target partner). If asked, say no partner is signed. OBJECTION: 'Why commit before launch?' ANSWER: Founders set the first curricula and badge standards in their districts, host the first round tables and have their academy ready on launch day. The risk is bounded: a scoped agreement and a 90-day plan. OBJECTION: 'What happens if Chronopoli slips or doesn't launch?' ANSWER: Your content is standard course content that you authored and can export, badges follow an open standard, and go-live depends on the launch plan, not a marketing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Close on one concrete next step, not on features. For a partner it's the workshop: it costs a morning and produces a plan they own; for a university it also produces the draft governance, IP and research terms the committee will ask for. For an enterprise team it's the 25-seat pilot, which matches the licence you've seen throughout; the term, the catalogue and the pathway go in the pilot order, and the pathway is chosen from what's available at pilot start. The pilot is priced at the list rate, $1,500 per seat per year ($125 a month). Which of the two fits you, and who else should be in the room? Then close on the statement on slide 28. Don't quote a discount or pilot price beyond the list price; workshop terms and anything else are on request. Leave behind the deck, the sample evidence CSV and, if asked, the security review summary. OBJECTION: 'We'll wait until you're live.' ANSWER: You can, but Founding Partners set the curriculum and badge standards for their district and host the first round tables, and those seats go to the partners who start now. OBJECTION: 'We need to take this internally first.' ANSWER: Of course. The workshop is the easiest way to give your stakeholders a concrete scope to decide on. RELEASE BLOCKER: partners@chronopoli.io and chronopoli.io/partners in the Contact box are placeholders; Dubai Blockchain Center confirms the live address before any external use of this deck. The account lead is named in the cover e-mail that sends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Chronopoli is not a better Coursera, and not a smarter university. It is a new architecture: credentials are verifiable, content is AI-generated and linked to regulation, companies fund learning instead of students, and the degree is replaced by a professional record that follows you for life. Pause, then hand over the contact details and the leave-behind. RELEASE BLOCKER: the e-mail and platform addresses are placeholders until Dubai Blockchain Center confirms them; learn.chronopoli.io is live only after go-live.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 only if asked. TALK TRACK: Your best people can't be in every room. A twin lets a chief economist or head of investigations run an L4-style masterclass without flying in, and the expert stays in control of the content. Be precise about status: this is the last roadmap milestone; the pages are prototypes; consent, review and withdrawal are design rules required before launch, not features in the product today. Likeness and voice rights, and withdrawal when an expert leaves, are set in the expert's consent and the partner agreement. For a university audience treat this as optional; academic freedom and likeness rights make it the most sensitive item. OBJECTION: 'Our expert won't want a deepfake.' ANSWER: Then there's no voice or avatar. The same document analysis and question bank can support a live session with the real expert. OBJECTION: 'Reputation risk if the twin says something wrong?' ANSWER: It works from the expert's own documents, with approved questions and marked out-of-scope topics, and the expert signs off before it goes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image" Target="../media/image-17-28.png"/><Relationship Id="rId29" Type="http://schemas.openxmlformats.org/officeDocument/2006/relationships/image" Target="../media/image-17-29.png"/><Relationship Id="rId30" Type="http://schemas.openxmlformats.org/officeDocument/2006/relationships/image" Target="../media/image-17-30.png"/><Relationship Id="rId31" Type="http://schemas.openxmlformats.org/officeDocument/2006/relationships/image" Target="../media/image-17-31.png"/><Relationship Id="rId32" Type="http://schemas.openxmlformats.org/officeDocument/2006/relationships/image" Target="../media/image-17-32.png"/><Relationship Id="rId33" Type="http://schemas.openxmlformats.org/officeDocument/2006/relationships/image" Target="../media/image-17-33.png"/><Relationship Id="rId34" Type="http://schemas.openxmlformats.org/officeDocument/2006/relationships/image" Target="../media/image-17-34.png"/><Relationship Id="rId35" Type="http://schemas.openxmlformats.org/officeDocument/2006/relationships/image" Target="../media/image-17-35.png"/><Relationship Id="rId36" Type="http://schemas.openxmlformats.org/officeDocument/2006/relationships/image" Target="../media/image-17-36.png"/><Relationship Id="rId37" Type="http://schemas.openxmlformats.org/officeDocument/2006/relationships/image" Target="../media/image-17-37.png"/><Relationship Id="rId38" Type="http://schemas.openxmlformats.org/officeDocument/2006/relationships/image" Target="../media/image-17-38.png"/><Relationship Id="rId39" Type="http://schemas.openxmlformats.org/officeDocument/2006/relationships/image" Target="../media/image-17-39.png"/><Relationship Id="rId40" Type="http://schemas.openxmlformats.org/officeDocument/2006/relationships/image" Target="../media/image-17-40.png"/><Relationship Id="rId41" Type="http://schemas.openxmlformats.org/officeDocument/2006/relationships/slideLayout" Target="../slideLayouts/slideLayout1.xml"/><Relationship Id="rId4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slideLayout" Target="../slideLayouts/slideLayout1.xml"/><Relationship Id="rId1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23-image-1.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566928"/>
            <a:ext cx="4128668"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566928"/>
            <a:ext cx="3890924"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AND ENTERPRISE TEAMS</a:t>
            </a:r>
            <a:endParaRPr lang="en-US" sz="900" dirty="0"/>
          </a:p>
        </p:txBody>
      </p:sp>
      <p:sp>
        <p:nvSpPr>
          <p:cNvPr id="5" name="Text 2"/>
          <p:cNvSpPr txBox="1"/>
          <p:nvPr/>
        </p:nvSpPr>
        <p:spPr>
          <a:xfrm>
            <a:off x="457200" y="1078992"/>
            <a:ext cx="6309360" cy="1962302"/>
          </a:xfrm>
          <a:prstGeom prst="rect">
            <a:avLst/>
          </a:prstGeom>
          <a:noFill/>
          <a:ln/>
        </p:spPr>
        <p:txBody>
          <a:bodyPr wrap="square" lIns="0" tIns="0" rIns="0" bIns="0" rtlCol="0" anchor="t"/>
          <a:lstStyle/>
          <a:p>
            <a:pPr indent="0" marL="0">
              <a:lnSpc>
                <a:spcPct val="93000"/>
              </a:lnSpc>
              <a:buNone/>
            </a:pPr>
            <a:r>
              <a:rPr lang="en-US" sz="4400" b="1" dirty="0">
                <a:solidFill>
                  <a:srgbClr val="F0C96B"/>
                </a:solidFill>
                <a:latin typeface="Arial" pitchFamily="34" charset="0"/>
                <a:ea typeface="Arial" pitchFamily="34" charset="-122"/>
                <a:cs typeface="Arial" pitchFamily="34" charset="-120"/>
              </a:rPr>
              <a:t>Your academy.</a:t>
            </a:r>
            <a:endParaRPr lang="en-US" sz="4400" dirty="0"/>
          </a:p>
          <a:p>
            <a:pPr indent="0" marL="0">
              <a:lnSpc>
                <a:spcPct val="93000"/>
              </a:lnSpc>
              <a:buNone/>
            </a:pPr>
            <a:r>
              <a:rPr lang="en-US" sz="4400" b="1" dirty="0">
                <a:solidFill>
                  <a:srgbClr val="FFFFFF"/>
                </a:solidFill>
                <a:latin typeface="Arial" pitchFamily="34" charset="0"/>
                <a:ea typeface="Arial" pitchFamily="34" charset="-122"/>
                <a:cs typeface="Arial" pitchFamily="34" charset="-120"/>
              </a:rPr>
              <a:t>Your team's proof of competence.</a:t>
            </a:r>
            <a:endParaRPr lang="en-US" sz="4400" dirty="0"/>
          </a:p>
        </p:txBody>
      </p:sp>
      <p:sp>
        <p:nvSpPr>
          <p:cNvPr id="6" name="Text 3"/>
          <p:cNvSpPr txBox="1"/>
          <p:nvPr/>
        </p:nvSpPr>
        <p:spPr>
          <a:xfrm>
            <a:off x="457200" y="3187598"/>
            <a:ext cx="6309360" cy="554736"/>
          </a:xfrm>
          <a:prstGeom prst="rect">
            <a:avLst/>
          </a:prstGeom>
          <a:noFill/>
          <a:ln/>
        </p:spPr>
        <p:txBody>
          <a:bodyPr wrap="square" lIns="0" tIns="0" rIns="0" bIns="0" rtlCol="0" anchor="t"/>
          <a:lstStyle/>
          <a:p>
            <a:pPr indent="0" marL="0">
              <a:buNone/>
            </a:pPr>
            <a:r>
              <a:rPr lang="en-US" sz="1700" dirty="0">
                <a:solidFill>
                  <a:srgbClr val="E8E8F0"/>
                </a:solidFill>
                <a:latin typeface="Arial" pitchFamily="34" charset="0"/>
                <a:ea typeface="Arial" pitchFamily="34" charset="-122"/>
                <a:cs typeface="Arial" pitchFamily="34" charset="-120"/>
              </a:rPr>
              <a:t>Chronopoli, the Global Knowledge City for the digital economy, hosted by Dubai Blockchain Center</a:t>
            </a:r>
            <a:endParaRPr lang="en-US" sz="1700" dirty="0"/>
          </a:p>
        </p:txBody>
      </p:sp>
      <p:sp>
        <p:nvSpPr>
          <p:cNvPr id="7" name="Shape 4"/>
          <p:cNvSpPr/>
          <p:nvPr/>
        </p:nvSpPr>
        <p:spPr>
          <a:xfrm>
            <a:off x="457200" y="3943502"/>
            <a:ext cx="1141692" cy="246888"/>
          </a:xfrm>
          <a:prstGeom prst="roundRect">
            <a:avLst>
              <a:gd name="adj" fmla="val 50000"/>
            </a:avLst>
          </a:prstGeom>
          <a:solidFill>
            <a:srgbClr val="14141D"/>
          </a:solidFill>
          <a:ln w="9525">
            <a:solidFill>
              <a:srgbClr val="3A3A50"/>
            </a:solidFill>
            <a:prstDash val="solid"/>
          </a:ln>
        </p:spPr>
      </p:sp>
      <p:sp>
        <p:nvSpPr>
          <p:cNvPr id="8" name="Shape 5"/>
          <p:cNvSpPr/>
          <p:nvPr/>
        </p:nvSpPr>
        <p:spPr>
          <a:xfrm>
            <a:off x="548640" y="4030370"/>
            <a:ext cx="73152" cy="73152"/>
          </a:xfrm>
          <a:prstGeom prst="ellipse">
            <a:avLst/>
          </a:prstGeom>
          <a:solidFill>
            <a:srgbClr val="F59E0B"/>
          </a:solidFill>
          <a:ln/>
        </p:spPr>
      </p:sp>
      <p:sp>
        <p:nvSpPr>
          <p:cNvPr id="9" name="Text 6"/>
          <p:cNvSpPr txBox="1"/>
          <p:nvPr/>
        </p:nvSpPr>
        <p:spPr>
          <a:xfrm>
            <a:off x="667512" y="3943502"/>
            <a:ext cx="93138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Digital assets</a:t>
            </a:r>
            <a:endParaRPr lang="en-US" sz="1100" dirty="0"/>
          </a:p>
        </p:txBody>
      </p:sp>
      <p:sp>
        <p:nvSpPr>
          <p:cNvPr id="10" name="Shape 7"/>
          <p:cNvSpPr/>
          <p:nvPr/>
        </p:nvSpPr>
        <p:spPr>
          <a:xfrm>
            <a:off x="1672044" y="3943502"/>
            <a:ext cx="442885" cy="246888"/>
          </a:xfrm>
          <a:prstGeom prst="roundRect">
            <a:avLst>
              <a:gd name="adj" fmla="val 50000"/>
            </a:avLst>
          </a:prstGeom>
          <a:solidFill>
            <a:srgbClr val="14141D"/>
          </a:solidFill>
          <a:ln w="9525">
            <a:solidFill>
              <a:srgbClr val="3A3A50"/>
            </a:solidFill>
            <a:prstDash val="solid"/>
          </a:ln>
        </p:spPr>
      </p:sp>
      <p:sp>
        <p:nvSpPr>
          <p:cNvPr id="11" name="Shape 8"/>
          <p:cNvSpPr/>
          <p:nvPr/>
        </p:nvSpPr>
        <p:spPr>
          <a:xfrm>
            <a:off x="1763484" y="4030370"/>
            <a:ext cx="73152" cy="73152"/>
          </a:xfrm>
          <a:prstGeom prst="ellipse">
            <a:avLst/>
          </a:prstGeom>
          <a:solidFill>
            <a:srgbClr val="6C63FF"/>
          </a:solidFill>
          <a:ln/>
        </p:spPr>
      </p:sp>
      <p:sp>
        <p:nvSpPr>
          <p:cNvPr id="12" name="Text 9"/>
          <p:cNvSpPr txBox="1"/>
          <p:nvPr/>
        </p:nvSpPr>
        <p:spPr>
          <a:xfrm>
            <a:off x="1882356" y="3943502"/>
            <a:ext cx="232573"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AI</a:t>
            </a:r>
            <a:endParaRPr lang="en-US" sz="1100" dirty="0"/>
          </a:p>
        </p:txBody>
      </p:sp>
      <p:sp>
        <p:nvSpPr>
          <p:cNvPr id="13" name="Shape 10"/>
          <p:cNvSpPr/>
          <p:nvPr/>
        </p:nvSpPr>
        <p:spPr>
          <a:xfrm>
            <a:off x="2188080" y="3943502"/>
            <a:ext cx="1071982" cy="246888"/>
          </a:xfrm>
          <a:prstGeom prst="roundRect">
            <a:avLst>
              <a:gd name="adj" fmla="val 50000"/>
            </a:avLst>
          </a:prstGeom>
          <a:solidFill>
            <a:srgbClr val="14141D"/>
          </a:solidFill>
          <a:ln w="9525">
            <a:solidFill>
              <a:srgbClr val="3A3A50"/>
            </a:solidFill>
            <a:prstDash val="solid"/>
          </a:ln>
        </p:spPr>
      </p:sp>
      <p:sp>
        <p:nvSpPr>
          <p:cNvPr id="14" name="Shape 11"/>
          <p:cNvSpPr/>
          <p:nvPr/>
        </p:nvSpPr>
        <p:spPr>
          <a:xfrm>
            <a:off x="2279520" y="4030370"/>
            <a:ext cx="73152" cy="73152"/>
          </a:xfrm>
          <a:prstGeom prst="ellipse">
            <a:avLst/>
          </a:prstGeom>
          <a:solidFill>
            <a:srgbClr val="10B981"/>
          </a:solidFill>
          <a:ln/>
        </p:spPr>
      </p:sp>
      <p:sp>
        <p:nvSpPr>
          <p:cNvPr id="15" name="Text 12"/>
          <p:cNvSpPr txBox="1"/>
          <p:nvPr/>
        </p:nvSpPr>
        <p:spPr>
          <a:xfrm>
            <a:off x="2398392" y="3943502"/>
            <a:ext cx="8616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Governance</a:t>
            </a:r>
            <a:endParaRPr lang="en-US" sz="1100" dirty="0"/>
          </a:p>
        </p:txBody>
      </p:sp>
      <p:sp>
        <p:nvSpPr>
          <p:cNvPr id="16" name="Shape 13"/>
          <p:cNvSpPr/>
          <p:nvPr/>
        </p:nvSpPr>
        <p:spPr>
          <a:xfrm>
            <a:off x="3333214" y="3943502"/>
            <a:ext cx="1025014" cy="246888"/>
          </a:xfrm>
          <a:prstGeom prst="roundRect">
            <a:avLst>
              <a:gd name="adj" fmla="val 50000"/>
            </a:avLst>
          </a:prstGeom>
          <a:solidFill>
            <a:srgbClr val="14141D"/>
          </a:solidFill>
          <a:ln w="9525">
            <a:solidFill>
              <a:srgbClr val="3A3A50"/>
            </a:solidFill>
            <a:prstDash val="solid"/>
          </a:ln>
        </p:spPr>
      </p:sp>
      <p:sp>
        <p:nvSpPr>
          <p:cNvPr id="17" name="Shape 14"/>
          <p:cNvSpPr/>
          <p:nvPr/>
        </p:nvSpPr>
        <p:spPr>
          <a:xfrm>
            <a:off x="3424654" y="4030370"/>
            <a:ext cx="73152" cy="73152"/>
          </a:xfrm>
          <a:prstGeom prst="ellipse">
            <a:avLst/>
          </a:prstGeom>
          <a:solidFill>
            <a:srgbClr val="8B5CF6"/>
          </a:solidFill>
          <a:ln/>
        </p:spPr>
      </p:sp>
      <p:sp>
        <p:nvSpPr>
          <p:cNvPr id="18" name="Text 15"/>
          <p:cNvSpPr txBox="1"/>
          <p:nvPr/>
        </p:nvSpPr>
        <p:spPr>
          <a:xfrm>
            <a:off x="3543526" y="3943502"/>
            <a:ext cx="814702"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Risk &amp; trust</a:t>
            </a:r>
            <a:endParaRPr lang="en-US" sz="1100" dirty="0"/>
          </a:p>
        </p:txBody>
      </p:sp>
      <p:sp>
        <p:nvSpPr>
          <p:cNvPr id="19" name="Shape 16"/>
          <p:cNvSpPr/>
          <p:nvPr/>
        </p:nvSpPr>
        <p:spPr>
          <a:xfrm>
            <a:off x="4431381" y="3943502"/>
            <a:ext cx="2073463" cy="246888"/>
          </a:xfrm>
          <a:prstGeom prst="roundRect">
            <a:avLst>
              <a:gd name="adj" fmla="val 50000"/>
            </a:avLst>
          </a:prstGeom>
          <a:solidFill>
            <a:srgbClr val="14141D"/>
          </a:solidFill>
          <a:ln w="9525">
            <a:solidFill>
              <a:srgbClr val="3A3A50"/>
            </a:solidFill>
            <a:prstDash val="solid"/>
          </a:ln>
        </p:spPr>
      </p:sp>
      <p:sp>
        <p:nvSpPr>
          <p:cNvPr id="20" name="Shape 17"/>
          <p:cNvSpPr/>
          <p:nvPr/>
        </p:nvSpPr>
        <p:spPr>
          <a:xfrm>
            <a:off x="4522821" y="4030370"/>
            <a:ext cx="73152" cy="73152"/>
          </a:xfrm>
          <a:prstGeom prst="ellipse">
            <a:avLst/>
          </a:prstGeom>
          <a:solidFill>
            <a:srgbClr val="EF4444"/>
          </a:solidFill>
          <a:ln/>
        </p:spPr>
      </p:sp>
      <p:sp>
        <p:nvSpPr>
          <p:cNvPr id="21" name="Text 18"/>
          <p:cNvSpPr txBox="1"/>
          <p:nvPr/>
        </p:nvSpPr>
        <p:spPr>
          <a:xfrm>
            <a:off x="4641693" y="3943502"/>
            <a:ext cx="1863151"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Financial-crime investigation</a:t>
            </a:r>
            <a:endParaRPr lang="en-US" sz="1100" dirty="0"/>
          </a:p>
        </p:txBody>
      </p:sp>
      <p:sp>
        <p:nvSpPr>
          <p:cNvPr id="22" name="Shape 19"/>
          <p:cNvSpPr/>
          <p:nvPr/>
        </p:nvSpPr>
        <p:spPr>
          <a:xfrm>
            <a:off x="457200" y="4254398"/>
            <a:ext cx="1048596" cy="246888"/>
          </a:xfrm>
          <a:prstGeom prst="roundRect">
            <a:avLst>
              <a:gd name="adj" fmla="val 50000"/>
            </a:avLst>
          </a:prstGeom>
          <a:solidFill>
            <a:srgbClr val="14141D"/>
          </a:solidFill>
          <a:ln w="9525">
            <a:solidFill>
              <a:srgbClr val="3A3A50"/>
            </a:solidFill>
            <a:prstDash val="solid"/>
          </a:ln>
        </p:spPr>
      </p:sp>
      <p:sp>
        <p:nvSpPr>
          <p:cNvPr id="23" name="Shape 20"/>
          <p:cNvSpPr/>
          <p:nvPr/>
        </p:nvSpPr>
        <p:spPr>
          <a:xfrm>
            <a:off x="548640" y="4341266"/>
            <a:ext cx="73152" cy="73152"/>
          </a:xfrm>
          <a:prstGeom prst="ellipse">
            <a:avLst/>
          </a:prstGeom>
          <a:solidFill>
            <a:srgbClr val="3B82F6"/>
          </a:solidFill>
          <a:ln/>
        </p:spPr>
      </p:sp>
      <p:sp>
        <p:nvSpPr>
          <p:cNvPr id="24" name="Text 21"/>
          <p:cNvSpPr txBox="1"/>
          <p:nvPr/>
        </p:nvSpPr>
        <p:spPr>
          <a:xfrm>
            <a:off x="667512" y="4254398"/>
            <a:ext cx="838284"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Compliance</a:t>
            </a:r>
            <a:endParaRPr lang="en-US" sz="1100" dirty="0"/>
          </a:p>
        </p:txBody>
      </p:sp>
      <p:sp>
        <p:nvSpPr>
          <p:cNvPr id="25" name="Shape 22"/>
          <p:cNvSpPr/>
          <p:nvPr/>
        </p:nvSpPr>
        <p:spPr>
          <a:xfrm>
            <a:off x="1578948" y="4254398"/>
            <a:ext cx="1211682" cy="246888"/>
          </a:xfrm>
          <a:prstGeom prst="roundRect">
            <a:avLst>
              <a:gd name="adj" fmla="val 50000"/>
            </a:avLst>
          </a:prstGeom>
          <a:solidFill>
            <a:srgbClr val="14141D"/>
          </a:solidFill>
          <a:ln w="9525">
            <a:solidFill>
              <a:srgbClr val="3A3A50"/>
            </a:solidFill>
            <a:prstDash val="solid"/>
          </a:ln>
        </p:spPr>
      </p:sp>
      <p:sp>
        <p:nvSpPr>
          <p:cNvPr id="26" name="Shape 23"/>
          <p:cNvSpPr/>
          <p:nvPr/>
        </p:nvSpPr>
        <p:spPr>
          <a:xfrm>
            <a:off x="1670388" y="4341266"/>
            <a:ext cx="73152" cy="73152"/>
          </a:xfrm>
          <a:prstGeom prst="ellipse">
            <a:avLst/>
          </a:prstGeom>
          <a:solidFill>
            <a:srgbClr val="06B6D4"/>
          </a:solidFill>
          <a:ln/>
        </p:spPr>
      </p:sp>
      <p:sp>
        <p:nvSpPr>
          <p:cNvPr id="27" name="Text 24"/>
          <p:cNvSpPr txBox="1"/>
          <p:nvPr/>
        </p:nvSpPr>
        <p:spPr>
          <a:xfrm>
            <a:off x="1789260" y="4254398"/>
            <a:ext cx="1001370" cy="246888"/>
          </a:xfrm>
          <a:prstGeom prst="rect">
            <a:avLst/>
          </a:prstGeom>
          <a:noFill/>
          <a:ln/>
        </p:spPr>
        <p:txBody>
          <a:bodyPr wrap="square" lIns="0" tIns="0" rIns="0" bIns="0" rtlCol="0" anchor="ctr"/>
          <a:lstStyle/>
          <a:p>
            <a:pPr indent="0" marL="0">
              <a:buNone/>
            </a:pPr>
            <a:r>
              <a:rPr lang="en-US" sz="1100" dirty="0">
                <a:solidFill>
                  <a:srgbClr val="E8E8F0"/>
                </a:solidFill>
                <a:latin typeface="Arial" pitchFamily="34" charset="0"/>
                <a:ea typeface="Arial" pitchFamily="34" charset="-122"/>
                <a:cs typeface="Arial" pitchFamily="34" charset="-120"/>
              </a:rPr>
              <a:t>Emerging tech</a:t>
            </a:r>
            <a:endParaRPr lang="en-US" sz="1100" dirty="0"/>
          </a:p>
        </p:txBody>
      </p:sp>
      <p:sp>
        <p:nvSpPr>
          <p:cNvPr id="28" name="Text 25"/>
          <p:cNvSpPr txBox="1"/>
          <p:nvPr/>
        </p:nvSpPr>
        <p:spPr>
          <a:xfrm>
            <a:off x="457200" y="4766462"/>
            <a:ext cx="6858000" cy="237744"/>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Founding Partner and pilot-cohort programme · Pre-launch · September 2026</a:t>
            </a:r>
            <a:endParaRPr lang="en-US" sz="1400" dirty="0"/>
          </a:p>
        </p:txBody>
      </p:sp>
      <p:sp>
        <p:nvSpPr>
          <p:cNvPr id="29" name="Shape 26"/>
          <p:cNvSpPr/>
          <p:nvPr/>
        </p:nvSpPr>
        <p:spPr>
          <a:xfrm>
            <a:off x="457200" y="5168798"/>
            <a:ext cx="6309360" cy="682752"/>
          </a:xfrm>
          <a:prstGeom prst="roundRect">
            <a:avLst>
              <a:gd name="adj" fmla="val 13393"/>
            </a:avLst>
          </a:prstGeom>
          <a:solidFill>
            <a:srgbClr val="15151F"/>
          </a:solidFill>
          <a:ln w="9525">
            <a:solidFill>
              <a:srgbClr val="5A4A22"/>
            </a:solidFill>
            <a:prstDash val="solid"/>
          </a:ln>
        </p:spPr>
      </p:sp>
      <p:pic>
        <p:nvPicPr>
          <p:cNvPr id="30" name="Image 0" descr="preencoded.png">    </p:cNvPr>
          <p:cNvPicPr>
            <a:picLocks noChangeAspect="1"/>
          </p:cNvPicPr>
          <p:nvPr/>
        </p:nvPicPr>
        <p:blipFill>
          <a:blip r:embed="rId2"/>
          <a:stretch>
            <a:fillRect/>
          </a:stretch>
        </p:blipFill>
        <p:spPr>
          <a:xfrm>
            <a:off x="621792" y="5382158"/>
            <a:ext cx="256032" cy="256032"/>
          </a:xfrm>
          <a:prstGeom prst="rect">
            <a:avLst/>
          </a:prstGeom>
        </p:spPr>
      </p:pic>
      <p:sp>
        <p:nvSpPr>
          <p:cNvPr id="31" name="Text 27"/>
          <p:cNvSpPr txBox="1"/>
          <p:nvPr/>
        </p:nvSpPr>
        <p:spPr>
          <a:xfrm>
            <a:off x="1005840" y="5168798"/>
            <a:ext cx="5623560" cy="682752"/>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Real grades and reports today; the team-admin console and evidence pack come with the pilot</a:t>
            </a:r>
            <a:endParaRPr lang="en-US" sz="1400" dirty="0"/>
          </a:p>
        </p:txBody>
      </p:sp>
      <p:sp>
        <p:nvSpPr>
          <p:cNvPr id="32" name="Shape 28"/>
          <p:cNvSpPr/>
          <p:nvPr/>
        </p:nvSpPr>
        <p:spPr>
          <a:xfrm>
            <a:off x="7500611" y="5391302"/>
            <a:ext cx="2719349" cy="237744"/>
          </a:xfrm>
          <a:prstGeom prst="roundRect">
            <a:avLst>
              <a:gd name="adj" fmla="val 50000"/>
            </a:avLst>
          </a:prstGeom>
          <a:solidFill>
            <a:srgbClr val="1B1B27"/>
          </a:solidFill>
          <a:ln w="9525">
            <a:solidFill>
              <a:srgbClr val="3A3A50"/>
            </a:solidFill>
            <a:prstDash val="solid"/>
          </a:ln>
        </p:spPr>
      </p:sp>
      <p:sp>
        <p:nvSpPr>
          <p:cNvPr id="33" name="Shape 29"/>
          <p:cNvSpPr/>
          <p:nvPr/>
        </p:nvSpPr>
        <p:spPr>
          <a:xfrm>
            <a:off x="7592051" y="5473598"/>
            <a:ext cx="73152" cy="73152"/>
          </a:xfrm>
          <a:prstGeom prst="ellipse">
            <a:avLst/>
          </a:prstGeom>
          <a:solidFill>
            <a:srgbClr val="A9A9C6"/>
          </a:solidFill>
          <a:ln/>
        </p:spPr>
      </p:sp>
      <p:sp>
        <p:nvSpPr>
          <p:cNvPr id="34" name="Text 30"/>
          <p:cNvSpPr txBox="1"/>
          <p:nvPr/>
        </p:nvSpPr>
        <p:spPr>
          <a:xfrm>
            <a:off x="7720067" y="5391302"/>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35" name="Text 31"/>
          <p:cNvSpPr txBox="1"/>
          <p:nvPr/>
        </p:nvSpPr>
        <p:spPr>
          <a:xfrm>
            <a:off x="10329688" y="5423306"/>
            <a:ext cx="1404807"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Backdrop: landing page</a:t>
            </a:r>
            <a:endParaRPr lang="en-US" sz="1000" dirty="0"/>
          </a:p>
        </p:txBody>
      </p:sp>
      <p:sp>
        <p:nvSpPr>
          <p:cNvPr id="36"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344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96678"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WHO IT IS FOR</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Built for two buyers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The organisations that shape the digital economy, and the teams that have to operate inside it</a:t>
            </a:r>
            <a:endParaRPr lang="en-US" sz="1600" dirty="0"/>
          </a:p>
        </p:txBody>
      </p:sp>
      <p:sp>
        <p:nvSpPr>
          <p:cNvPr id="7" name="Shape 4"/>
          <p:cNvSpPr/>
          <p:nvPr/>
        </p:nvSpPr>
        <p:spPr>
          <a:xfrm>
            <a:off x="457200" y="1828800"/>
            <a:ext cx="4701388" cy="3078480"/>
          </a:xfrm>
          <a:prstGeom prst="roundRect">
            <a:avLst>
              <a:gd name="adj" fmla="val 3564"/>
            </a:avLst>
          </a:prstGeom>
          <a:solidFill>
            <a:srgbClr val="231E12"/>
          </a:solidFill>
          <a:ln w="12700">
            <a:solidFill>
              <a:srgbClr val="5A4A22"/>
            </a:solidFill>
            <a:prstDash val="solid"/>
          </a:ln>
        </p:spPr>
      </p:sp>
      <p:sp>
        <p:nvSpPr>
          <p:cNvPr id="8" name="Shape 5"/>
          <p:cNvSpPr/>
          <p:nvPr/>
        </p:nvSpPr>
        <p:spPr>
          <a:xfrm>
            <a:off x="658368" y="1975104"/>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075688"/>
            <a:ext cx="201168" cy="201168"/>
          </a:xfrm>
          <a:prstGeom prst="rect">
            <a:avLst/>
          </a:prstGeom>
        </p:spPr>
      </p:pic>
      <p:sp>
        <p:nvSpPr>
          <p:cNvPr id="10" name="Text 6"/>
          <p:cNvSpPr txBox="1"/>
          <p:nvPr/>
        </p:nvSpPr>
        <p:spPr>
          <a:xfrm>
            <a:off x="1188720"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Knowledge Partners</a:t>
            </a:r>
            <a:endParaRPr lang="en-US" sz="1900" dirty="0"/>
          </a:p>
        </p:txBody>
      </p:sp>
      <p:sp>
        <p:nvSpPr>
          <p:cNvPr id="11" name="Text 7"/>
          <p:cNvSpPr txBox="1"/>
          <p:nvPr/>
        </p:nvSpPr>
        <p:spPr>
          <a:xfrm>
            <a:off x="658368"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Protocols &amp; stablecoin issuers · Analytics &amp; investigation vendors</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AI companies · Universities &amp; think tanks · Banks</a:t>
            </a:r>
            <a:endParaRPr lang="en-US" sz="1150" dirty="0"/>
          </a:p>
        </p:txBody>
      </p:sp>
      <p:sp>
        <p:nvSpPr>
          <p:cNvPr id="12" name="Text 8"/>
          <p:cNvSpPr txBox="1"/>
          <p:nvPr/>
        </p:nvSpPr>
        <p:spPr>
          <a:xfrm>
            <a:off x="658368" y="2907792"/>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WHAT THEY WANT</a:t>
            </a:r>
            <a:endParaRPr lang="en-US" sz="900" dirty="0"/>
          </a:p>
        </p:txBody>
      </p:sp>
      <p:sp>
        <p:nvSpPr>
          <p:cNvPr id="13" name="Shape 9"/>
          <p:cNvSpPr/>
          <p:nvPr/>
        </p:nvSpPr>
        <p:spPr>
          <a:xfrm>
            <a:off x="658368" y="3209544"/>
            <a:ext cx="73152" cy="73152"/>
          </a:xfrm>
          <a:prstGeom prst="ellipse">
            <a:avLst/>
          </a:prstGeom>
          <a:solidFill>
            <a:srgbClr val="F0C96B"/>
          </a:solidFill>
          <a:ln/>
        </p:spPr>
      </p:sp>
      <p:sp>
        <p:nvSpPr>
          <p:cNvPr id="14" name="Text 10"/>
          <p:cNvSpPr txBox="1"/>
          <p:nvPr/>
        </p:nvSpPr>
        <p:spPr>
          <a:xfrm>
            <a:off x="822960"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Educate your market</a:t>
            </a:r>
            <a:endParaRPr lang="en-US" sz="1400" dirty="0"/>
          </a:p>
        </p:txBody>
      </p:sp>
      <p:sp>
        <p:nvSpPr>
          <p:cNvPr id="15" name="Shape 11"/>
          <p:cNvSpPr/>
          <p:nvPr/>
        </p:nvSpPr>
        <p:spPr>
          <a:xfrm>
            <a:off x="658368" y="3424428"/>
            <a:ext cx="73152" cy="73152"/>
          </a:xfrm>
          <a:prstGeom prst="ellipse">
            <a:avLst/>
          </a:prstGeom>
          <a:solidFill>
            <a:srgbClr val="F0C96B"/>
          </a:solidFill>
          <a:ln/>
        </p:spPr>
      </p:sp>
      <p:sp>
        <p:nvSpPr>
          <p:cNvPr id="16" name="Text 12"/>
          <p:cNvSpPr txBox="1"/>
          <p:nvPr/>
        </p:nvSpPr>
        <p:spPr>
          <a:xfrm>
            <a:off x="822960"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Own the standard</a:t>
            </a:r>
            <a:endParaRPr lang="en-US" sz="1400" dirty="0"/>
          </a:p>
        </p:txBody>
      </p:sp>
      <p:sp>
        <p:nvSpPr>
          <p:cNvPr id="17" name="Shape 13"/>
          <p:cNvSpPr/>
          <p:nvPr/>
        </p:nvSpPr>
        <p:spPr>
          <a:xfrm>
            <a:off x="658368" y="3639312"/>
            <a:ext cx="73152" cy="73152"/>
          </a:xfrm>
          <a:prstGeom prst="ellipse">
            <a:avLst/>
          </a:prstGeom>
          <a:solidFill>
            <a:srgbClr val="F0C96B"/>
          </a:solidFill>
          <a:ln/>
        </p:spPr>
      </p:sp>
      <p:sp>
        <p:nvSpPr>
          <p:cNvPr id="18" name="Text 14"/>
          <p:cNvSpPr txBox="1"/>
          <p:nvPr/>
        </p:nvSpPr>
        <p:spPr>
          <a:xfrm>
            <a:off x="822960" y="3566160"/>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Build a talent pool</a:t>
            </a:r>
            <a:endParaRPr lang="en-US" sz="1400" dirty="0"/>
          </a:p>
        </p:txBody>
      </p:sp>
      <p:sp>
        <p:nvSpPr>
          <p:cNvPr id="19" name="Shape 15"/>
          <p:cNvSpPr/>
          <p:nvPr/>
        </p:nvSpPr>
        <p:spPr>
          <a:xfrm>
            <a:off x="2899334" y="3209544"/>
            <a:ext cx="73152" cy="73152"/>
          </a:xfrm>
          <a:prstGeom prst="ellipse">
            <a:avLst/>
          </a:prstGeom>
          <a:solidFill>
            <a:srgbClr val="F0C96B"/>
          </a:solidFill>
          <a:ln/>
        </p:spPr>
      </p:sp>
      <p:sp>
        <p:nvSpPr>
          <p:cNvPr id="20" name="Text 16"/>
          <p:cNvSpPr txBox="1"/>
          <p:nvPr/>
        </p:nvSpPr>
        <p:spPr>
          <a:xfrm>
            <a:off x="3063926" y="3136392"/>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Policy insight</a:t>
            </a:r>
            <a:endParaRPr lang="en-US" sz="1400" dirty="0"/>
          </a:p>
        </p:txBody>
      </p:sp>
      <p:sp>
        <p:nvSpPr>
          <p:cNvPr id="21" name="Shape 17"/>
          <p:cNvSpPr/>
          <p:nvPr/>
        </p:nvSpPr>
        <p:spPr>
          <a:xfrm>
            <a:off x="2899334" y="3424428"/>
            <a:ext cx="73152" cy="73152"/>
          </a:xfrm>
          <a:prstGeom prst="ellipse">
            <a:avLst/>
          </a:prstGeom>
          <a:solidFill>
            <a:srgbClr val="F0C96B"/>
          </a:solidFill>
          <a:ln/>
        </p:spPr>
      </p:sp>
      <p:sp>
        <p:nvSpPr>
          <p:cNvPr id="22" name="Text 18"/>
          <p:cNvSpPr txBox="1"/>
          <p:nvPr/>
        </p:nvSpPr>
        <p:spPr>
          <a:xfrm>
            <a:off x="3063926" y="3351276"/>
            <a:ext cx="1893494"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Revenue from content</a:t>
            </a:r>
            <a:endParaRPr lang="en-US" sz="1400" dirty="0"/>
          </a:p>
        </p:txBody>
      </p:sp>
      <p:sp>
        <p:nvSpPr>
          <p:cNvPr id="23" name="Text 19"/>
          <p:cNvSpPr txBox="1"/>
          <p:nvPr/>
        </p:nvSpPr>
        <p:spPr>
          <a:xfrm>
            <a:off x="658368" y="3872484"/>
            <a:ext cx="4299052"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UNIVERSITIES AND THINK TANKS ALSO WANT</a:t>
            </a:r>
            <a:endParaRPr lang="en-US" sz="900" dirty="0"/>
          </a:p>
        </p:txBody>
      </p:sp>
      <p:sp>
        <p:nvSpPr>
          <p:cNvPr id="24" name="Shape 20"/>
          <p:cNvSpPr/>
          <p:nvPr/>
        </p:nvSpPr>
        <p:spPr>
          <a:xfrm>
            <a:off x="658368" y="4174236"/>
            <a:ext cx="73152" cy="73152"/>
          </a:xfrm>
          <a:prstGeom prst="ellipse">
            <a:avLst/>
          </a:prstGeom>
          <a:solidFill>
            <a:srgbClr val="F0C96B"/>
          </a:solidFill>
          <a:ln/>
        </p:spPr>
      </p:sp>
      <p:sp>
        <p:nvSpPr>
          <p:cNvPr id="25" name="Text 21"/>
          <p:cNvSpPr txBox="1"/>
          <p:nvPr/>
        </p:nvSpPr>
        <p:spPr>
          <a:xfrm>
            <a:off x="822960" y="4101084"/>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Co-certified executive education</a:t>
            </a:r>
            <a:endParaRPr lang="en-US" sz="1250" dirty="0"/>
          </a:p>
        </p:txBody>
      </p:sp>
      <p:sp>
        <p:nvSpPr>
          <p:cNvPr id="26" name="Shape 22"/>
          <p:cNvSpPr/>
          <p:nvPr/>
        </p:nvSpPr>
        <p:spPr>
          <a:xfrm>
            <a:off x="658368" y="4389120"/>
            <a:ext cx="73152" cy="73152"/>
          </a:xfrm>
          <a:prstGeom prst="ellipse">
            <a:avLst/>
          </a:prstGeom>
          <a:solidFill>
            <a:srgbClr val="F0C96B"/>
          </a:solidFill>
          <a:ln/>
        </p:spPr>
      </p:sp>
      <p:sp>
        <p:nvSpPr>
          <p:cNvPr id="27" name="Text 23"/>
          <p:cNvSpPr txBox="1"/>
          <p:nvPr/>
        </p:nvSpPr>
        <p:spPr>
          <a:xfrm>
            <a:off x="822960"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Research round tables with practitioners and regulators</a:t>
            </a:r>
            <a:endParaRPr lang="en-US" sz="1250" dirty="0"/>
          </a:p>
        </p:txBody>
      </p:sp>
      <p:sp>
        <p:nvSpPr>
          <p:cNvPr id="28" name="Shape 24"/>
          <p:cNvSpPr/>
          <p:nvPr/>
        </p:nvSpPr>
        <p:spPr>
          <a:xfrm>
            <a:off x="658368" y="4604004"/>
            <a:ext cx="73152" cy="73152"/>
          </a:xfrm>
          <a:prstGeom prst="ellipse">
            <a:avLst/>
          </a:prstGeom>
          <a:solidFill>
            <a:srgbClr val="F0C96B"/>
          </a:solidFill>
          <a:ln/>
        </p:spPr>
      </p:sp>
      <p:sp>
        <p:nvSpPr>
          <p:cNvPr id="29" name="Text 25"/>
          <p:cNvSpPr txBox="1"/>
          <p:nvPr/>
        </p:nvSpPr>
        <p:spPr>
          <a:xfrm>
            <a:off x="822960"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A route to industry for graduates</a:t>
            </a:r>
            <a:endParaRPr lang="en-US" sz="1250" dirty="0"/>
          </a:p>
        </p:txBody>
      </p:sp>
      <p:sp>
        <p:nvSpPr>
          <p:cNvPr id="30" name="Shape 26"/>
          <p:cNvSpPr/>
          <p:nvPr/>
        </p:nvSpPr>
        <p:spPr>
          <a:xfrm>
            <a:off x="7033108" y="1828800"/>
            <a:ext cx="4701388" cy="3078480"/>
          </a:xfrm>
          <a:prstGeom prst="roundRect">
            <a:avLst>
              <a:gd name="adj" fmla="val 3564"/>
            </a:avLst>
          </a:prstGeom>
          <a:solidFill>
            <a:srgbClr val="121B2C"/>
          </a:solidFill>
          <a:ln w="12700">
            <a:solidFill>
              <a:srgbClr val="27436E"/>
            </a:solidFill>
            <a:prstDash val="solid"/>
          </a:ln>
        </p:spPr>
      </p:sp>
      <p:sp>
        <p:nvSpPr>
          <p:cNvPr id="31" name="Shape 27"/>
          <p:cNvSpPr/>
          <p:nvPr/>
        </p:nvSpPr>
        <p:spPr>
          <a:xfrm>
            <a:off x="7234276" y="1975104"/>
            <a:ext cx="402336" cy="402336"/>
          </a:xfrm>
          <a:prstGeom prst="ellipse">
            <a:avLst/>
          </a:prstGeom>
          <a:solidFill>
            <a:srgbClr val="0F1829"/>
          </a:solidFill>
          <a:ln w="9525">
            <a:solidFill>
              <a:srgbClr val="27436E"/>
            </a:solidFill>
            <a:prstDash val="solid"/>
          </a:ln>
        </p:spPr>
      </p:sp>
      <p:pic>
        <p:nvPicPr>
          <p:cNvPr id="32" name="Image 1" descr="preencoded.png">    </p:cNvPr>
          <p:cNvPicPr>
            <a:picLocks noChangeAspect="1"/>
          </p:cNvPicPr>
          <p:nvPr/>
        </p:nvPicPr>
        <p:blipFill>
          <a:blip r:embed="rId3"/>
          <a:stretch>
            <a:fillRect/>
          </a:stretch>
        </p:blipFill>
        <p:spPr>
          <a:xfrm>
            <a:off x="7334860" y="2075688"/>
            <a:ext cx="201168" cy="201168"/>
          </a:xfrm>
          <a:prstGeom prst="rect">
            <a:avLst/>
          </a:prstGeom>
        </p:spPr>
      </p:pic>
      <p:sp>
        <p:nvSpPr>
          <p:cNvPr id="33" name="Text 28"/>
          <p:cNvSpPr txBox="1"/>
          <p:nvPr/>
        </p:nvSpPr>
        <p:spPr>
          <a:xfrm>
            <a:off x="7764628" y="1975104"/>
            <a:ext cx="3786988" cy="402336"/>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For Enterprise Teams</a:t>
            </a:r>
            <a:endParaRPr lang="en-US" sz="1900" dirty="0"/>
          </a:p>
        </p:txBody>
      </p:sp>
      <p:sp>
        <p:nvSpPr>
          <p:cNvPr id="34" name="Text 29"/>
          <p:cNvSpPr txBox="1"/>
          <p:nvPr/>
        </p:nvSpPr>
        <p:spPr>
          <a:xfrm>
            <a:off x="7234276" y="2450592"/>
            <a:ext cx="4408780" cy="393192"/>
          </a:xfrm>
          <a:prstGeom prst="rect">
            <a:avLst/>
          </a:prstGeom>
          <a:noFill/>
          <a:ln/>
        </p:spPr>
        <p:txBody>
          <a:bodyPr wrap="square" lIns="0" tIns="0" rIns="0" bIns="0" rtlCol="0" anchor="t"/>
          <a:lstStyle/>
          <a:p>
            <a:pPr indent="0" marL="0">
              <a:buNone/>
            </a:pPr>
            <a:r>
              <a:rPr lang="en-US" sz="1150" dirty="0">
                <a:solidFill>
                  <a:srgbClr val="B4B4C8"/>
                </a:solidFill>
                <a:latin typeface="Arial" pitchFamily="34" charset="0"/>
                <a:ea typeface="Arial" pitchFamily="34" charset="-122"/>
                <a:cs typeface="Arial" pitchFamily="34" charset="-120"/>
              </a:rPr>
              <a:t>Banks · Fintechs · VASPs &amp; exchanges · Law enforcement</a:t>
            </a:r>
            <a:endParaRPr lang="en-US" sz="1150" dirty="0"/>
          </a:p>
          <a:p>
            <a:pPr indent="0" marL="0">
              <a:buNone/>
            </a:pPr>
            <a:r>
              <a:rPr lang="en-US" sz="1150" dirty="0">
                <a:solidFill>
                  <a:srgbClr val="B4B4C8"/>
                </a:solidFill>
                <a:latin typeface="Arial" pitchFamily="34" charset="0"/>
                <a:ea typeface="Arial" pitchFamily="34" charset="-122"/>
                <a:cs typeface="Arial" pitchFamily="34" charset="-120"/>
              </a:rPr>
              <a:t>Regulators' &amp; FIU teams · Corporates &amp; treasury</a:t>
            </a:r>
            <a:endParaRPr lang="en-US" sz="1150" dirty="0"/>
          </a:p>
        </p:txBody>
      </p:sp>
      <p:sp>
        <p:nvSpPr>
          <p:cNvPr id="35" name="Text 30"/>
          <p:cNvSpPr txBox="1"/>
          <p:nvPr/>
        </p:nvSpPr>
        <p:spPr>
          <a:xfrm>
            <a:off x="7234276" y="2907792"/>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WHAT THEY WANT</a:t>
            </a:r>
            <a:endParaRPr lang="en-US" sz="900" dirty="0"/>
          </a:p>
        </p:txBody>
      </p:sp>
      <p:sp>
        <p:nvSpPr>
          <p:cNvPr id="36" name="Shape 31"/>
          <p:cNvSpPr/>
          <p:nvPr/>
        </p:nvSpPr>
        <p:spPr>
          <a:xfrm>
            <a:off x="7234276" y="3209544"/>
            <a:ext cx="73152" cy="73152"/>
          </a:xfrm>
          <a:prstGeom prst="ellipse">
            <a:avLst/>
          </a:prstGeom>
          <a:solidFill>
            <a:srgbClr val="60A5FA"/>
          </a:solidFill>
          <a:ln/>
        </p:spPr>
      </p:sp>
      <p:sp>
        <p:nvSpPr>
          <p:cNvPr id="37" name="Text 32"/>
          <p:cNvSpPr txBox="1"/>
          <p:nvPr/>
        </p:nvSpPr>
        <p:spPr>
          <a:xfrm>
            <a:off x="7398868" y="3136392"/>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Close competence gaps</a:t>
            </a:r>
            <a:endParaRPr lang="en-US" sz="1400" dirty="0"/>
          </a:p>
        </p:txBody>
      </p:sp>
      <p:sp>
        <p:nvSpPr>
          <p:cNvPr id="38" name="Shape 33"/>
          <p:cNvSpPr/>
          <p:nvPr/>
        </p:nvSpPr>
        <p:spPr>
          <a:xfrm>
            <a:off x="7234276" y="3424428"/>
            <a:ext cx="73152" cy="73152"/>
          </a:xfrm>
          <a:prstGeom prst="ellipse">
            <a:avLst/>
          </a:prstGeom>
          <a:solidFill>
            <a:srgbClr val="60A5FA"/>
          </a:solidFill>
          <a:ln/>
        </p:spPr>
      </p:sp>
      <p:sp>
        <p:nvSpPr>
          <p:cNvPr id="39" name="Text 34"/>
          <p:cNvSpPr txBox="1"/>
          <p:nvPr/>
        </p:nvSpPr>
        <p:spPr>
          <a:xfrm>
            <a:off x="7398868" y="3351276"/>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One training record</a:t>
            </a:r>
            <a:endParaRPr lang="en-US" sz="1400" dirty="0"/>
          </a:p>
        </p:txBody>
      </p:sp>
      <p:sp>
        <p:nvSpPr>
          <p:cNvPr id="40" name="Shape 35"/>
          <p:cNvSpPr/>
          <p:nvPr/>
        </p:nvSpPr>
        <p:spPr>
          <a:xfrm>
            <a:off x="7234276" y="3639312"/>
            <a:ext cx="73152" cy="73152"/>
          </a:xfrm>
          <a:prstGeom prst="ellipse">
            <a:avLst/>
          </a:prstGeom>
          <a:solidFill>
            <a:srgbClr val="60A5FA"/>
          </a:solidFill>
          <a:ln/>
        </p:spPr>
      </p:sp>
      <p:sp>
        <p:nvSpPr>
          <p:cNvPr id="41" name="Text 36"/>
          <p:cNvSpPr txBox="1"/>
          <p:nvPr/>
        </p:nvSpPr>
        <p:spPr>
          <a:xfrm>
            <a:off x="7398868" y="3566160"/>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Evidence for supervisors and audit</a:t>
            </a:r>
            <a:endParaRPr lang="en-US" sz="1400" dirty="0"/>
          </a:p>
        </p:txBody>
      </p:sp>
      <p:sp>
        <p:nvSpPr>
          <p:cNvPr id="42" name="Shape 37"/>
          <p:cNvSpPr/>
          <p:nvPr/>
        </p:nvSpPr>
        <p:spPr>
          <a:xfrm>
            <a:off x="7234276" y="3854196"/>
            <a:ext cx="73152" cy="73152"/>
          </a:xfrm>
          <a:prstGeom prst="ellipse">
            <a:avLst/>
          </a:prstGeom>
          <a:solidFill>
            <a:srgbClr val="60A5FA"/>
          </a:solidFill>
          <a:ln/>
        </p:spPr>
      </p:sp>
      <p:sp>
        <p:nvSpPr>
          <p:cNvPr id="43" name="Text 38"/>
          <p:cNvSpPr txBox="1"/>
          <p:nvPr/>
        </p:nvSpPr>
        <p:spPr>
          <a:xfrm>
            <a:off x="7398868" y="3781044"/>
            <a:ext cx="4134460" cy="228600"/>
          </a:xfrm>
          <a:prstGeom prst="rect">
            <a:avLst/>
          </a:prstGeom>
          <a:noFill/>
          <a:ln/>
        </p:spPr>
        <p:txBody>
          <a:bodyPr wrap="square" lIns="0" tIns="0" rIns="0" bIns="0" rtlCol="0" anchor="t"/>
          <a:lstStyle/>
          <a:p>
            <a:pPr indent="0" marL="0">
              <a:buNone/>
            </a:pPr>
            <a:r>
              <a:rPr lang="en-US" sz="1400" dirty="0">
                <a:solidFill>
                  <a:srgbClr val="FFFFFF"/>
                </a:solidFill>
                <a:latin typeface="Arial" pitchFamily="34" charset="0"/>
                <a:ea typeface="Arial" pitchFamily="34" charset="-122"/>
                <a:cs typeface="Arial" pitchFamily="34" charset="-120"/>
              </a:rPr>
              <a:t>Grow people into roles</a:t>
            </a:r>
            <a:endParaRPr lang="en-US" sz="1400" dirty="0"/>
          </a:p>
        </p:txBody>
      </p:sp>
      <p:sp>
        <p:nvSpPr>
          <p:cNvPr id="44" name="Text 39"/>
          <p:cNvSpPr txBox="1"/>
          <p:nvPr/>
        </p:nvSpPr>
        <p:spPr>
          <a:xfrm>
            <a:off x="7234276" y="4087368"/>
            <a:ext cx="4299052"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ALSO FOR REGULATORS' AND FIU TEAMS</a:t>
            </a:r>
            <a:endParaRPr lang="en-US" sz="900" dirty="0"/>
          </a:p>
        </p:txBody>
      </p:sp>
      <p:sp>
        <p:nvSpPr>
          <p:cNvPr id="45" name="Shape 40"/>
          <p:cNvSpPr/>
          <p:nvPr/>
        </p:nvSpPr>
        <p:spPr>
          <a:xfrm>
            <a:off x="7234276" y="4389120"/>
            <a:ext cx="73152" cy="73152"/>
          </a:xfrm>
          <a:prstGeom prst="ellipse">
            <a:avLst/>
          </a:prstGeom>
          <a:solidFill>
            <a:srgbClr val="60A5FA"/>
          </a:solidFill>
          <a:ln/>
        </p:spPr>
      </p:sp>
      <p:sp>
        <p:nvSpPr>
          <p:cNvPr id="46" name="Text 41"/>
          <p:cNvSpPr txBox="1"/>
          <p:nvPr/>
        </p:nvSpPr>
        <p:spPr>
          <a:xfrm>
            <a:off x="7398868" y="4315968"/>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CHRON-INV: tracing for FIUs and law enforcement</a:t>
            </a:r>
            <a:endParaRPr lang="en-US" sz="1250" dirty="0"/>
          </a:p>
        </p:txBody>
      </p:sp>
      <p:sp>
        <p:nvSpPr>
          <p:cNvPr id="47" name="Shape 42"/>
          <p:cNvSpPr/>
          <p:nvPr/>
        </p:nvSpPr>
        <p:spPr>
          <a:xfrm>
            <a:off x="7234276" y="4604004"/>
            <a:ext cx="73152" cy="73152"/>
          </a:xfrm>
          <a:prstGeom prst="ellipse">
            <a:avLst/>
          </a:prstGeom>
          <a:solidFill>
            <a:srgbClr val="60A5FA"/>
          </a:solidFill>
          <a:ln/>
        </p:spPr>
      </p:sp>
      <p:sp>
        <p:nvSpPr>
          <p:cNvPr id="48" name="Text 43"/>
          <p:cNvSpPr txBox="1"/>
          <p:nvPr/>
        </p:nvSpPr>
        <p:spPr>
          <a:xfrm>
            <a:off x="7398868" y="4530852"/>
            <a:ext cx="4134460" cy="228600"/>
          </a:xfrm>
          <a:prstGeom prst="rect">
            <a:avLst/>
          </a:prstGeom>
          <a:noFill/>
          <a:ln/>
        </p:spPr>
        <p:txBody>
          <a:bodyPr wrap="square" lIns="0" tIns="0" rIns="0" bIns="0" rtlCol="0" anchor="t"/>
          <a:lstStyle/>
          <a:p>
            <a:pPr indent="0" marL="0">
              <a:buNone/>
            </a:pPr>
            <a:r>
              <a:rPr lang="en-US" sz="1250" dirty="0">
                <a:solidFill>
                  <a:srgbClr val="FFFFFF"/>
                </a:solidFill>
                <a:latin typeface="Arial" pitchFamily="34" charset="0"/>
                <a:ea typeface="Arial" pitchFamily="34" charset="-122"/>
                <a:cs typeface="Arial" pitchFamily="34" charset="-120"/>
              </a:rPr>
              <a:t>CHRON-GOV: policy and supervision for regulators</a:t>
            </a:r>
            <a:endParaRPr lang="en-US" sz="1250" dirty="0"/>
          </a:p>
        </p:txBody>
      </p:sp>
      <p:sp>
        <p:nvSpPr>
          <p:cNvPr id="49" name="Text 44"/>
          <p:cNvSpPr txBox="1"/>
          <p:nvPr/>
        </p:nvSpPr>
        <p:spPr>
          <a:xfrm>
            <a:off x="5432908" y="1874520"/>
            <a:ext cx="1325880" cy="182880"/>
          </a:xfrm>
          <a:prstGeom prst="rect">
            <a:avLst/>
          </a:prstGeom>
          <a:noFill/>
          <a:ln/>
        </p:spPr>
        <p:txBody>
          <a:bodyPr wrap="square" lIns="0" tIns="0" rIns="0" bIns="0" rtlCol="0" anchor="t"/>
          <a:lstStyle/>
          <a:p>
            <a:pPr algn="ctr" indent="0" marL="0">
              <a:buNone/>
            </a:pPr>
            <a:r>
              <a:rPr lang="en-US" sz="900" b="1" spc="120" kern="0" dirty="0">
                <a:solidFill>
                  <a:srgbClr val="8E8EA2"/>
                </a:solidFill>
                <a:latin typeface="Arial" pitchFamily="34" charset="0"/>
                <a:ea typeface="Arial" pitchFamily="34" charset="-122"/>
                <a:cs typeface="Arial" pitchFamily="34" charset="-120"/>
              </a:rPr>
              <a:t>ONE CITY</a:t>
            </a:r>
            <a:endParaRPr lang="en-US" sz="900" dirty="0"/>
          </a:p>
        </p:txBody>
      </p:sp>
      <p:sp>
        <p:nvSpPr>
          <p:cNvPr id="50" name="Shape 45"/>
          <p:cNvSpPr/>
          <p:nvPr/>
        </p:nvSpPr>
        <p:spPr>
          <a:xfrm>
            <a:off x="5432908" y="2157984"/>
            <a:ext cx="1325880" cy="274320"/>
          </a:xfrm>
          <a:prstGeom prst="roundRect">
            <a:avLst>
              <a:gd name="adj" fmla="val 50000"/>
            </a:avLst>
          </a:prstGeom>
          <a:solidFill>
            <a:srgbClr val="14141D"/>
          </a:solidFill>
          <a:ln w="9525">
            <a:solidFill>
              <a:srgbClr val="3A3A50"/>
            </a:solidFill>
            <a:prstDash val="solid"/>
          </a:ln>
        </p:spPr>
      </p:sp>
      <p:sp>
        <p:nvSpPr>
          <p:cNvPr id="51" name="Shape 46"/>
          <p:cNvSpPr/>
          <p:nvPr/>
        </p:nvSpPr>
        <p:spPr>
          <a:xfrm>
            <a:off x="5542636" y="2249424"/>
            <a:ext cx="91440" cy="91440"/>
          </a:xfrm>
          <a:prstGeom prst="ellipse">
            <a:avLst/>
          </a:prstGeom>
          <a:solidFill>
            <a:srgbClr val="6C63FF"/>
          </a:solidFill>
          <a:ln/>
        </p:spPr>
      </p:sp>
      <p:sp>
        <p:nvSpPr>
          <p:cNvPr id="52" name="Text 47"/>
          <p:cNvSpPr txBox="1"/>
          <p:nvPr/>
        </p:nvSpPr>
        <p:spPr>
          <a:xfrm>
            <a:off x="5707228" y="215798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CHRON-AI</a:t>
            </a:r>
            <a:endParaRPr lang="en-US" sz="1000" dirty="0"/>
          </a:p>
        </p:txBody>
      </p:sp>
      <p:sp>
        <p:nvSpPr>
          <p:cNvPr id="53" name="Shape 48"/>
          <p:cNvSpPr/>
          <p:nvPr/>
        </p:nvSpPr>
        <p:spPr>
          <a:xfrm>
            <a:off x="5432908" y="2570480"/>
            <a:ext cx="1325880" cy="274320"/>
          </a:xfrm>
          <a:prstGeom prst="roundRect">
            <a:avLst>
              <a:gd name="adj" fmla="val 50000"/>
            </a:avLst>
          </a:prstGeom>
          <a:solidFill>
            <a:srgbClr val="14141D"/>
          </a:solidFill>
          <a:ln w="9525">
            <a:solidFill>
              <a:srgbClr val="3A3A50"/>
            </a:solidFill>
            <a:prstDash val="solid"/>
          </a:ln>
        </p:spPr>
      </p:sp>
      <p:sp>
        <p:nvSpPr>
          <p:cNvPr id="54" name="Shape 49"/>
          <p:cNvSpPr/>
          <p:nvPr/>
        </p:nvSpPr>
        <p:spPr>
          <a:xfrm>
            <a:off x="5542636" y="2661920"/>
            <a:ext cx="91440" cy="91440"/>
          </a:xfrm>
          <a:prstGeom prst="ellipse">
            <a:avLst/>
          </a:prstGeom>
          <a:solidFill>
            <a:srgbClr val="F59E0B"/>
          </a:solidFill>
          <a:ln/>
        </p:spPr>
      </p:sp>
      <p:sp>
        <p:nvSpPr>
          <p:cNvPr id="55" name="Text 50"/>
          <p:cNvSpPr txBox="1"/>
          <p:nvPr/>
        </p:nvSpPr>
        <p:spPr>
          <a:xfrm>
            <a:off x="5707228" y="257048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CHRON-DA</a:t>
            </a:r>
            <a:endParaRPr lang="en-US" sz="1000" dirty="0"/>
          </a:p>
        </p:txBody>
      </p:sp>
      <p:sp>
        <p:nvSpPr>
          <p:cNvPr id="56" name="Shape 51"/>
          <p:cNvSpPr/>
          <p:nvPr/>
        </p:nvSpPr>
        <p:spPr>
          <a:xfrm>
            <a:off x="5432908" y="2982976"/>
            <a:ext cx="1325880" cy="274320"/>
          </a:xfrm>
          <a:prstGeom prst="roundRect">
            <a:avLst>
              <a:gd name="adj" fmla="val 50000"/>
            </a:avLst>
          </a:prstGeom>
          <a:solidFill>
            <a:srgbClr val="14141D"/>
          </a:solidFill>
          <a:ln w="9525">
            <a:solidFill>
              <a:srgbClr val="3A3A50"/>
            </a:solidFill>
            <a:prstDash val="solid"/>
          </a:ln>
        </p:spPr>
      </p:sp>
      <p:sp>
        <p:nvSpPr>
          <p:cNvPr id="57" name="Shape 52"/>
          <p:cNvSpPr/>
          <p:nvPr/>
        </p:nvSpPr>
        <p:spPr>
          <a:xfrm>
            <a:off x="5542636" y="3074416"/>
            <a:ext cx="91440" cy="91440"/>
          </a:xfrm>
          <a:prstGeom prst="ellipse">
            <a:avLst/>
          </a:prstGeom>
          <a:solidFill>
            <a:srgbClr val="10B981"/>
          </a:solidFill>
          <a:ln/>
        </p:spPr>
      </p:sp>
      <p:sp>
        <p:nvSpPr>
          <p:cNvPr id="58" name="Text 53"/>
          <p:cNvSpPr txBox="1"/>
          <p:nvPr/>
        </p:nvSpPr>
        <p:spPr>
          <a:xfrm>
            <a:off x="5707228" y="2982976"/>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CHRON-GOV</a:t>
            </a:r>
            <a:endParaRPr lang="en-US" sz="1000" dirty="0"/>
          </a:p>
        </p:txBody>
      </p:sp>
      <p:sp>
        <p:nvSpPr>
          <p:cNvPr id="59" name="Shape 54"/>
          <p:cNvSpPr/>
          <p:nvPr/>
        </p:nvSpPr>
        <p:spPr>
          <a:xfrm>
            <a:off x="5432908" y="3395472"/>
            <a:ext cx="1325880" cy="274320"/>
          </a:xfrm>
          <a:prstGeom prst="roundRect">
            <a:avLst>
              <a:gd name="adj" fmla="val 50000"/>
            </a:avLst>
          </a:prstGeom>
          <a:solidFill>
            <a:srgbClr val="14141D"/>
          </a:solidFill>
          <a:ln w="9525">
            <a:solidFill>
              <a:srgbClr val="3A3A50"/>
            </a:solidFill>
            <a:prstDash val="solid"/>
          </a:ln>
        </p:spPr>
      </p:sp>
      <p:sp>
        <p:nvSpPr>
          <p:cNvPr id="60" name="Shape 55"/>
          <p:cNvSpPr/>
          <p:nvPr/>
        </p:nvSpPr>
        <p:spPr>
          <a:xfrm>
            <a:off x="5542636" y="3486912"/>
            <a:ext cx="91440" cy="91440"/>
          </a:xfrm>
          <a:prstGeom prst="ellipse">
            <a:avLst/>
          </a:prstGeom>
          <a:solidFill>
            <a:srgbClr val="3B82F6"/>
          </a:solidFill>
          <a:ln/>
        </p:spPr>
      </p:sp>
      <p:sp>
        <p:nvSpPr>
          <p:cNvPr id="61" name="Text 56"/>
          <p:cNvSpPr txBox="1"/>
          <p:nvPr/>
        </p:nvSpPr>
        <p:spPr>
          <a:xfrm>
            <a:off x="5707228" y="3395472"/>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CHRON-COMP</a:t>
            </a:r>
            <a:endParaRPr lang="en-US" sz="1000" dirty="0"/>
          </a:p>
        </p:txBody>
      </p:sp>
      <p:sp>
        <p:nvSpPr>
          <p:cNvPr id="62" name="Shape 57"/>
          <p:cNvSpPr/>
          <p:nvPr/>
        </p:nvSpPr>
        <p:spPr>
          <a:xfrm>
            <a:off x="5432908" y="3807968"/>
            <a:ext cx="1325880" cy="274320"/>
          </a:xfrm>
          <a:prstGeom prst="roundRect">
            <a:avLst>
              <a:gd name="adj" fmla="val 50000"/>
            </a:avLst>
          </a:prstGeom>
          <a:solidFill>
            <a:srgbClr val="14141D"/>
          </a:solidFill>
          <a:ln w="9525">
            <a:solidFill>
              <a:srgbClr val="3A3A50"/>
            </a:solidFill>
            <a:prstDash val="solid"/>
          </a:ln>
        </p:spPr>
      </p:sp>
      <p:sp>
        <p:nvSpPr>
          <p:cNvPr id="63" name="Shape 58"/>
          <p:cNvSpPr/>
          <p:nvPr/>
        </p:nvSpPr>
        <p:spPr>
          <a:xfrm>
            <a:off x="5542636" y="3899408"/>
            <a:ext cx="91440" cy="91440"/>
          </a:xfrm>
          <a:prstGeom prst="ellipse">
            <a:avLst/>
          </a:prstGeom>
          <a:solidFill>
            <a:srgbClr val="EF4444"/>
          </a:solidFill>
          <a:ln/>
        </p:spPr>
      </p:sp>
      <p:sp>
        <p:nvSpPr>
          <p:cNvPr id="64" name="Text 59"/>
          <p:cNvSpPr txBox="1"/>
          <p:nvPr/>
        </p:nvSpPr>
        <p:spPr>
          <a:xfrm>
            <a:off x="5707228" y="3807968"/>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CHRON-INV</a:t>
            </a:r>
            <a:endParaRPr lang="en-US" sz="1000" dirty="0"/>
          </a:p>
        </p:txBody>
      </p:sp>
      <p:sp>
        <p:nvSpPr>
          <p:cNvPr id="65" name="Shape 60"/>
          <p:cNvSpPr/>
          <p:nvPr/>
        </p:nvSpPr>
        <p:spPr>
          <a:xfrm>
            <a:off x="5432908" y="4220464"/>
            <a:ext cx="1325880" cy="274320"/>
          </a:xfrm>
          <a:prstGeom prst="roundRect">
            <a:avLst>
              <a:gd name="adj" fmla="val 50000"/>
            </a:avLst>
          </a:prstGeom>
          <a:solidFill>
            <a:srgbClr val="14141D"/>
          </a:solidFill>
          <a:ln w="9525">
            <a:solidFill>
              <a:srgbClr val="3A3A50"/>
            </a:solidFill>
            <a:prstDash val="solid"/>
          </a:ln>
        </p:spPr>
      </p:sp>
      <p:sp>
        <p:nvSpPr>
          <p:cNvPr id="66" name="Shape 61"/>
          <p:cNvSpPr/>
          <p:nvPr/>
        </p:nvSpPr>
        <p:spPr>
          <a:xfrm>
            <a:off x="5542636" y="4311904"/>
            <a:ext cx="91440" cy="91440"/>
          </a:xfrm>
          <a:prstGeom prst="ellipse">
            <a:avLst/>
          </a:prstGeom>
          <a:solidFill>
            <a:srgbClr val="8B5CF6"/>
          </a:solidFill>
          <a:ln/>
        </p:spPr>
      </p:sp>
      <p:sp>
        <p:nvSpPr>
          <p:cNvPr id="67" name="Text 62"/>
          <p:cNvSpPr txBox="1"/>
          <p:nvPr/>
        </p:nvSpPr>
        <p:spPr>
          <a:xfrm>
            <a:off x="5707228" y="4220464"/>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CHRON-RISK</a:t>
            </a:r>
            <a:endParaRPr lang="en-US" sz="1000" dirty="0"/>
          </a:p>
        </p:txBody>
      </p:sp>
      <p:sp>
        <p:nvSpPr>
          <p:cNvPr id="68" name="Shape 63"/>
          <p:cNvSpPr/>
          <p:nvPr/>
        </p:nvSpPr>
        <p:spPr>
          <a:xfrm>
            <a:off x="5432908" y="4632960"/>
            <a:ext cx="1325880" cy="274320"/>
          </a:xfrm>
          <a:prstGeom prst="roundRect">
            <a:avLst>
              <a:gd name="adj" fmla="val 50000"/>
            </a:avLst>
          </a:prstGeom>
          <a:solidFill>
            <a:srgbClr val="14141D"/>
          </a:solidFill>
          <a:ln w="9525">
            <a:solidFill>
              <a:srgbClr val="3A3A50"/>
            </a:solidFill>
            <a:prstDash val="solid"/>
          </a:ln>
        </p:spPr>
      </p:sp>
      <p:sp>
        <p:nvSpPr>
          <p:cNvPr id="69" name="Shape 64"/>
          <p:cNvSpPr/>
          <p:nvPr/>
        </p:nvSpPr>
        <p:spPr>
          <a:xfrm>
            <a:off x="5542636" y="4724400"/>
            <a:ext cx="91440" cy="91440"/>
          </a:xfrm>
          <a:prstGeom prst="ellipse">
            <a:avLst/>
          </a:prstGeom>
          <a:solidFill>
            <a:srgbClr val="06B6D4"/>
          </a:solidFill>
          <a:ln/>
        </p:spPr>
      </p:sp>
      <p:sp>
        <p:nvSpPr>
          <p:cNvPr id="70" name="Text 65"/>
          <p:cNvSpPr txBox="1"/>
          <p:nvPr/>
        </p:nvSpPr>
        <p:spPr>
          <a:xfrm>
            <a:off x="5707228" y="4632960"/>
            <a:ext cx="960120" cy="274320"/>
          </a:xfrm>
          <a:prstGeom prst="rect">
            <a:avLst/>
          </a:prstGeom>
          <a:noFill/>
          <a:ln/>
        </p:spPr>
        <p:txBody>
          <a:bodyPr wrap="square" lIns="0" tIns="0" rIns="0" bIns="0" rtlCol="0" anchor="ctr"/>
          <a:lstStyle/>
          <a:p>
            <a:pPr indent="0" marL="0">
              <a:buNone/>
            </a:pPr>
            <a:r>
              <a:rPr lang="en-US" sz="1000" b="1" dirty="0">
                <a:solidFill>
                  <a:srgbClr val="E8E8F0"/>
                </a:solidFill>
                <a:latin typeface="Arial" pitchFamily="34" charset="0"/>
                <a:ea typeface="Arial" pitchFamily="34" charset="-122"/>
                <a:cs typeface="Arial" pitchFamily="34" charset="-120"/>
              </a:rPr>
              <a:t>CHRON-ET</a:t>
            </a:r>
            <a:endParaRPr lang="en-US" sz="1000" dirty="0"/>
          </a:p>
        </p:txBody>
      </p:sp>
      <p:sp>
        <p:nvSpPr>
          <p:cNvPr id="71" name="Text 66"/>
          <p:cNvSpPr txBox="1"/>
          <p:nvPr/>
        </p:nvSpPr>
        <p:spPr>
          <a:xfrm>
            <a:off x="457200" y="5199888"/>
            <a:ext cx="11277295" cy="201168"/>
          </a:xfrm>
          <a:prstGeom prst="rect">
            <a:avLst/>
          </a:prstGeom>
          <a:noFill/>
          <a:ln/>
        </p:spPr>
        <p:txBody>
          <a:bodyPr wrap="square" lIns="0" tIns="0" rIns="0" bIns="0" rtlCol="0" anchor="ctr"/>
          <a:lstStyle/>
          <a:p>
            <a:pPr algn="ctr" indent="0" marL="0">
              <a:buNone/>
            </a:pPr>
            <a:r>
              <a:rPr lang="en-US" sz="1300" dirty="0">
                <a:solidFill>
                  <a:srgbClr val="E8E8F0"/>
                </a:solidFill>
                <a:latin typeface="Arial" pitchFamily="34" charset="0"/>
                <a:ea typeface="Arial" pitchFamily="34" charset="-122"/>
                <a:cs typeface="Arial" pitchFamily="34" charset="-120"/>
              </a:rPr>
              <a:t>Seven Knowledge Districts · four learning layers: L1 Entry · L2 Professional · L3 Institutional / Advanced Practitioner · L4 Influence / Live cohort</a:t>
            </a:r>
            <a:endParaRPr lang="en-US" sz="1300" dirty="0"/>
          </a:p>
        </p:txBody>
      </p:sp>
      <p:sp>
        <p:nvSpPr>
          <p:cNvPr id="72" name="Shape 67"/>
          <p:cNvSpPr/>
          <p:nvPr/>
        </p:nvSpPr>
        <p:spPr>
          <a:xfrm>
            <a:off x="457200" y="5693664"/>
            <a:ext cx="11277295" cy="524256"/>
          </a:xfrm>
          <a:prstGeom prst="roundRect">
            <a:avLst>
              <a:gd name="adj" fmla="val 13953"/>
            </a:avLst>
          </a:prstGeom>
          <a:solidFill>
            <a:srgbClr val="12121A"/>
          </a:solidFill>
          <a:ln w="9525">
            <a:solidFill>
              <a:srgbClr val="2C2C3E"/>
            </a:solidFill>
            <a:prstDash val="solid"/>
          </a:ln>
        </p:spPr>
      </p:sp>
      <p:pic>
        <p:nvPicPr>
          <p:cNvPr id="73" name="Image 2" descr="preencoded.png">    </p:cNvPr>
          <p:cNvPicPr>
            <a:picLocks noChangeAspect="1"/>
          </p:cNvPicPr>
          <p:nvPr/>
        </p:nvPicPr>
        <p:blipFill>
          <a:blip r:embed="rId4"/>
          <a:stretch>
            <a:fillRect/>
          </a:stretch>
        </p:blipFill>
        <p:spPr>
          <a:xfrm>
            <a:off x="603504" y="5812536"/>
            <a:ext cx="182880" cy="182880"/>
          </a:xfrm>
          <a:prstGeom prst="rect">
            <a:avLst/>
          </a:prstGeom>
        </p:spPr>
      </p:pic>
      <p:sp>
        <p:nvSpPr>
          <p:cNvPr id="74" name="Text 68"/>
          <p:cNvSpPr txBox="1"/>
          <p:nvPr/>
        </p:nvSpPr>
        <p:spPr>
          <a:xfrm>
            <a:off x="914400" y="5803392"/>
            <a:ext cx="10682935" cy="341376"/>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Partner roadmap (not signed): Founding: two seats open before launch · Strategic: Tether (target partner; the demo academy is an illustrative Tether scenario) · Content: specialist course providers by district · Institutional: BUiD (MOU in progress), universities, banks. </a:t>
            </a:r>
            <a:r>
              <a:rPr lang="en-US" sz="1000" b="1" dirty="0">
                <a:solidFill>
                  <a:srgbClr val="F0C96B"/>
                </a:solidFill>
                <a:latin typeface="Arial" pitchFamily="34" charset="0"/>
                <a:ea typeface="Arial" pitchFamily="34" charset="-122"/>
                <a:cs typeface="Arial" pitchFamily="34" charset="-120"/>
              </a:rPr>
              <a:t>Tether is a target only; no partnership, endorsement or agreement is implied.</a:t>
            </a:r>
            <a:endParaRPr lang="en-US" sz="1000" dirty="0"/>
          </a:p>
        </p:txBody>
      </p:sp>
      <p:sp>
        <p:nvSpPr>
          <p:cNvPr id="75" name="Text 6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31038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07264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PROBLEM</a:t>
            </a:r>
            <a:endParaRPr lang="en-US" sz="900" dirty="0"/>
          </a:p>
        </p:txBody>
      </p:sp>
      <p:sp>
        <p:nvSpPr>
          <p:cNvPr id="5" name="Text 2"/>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The digital economy has a structural knowledge gap</a:t>
            </a:r>
            <a:endParaRPr lang="en-US" sz="3400" dirty="0"/>
          </a:p>
        </p:txBody>
      </p:sp>
      <p:sp>
        <p:nvSpPr>
          <p:cNvPr id="6" name="Text 3"/>
          <p:cNvSpPr txBox="1"/>
          <p:nvPr/>
        </p:nvSpPr>
        <p:spPr>
          <a:xfrm>
            <a:off x="7635240" y="1268578"/>
            <a:ext cx="409925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No one connects digital assets, AI, governance, risk and investigation in one trusted, neutral place</a:t>
            </a:r>
            <a:endParaRPr lang="en-US" sz="1400" dirty="0"/>
          </a:p>
        </p:txBody>
      </p:sp>
      <p:sp>
        <p:nvSpPr>
          <p:cNvPr id="7" name="Shape 4"/>
          <p:cNvSpPr/>
          <p:nvPr/>
        </p:nvSpPr>
        <p:spPr>
          <a:xfrm>
            <a:off x="457200" y="2006194"/>
            <a:ext cx="5501488" cy="1968703"/>
          </a:xfrm>
          <a:prstGeom prst="roundRect">
            <a:avLst>
              <a:gd name="adj" fmla="val 5574"/>
            </a:avLst>
          </a:prstGeom>
          <a:solidFill>
            <a:srgbClr val="171722"/>
          </a:solidFill>
          <a:ln w="9525">
            <a:solidFill>
              <a:srgbClr val="2C2C3E"/>
            </a:solidFill>
            <a:prstDash val="solid"/>
          </a:ln>
        </p:spPr>
      </p:sp>
      <p:sp>
        <p:nvSpPr>
          <p:cNvPr id="8" name="Shape 5"/>
          <p:cNvSpPr/>
          <p:nvPr/>
        </p:nvSpPr>
        <p:spPr>
          <a:xfrm>
            <a:off x="658368" y="2170786"/>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71370"/>
            <a:ext cx="201168" cy="201168"/>
          </a:xfrm>
          <a:prstGeom prst="rect">
            <a:avLst/>
          </a:prstGeom>
        </p:spPr>
      </p:pic>
      <p:sp>
        <p:nvSpPr>
          <p:cNvPr id="10" name="Text 6"/>
          <p:cNvSpPr txBox="1"/>
          <p:nvPr/>
        </p:nvSpPr>
        <p:spPr>
          <a:xfrm>
            <a:off x="1188720"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Fragmentation</a:t>
            </a:r>
            <a:endParaRPr lang="en-US" sz="1800" dirty="0"/>
          </a:p>
        </p:txBody>
      </p:sp>
      <p:sp>
        <p:nvSpPr>
          <p:cNvPr id="11" name="Text 7"/>
          <p:cNvSpPr txBox="1"/>
          <p:nvPr/>
        </p:nvSpPr>
        <p:spPr>
          <a:xfrm>
            <a:off x="4632808"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6-8, 13</a:t>
            </a:r>
            <a:endParaRPr lang="en-US" sz="1000" dirty="0"/>
          </a:p>
        </p:txBody>
      </p:sp>
      <p:sp>
        <p:nvSpPr>
          <p:cNvPr id="12" name="Text 8"/>
          <p:cNvSpPr txBox="1"/>
          <p:nvPr/>
        </p:nvSpPr>
        <p:spPr>
          <a:xfrm>
            <a:off x="658368"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Stablecoin infrastructure, AI governance, regulation, risk and forensics sit in silos: webinars, conference sessions and vendor decks, with no path by role and no single record.</a:t>
            </a:r>
            <a:endParaRPr lang="en-US" sz="1300" dirty="0"/>
          </a:p>
        </p:txBody>
      </p:sp>
      <p:sp>
        <p:nvSpPr>
          <p:cNvPr id="13" name="Text 9"/>
          <p:cNvSpPr txBox="1"/>
          <p:nvPr/>
        </p:nvSpPr>
        <p:spPr>
          <a:xfrm>
            <a:off x="658368"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seven districts, partner tracks and role-based pathways (P1–P3, E1)</a:t>
            </a:r>
            <a:endParaRPr lang="en-US" sz="1400" dirty="0"/>
          </a:p>
        </p:txBody>
      </p:sp>
      <p:sp>
        <p:nvSpPr>
          <p:cNvPr id="14" name="Shape 10"/>
          <p:cNvSpPr/>
          <p:nvPr/>
        </p:nvSpPr>
        <p:spPr>
          <a:xfrm>
            <a:off x="6233008" y="2006194"/>
            <a:ext cx="5501488" cy="1968703"/>
          </a:xfrm>
          <a:prstGeom prst="roundRect">
            <a:avLst>
              <a:gd name="adj" fmla="val 5574"/>
            </a:avLst>
          </a:prstGeom>
          <a:solidFill>
            <a:srgbClr val="171722"/>
          </a:solidFill>
          <a:ln w="9525">
            <a:solidFill>
              <a:srgbClr val="2C2C3E"/>
            </a:solidFill>
            <a:prstDash val="solid"/>
          </a:ln>
        </p:spPr>
      </p:sp>
      <p:sp>
        <p:nvSpPr>
          <p:cNvPr id="15" name="Shape 11"/>
          <p:cNvSpPr/>
          <p:nvPr/>
        </p:nvSpPr>
        <p:spPr>
          <a:xfrm>
            <a:off x="6434176" y="2170786"/>
            <a:ext cx="402336" cy="402336"/>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534760" y="2271370"/>
            <a:ext cx="201168" cy="201168"/>
          </a:xfrm>
          <a:prstGeom prst="rect">
            <a:avLst/>
          </a:prstGeom>
        </p:spPr>
      </p:pic>
      <p:sp>
        <p:nvSpPr>
          <p:cNvPr id="17" name="Text 12"/>
          <p:cNvSpPr txBox="1"/>
          <p:nvPr/>
        </p:nvSpPr>
        <p:spPr>
          <a:xfrm>
            <a:off x="6964528" y="2170786"/>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Speed mismatch</a:t>
            </a:r>
            <a:endParaRPr lang="en-US" sz="1800" dirty="0"/>
          </a:p>
        </p:txBody>
      </p:sp>
      <p:sp>
        <p:nvSpPr>
          <p:cNvPr id="18" name="Text 13"/>
          <p:cNvSpPr txBox="1"/>
          <p:nvPr/>
        </p:nvSpPr>
        <p:spPr>
          <a:xfrm>
            <a:off x="10408615" y="2170786"/>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7, 12</a:t>
            </a:r>
            <a:endParaRPr lang="en-US" sz="1000" dirty="0"/>
          </a:p>
        </p:txBody>
      </p:sp>
      <p:sp>
        <p:nvSpPr>
          <p:cNvPr id="19" name="Text 14"/>
          <p:cNvSpPr txBox="1"/>
          <p:nvPr/>
        </p:nvSpPr>
        <p:spPr>
          <a:xfrm>
            <a:off x="6434176" y="2664562"/>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MiCA changes, FATF updates, a new exploit creates a new typology. Universities take 18 months to update a curriculum, training firms 6; the market moves daily.</a:t>
            </a:r>
            <a:endParaRPr lang="en-US" sz="1300" dirty="0"/>
          </a:p>
        </p:txBody>
      </p:sp>
      <p:sp>
        <p:nvSpPr>
          <p:cNvPr id="20" name="Text 15"/>
          <p:cNvSpPr txBox="1"/>
          <p:nvPr/>
        </p:nvSpPr>
        <p:spPr>
          <a:xfrm>
            <a:off x="6434176" y="3441802"/>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your experts author courses directly; round tables become drafts within hours (P2, P8)</a:t>
            </a:r>
            <a:endParaRPr lang="en-US" sz="1400" dirty="0"/>
          </a:p>
        </p:txBody>
      </p:sp>
      <p:sp>
        <p:nvSpPr>
          <p:cNvPr id="21" name="Shape 16"/>
          <p:cNvSpPr/>
          <p:nvPr/>
        </p:nvSpPr>
        <p:spPr>
          <a:xfrm>
            <a:off x="457200" y="4249217"/>
            <a:ext cx="5501488" cy="1968703"/>
          </a:xfrm>
          <a:prstGeom prst="roundRect">
            <a:avLst>
              <a:gd name="adj" fmla="val 5574"/>
            </a:avLst>
          </a:prstGeom>
          <a:solidFill>
            <a:srgbClr val="171722"/>
          </a:solidFill>
          <a:ln w="9525">
            <a:solidFill>
              <a:srgbClr val="2C2C3E"/>
            </a:solidFill>
            <a:prstDash val="solid"/>
          </a:ln>
        </p:spPr>
      </p:sp>
      <p:sp>
        <p:nvSpPr>
          <p:cNvPr id="22" name="Shape 17"/>
          <p:cNvSpPr/>
          <p:nvPr/>
        </p:nvSpPr>
        <p:spPr>
          <a:xfrm>
            <a:off x="658368" y="4413809"/>
            <a:ext cx="402336" cy="402336"/>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758952" y="4514393"/>
            <a:ext cx="201168" cy="201168"/>
          </a:xfrm>
          <a:prstGeom prst="rect">
            <a:avLst/>
          </a:prstGeom>
        </p:spPr>
      </p:pic>
      <p:sp>
        <p:nvSpPr>
          <p:cNvPr id="24" name="Text 18"/>
          <p:cNvSpPr txBox="1"/>
          <p:nvPr/>
        </p:nvSpPr>
        <p:spPr>
          <a:xfrm>
            <a:off x="1188720"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Fake credentials</a:t>
            </a:r>
            <a:endParaRPr lang="en-US" sz="1800" dirty="0"/>
          </a:p>
        </p:txBody>
      </p:sp>
      <p:sp>
        <p:nvSpPr>
          <p:cNvPr id="25" name="Text 19"/>
          <p:cNvSpPr txBox="1"/>
          <p:nvPr/>
        </p:nvSpPr>
        <p:spPr>
          <a:xfrm>
            <a:off x="4632808"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8-9, 15</a:t>
            </a:r>
            <a:endParaRPr lang="en-US" sz="1000" dirty="0"/>
          </a:p>
        </p:txBody>
      </p:sp>
      <p:sp>
        <p:nvSpPr>
          <p:cNvPr id="26" name="Text 20"/>
          <p:cNvSpPr txBox="1"/>
          <p:nvPr/>
        </p:nvSpPr>
        <p:spPr>
          <a:xfrm>
            <a:off x="658368"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A certificate says someone sat in a room; it tells no employer or regulator what they know today, and 'who was trained?' is answered with a spreadsheet.</a:t>
            </a:r>
            <a:endParaRPr lang="en-US" sz="1300" dirty="0"/>
          </a:p>
        </p:txBody>
      </p:sp>
      <p:sp>
        <p:nvSpPr>
          <p:cNvPr id="27" name="Text 21"/>
          <p:cNvSpPr txBox="1"/>
          <p:nvPr/>
        </p:nvSpPr>
        <p:spPr>
          <a:xfrm>
            <a:off x="658368"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badges on real grades (P3), grade reports (E3), badge-gated jobs (P4)</a:t>
            </a:r>
            <a:endParaRPr lang="en-US" sz="1400" dirty="0"/>
          </a:p>
        </p:txBody>
      </p:sp>
      <p:sp>
        <p:nvSpPr>
          <p:cNvPr id="28" name="Shape 22"/>
          <p:cNvSpPr/>
          <p:nvPr/>
        </p:nvSpPr>
        <p:spPr>
          <a:xfrm>
            <a:off x="6233008" y="4249217"/>
            <a:ext cx="5501488" cy="1968703"/>
          </a:xfrm>
          <a:prstGeom prst="roundRect">
            <a:avLst>
              <a:gd name="adj" fmla="val 5574"/>
            </a:avLst>
          </a:prstGeom>
          <a:solidFill>
            <a:srgbClr val="171722"/>
          </a:solidFill>
          <a:ln w="9525">
            <a:solidFill>
              <a:srgbClr val="2C2C3E"/>
            </a:solidFill>
            <a:prstDash val="solid"/>
          </a:ln>
        </p:spPr>
      </p:sp>
      <p:sp>
        <p:nvSpPr>
          <p:cNvPr id="29" name="Shape 23"/>
          <p:cNvSpPr/>
          <p:nvPr/>
        </p:nvSpPr>
        <p:spPr>
          <a:xfrm>
            <a:off x="6434176" y="4413809"/>
            <a:ext cx="402336" cy="402336"/>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534760" y="4514393"/>
            <a:ext cx="201168" cy="201168"/>
          </a:xfrm>
          <a:prstGeom prst="rect">
            <a:avLst/>
          </a:prstGeom>
        </p:spPr>
      </p:pic>
      <p:sp>
        <p:nvSpPr>
          <p:cNvPr id="31" name="Text 24"/>
          <p:cNvSpPr txBox="1"/>
          <p:nvPr/>
        </p:nvSpPr>
        <p:spPr>
          <a:xfrm>
            <a:off x="6964528" y="4413809"/>
            <a:ext cx="3489808" cy="40233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No neutral convener</a:t>
            </a:r>
            <a:endParaRPr lang="en-US" sz="1800" dirty="0"/>
          </a:p>
        </p:txBody>
      </p:sp>
      <p:sp>
        <p:nvSpPr>
          <p:cNvPr id="32" name="Text 25"/>
          <p:cNvSpPr txBox="1"/>
          <p:nvPr/>
        </p:nvSpPr>
        <p:spPr>
          <a:xfrm>
            <a:off x="10408615" y="4413809"/>
            <a:ext cx="1143000" cy="402336"/>
          </a:xfrm>
          <a:prstGeom prst="rect">
            <a:avLst/>
          </a:prstGeom>
          <a:noFill/>
          <a:ln/>
        </p:spPr>
        <p:txBody>
          <a:bodyPr wrap="square" lIns="0" tIns="0" rIns="0" bIns="0" rtlCol="0" anchor="ctr"/>
          <a:lstStyle/>
          <a:p>
            <a:pPr algn="r" indent="0" marL="0">
              <a:buNone/>
            </a:pPr>
            <a:r>
              <a:rPr lang="en-US" sz="1000" dirty="0">
                <a:solidFill>
                  <a:srgbClr val="8E8EA2"/>
                </a:solidFill>
                <a:latin typeface="Arial" pitchFamily="34" charset="0"/>
                <a:ea typeface="Arial" pitchFamily="34" charset="-122"/>
                <a:cs typeface="Arial" pitchFamily="34" charset="-120"/>
              </a:rPr>
              <a:t>Slides 4, 12</a:t>
            </a:r>
            <a:endParaRPr lang="en-US" sz="1000" dirty="0"/>
          </a:p>
        </p:txBody>
      </p:sp>
      <p:sp>
        <p:nvSpPr>
          <p:cNvPr id="33" name="Text 26"/>
          <p:cNvSpPr txBox="1"/>
          <p:nvPr/>
        </p:nvSpPr>
        <p:spPr>
          <a:xfrm>
            <a:off x="6434176" y="4907585"/>
            <a:ext cx="5099152" cy="630936"/>
          </a:xfrm>
          <a:prstGeom prst="rect">
            <a:avLst/>
          </a:prstGeom>
          <a:noFill/>
          <a:ln/>
        </p:spPr>
        <p:txBody>
          <a:bodyPr wrap="square" lIns="0" tIns="0" rIns="0" bIns="0" rtlCol="0" anchor="t"/>
          <a:lstStyle/>
          <a:p>
            <a:pPr indent="0" marL="0">
              <a:buNone/>
            </a:pPr>
            <a:r>
              <a:rPr lang="en-US" sz="1300" dirty="0">
                <a:solidFill>
                  <a:srgbClr val="B4B4C8"/>
                </a:solidFill>
                <a:latin typeface="Arial" pitchFamily="34" charset="0"/>
                <a:ea typeface="Arial" pitchFamily="34" charset="-122"/>
                <a:cs typeface="Arial" pitchFamily="34" charset="-120"/>
              </a:rPr>
              <a:t>Nobody puts a protocol, a regulator, an investigator and a researcher in one room and turns the conversation into institutional knowledge.</a:t>
            </a:r>
            <a:endParaRPr lang="en-US" sz="1300" dirty="0"/>
          </a:p>
        </p:txBody>
      </p:sp>
      <p:sp>
        <p:nvSpPr>
          <p:cNvPr id="34" name="Text 27"/>
          <p:cNvSpPr txBox="1"/>
          <p:nvPr/>
        </p:nvSpPr>
        <p:spPr>
          <a:xfrm>
            <a:off x="6434176" y="5684825"/>
            <a:ext cx="5099152" cy="463296"/>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We deliver: </a:t>
            </a:r>
            <a:r>
              <a:rPr lang="en-US" sz="1400" b="1" dirty="0">
                <a:solidFill>
                  <a:srgbClr val="F0C96B"/>
                </a:solidFill>
                <a:latin typeface="Arial" pitchFamily="34" charset="0"/>
                <a:ea typeface="Arial" pitchFamily="34" charset="-122"/>
                <a:cs typeface="Arial" pitchFamily="34" charset="-120"/>
              </a:rPr>
              <a:t>closed-door round tables with a Partner Intelligence Report (P8)</a:t>
            </a:r>
            <a:endParaRPr lang="en-US" sz="1400" dirty="0"/>
          </a:p>
        </p:txBody>
      </p:sp>
      <p:sp>
        <p:nvSpPr>
          <p:cNvPr id="35" name="Text 28"/>
          <p:cNvSpPr txBox="1"/>
          <p:nvPr/>
        </p:nvSpPr>
        <p:spPr>
          <a:xfrm>
            <a:off x="457200" y="6510528"/>
            <a:ext cx="73152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Slide numbers show where each answer is proven</a:t>
            </a:r>
            <a:endParaRPr lang="en-US" sz="900" dirty="0"/>
          </a:p>
        </p:txBody>
      </p:sp>
      <p:sp>
        <p:nvSpPr>
          <p:cNvPr id="36"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9827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74497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PRODUCT</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Three pillars, one platform</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feature serves the network effect: more partners → more content → smarter AI → more value</a:t>
            </a:r>
            <a:endParaRPr lang="en-US" sz="1600" dirty="0"/>
          </a:p>
        </p:txBody>
      </p:sp>
      <p:sp>
        <p:nvSpPr>
          <p:cNvPr id="7" name="Shape 4"/>
          <p:cNvSpPr/>
          <p:nvPr/>
        </p:nvSpPr>
        <p:spPr>
          <a:xfrm>
            <a:off x="457200" y="1942795"/>
            <a:ext cx="3576218" cy="3543605"/>
          </a:xfrm>
          <a:prstGeom prst="roundRect">
            <a:avLst>
              <a:gd name="adj" fmla="val 3097"/>
            </a:avLst>
          </a:prstGeom>
          <a:solidFill>
            <a:srgbClr val="171722"/>
          </a:solidFill>
          <a:ln w="9525">
            <a:solidFill>
              <a:srgbClr val="2C2C3E"/>
            </a:solidFill>
            <a:prstDash val="solid"/>
          </a:ln>
        </p:spPr>
      </p:sp>
      <p:sp>
        <p:nvSpPr>
          <p:cNvPr id="8" name="Shape 5"/>
          <p:cNvSpPr/>
          <p:nvPr/>
        </p:nvSpPr>
        <p:spPr>
          <a:xfrm>
            <a:off x="713232" y="2217115"/>
            <a:ext cx="548640" cy="54864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50392" y="2354275"/>
            <a:ext cx="274320" cy="274320"/>
          </a:xfrm>
          <a:prstGeom prst="rect">
            <a:avLst/>
          </a:prstGeom>
        </p:spPr>
      </p:pic>
      <p:sp>
        <p:nvSpPr>
          <p:cNvPr id="10" name="Text 6"/>
          <p:cNvSpPr txBox="1"/>
          <p:nvPr/>
        </p:nvSpPr>
        <p:spPr>
          <a:xfrm>
            <a:off x="1408176"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Symposia</a:t>
            </a:r>
            <a:endParaRPr lang="en-US" sz="1800" dirty="0"/>
          </a:p>
        </p:txBody>
      </p:sp>
      <p:sp>
        <p:nvSpPr>
          <p:cNvPr id="11" name="Text 7"/>
          <p:cNvSpPr txBox="1"/>
          <p:nvPr/>
        </p:nvSpPr>
        <p:spPr>
          <a:xfrm>
            <a:off x="1408176"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Community Intelligence Engine</a:t>
            </a:r>
            <a:endParaRPr lang="en-US" sz="1250" dirty="0"/>
          </a:p>
        </p:txBody>
      </p:sp>
      <p:sp>
        <p:nvSpPr>
          <p:cNvPr id="12" name="Text 8"/>
          <p:cNvSpPr txBox="1"/>
          <p:nvPr/>
        </p:nvSpPr>
        <p:spPr>
          <a:xfrm>
            <a:off x="713232"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Live round tables, human-moderated, under the Chatham House Rule, streamed live</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Opinion papers drafted in 3 hours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LinkedIn and Instagram content, one human approves (TikTok: roadmap)</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Partner Intelligence Reports per session</a:t>
            </a:r>
            <a:endParaRPr lang="en-US" sz="1250" dirty="0"/>
          </a:p>
        </p:txBody>
      </p:sp>
      <p:sp>
        <p:nvSpPr>
          <p:cNvPr id="13" name="Shape 9"/>
          <p:cNvSpPr/>
          <p:nvPr/>
        </p:nvSpPr>
        <p:spPr>
          <a:xfrm>
            <a:off x="713232" y="4919472"/>
            <a:ext cx="3064154" cy="0"/>
          </a:xfrm>
          <a:prstGeom prst="line">
            <a:avLst/>
          </a:prstGeom>
          <a:noFill/>
          <a:ln w="9525">
            <a:solidFill>
              <a:srgbClr val="2C2C3E"/>
            </a:solidFill>
            <a:prstDash val="solid"/>
          </a:ln>
        </p:spPr>
      </p:sp>
      <p:sp>
        <p:nvSpPr>
          <p:cNvPr id="14" name="Text 10"/>
          <p:cNvSpPr txBox="1"/>
          <p:nvPr/>
        </p:nvSpPr>
        <p:spPr>
          <a:xfrm>
            <a:off x="713232"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15" name="Text 11"/>
          <p:cNvSpPr txBox="1"/>
          <p:nvPr/>
        </p:nvSpPr>
        <p:spPr>
          <a:xfrm>
            <a:off x="713232"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 12</a:t>
            </a:r>
            <a:endParaRPr lang="en-US" sz="1200" dirty="0"/>
          </a:p>
        </p:txBody>
      </p:sp>
      <p:sp>
        <p:nvSpPr>
          <p:cNvPr id="16" name="Text 12"/>
          <p:cNvSpPr txBox="1"/>
          <p:nvPr/>
        </p:nvSpPr>
        <p:spPr>
          <a:xfrm>
            <a:off x="3119018"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01</a:t>
            </a:r>
            <a:endParaRPr lang="en-US" sz="2200" dirty="0"/>
          </a:p>
        </p:txBody>
      </p:sp>
      <p:sp>
        <p:nvSpPr>
          <p:cNvPr id="17" name="Shape 13"/>
          <p:cNvSpPr/>
          <p:nvPr/>
        </p:nvSpPr>
        <p:spPr>
          <a:xfrm>
            <a:off x="4307738" y="1942795"/>
            <a:ext cx="3576218" cy="3543605"/>
          </a:xfrm>
          <a:prstGeom prst="roundRect">
            <a:avLst>
              <a:gd name="adj" fmla="val 3097"/>
            </a:avLst>
          </a:prstGeom>
          <a:solidFill>
            <a:srgbClr val="171722"/>
          </a:solidFill>
          <a:ln w="9525">
            <a:solidFill>
              <a:srgbClr val="2C2C3E"/>
            </a:solidFill>
            <a:prstDash val="solid"/>
          </a:ln>
        </p:spPr>
      </p:sp>
      <p:sp>
        <p:nvSpPr>
          <p:cNvPr id="18" name="Shape 14"/>
          <p:cNvSpPr/>
          <p:nvPr/>
        </p:nvSpPr>
        <p:spPr>
          <a:xfrm>
            <a:off x="4563770" y="2217115"/>
            <a:ext cx="548640" cy="548640"/>
          </a:xfrm>
          <a:prstGeom prst="ellipse">
            <a:avLst/>
          </a:prstGeom>
          <a:solidFill>
            <a:srgbClr val="1E1A10"/>
          </a:solidFill>
          <a:ln w="9525">
            <a:solidFill>
              <a:srgbClr val="5A4A22"/>
            </a:solidFill>
            <a:prstDash val="solid"/>
          </a:ln>
        </p:spPr>
      </p:sp>
      <p:pic>
        <p:nvPicPr>
          <p:cNvPr id="19" name="Image 1" descr="preencoded.png">    </p:cNvPr>
          <p:cNvPicPr>
            <a:picLocks noChangeAspect="1"/>
          </p:cNvPicPr>
          <p:nvPr/>
        </p:nvPicPr>
        <p:blipFill>
          <a:blip r:embed="rId3"/>
          <a:stretch>
            <a:fillRect/>
          </a:stretch>
        </p:blipFill>
        <p:spPr>
          <a:xfrm>
            <a:off x="4700930" y="2354275"/>
            <a:ext cx="274320" cy="274320"/>
          </a:xfrm>
          <a:prstGeom prst="rect">
            <a:avLst/>
          </a:prstGeom>
        </p:spPr>
      </p:pic>
      <p:sp>
        <p:nvSpPr>
          <p:cNvPr id="20" name="Text 15"/>
          <p:cNvSpPr txBox="1"/>
          <p:nvPr/>
        </p:nvSpPr>
        <p:spPr>
          <a:xfrm>
            <a:off x="5258714"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Company Academies</a:t>
            </a:r>
            <a:endParaRPr lang="en-US" sz="1800" dirty="0"/>
          </a:p>
        </p:txBody>
      </p:sp>
      <p:sp>
        <p:nvSpPr>
          <p:cNvPr id="21" name="Text 16"/>
          <p:cNvSpPr txBox="1"/>
          <p:nvPr/>
        </p:nvSpPr>
        <p:spPr>
          <a:xfrm>
            <a:off x="5258714"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Branded partner academies</a:t>
            </a:r>
            <a:endParaRPr lang="en-US" sz="1250" dirty="0"/>
          </a:p>
        </p:txBody>
      </p:sp>
      <p:sp>
        <p:nvSpPr>
          <p:cNvPr id="22" name="Text 17"/>
          <p:cNvSpPr txBox="1"/>
          <p:nvPr/>
        </p:nvSpPr>
        <p:spPr>
          <a:xfrm>
            <a:off x="4563770"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Branded sub-academies at your own web address</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Custom learning pathways and a badge system</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Badges 2.0 credentials, co-issued with you</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Talent pipeline:</a:t>
            </a:r>
            <a:r>
              <a:rPr lang="en-US" sz="1250" dirty="0">
                <a:solidFill>
                  <a:srgbClr val="E8E8F0"/>
                </a:solidFill>
                <a:latin typeface="Arial" pitchFamily="34" charset="0"/>
                <a:ea typeface="Arial" pitchFamily="34" charset="-122"/>
                <a:cs typeface="Arial" pitchFamily="34" charset="-120"/>
              </a:rPr>
              <a:t> badges matched to your open roles</a:t>
            </a:r>
            <a:endParaRPr lang="en-US" sz="1250" dirty="0"/>
          </a:p>
        </p:txBody>
      </p:sp>
      <p:sp>
        <p:nvSpPr>
          <p:cNvPr id="23" name="Shape 18"/>
          <p:cNvSpPr/>
          <p:nvPr/>
        </p:nvSpPr>
        <p:spPr>
          <a:xfrm>
            <a:off x="4563770" y="4919472"/>
            <a:ext cx="3064154" cy="0"/>
          </a:xfrm>
          <a:prstGeom prst="line">
            <a:avLst/>
          </a:prstGeom>
          <a:noFill/>
          <a:ln w="9525">
            <a:solidFill>
              <a:srgbClr val="2C2C3E"/>
            </a:solidFill>
            <a:prstDash val="solid"/>
          </a:ln>
        </p:spPr>
      </p:sp>
      <p:sp>
        <p:nvSpPr>
          <p:cNvPr id="24" name="Text 19"/>
          <p:cNvSpPr txBox="1"/>
          <p:nvPr/>
        </p:nvSpPr>
        <p:spPr>
          <a:xfrm>
            <a:off x="4563770"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25" name="Text 20"/>
          <p:cNvSpPr txBox="1"/>
          <p:nvPr/>
        </p:nvSpPr>
        <p:spPr>
          <a:xfrm>
            <a:off x="4563770"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6, 8-9, 11</a:t>
            </a:r>
            <a:endParaRPr lang="en-US" sz="1200" dirty="0"/>
          </a:p>
        </p:txBody>
      </p:sp>
      <p:sp>
        <p:nvSpPr>
          <p:cNvPr id="26" name="Text 21"/>
          <p:cNvSpPr txBox="1"/>
          <p:nvPr/>
        </p:nvSpPr>
        <p:spPr>
          <a:xfrm>
            <a:off x="6969557"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02</a:t>
            </a:r>
            <a:endParaRPr lang="en-US" sz="2200" dirty="0"/>
          </a:p>
        </p:txBody>
      </p:sp>
      <p:sp>
        <p:nvSpPr>
          <p:cNvPr id="27" name="Shape 22"/>
          <p:cNvSpPr/>
          <p:nvPr/>
        </p:nvSpPr>
        <p:spPr>
          <a:xfrm>
            <a:off x="8158277" y="1942795"/>
            <a:ext cx="3576218" cy="3543605"/>
          </a:xfrm>
          <a:prstGeom prst="roundRect">
            <a:avLst>
              <a:gd name="adj" fmla="val 3097"/>
            </a:avLst>
          </a:prstGeom>
          <a:solidFill>
            <a:srgbClr val="171722"/>
          </a:solidFill>
          <a:ln w="9525">
            <a:solidFill>
              <a:srgbClr val="2C2C3E"/>
            </a:solidFill>
            <a:prstDash val="solid"/>
          </a:ln>
        </p:spPr>
      </p:sp>
      <p:sp>
        <p:nvSpPr>
          <p:cNvPr id="28" name="Shape 23"/>
          <p:cNvSpPr/>
          <p:nvPr/>
        </p:nvSpPr>
        <p:spPr>
          <a:xfrm>
            <a:off x="8414309" y="2217115"/>
            <a:ext cx="548640" cy="548640"/>
          </a:xfrm>
          <a:prstGeom prst="ellipse">
            <a:avLst/>
          </a:prstGeom>
          <a:solidFill>
            <a:srgbClr val="1E1A10"/>
          </a:solidFill>
          <a:ln w="9525">
            <a:solidFill>
              <a:srgbClr val="5A4A22"/>
            </a:solidFill>
            <a:prstDash val="solid"/>
          </a:ln>
        </p:spPr>
      </p:sp>
      <p:pic>
        <p:nvPicPr>
          <p:cNvPr id="29" name="Image 2" descr="preencoded.png">    </p:cNvPr>
          <p:cNvPicPr>
            <a:picLocks noChangeAspect="1"/>
          </p:cNvPicPr>
          <p:nvPr/>
        </p:nvPicPr>
        <p:blipFill>
          <a:blip r:embed="rId4"/>
          <a:stretch>
            <a:fillRect/>
          </a:stretch>
        </p:blipFill>
        <p:spPr>
          <a:xfrm>
            <a:off x="8551469" y="2354275"/>
            <a:ext cx="274320" cy="274320"/>
          </a:xfrm>
          <a:prstGeom prst="rect">
            <a:avLst/>
          </a:prstGeom>
        </p:spPr>
      </p:pic>
      <p:sp>
        <p:nvSpPr>
          <p:cNvPr id="30" name="Text 24"/>
          <p:cNvSpPr txBox="1"/>
          <p:nvPr/>
        </p:nvSpPr>
        <p:spPr>
          <a:xfrm>
            <a:off x="9109253" y="2198827"/>
            <a:ext cx="2387498" cy="329184"/>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Open Knowledge</a:t>
            </a:r>
            <a:endParaRPr lang="en-US" sz="1800" dirty="0"/>
          </a:p>
        </p:txBody>
      </p:sp>
      <p:sp>
        <p:nvSpPr>
          <p:cNvPr id="31" name="Text 25"/>
          <p:cNvSpPr txBox="1"/>
          <p:nvPr/>
        </p:nvSpPr>
        <p:spPr>
          <a:xfrm>
            <a:off x="9109253" y="2546299"/>
            <a:ext cx="2369210" cy="237744"/>
          </a:xfrm>
          <a:prstGeom prst="rect">
            <a:avLst/>
          </a:prstGeom>
          <a:noFill/>
          <a:ln/>
        </p:spPr>
        <p:txBody>
          <a:bodyPr wrap="square" lIns="0" tIns="0" rIns="0" bIns="0" rtlCol="0" anchor="t"/>
          <a:lstStyle/>
          <a:p>
            <a:pPr indent="0" marL="0">
              <a:buNone/>
            </a:pPr>
            <a:r>
              <a:rPr lang="en-US" sz="1250" dirty="0">
                <a:solidFill>
                  <a:srgbClr val="F0C96B"/>
                </a:solidFill>
                <a:latin typeface="Arial" pitchFamily="34" charset="0"/>
                <a:ea typeface="Arial" pitchFamily="34" charset="-122"/>
                <a:cs typeface="Arial" pitchFamily="34" charset="-120"/>
              </a:rPr>
              <a:t>AI Tutor + Digital Twins</a:t>
            </a:r>
            <a:endParaRPr lang="en-US" sz="1250" dirty="0"/>
          </a:p>
        </p:txBody>
      </p:sp>
      <p:sp>
        <p:nvSpPr>
          <p:cNvPr id="32" name="Text 26"/>
          <p:cNvSpPr txBox="1"/>
          <p:nvPr/>
        </p:nvSpPr>
        <p:spPr>
          <a:xfrm>
            <a:off x="8414309" y="3040075"/>
            <a:ext cx="3064154" cy="18074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AI tutor grounded in platform content, citing its sources</a:t>
            </a:r>
            <a:endParaRPr lang="en-US" sz="1250" dirty="0"/>
          </a:p>
          <a:p>
            <a:pPr marL="165100" indent="-165100">
              <a:spcAft>
                <a:spcPts val="6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Digital Twin:</a:t>
            </a:r>
            <a:r>
              <a:rPr lang="en-US" sz="1250" dirty="0">
                <a:solidFill>
                  <a:srgbClr val="E8E8F0"/>
                </a:solidFill>
                <a:latin typeface="Arial" pitchFamily="34" charset="0"/>
                <a:ea typeface="Arial" pitchFamily="34" charset="-122"/>
                <a:cs typeface="Arial" pitchFamily="34" charset="-120"/>
              </a:rPr>
              <a:t> an expert’s documents become an AI avatar, with consent</a:t>
            </a:r>
            <a:endParaRPr lang="en-US" sz="1250" dirty="0"/>
          </a:p>
          <a:p>
            <a:pPr marL="165100" indent="-165100">
              <a:spcAft>
                <a:spcPts val="6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Open course marketplace, 70/30 revenue split</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Compounds with every new piece of content</a:t>
            </a:r>
            <a:endParaRPr lang="en-US" sz="1250" dirty="0"/>
          </a:p>
        </p:txBody>
      </p:sp>
      <p:sp>
        <p:nvSpPr>
          <p:cNvPr id="33" name="Shape 27"/>
          <p:cNvSpPr/>
          <p:nvPr/>
        </p:nvSpPr>
        <p:spPr>
          <a:xfrm>
            <a:off x="8414309" y="4919472"/>
            <a:ext cx="3064154" cy="0"/>
          </a:xfrm>
          <a:prstGeom prst="line">
            <a:avLst/>
          </a:prstGeom>
          <a:noFill/>
          <a:ln w="9525">
            <a:solidFill>
              <a:srgbClr val="2C2C3E"/>
            </a:solidFill>
            <a:prstDash val="solid"/>
          </a:ln>
        </p:spPr>
      </p:sp>
      <p:sp>
        <p:nvSpPr>
          <p:cNvPr id="34" name="Text 28"/>
          <p:cNvSpPr txBox="1"/>
          <p:nvPr/>
        </p:nvSpPr>
        <p:spPr>
          <a:xfrm>
            <a:off x="8414309" y="5047488"/>
            <a:ext cx="3064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SHOWN IN THIS DECK</a:t>
            </a:r>
            <a:endParaRPr lang="en-US" sz="850" dirty="0"/>
          </a:p>
        </p:txBody>
      </p:sp>
      <p:sp>
        <p:nvSpPr>
          <p:cNvPr id="35" name="Text 29"/>
          <p:cNvSpPr txBox="1"/>
          <p:nvPr/>
        </p:nvSpPr>
        <p:spPr>
          <a:xfrm>
            <a:off x="8414309" y="5230368"/>
            <a:ext cx="3064154" cy="21945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Slides 10-11, 29</a:t>
            </a:r>
            <a:endParaRPr lang="en-US" sz="1200" dirty="0"/>
          </a:p>
        </p:txBody>
      </p:sp>
      <p:sp>
        <p:nvSpPr>
          <p:cNvPr id="36" name="Text 30"/>
          <p:cNvSpPr txBox="1"/>
          <p:nvPr/>
        </p:nvSpPr>
        <p:spPr>
          <a:xfrm>
            <a:off x="10820095" y="5029200"/>
            <a:ext cx="658368" cy="402336"/>
          </a:xfrm>
          <a:prstGeom prst="rect">
            <a:avLst/>
          </a:prstGeom>
          <a:noFill/>
          <a:ln/>
        </p:spPr>
        <p:txBody>
          <a:bodyPr wrap="square" lIns="0" tIns="0" rIns="0" bIns="0" rtlCol="0" anchor="t"/>
          <a:lstStyle/>
          <a:p>
            <a:pPr algn="r" indent="0" marL="0">
              <a:buNone/>
            </a:pPr>
            <a:r>
              <a:rPr lang="en-US" sz="2200" b="1" dirty="0">
                <a:solidFill>
                  <a:srgbClr val="9B7A2E"/>
                </a:solidFill>
                <a:latin typeface="Arial" pitchFamily="34" charset="0"/>
                <a:ea typeface="Arial" pitchFamily="34" charset="-122"/>
                <a:cs typeface="Arial" pitchFamily="34" charset="-120"/>
              </a:rPr>
              <a:t>03</a:t>
            </a:r>
            <a:endParaRPr lang="en-US" sz="2200" dirty="0"/>
          </a:p>
        </p:txBody>
      </p:sp>
      <p:sp>
        <p:nvSpPr>
          <p:cNvPr id="37" name="Shape 31"/>
          <p:cNvSpPr/>
          <p:nvPr/>
        </p:nvSpPr>
        <p:spPr>
          <a:xfrm>
            <a:off x="457200" y="5760720"/>
            <a:ext cx="11277295" cy="457200"/>
          </a:xfrm>
          <a:prstGeom prst="roundRect">
            <a:avLst>
              <a:gd name="adj" fmla="val 20000"/>
            </a:avLst>
          </a:prstGeom>
          <a:solidFill>
            <a:srgbClr val="15151F"/>
          </a:solidFill>
          <a:ln w="9525">
            <a:solidFill>
              <a:srgbClr val="5A4A22"/>
            </a:solidFill>
            <a:prstDash val="solid"/>
          </a:ln>
        </p:spPr>
      </p:sp>
      <p:pic>
        <p:nvPicPr>
          <p:cNvPr id="38" name="Image 3" descr="preencoded.png">    </p:cNvPr>
          <p:cNvPicPr>
            <a:picLocks noChangeAspect="1"/>
          </p:cNvPicPr>
          <p:nvPr/>
        </p:nvPicPr>
        <p:blipFill>
          <a:blip r:embed="rId5"/>
          <a:stretch>
            <a:fillRect/>
          </a:stretch>
        </p:blipFill>
        <p:spPr>
          <a:xfrm>
            <a:off x="621792" y="5879592"/>
            <a:ext cx="219456" cy="219456"/>
          </a:xfrm>
          <a:prstGeom prst="rect">
            <a:avLst/>
          </a:prstGeom>
        </p:spPr>
      </p:pic>
      <p:sp>
        <p:nvSpPr>
          <p:cNvPr id="39" name="Text 32"/>
          <p:cNvSpPr txBox="1"/>
          <p:nvPr/>
        </p:nvSpPr>
        <p:spPr>
          <a:xfrm>
            <a:off x="969264" y="5760720"/>
            <a:ext cx="10637215" cy="457200"/>
          </a:xfrm>
          <a:prstGeom prst="rect">
            <a:avLst/>
          </a:prstGeom>
          <a:noFill/>
          <a:ln/>
        </p:spPr>
        <p:txBody>
          <a:bodyPr wrap="square" lIns="0" tIns="0" rIns="0" bIns="0" rtlCol="0" anchor="ctr"/>
          <a:lstStyle/>
          <a:p>
            <a:pPr indent="0" marL="0">
              <a:buNone/>
            </a:pPr>
            <a:r>
              <a:rPr lang="en-US" sz="1250" b="1" dirty="0">
                <a:solidFill>
                  <a:srgbClr val="F0C96B"/>
                </a:solidFill>
                <a:latin typeface="Arial" pitchFamily="34" charset="0"/>
                <a:ea typeface="Arial" pitchFamily="34" charset="-122"/>
                <a:cs typeface="Arial" pitchFamily="34" charset="-120"/>
              </a:rPr>
              <a:t>Shared platform core: </a:t>
            </a:r>
            <a:r>
              <a:rPr lang="en-US" sz="1250" dirty="0">
                <a:solidFill>
                  <a:srgbClr val="E8E8F0"/>
                </a:solidFill>
                <a:latin typeface="Arial" pitchFamily="34" charset="0"/>
                <a:ea typeface="Arial" pitchFamily="34" charset="-122"/>
                <a:cs typeface="Arial" pitchFamily="34" charset="-120"/>
              </a:rPr>
              <a:t>courseware and course authoring, batch enrolment, gradebook and grade reports for enterprise teams (slides 7, 13-16)</a:t>
            </a:r>
            <a:endParaRPr lang="en-US" sz="1250" dirty="0"/>
          </a:p>
        </p:txBody>
      </p:sp>
      <p:sp>
        <p:nvSpPr>
          <p:cNvPr id="40"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264054"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026310"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THE OFFER · BUILD STATUS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What you get, and what is built today</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Two tracks, one city · 5-question onboarding routes each learner to a home district and layer</a:t>
            </a:r>
            <a:endParaRPr lang="en-US" sz="1600" dirty="0"/>
          </a:p>
        </p:txBody>
      </p:sp>
      <p:sp>
        <p:nvSpPr>
          <p:cNvPr id="7" name="Text 4"/>
          <p:cNvSpPr txBox="1"/>
          <p:nvPr/>
        </p:nvSpPr>
        <p:spPr>
          <a:xfrm>
            <a:off x="457200" y="1874520"/>
            <a:ext cx="6355080" cy="201168"/>
          </a:xfrm>
          <a:prstGeom prst="rect">
            <a:avLst/>
          </a:prstGeom>
          <a:noFill/>
          <a:ln/>
        </p:spPr>
        <p:txBody>
          <a:bodyPr wrap="square" lIns="0" tIns="0" rIns="0" bIns="0" rtlCol="0" anchor="t"/>
          <a:lstStyle/>
          <a:p>
            <a:pPr indent="0" marL="0">
              <a:buNone/>
            </a:pPr>
            <a:r>
              <a:rPr lang="en-US" sz="1000" b="1" spc="140" kern="0" dirty="0">
                <a:solidFill>
                  <a:srgbClr val="F0C96B"/>
                </a:solidFill>
                <a:latin typeface="Arial" pitchFamily="34" charset="0"/>
                <a:ea typeface="Arial" pitchFamily="34" charset="-122"/>
                <a:cs typeface="Arial" pitchFamily="34" charset="-120"/>
              </a:rPr>
              <a:t>FOR KNOWLEDGE PARTNERS</a:t>
            </a:r>
            <a:endParaRPr lang="en-US" sz="1000" dirty="0"/>
          </a:p>
        </p:txBody>
      </p:sp>
      <p:sp>
        <p:nvSpPr>
          <p:cNvPr id="8" name="Shape 5"/>
          <p:cNvSpPr/>
          <p:nvPr/>
        </p:nvSpPr>
        <p:spPr>
          <a:xfrm>
            <a:off x="457200" y="2157984"/>
            <a:ext cx="402336" cy="219456"/>
          </a:xfrm>
          <a:prstGeom prst="roundRect">
            <a:avLst>
              <a:gd name="adj" fmla="val 29167"/>
            </a:avLst>
          </a:prstGeom>
          <a:solidFill>
            <a:srgbClr val="1E1A10"/>
          </a:solidFill>
          <a:ln w="9525">
            <a:solidFill>
              <a:srgbClr val="5A4A22"/>
            </a:solidFill>
            <a:prstDash val="solid"/>
          </a:ln>
        </p:spPr>
      </p:sp>
      <p:sp>
        <p:nvSpPr>
          <p:cNvPr id="9" name="Text 6"/>
          <p:cNvSpPr txBox="1"/>
          <p:nvPr/>
        </p:nvSpPr>
        <p:spPr>
          <a:xfrm>
            <a:off x="457200" y="21579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P1</a:t>
            </a:r>
            <a:endParaRPr lang="en-US" sz="1000" dirty="0"/>
          </a:p>
        </p:txBody>
      </p:sp>
      <p:sp>
        <p:nvSpPr>
          <p:cNvPr id="10" name="Text 7"/>
          <p:cNvSpPr txBox="1"/>
          <p:nvPr/>
        </p:nvSpPr>
        <p:spPr>
          <a:xfrm>
            <a:off x="950976" y="2157984"/>
            <a:ext cx="401989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Your academy under your name</a:t>
            </a:r>
            <a:endParaRPr lang="en-US" sz="1300" dirty="0"/>
          </a:p>
        </p:txBody>
      </p:sp>
      <p:sp>
        <p:nvSpPr>
          <p:cNvPr id="11" name="Shape 8"/>
          <p:cNvSpPr/>
          <p:nvPr/>
        </p:nvSpPr>
        <p:spPr>
          <a:xfrm>
            <a:off x="5062311" y="2176272"/>
            <a:ext cx="567774" cy="201168"/>
          </a:xfrm>
          <a:prstGeom prst="roundRect">
            <a:avLst>
              <a:gd name="adj" fmla="val 50000"/>
            </a:avLst>
          </a:prstGeom>
          <a:solidFill>
            <a:srgbClr val="1E1A10"/>
          </a:solidFill>
          <a:ln w="9525">
            <a:solidFill>
              <a:srgbClr val="5A4A22"/>
            </a:solidFill>
            <a:prstDash val="solid"/>
          </a:ln>
        </p:spPr>
      </p:sp>
      <p:sp>
        <p:nvSpPr>
          <p:cNvPr id="12" name="Shape 9"/>
          <p:cNvSpPr/>
          <p:nvPr/>
        </p:nvSpPr>
        <p:spPr>
          <a:xfrm>
            <a:off x="5135463" y="2244852"/>
            <a:ext cx="64008" cy="64008"/>
          </a:xfrm>
          <a:prstGeom prst="ellipse">
            <a:avLst/>
          </a:prstGeom>
          <a:solidFill>
            <a:srgbClr val="F0C96B"/>
          </a:solidFill>
          <a:ln/>
        </p:spPr>
      </p:sp>
      <p:sp>
        <p:nvSpPr>
          <p:cNvPr id="13" name="Text 10"/>
          <p:cNvSpPr txBox="1"/>
          <p:nvPr/>
        </p:nvSpPr>
        <p:spPr>
          <a:xfrm>
            <a:off x="5236047" y="217627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14" name="Shape 11"/>
          <p:cNvSpPr/>
          <p:nvPr/>
        </p:nvSpPr>
        <p:spPr>
          <a:xfrm>
            <a:off x="5684949" y="2176272"/>
            <a:ext cx="1127331" cy="201168"/>
          </a:xfrm>
          <a:prstGeom prst="roundRect">
            <a:avLst>
              <a:gd name="adj" fmla="val 50000"/>
            </a:avLst>
          </a:prstGeom>
          <a:solidFill>
            <a:srgbClr val="0A0A0F"/>
          </a:solidFill>
          <a:ln w="9525">
            <a:solidFill>
              <a:srgbClr val="6A6A80"/>
            </a:solidFill>
            <a:prstDash val="solid"/>
          </a:ln>
        </p:spPr>
      </p:sp>
      <p:sp>
        <p:nvSpPr>
          <p:cNvPr id="15" name="Shape 12"/>
          <p:cNvSpPr/>
          <p:nvPr/>
        </p:nvSpPr>
        <p:spPr>
          <a:xfrm>
            <a:off x="5758101" y="2244852"/>
            <a:ext cx="64008" cy="64008"/>
          </a:xfrm>
          <a:prstGeom prst="ellipse">
            <a:avLst/>
          </a:prstGeom>
          <a:solidFill>
            <a:srgbClr val="0A0A0F"/>
          </a:solidFill>
          <a:ln w="9525">
            <a:solidFill>
              <a:srgbClr val="9A9AB0"/>
            </a:solidFill>
            <a:prstDash val="solid"/>
          </a:ln>
        </p:spPr>
      </p:sp>
      <p:sp>
        <p:nvSpPr>
          <p:cNvPr id="16" name="Text 13"/>
          <p:cNvSpPr txBox="1"/>
          <p:nvPr/>
        </p:nvSpPr>
        <p:spPr>
          <a:xfrm>
            <a:off x="5858685" y="2176272"/>
            <a:ext cx="962739"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BEFORE LAUNCH</a:t>
            </a:r>
            <a:endParaRPr lang="en-US" sz="700" dirty="0"/>
          </a:p>
        </p:txBody>
      </p:sp>
      <p:sp>
        <p:nvSpPr>
          <p:cNvPr id="17" name="Text 14"/>
          <p:cNvSpPr txBox="1"/>
          <p:nvPr/>
        </p:nvSpPr>
        <p:spPr>
          <a:xfrm>
            <a:off x="950976" y="24094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Name, pathways and jobs per academy built · before launch: your colours, logo and web address · slide 6</a:t>
            </a:r>
            <a:endParaRPr lang="en-US" sz="900" dirty="0"/>
          </a:p>
        </p:txBody>
      </p:sp>
      <p:sp>
        <p:nvSpPr>
          <p:cNvPr id="18" name="Shape 15"/>
          <p:cNvSpPr/>
          <p:nvPr/>
        </p:nvSpPr>
        <p:spPr>
          <a:xfrm>
            <a:off x="457200" y="2592324"/>
            <a:ext cx="402336" cy="219456"/>
          </a:xfrm>
          <a:prstGeom prst="roundRect">
            <a:avLst>
              <a:gd name="adj" fmla="val 29167"/>
            </a:avLst>
          </a:prstGeom>
          <a:solidFill>
            <a:srgbClr val="1E1A10"/>
          </a:solidFill>
          <a:ln w="9525">
            <a:solidFill>
              <a:srgbClr val="5A4A22"/>
            </a:solidFill>
            <a:prstDash val="solid"/>
          </a:ln>
        </p:spPr>
      </p:sp>
      <p:sp>
        <p:nvSpPr>
          <p:cNvPr id="19" name="Text 16"/>
          <p:cNvSpPr txBox="1"/>
          <p:nvPr/>
        </p:nvSpPr>
        <p:spPr>
          <a:xfrm>
            <a:off x="457200" y="25923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P2</a:t>
            </a:r>
            <a:endParaRPr lang="en-US" sz="1000" dirty="0"/>
          </a:p>
        </p:txBody>
      </p:sp>
      <p:sp>
        <p:nvSpPr>
          <p:cNvPr id="20" name="Text 17"/>
          <p:cNvSpPr txBox="1"/>
          <p:nvPr/>
        </p:nvSpPr>
        <p:spPr>
          <a:xfrm>
            <a:off x="950976" y="2592324"/>
            <a:ext cx="460804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Authoring and certificates in a proven tool</a:t>
            </a:r>
            <a:endParaRPr lang="en-US" sz="1300" dirty="0"/>
          </a:p>
        </p:txBody>
      </p:sp>
      <p:sp>
        <p:nvSpPr>
          <p:cNvPr id="21" name="Shape 18"/>
          <p:cNvSpPr/>
          <p:nvPr/>
        </p:nvSpPr>
        <p:spPr>
          <a:xfrm>
            <a:off x="5650456" y="2610612"/>
            <a:ext cx="1161824" cy="201168"/>
          </a:xfrm>
          <a:prstGeom prst="roundRect">
            <a:avLst>
              <a:gd name="adj" fmla="val 50000"/>
            </a:avLst>
          </a:prstGeom>
          <a:solidFill>
            <a:srgbClr val="0D2019"/>
          </a:solidFill>
          <a:ln w="9525">
            <a:solidFill>
              <a:srgbClr val="1F5A43"/>
            </a:solidFill>
            <a:prstDash val="solid"/>
          </a:ln>
        </p:spPr>
      </p:sp>
      <p:sp>
        <p:nvSpPr>
          <p:cNvPr id="22" name="Shape 19"/>
          <p:cNvSpPr/>
          <p:nvPr/>
        </p:nvSpPr>
        <p:spPr>
          <a:xfrm>
            <a:off x="5723608" y="2679192"/>
            <a:ext cx="64008" cy="64008"/>
          </a:xfrm>
          <a:prstGeom prst="ellipse">
            <a:avLst/>
          </a:prstGeom>
          <a:solidFill>
            <a:srgbClr val="34D399"/>
          </a:solidFill>
          <a:ln/>
        </p:spPr>
      </p:sp>
      <p:sp>
        <p:nvSpPr>
          <p:cNvPr id="23" name="Text 20"/>
          <p:cNvSpPr txBox="1"/>
          <p:nvPr/>
        </p:nvSpPr>
        <p:spPr>
          <a:xfrm>
            <a:off x="5824192" y="2610612"/>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24" name="Text 21"/>
          <p:cNvSpPr txBox="1"/>
          <p:nvPr/>
        </p:nvSpPr>
        <p:spPr>
          <a:xfrm>
            <a:off x="950976" y="28437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Standard course authoring, shown working on our demo system · slide 7</a:t>
            </a:r>
            <a:endParaRPr lang="en-US" sz="900" dirty="0"/>
          </a:p>
        </p:txBody>
      </p:sp>
      <p:sp>
        <p:nvSpPr>
          <p:cNvPr id="25" name="Shape 22"/>
          <p:cNvSpPr/>
          <p:nvPr/>
        </p:nvSpPr>
        <p:spPr>
          <a:xfrm>
            <a:off x="457200" y="3026664"/>
            <a:ext cx="402336" cy="219456"/>
          </a:xfrm>
          <a:prstGeom prst="roundRect">
            <a:avLst>
              <a:gd name="adj" fmla="val 29167"/>
            </a:avLst>
          </a:prstGeom>
          <a:solidFill>
            <a:srgbClr val="1E1A10"/>
          </a:solidFill>
          <a:ln w="9525">
            <a:solidFill>
              <a:srgbClr val="5A4A22"/>
            </a:solidFill>
            <a:prstDash val="solid"/>
          </a:ln>
        </p:spPr>
      </p:sp>
      <p:sp>
        <p:nvSpPr>
          <p:cNvPr id="26" name="Text 23"/>
          <p:cNvSpPr txBox="1"/>
          <p:nvPr/>
        </p:nvSpPr>
        <p:spPr>
          <a:xfrm>
            <a:off x="457200" y="30266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P3</a:t>
            </a:r>
            <a:endParaRPr lang="en-US" sz="1000" dirty="0"/>
          </a:p>
        </p:txBody>
      </p:sp>
      <p:sp>
        <p:nvSpPr>
          <p:cNvPr id="27" name="Text 24"/>
          <p:cNvSpPr txBox="1"/>
          <p:nvPr/>
        </p:nvSpPr>
        <p:spPr>
          <a:xfrm>
            <a:off x="950976" y="3026664"/>
            <a:ext cx="520209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Pathways ending in a co-issued Open Badges 2.0 badge</a:t>
            </a:r>
            <a:endParaRPr lang="en-US" sz="1300" dirty="0"/>
          </a:p>
        </p:txBody>
      </p:sp>
      <p:sp>
        <p:nvSpPr>
          <p:cNvPr id="28" name="Shape 25"/>
          <p:cNvSpPr/>
          <p:nvPr/>
        </p:nvSpPr>
        <p:spPr>
          <a:xfrm>
            <a:off x="6244506" y="3044952"/>
            <a:ext cx="567774" cy="201168"/>
          </a:xfrm>
          <a:prstGeom prst="roundRect">
            <a:avLst>
              <a:gd name="adj" fmla="val 50000"/>
            </a:avLst>
          </a:prstGeom>
          <a:solidFill>
            <a:srgbClr val="1E1A10"/>
          </a:solidFill>
          <a:ln w="9525">
            <a:solidFill>
              <a:srgbClr val="5A4A22"/>
            </a:solidFill>
            <a:prstDash val="solid"/>
          </a:ln>
        </p:spPr>
      </p:sp>
      <p:sp>
        <p:nvSpPr>
          <p:cNvPr id="29" name="Shape 26"/>
          <p:cNvSpPr/>
          <p:nvPr/>
        </p:nvSpPr>
        <p:spPr>
          <a:xfrm>
            <a:off x="6317658" y="3113532"/>
            <a:ext cx="64008" cy="64008"/>
          </a:xfrm>
          <a:prstGeom prst="ellipse">
            <a:avLst/>
          </a:prstGeom>
          <a:solidFill>
            <a:srgbClr val="F0C96B"/>
          </a:solidFill>
          <a:ln/>
        </p:spPr>
      </p:sp>
      <p:sp>
        <p:nvSpPr>
          <p:cNvPr id="30" name="Text 27"/>
          <p:cNvSpPr txBox="1"/>
          <p:nvPr/>
        </p:nvSpPr>
        <p:spPr>
          <a:xfrm>
            <a:off x="6418242" y="304495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31" name="Text 28"/>
          <p:cNvSpPr txBox="1"/>
          <p:nvPr/>
        </p:nvSpPr>
        <p:spPr>
          <a:xfrm>
            <a:off x="950976" y="32781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Co-issued with your academy; your criteria; public online verification: before launch · slide 8</a:t>
            </a:r>
            <a:endParaRPr lang="en-US" sz="900" dirty="0"/>
          </a:p>
        </p:txBody>
      </p:sp>
      <p:sp>
        <p:nvSpPr>
          <p:cNvPr id="32" name="Shape 29"/>
          <p:cNvSpPr/>
          <p:nvPr/>
        </p:nvSpPr>
        <p:spPr>
          <a:xfrm>
            <a:off x="457200" y="3461004"/>
            <a:ext cx="402336" cy="219456"/>
          </a:xfrm>
          <a:prstGeom prst="roundRect">
            <a:avLst>
              <a:gd name="adj" fmla="val 29167"/>
            </a:avLst>
          </a:prstGeom>
          <a:solidFill>
            <a:srgbClr val="1E1A10"/>
          </a:solidFill>
          <a:ln w="9525">
            <a:solidFill>
              <a:srgbClr val="5A4A22"/>
            </a:solidFill>
            <a:prstDash val="solid"/>
          </a:ln>
        </p:spPr>
      </p:sp>
      <p:sp>
        <p:nvSpPr>
          <p:cNvPr id="33" name="Text 30"/>
          <p:cNvSpPr txBox="1"/>
          <p:nvPr/>
        </p:nvSpPr>
        <p:spPr>
          <a:xfrm>
            <a:off x="457200" y="34610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P4</a:t>
            </a:r>
            <a:endParaRPr lang="en-US" sz="1000" dirty="0"/>
          </a:p>
        </p:txBody>
      </p:sp>
      <p:sp>
        <p:nvSpPr>
          <p:cNvPr id="34" name="Text 31"/>
          <p:cNvSpPr txBox="1"/>
          <p:nvPr/>
        </p:nvSpPr>
        <p:spPr>
          <a:xfrm>
            <a:off x="950976" y="3461004"/>
            <a:ext cx="520209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Badge-gated job postings: your talent pipeline</a:t>
            </a:r>
            <a:endParaRPr lang="en-US" sz="1300" dirty="0"/>
          </a:p>
        </p:txBody>
      </p:sp>
      <p:sp>
        <p:nvSpPr>
          <p:cNvPr id="35" name="Shape 32"/>
          <p:cNvSpPr/>
          <p:nvPr/>
        </p:nvSpPr>
        <p:spPr>
          <a:xfrm>
            <a:off x="6244506" y="3479292"/>
            <a:ext cx="567774" cy="201168"/>
          </a:xfrm>
          <a:prstGeom prst="roundRect">
            <a:avLst>
              <a:gd name="adj" fmla="val 50000"/>
            </a:avLst>
          </a:prstGeom>
          <a:solidFill>
            <a:srgbClr val="1E1A10"/>
          </a:solidFill>
          <a:ln w="9525">
            <a:solidFill>
              <a:srgbClr val="5A4A22"/>
            </a:solidFill>
            <a:prstDash val="solid"/>
          </a:ln>
        </p:spPr>
      </p:sp>
      <p:sp>
        <p:nvSpPr>
          <p:cNvPr id="36" name="Shape 33"/>
          <p:cNvSpPr/>
          <p:nvPr/>
        </p:nvSpPr>
        <p:spPr>
          <a:xfrm>
            <a:off x="6317658" y="3547872"/>
            <a:ext cx="64008" cy="64008"/>
          </a:xfrm>
          <a:prstGeom prst="ellipse">
            <a:avLst/>
          </a:prstGeom>
          <a:solidFill>
            <a:srgbClr val="F0C96B"/>
          </a:solidFill>
          <a:ln/>
        </p:spPr>
      </p:sp>
      <p:sp>
        <p:nvSpPr>
          <p:cNvPr id="37" name="Text 34"/>
          <p:cNvSpPr txBox="1"/>
          <p:nvPr/>
        </p:nvSpPr>
        <p:spPr>
          <a:xfrm>
            <a:off x="6418242" y="347929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38" name="Text 35"/>
          <p:cNvSpPr txBox="1"/>
          <p:nvPr/>
        </p:nvSpPr>
        <p:spPr>
          <a:xfrm>
            <a:off x="950976" y="37124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Candidate consent step: before launch · slide 9</a:t>
            </a:r>
            <a:endParaRPr lang="en-US" sz="900" dirty="0"/>
          </a:p>
        </p:txBody>
      </p:sp>
      <p:sp>
        <p:nvSpPr>
          <p:cNvPr id="39" name="Shape 36"/>
          <p:cNvSpPr/>
          <p:nvPr/>
        </p:nvSpPr>
        <p:spPr>
          <a:xfrm>
            <a:off x="457200" y="3895344"/>
            <a:ext cx="402336" cy="219456"/>
          </a:xfrm>
          <a:prstGeom prst="roundRect">
            <a:avLst>
              <a:gd name="adj" fmla="val 29167"/>
            </a:avLst>
          </a:prstGeom>
          <a:solidFill>
            <a:srgbClr val="1E1A10"/>
          </a:solidFill>
          <a:ln w="9525">
            <a:solidFill>
              <a:srgbClr val="5A4A22"/>
            </a:solidFill>
            <a:prstDash val="solid"/>
          </a:ln>
        </p:spPr>
      </p:sp>
      <p:sp>
        <p:nvSpPr>
          <p:cNvPr id="40" name="Text 37"/>
          <p:cNvSpPr txBox="1"/>
          <p:nvPr/>
        </p:nvSpPr>
        <p:spPr>
          <a:xfrm>
            <a:off x="457200" y="389534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P5</a:t>
            </a:r>
            <a:endParaRPr lang="en-US" sz="1000" dirty="0"/>
          </a:p>
        </p:txBody>
      </p:sp>
      <p:sp>
        <p:nvSpPr>
          <p:cNvPr id="41" name="Text 38"/>
          <p:cNvSpPr txBox="1"/>
          <p:nvPr/>
        </p:nvSpPr>
        <p:spPr>
          <a:xfrm>
            <a:off x="950976" y="3895344"/>
            <a:ext cx="3985402"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AI tutor on your content, plus community</a:t>
            </a:r>
            <a:endParaRPr lang="en-US" sz="1300" dirty="0"/>
          </a:p>
        </p:txBody>
      </p:sp>
      <p:sp>
        <p:nvSpPr>
          <p:cNvPr id="42" name="Shape 39"/>
          <p:cNvSpPr/>
          <p:nvPr/>
        </p:nvSpPr>
        <p:spPr>
          <a:xfrm>
            <a:off x="5027818" y="3913632"/>
            <a:ext cx="1161824" cy="201168"/>
          </a:xfrm>
          <a:prstGeom prst="roundRect">
            <a:avLst>
              <a:gd name="adj" fmla="val 50000"/>
            </a:avLst>
          </a:prstGeom>
          <a:solidFill>
            <a:srgbClr val="0D2019"/>
          </a:solidFill>
          <a:ln w="9525">
            <a:solidFill>
              <a:srgbClr val="1F5A43"/>
            </a:solidFill>
            <a:prstDash val="solid"/>
          </a:ln>
        </p:spPr>
      </p:sp>
      <p:sp>
        <p:nvSpPr>
          <p:cNvPr id="43" name="Shape 40"/>
          <p:cNvSpPr/>
          <p:nvPr/>
        </p:nvSpPr>
        <p:spPr>
          <a:xfrm>
            <a:off x="5100970" y="3982212"/>
            <a:ext cx="64008" cy="64008"/>
          </a:xfrm>
          <a:prstGeom prst="ellipse">
            <a:avLst/>
          </a:prstGeom>
          <a:solidFill>
            <a:srgbClr val="34D399"/>
          </a:solidFill>
          <a:ln/>
        </p:spPr>
      </p:sp>
      <p:sp>
        <p:nvSpPr>
          <p:cNvPr id="44" name="Text 41"/>
          <p:cNvSpPr txBox="1"/>
          <p:nvPr/>
        </p:nvSpPr>
        <p:spPr>
          <a:xfrm>
            <a:off x="5201554" y="3913632"/>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45" name="Shape 42"/>
          <p:cNvSpPr/>
          <p:nvPr/>
        </p:nvSpPr>
        <p:spPr>
          <a:xfrm>
            <a:off x="6244506" y="3913632"/>
            <a:ext cx="567774" cy="201168"/>
          </a:xfrm>
          <a:prstGeom prst="roundRect">
            <a:avLst>
              <a:gd name="adj" fmla="val 50000"/>
            </a:avLst>
          </a:prstGeom>
          <a:solidFill>
            <a:srgbClr val="1E1A10"/>
          </a:solidFill>
          <a:ln w="9525">
            <a:solidFill>
              <a:srgbClr val="5A4A22"/>
            </a:solidFill>
            <a:prstDash val="solid"/>
          </a:ln>
        </p:spPr>
      </p:sp>
      <p:sp>
        <p:nvSpPr>
          <p:cNvPr id="46" name="Shape 43"/>
          <p:cNvSpPr/>
          <p:nvPr/>
        </p:nvSpPr>
        <p:spPr>
          <a:xfrm>
            <a:off x="6317658" y="3982212"/>
            <a:ext cx="64008" cy="64008"/>
          </a:xfrm>
          <a:prstGeom prst="ellipse">
            <a:avLst/>
          </a:prstGeom>
          <a:solidFill>
            <a:srgbClr val="F0C96B"/>
          </a:solidFill>
          <a:ln/>
        </p:spPr>
      </p:sp>
      <p:sp>
        <p:nvSpPr>
          <p:cNvPr id="47" name="Text 44"/>
          <p:cNvSpPr txBox="1"/>
          <p:nvPr/>
        </p:nvSpPr>
        <p:spPr>
          <a:xfrm>
            <a:off x="6418242" y="391363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48" name="Text 45"/>
          <p:cNvSpPr txBox="1"/>
          <p:nvPr/>
        </p:nvSpPr>
        <p:spPr>
          <a:xfrm>
            <a:off x="950976" y="414680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District community shown working · AI tutor built; your course knowledge base is set up in the pilot · slide 10</a:t>
            </a:r>
            <a:endParaRPr lang="en-US" sz="900" dirty="0"/>
          </a:p>
        </p:txBody>
      </p:sp>
      <p:sp>
        <p:nvSpPr>
          <p:cNvPr id="49" name="Shape 46"/>
          <p:cNvSpPr/>
          <p:nvPr/>
        </p:nvSpPr>
        <p:spPr>
          <a:xfrm>
            <a:off x="457200" y="4329684"/>
            <a:ext cx="402336" cy="219456"/>
          </a:xfrm>
          <a:prstGeom prst="roundRect">
            <a:avLst>
              <a:gd name="adj" fmla="val 29167"/>
            </a:avLst>
          </a:prstGeom>
          <a:solidFill>
            <a:srgbClr val="1E1A10"/>
          </a:solidFill>
          <a:ln w="9525">
            <a:solidFill>
              <a:srgbClr val="5A4A22"/>
            </a:solidFill>
            <a:prstDash val="solid"/>
          </a:ln>
        </p:spPr>
      </p:sp>
      <p:sp>
        <p:nvSpPr>
          <p:cNvPr id="50" name="Text 47"/>
          <p:cNvSpPr txBox="1"/>
          <p:nvPr/>
        </p:nvSpPr>
        <p:spPr>
          <a:xfrm>
            <a:off x="457200" y="432968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P6</a:t>
            </a:r>
            <a:endParaRPr lang="en-US" sz="1000" dirty="0"/>
          </a:p>
        </p:txBody>
      </p:sp>
      <p:sp>
        <p:nvSpPr>
          <p:cNvPr id="51" name="Text 48"/>
          <p:cNvSpPr txBox="1"/>
          <p:nvPr/>
        </p:nvSpPr>
        <p:spPr>
          <a:xfrm>
            <a:off x="950976" y="4329684"/>
            <a:ext cx="401989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Partner analytics and weekly e-mail report</a:t>
            </a:r>
            <a:endParaRPr lang="en-US" sz="1300" dirty="0"/>
          </a:p>
        </p:txBody>
      </p:sp>
      <p:sp>
        <p:nvSpPr>
          <p:cNvPr id="52" name="Shape 49"/>
          <p:cNvSpPr/>
          <p:nvPr/>
        </p:nvSpPr>
        <p:spPr>
          <a:xfrm>
            <a:off x="5062311" y="4347972"/>
            <a:ext cx="567774" cy="201168"/>
          </a:xfrm>
          <a:prstGeom prst="roundRect">
            <a:avLst>
              <a:gd name="adj" fmla="val 50000"/>
            </a:avLst>
          </a:prstGeom>
          <a:solidFill>
            <a:srgbClr val="1E1A10"/>
          </a:solidFill>
          <a:ln w="9525">
            <a:solidFill>
              <a:srgbClr val="5A4A22"/>
            </a:solidFill>
            <a:prstDash val="solid"/>
          </a:ln>
        </p:spPr>
      </p:sp>
      <p:sp>
        <p:nvSpPr>
          <p:cNvPr id="53" name="Shape 50"/>
          <p:cNvSpPr/>
          <p:nvPr/>
        </p:nvSpPr>
        <p:spPr>
          <a:xfrm>
            <a:off x="5135463" y="4416552"/>
            <a:ext cx="64008" cy="64008"/>
          </a:xfrm>
          <a:prstGeom prst="ellipse">
            <a:avLst/>
          </a:prstGeom>
          <a:solidFill>
            <a:srgbClr val="F0C96B"/>
          </a:solidFill>
          <a:ln/>
        </p:spPr>
      </p:sp>
      <p:sp>
        <p:nvSpPr>
          <p:cNvPr id="54" name="Text 51"/>
          <p:cNvSpPr txBox="1"/>
          <p:nvPr/>
        </p:nvSpPr>
        <p:spPr>
          <a:xfrm>
            <a:off x="5236047" y="434797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55" name="Shape 52"/>
          <p:cNvSpPr/>
          <p:nvPr/>
        </p:nvSpPr>
        <p:spPr>
          <a:xfrm>
            <a:off x="5684949" y="4347972"/>
            <a:ext cx="1127331" cy="201168"/>
          </a:xfrm>
          <a:prstGeom prst="roundRect">
            <a:avLst>
              <a:gd name="adj" fmla="val 50000"/>
            </a:avLst>
          </a:prstGeom>
          <a:solidFill>
            <a:srgbClr val="0A0A0F"/>
          </a:solidFill>
          <a:ln w="9525">
            <a:solidFill>
              <a:srgbClr val="6A6A80"/>
            </a:solidFill>
            <a:prstDash val="solid"/>
          </a:ln>
        </p:spPr>
      </p:sp>
      <p:sp>
        <p:nvSpPr>
          <p:cNvPr id="56" name="Shape 53"/>
          <p:cNvSpPr/>
          <p:nvPr/>
        </p:nvSpPr>
        <p:spPr>
          <a:xfrm>
            <a:off x="5758101" y="4416552"/>
            <a:ext cx="64008" cy="64008"/>
          </a:xfrm>
          <a:prstGeom prst="ellipse">
            <a:avLst/>
          </a:prstGeom>
          <a:solidFill>
            <a:srgbClr val="0A0A0F"/>
          </a:solidFill>
          <a:ln w="9525">
            <a:solidFill>
              <a:srgbClr val="9A9AB0"/>
            </a:solidFill>
            <a:prstDash val="solid"/>
          </a:ln>
        </p:spPr>
      </p:sp>
      <p:sp>
        <p:nvSpPr>
          <p:cNvPr id="57" name="Text 54"/>
          <p:cNvSpPr txBox="1"/>
          <p:nvPr/>
        </p:nvSpPr>
        <p:spPr>
          <a:xfrm>
            <a:off x="5858685" y="4347972"/>
            <a:ext cx="962739"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BEFORE LAUNCH</a:t>
            </a:r>
            <a:endParaRPr lang="en-US" sz="700" dirty="0"/>
          </a:p>
        </p:txBody>
      </p:sp>
      <p:sp>
        <p:nvSpPr>
          <p:cNvPr id="58" name="Text 55"/>
          <p:cNvSpPr txBox="1"/>
          <p:nvPr/>
        </p:nvSpPr>
        <p:spPr>
          <a:xfrm>
            <a:off x="950976" y="458114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Analytics and weekly report built · dashboard page: before launch · slide 11</a:t>
            </a:r>
            <a:endParaRPr lang="en-US" sz="900" dirty="0"/>
          </a:p>
        </p:txBody>
      </p:sp>
      <p:sp>
        <p:nvSpPr>
          <p:cNvPr id="59" name="Shape 56"/>
          <p:cNvSpPr/>
          <p:nvPr/>
        </p:nvSpPr>
        <p:spPr>
          <a:xfrm>
            <a:off x="457200" y="4764024"/>
            <a:ext cx="402336" cy="219456"/>
          </a:xfrm>
          <a:prstGeom prst="roundRect">
            <a:avLst>
              <a:gd name="adj" fmla="val 29167"/>
            </a:avLst>
          </a:prstGeom>
          <a:solidFill>
            <a:srgbClr val="1E1A10"/>
          </a:solidFill>
          <a:ln w="9525">
            <a:solidFill>
              <a:srgbClr val="5A4A22"/>
            </a:solidFill>
            <a:prstDash val="solid"/>
          </a:ln>
        </p:spPr>
      </p:sp>
      <p:sp>
        <p:nvSpPr>
          <p:cNvPr id="60" name="Text 57"/>
          <p:cNvSpPr txBox="1"/>
          <p:nvPr/>
        </p:nvSpPr>
        <p:spPr>
          <a:xfrm>
            <a:off x="457200" y="476402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P7</a:t>
            </a:r>
            <a:endParaRPr lang="en-US" sz="1000" dirty="0"/>
          </a:p>
        </p:txBody>
      </p:sp>
      <p:sp>
        <p:nvSpPr>
          <p:cNvPr id="61" name="Text 58"/>
          <p:cNvSpPr txBox="1"/>
          <p:nvPr/>
        </p:nvSpPr>
        <p:spPr>
          <a:xfrm>
            <a:off x="950976" y="4764024"/>
            <a:ext cx="401989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70% of course sales, paid out automatically</a:t>
            </a:r>
            <a:endParaRPr lang="en-US" sz="1300" dirty="0"/>
          </a:p>
        </p:txBody>
      </p:sp>
      <p:sp>
        <p:nvSpPr>
          <p:cNvPr id="62" name="Shape 59"/>
          <p:cNvSpPr/>
          <p:nvPr/>
        </p:nvSpPr>
        <p:spPr>
          <a:xfrm>
            <a:off x="5062311" y="4782312"/>
            <a:ext cx="567774" cy="201168"/>
          </a:xfrm>
          <a:prstGeom prst="roundRect">
            <a:avLst>
              <a:gd name="adj" fmla="val 50000"/>
            </a:avLst>
          </a:prstGeom>
          <a:solidFill>
            <a:srgbClr val="1E1A10"/>
          </a:solidFill>
          <a:ln w="9525">
            <a:solidFill>
              <a:srgbClr val="5A4A22"/>
            </a:solidFill>
            <a:prstDash val="solid"/>
          </a:ln>
        </p:spPr>
      </p:sp>
      <p:sp>
        <p:nvSpPr>
          <p:cNvPr id="63" name="Shape 60"/>
          <p:cNvSpPr/>
          <p:nvPr/>
        </p:nvSpPr>
        <p:spPr>
          <a:xfrm>
            <a:off x="5135463" y="4850892"/>
            <a:ext cx="64008" cy="64008"/>
          </a:xfrm>
          <a:prstGeom prst="ellipse">
            <a:avLst/>
          </a:prstGeom>
          <a:solidFill>
            <a:srgbClr val="F0C96B"/>
          </a:solidFill>
          <a:ln/>
        </p:spPr>
      </p:sp>
      <p:sp>
        <p:nvSpPr>
          <p:cNvPr id="64" name="Text 61"/>
          <p:cNvSpPr txBox="1"/>
          <p:nvPr/>
        </p:nvSpPr>
        <p:spPr>
          <a:xfrm>
            <a:off x="5236047" y="478231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65" name="Shape 62"/>
          <p:cNvSpPr/>
          <p:nvPr/>
        </p:nvSpPr>
        <p:spPr>
          <a:xfrm>
            <a:off x="5684949" y="4782312"/>
            <a:ext cx="1127331" cy="201168"/>
          </a:xfrm>
          <a:prstGeom prst="roundRect">
            <a:avLst>
              <a:gd name="adj" fmla="val 50000"/>
            </a:avLst>
          </a:prstGeom>
          <a:solidFill>
            <a:srgbClr val="0A0A0F"/>
          </a:solidFill>
          <a:ln w="9525">
            <a:solidFill>
              <a:srgbClr val="6A6A80"/>
            </a:solidFill>
            <a:prstDash val="solid"/>
          </a:ln>
        </p:spPr>
      </p:sp>
      <p:sp>
        <p:nvSpPr>
          <p:cNvPr id="66" name="Shape 63"/>
          <p:cNvSpPr/>
          <p:nvPr/>
        </p:nvSpPr>
        <p:spPr>
          <a:xfrm>
            <a:off x="5758101" y="4850892"/>
            <a:ext cx="64008" cy="64008"/>
          </a:xfrm>
          <a:prstGeom prst="ellipse">
            <a:avLst/>
          </a:prstGeom>
          <a:solidFill>
            <a:srgbClr val="0A0A0F"/>
          </a:solidFill>
          <a:ln w="9525">
            <a:solidFill>
              <a:srgbClr val="9A9AB0"/>
            </a:solidFill>
            <a:prstDash val="solid"/>
          </a:ln>
        </p:spPr>
      </p:sp>
      <p:sp>
        <p:nvSpPr>
          <p:cNvPr id="67" name="Text 64"/>
          <p:cNvSpPr txBox="1"/>
          <p:nvPr/>
        </p:nvSpPr>
        <p:spPr>
          <a:xfrm>
            <a:off x="5858685" y="4782312"/>
            <a:ext cx="962739"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BEFORE LAUNCH</a:t>
            </a:r>
            <a:endParaRPr lang="en-US" sz="700" dirty="0"/>
          </a:p>
        </p:txBody>
      </p:sp>
      <p:sp>
        <p:nvSpPr>
          <p:cNvPr id="68" name="Text 65"/>
          <p:cNvSpPr txBox="1"/>
          <p:nvPr/>
        </p:nvSpPr>
        <p:spPr>
          <a:xfrm>
            <a:off x="950976" y="501548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Split built · payouts page and payout-account set-up: before launch · slide 11</a:t>
            </a:r>
            <a:endParaRPr lang="en-US" sz="900" dirty="0"/>
          </a:p>
        </p:txBody>
      </p:sp>
      <p:sp>
        <p:nvSpPr>
          <p:cNvPr id="69" name="Shape 66"/>
          <p:cNvSpPr/>
          <p:nvPr/>
        </p:nvSpPr>
        <p:spPr>
          <a:xfrm>
            <a:off x="457200" y="5198364"/>
            <a:ext cx="402336" cy="219456"/>
          </a:xfrm>
          <a:prstGeom prst="roundRect">
            <a:avLst>
              <a:gd name="adj" fmla="val 29167"/>
            </a:avLst>
          </a:prstGeom>
          <a:solidFill>
            <a:srgbClr val="1E1A10"/>
          </a:solidFill>
          <a:ln w="9525">
            <a:solidFill>
              <a:srgbClr val="5A4A22"/>
            </a:solidFill>
            <a:prstDash val="solid"/>
          </a:ln>
        </p:spPr>
      </p:sp>
      <p:sp>
        <p:nvSpPr>
          <p:cNvPr id="70" name="Text 67"/>
          <p:cNvSpPr txBox="1"/>
          <p:nvPr/>
        </p:nvSpPr>
        <p:spPr>
          <a:xfrm>
            <a:off x="457200" y="519836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P8</a:t>
            </a:r>
            <a:endParaRPr lang="en-US" sz="1000" dirty="0"/>
          </a:p>
        </p:txBody>
      </p:sp>
      <p:sp>
        <p:nvSpPr>
          <p:cNvPr id="71" name="Text 68"/>
          <p:cNvSpPr txBox="1"/>
          <p:nvPr/>
        </p:nvSpPr>
        <p:spPr>
          <a:xfrm>
            <a:off x="950976" y="5198364"/>
            <a:ext cx="5202090"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Round tables with a Partner Intelligence Report</a:t>
            </a:r>
            <a:endParaRPr lang="en-US" sz="1300" dirty="0"/>
          </a:p>
        </p:txBody>
      </p:sp>
      <p:sp>
        <p:nvSpPr>
          <p:cNvPr id="72" name="Shape 69"/>
          <p:cNvSpPr/>
          <p:nvPr/>
        </p:nvSpPr>
        <p:spPr>
          <a:xfrm>
            <a:off x="6244506" y="5216652"/>
            <a:ext cx="567774" cy="201168"/>
          </a:xfrm>
          <a:prstGeom prst="roundRect">
            <a:avLst>
              <a:gd name="adj" fmla="val 50000"/>
            </a:avLst>
          </a:prstGeom>
          <a:solidFill>
            <a:srgbClr val="1E1A10"/>
          </a:solidFill>
          <a:ln w="9525">
            <a:solidFill>
              <a:srgbClr val="5A4A22"/>
            </a:solidFill>
            <a:prstDash val="solid"/>
          </a:ln>
        </p:spPr>
      </p:sp>
      <p:sp>
        <p:nvSpPr>
          <p:cNvPr id="73" name="Shape 70"/>
          <p:cNvSpPr/>
          <p:nvPr/>
        </p:nvSpPr>
        <p:spPr>
          <a:xfrm>
            <a:off x="6317658" y="5285232"/>
            <a:ext cx="64008" cy="64008"/>
          </a:xfrm>
          <a:prstGeom prst="ellipse">
            <a:avLst/>
          </a:prstGeom>
          <a:solidFill>
            <a:srgbClr val="F0C96B"/>
          </a:solidFill>
          <a:ln/>
        </p:spPr>
      </p:sp>
      <p:sp>
        <p:nvSpPr>
          <p:cNvPr id="74" name="Text 71"/>
          <p:cNvSpPr txBox="1"/>
          <p:nvPr/>
        </p:nvSpPr>
        <p:spPr>
          <a:xfrm>
            <a:off x="6418242" y="5216652"/>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75" name="Text 72"/>
          <p:cNvSpPr txBox="1"/>
          <p:nvPr/>
        </p:nvSpPr>
        <p:spPr>
          <a:xfrm>
            <a:off x="950976" y="544982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Five outputs, one human approves · attribution removal: before launch · slide 12</a:t>
            </a:r>
            <a:endParaRPr lang="en-US" sz="900" dirty="0"/>
          </a:p>
        </p:txBody>
      </p:sp>
      <p:sp>
        <p:nvSpPr>
          <p:cNvPr id="76" name="Shape 73"/>
          <p:cNvSpPr/>
          <p:nvPr/>
        </p:nvSpPr>
        <p:spPr>
          <a:xfrm>
            <a:off x="457200" y="5632704"/>
            <a:ext cx="402336" cy="219456"/>
          </a:xfrm>
          <a:prstGeom prst="roundRect">
            <a:avLst>
              <a:gd name="adj" fmla="val 29167"/>
            </a:avLst>
          </a:prstGeom>
          <a:solidFill>
            <a:srgbClr val="1E1A10"/>
          </a:solidFill>
          <a:ln w="9525">
            <a:solidFill>
              <a:srgbClr val="5A4A22"/>
            </a:solidFill>
            <a:prstDash val="solid"/>
          </a:ln>
        </p:spPr>
      </p:sp>
      <p:sp>
        <p:nvSpPr>
          <p:cNvPr id="77" name="Text 74"/>
          <p:cNvSpPr txBox="1"/>
          <p:nvPr/>
        </p:nvSpPr>
        <p:spPr>
          <a:xfrm>
            <a:off x="457200" y="5632704"/>
            <a:ext cx="402336" cy="219456"/>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P9</a:t>
            </a:r>
            <a:endParaRPr lang="en-US" sz="1000" dirty="0"/>
          </a:p>
        </p:txBody>
      </p:sp>
      <p:sp>
        <p:nvSpPr>
          <p:cNvPr id="78" name="Text 75"/>
          <p:cNvSpPr txBox="1"/>
          <p:nvPr/>
        </p:nvSpPr>
        <p:spPr>
          <a:xfrm>
            <a:off x="950976" y="5632704"/>
            <a:ext cx="4980402"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Digital-twin masterclass, with expert consent</a:t>
            </a:r>
            <a:endParaRPr lang="en-US" sz="1300" dirty="0"/>
          </a:p>
        </p:txBody>
      </p:sp>
      <p:sp>
        <p:nvSpPr>
          <p:cNvPr id="79" name="Shape 76"/>
          <p:cNvSpPr/>
          <p:nvPr/>
        </p:nvSpPr>
        <p:spPr>
          <a:xfrm>
            <a:off x="6022818" y="5650992"/>
            <a:ext cx="789462" cy="201168"/>
          </a:xfrm>
          <a:prstGeom prst="roundRect">
            <a:avLst>
              <a:gd name="adj" fmla="val 50000"/>
            </a:avLst>
          </a:prstGeom>
          <a:solidFill>
            <a:srgbClr val="0A0A0F"/>
          </a:solidFill>
          <a:ln w="9525">
            <a:solidFill>
              <a:srgbClr val="6A6A80"/>
            </a:solidFill>
            <a:prstDash val="solid"/>
          </a:ln>
        </p:spPr>
      </p:sp>
      <p:sp>
        <p:nvSpPr>
          <p:cNvPr id="80" name="Shape 77"/>
          <p:cNvSpPr/>
          <p:nvPr/>
        </p:nvSpPr>
        <p:spPr>
          <a:xfrm>
            <a:off x="6095970" y="5719572"/>
            <a:ext cx="64008" cy="64008"/>
          </a:xfrm>
          <a:prstGeom prst="ellipse">
            <a:avLst/>
          </a:prstGeom>
          <a:solidFill>
            <a:srgbClr val="0A0A0F"/>
          </a:solidFill>
          <a:ln w="9525">
            <a:solidFill>
              <a:srgbClr val="9A9AB0"/>
            </a:solidFill>
            <a:prstDash val="solid"/>
          </a:ln>
        </p:spPr>
      </p:sp>
      <p:sp>
        <p:nvSpPr>
          <p:cNvPr id="81" name="Text 78"/>
          <p:cNvSpPr txBox="1"/>
          <p:nvPr/>
        </p:nvSpPr>
        <p:spPr>
          <a:xfrm>
            <a:off x="6196554" y="5650992"/>
            <a:ext cx="624870"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DESIGNED</a:t>
            </a:r>
            <a:endParaRPr lang="en-US" sz="700" dirty="0"/>
          </a:p>
        </p:txBody>
      </p:sp>
      <p:sp>
        <p:nvSpPr>
          <p:cNvPr id="82" name="Text 79"/>
          <p:cNvSpPr txBox="1"/>
          <p:nvPr/>
        </p:nvSpPr>
        <p:spPr>
          <a:xfrm>
            <a:off x="950976" y="5884164"/>
            <a:ext cx="5861304"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Roadmap: last milestone · backup slide 29</a:t>
            </a:r>
            <a:endParaRPr lang="en-US" sz="900" dirty="0"/>
          </a:p>
        </p:txBody>
      </p:sp>
      <p:sp>
        <p:nvSpPr>
          <p:cNvPr id="83" name="Text 80"/>
          <p:cNvSpPr txBox="1"/>
          <p:nvPr/>
        </p:nvSpPr>
        <p:spPr>
          <a:xfrm>
            <a:off x="7086600" y="1874520"/>
            <a:ext cx="4647895" cy="201168"/>
          </a:xfrm>
          <a:prstGeom prst="rect">
            <a:avLst/>
          </a:prstGeom>
          <a:noFill/>
          <a:ln/>
        </p:spPr>
        <p:txBody>
          <a:bodyPr wrap="square" lIns="0" tIns="0" rIns="0" bIns="0" rtlCol="0" anchor="t"/>
          <a:lstStyle/>
          <a:p>
            <a:pPr indent="0" marL="0">
              <a:buNone/>
            </a:pPr>
            <a:r>
              <a:rPr lang="en-US" sz="1000" b="1" spc="140" kern="0" dirty="0">
                <a:solidFill>
                  <a:srgbClr val="60A5FA"/>
                </a:solidFill>
                <a:latin typeface="Arial" pitchFamily="34" charset="0"/>
                <a:ea typeface="Arial" pitchFamily="34" charset="-122"/>
                <a:cs typeface="Arial" pitchFamily="34" charset="-120"/>
              </a:rPr>
              <a:t>FOR ENTERPRISE TEAMS</a:t>
            </a:r>
            <a:endParaRPr lang="en-US" sz="1000" dirty="0"/>
          </a:p>
        </p:txBody>
      </p:sp>
      <p:sp>
        <p:nvSpPr>
          <p:cNvPr id="84" name="Shape 81"/>
          <p:cNvSpPr/>
          <p:nvPr/>
        </p:nvSpPr>
        <p:spPr>
          <a:xfrm>
            <a:off x="7086600" y="2157984"/>
            <a:ext cx="402336" cy="219456"/>
          </a:xfrm>
          <a:prstGeom prst="roundRect">
            <a:avLst>
              <a:gd name="adj" fmla="val 29167"/>
            </a:avLst>
          </a:prstGeom>
          <a:solidFill>
            <a:srgbClr val="0F1829"/>
          </a:solidFill>
          <a:ln w="9525">
            <a:solidFill>
              <a:srgbClr val="27436E"/>
            </a:solidFill>
            <a:prstDash val="solid"/>
          </a:ln>
        </p:spPr>
      </p:sp>
      <p:sp>
        <p:nvSpPr>
          <p:cNvPr id="85" name="Text 82"/>
          <p:cNvSpPr txBox="1"/>
          <p:nvPr/>
        </p:nvSpPr>
        <p:spPr>
          <a:xfrm>
            <a:off x="7086600" y="215798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E1</a:t>
            </a:r>
            <a:endParaRPr lang="en-US" sz="1000" dirty="0"/>
          </a:p>
        </p:txBody>
      </p:sp>
      <p:sp>
        <p:nvSpPr>
          <p:cNvPr id="86" name="Text 83"/>
          <p:cNvSpPr txBox="1"/>
          <p:nvPr/>
        </p:nvSpPr>
        <p:spPr>
          <a:xfrm>
            <a:off x="7580376" y="2157984"/>
            <a:ext cx="290085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Batch enrolment + cohort</a:t>
            </a:r>
            <a:endParaRPr lang="en-US" sz="1300" dirty="0"/>
          </a:p>
        </p:txBody>
      </p:sp>
      <p:sp>
        <p:nvSpPr>
          <p:cNvPr id="87" name="Shape 84"/>
          <p:cNvSpPr/>
          <p:nvPr/>
        </p:nvSpPr>
        <p:spPr>
          <a:xfrm>
            <a:off x="10572671" y="2176272"/>
            <a:ext cx="1161824" cy="201168"/>
          </a:xfrm>
          <a:prstGeom prst="roundRect">
            <a:avLst>
              <a:gd name="adj" fmla="val 50000"/>
            </a:avLst>
          </a:prstGeom>
          <a:solidFill>
            <a:srgbClr val="0D2019"/>
          </a:solidFill>
          <a:ln w="9525">
            <a:solidFill>
              <a:srgbClr val="1F5A43"/>
            </a:solidFill>
            <a:prstDash val="solid"/>
          </a:ln>
        </p:spPr>
      </p:sp>
      <p:sp>
        <p:nvSpPr>
          <p:cNvPr id="88" name="Shape 85"/>
          <p:cNvSpPr/>
          <p:nvPr/>
        </p:nvSpPr>
        <p:spPr>
          <a:xfrm>
            <a:off x="10645823" y="2244852"/>
            <a:ext cx="64008" cy="64008"/>
          </a:xfrm>
          <a:prstGeom prst="ellipse">
            <a:avLst/>
          </a:prstGeom>
          <a:solidFill>
            <a:srgbClr val="34D399"/>
          </a:solidFill>
          <a:ln/>
        </p:spPr>
      </p:sp>
      <p:sp>
        <p:nvSpPr>
          <p:cNvPr id="89" name="Text 86"/>
          <p:cNvSpPr txBox="1"/>
          <p:nvPr/>
        </p:nvSpPr>
        <p:spPr>
          <a:xfrm>
            <a:off x="10746407" y="2176272"/>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90" name="Text 87"/>
          <p:cNvSpPr txBox="1"/>
          <p:nvPr/>
        </p:nvSpPr>
        <p:spPr>
          <a:xfrm>
            <a:off x="7580376" y="240944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Standard platform feature, shown working on our demo system · slide 13</a:t>
            </a:r>
            <a:endParaRPr lang="en-US" sz="900" dirty="0"/>
          </a:p>
        </p:txBody>
      </p:sp>
      <p:sp>
        <p:nvSpPr>
          <p:cNvPr id="91" name="Shape 88"/>
          <p:cNvSpPr/>
          <p:nvPr/>
        </p:nvSpPr>
        <p:spPr>
          <a:xfrm>
            <a:off x="7086600" y="2592324"/>
            <a:ext cx="402336" cy="219456"/>
          </a:xfrm>
          <a:prstGeom prst="roundRect">
            <a:avLst>
              <a:gd name="adj" fmla="val 29167"/>
            </a:avLst>
          </a:prstGeom>
          <a:solidFill>
            <a:srgbClr val="0F1829"/>
          </a:solidFill>
          <a:ln w="9525">
            <a:solidFill>
              <a:srgbClr val="27436E"/>
            </a:solidFill>
            <a:prstDash val="solid"/>
          </a:ln>
        </p:spPr>
      </p:sp>
      <p:sp>
        <p:nvSpPr>
          <p:cNvPr id="92" name="Text 89"/>
          <p:cNvSpPr txBox="1"/>
          <p:nvPr/>
        </p:nvSpPr>
        <p:spPr>
          <a:xfrm>
            <a:off x="7086600" y="259232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E2</a:t>
            </a:r>
            <a:endParaRPr lang="en-US" sz="1000" dirty="0"/>
          </a:p>
        </p:txBody>
      </p:sp>
      <p:sp>
        <p:nvSpPr>
          <p:cNvPr id="93" name="Text 90"/>
          <p:cNvSpPr txBox="1"/>
          <p:nvPr/>
        </p:nvSpPr>
        <p:spPr>
          <a:xfrm>
            <a:off x="7580376" y="2592324"/>
            <a:ext cx="290085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Per-employee gradebook</a:t>
            </a:r>
            <a:endParaRPr lang="en-US" sz="1300" dirty="0"/>
          </a:p>
        </p:txBody>
      </p:sp>
      <p:sp>
        <p:nvSpPr>
          <p:cNvPr id="94" name="Shape 91"/>
          <p:cNvSpPr/>
          <p:nvPr/>
        </p:nvSpPr>
        <p:spPr>
          <a:xfrm>
            <a:off x="10572671" y="2610612"/>
            <a:ext cx="1161824" cy="201168"/>
          </a:xfrm>
          <a:prstGeom prst="roundRect">
            <a:avLst>
              <a:gd name="adj" fmla="val 50000"/>
            </a:avLst>
          </a:prstGeom>
          <a:solidFill>
            <a:srgbClr val="0D2019"/>
          </a:solidFill>
          <a:ln w="9525">
            <a:solidFill>
              <a:srgbClr val="1F5A43"/>
            </a:solidFill>
            <a:prstDash val="solid"/>
          </a:ln>
        </p:spPr>
      </p:sp>
      <p:sp>
        <p:nvSpPr>
          <p:cNvPr id="95" name="Shape 92"/>
          <p:cNvSpPr/>
          <p:nvPr/>
        </p:nvSpPr>
        <p:spPr>
          <a:xfrm>
            <a:off x="10645823" y="2679192"/>
            <a:ext cx="64008" cy="64008"/>
          </a:xfrm>
          <a:prstGeom prst="ellipse">
            <a:avLst/>
          </a:prstGeom>
          <a:solidFill>
            <a:srgbClr val="34D399"/>
          </a:solidFill>
          <a:ln/>
        </p:spPr>
      </p:sp>
      <p:sp>
        <p:nvSpPr>
          <p:cNvPr id="96" name="Text 93"/>
          <p:cNvSpPr txBox="1"/>
          <p:nvPr/>
        </p:nvSpPr>
        <p:spPr>
          <a:xfrm>
            <a:off x="10746407" y="2610612"/>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97" name="Text 94"/>
          <p:cNvSpPr txBox="1"/>
          <p:nvPr/>
        </p:nvSpPr>
        <p:spPr>
          <a:xfrm>
            <a:off x="7580376" y="284378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Standard platform feature, shown working on our demo system · slide 14</a:t>
            </a:r>
            <a:endParaRPr lang="en-US" sz="900" dirty="0"/>
          </a:p>
        </p:txBody>
      </p:sp>
      <p:sp>
        <p:nvSpPr>
          <p:cNvPr id="98" name="Shape 95"/>
          <p:cNvSpPr/>
          <p:nvPr/>
        </p:nvSpPr>
        <p:spPr>
          <a:xfrm>
            <a:off x="7086600" y="3026664"/>
            <a:ext cx="402336" cy="219456"/>
          </a:xfrm>
          <a:prstGeom prst="roundRect">
            <a:avLst>
              <a:gd name="adj" fmla="val 29167"/>
            </a:avLst>
          </a:prstGeom>
          <a:solidFill>
            <a:srgbClr val="0F1829"/>
          </a:solidFill>
          <a:ln w="9525">
            <a:solidFill>
              <a:srgbClr val="27436E"/>
            </a:solidFill>
            <a:prstDash val="solid"/>
          </a:ln>
        </p:spPr>
      </p:sp>
      <p:sp>
        <p:nvSpPr>
          <p:cNvPr id="99" name="Text 96"/>
          <p:cNvSpPr txBox="1"/>
          <p:nvPr/>
        </p:nvSpPr>
        <p:spPr>
          <a:xfrm>
            <a:off x="7086600" y="302666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E3</a:t>
            </a:r>
            <a:endParaRPr lang="en-US" sz="1000" dirty="0"/>
          </a:p>
        </p:txBody>
      </p:sp>
      <p:sp>
        <p:nvSpPr>
          <p:cNvPr id="100" name="Text 97"/>
          <p:cNvSpPr txBox="1"/>
          <p:nvPr/>
        </p:nvSpPr>
        <p:spPr>
          <a:xfrm>
            <a:off x="7580376" y="3026664"/>
            <a:ext cx="2900855"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Grade reports as CSV</a:t>
            </a:r>
            <a:endParaRPr lang="en-US" sz="1300" dirty="0"/>
          </a:p>
        </p:txBody>
      </p:sp>
      <p:sp>
        <p:nvSpPr>
          <p:cNvPr id="101" name="Shape 98"/>
          <p:cNvSpPr/>
          <p:nvPr/>
        </p:nvSpPr>
        <p:spPr>
          <a:xfrm>
            <a:off x="10572671" y="3044952"/>
            <a:ext cx="1161824" cy="201168"/>
          </a:xfrm>
          <a:prstGeom prst="roundRect">
            <a:avLst>
              <a:gd name="adj" fmla="val 50000"/>
            </a:avLst>
          </a:prstGeom>
          <a:solidFill>
            <a:srgbClr val="0D2019"/>
          </a:solidFill>
          <a:ln w="9525">
            <a:solidFill>
              <a:srgbClr val="1F5A43"/>
            </a:solidFill>
            <a:prstDash val="solid"/>
          </a:ln>
        </p:spPr>
      </p:sp>
      <p:sp>
        <p:nvSpPr>
          <p:cNvPr id="102" name="Shape 99"/>
          <p:cNvSpPr/>
          <p:nvPr/>
        </p:nvSpPr>
        <p:spPr>
          <a:xfrm>
            <a:off x="10645823" y="3113532"/>
            <a:ext cx="64008" cy="64008"/>
          </a:xfrm>
          <a:prstGeom prst="ellipse">
            <a:avLst/>
          </a:prstGeom>
          <a:solidFill>
            <a:srgbClr val="34D399"/>
          </a:solidFill>
          <a:ln/>
        </p:spPr>
      </p:sp>
      <p:sp>
        <p:nvSpPr>
          <p:cNvPr id="103" name="Text 100"/>
          <p:cNvSpPr txBox="1"/>
          <p:nvPr/>
        </p:nvSpPr>
        <p:spPr>
          <a:xfrm>
            <a:off x="10746407" y="3044952"/>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104" name="Text 101"/>
          <p:cNvSpPr txBox="1"/>
          <p:nvPr/>
        </p:nvSpPr>
        <p:spPr>
          <a:xfrm>
            <a:off x="7580376" y="327812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For your regulator or internal audit · slide 15</a:t>
            </a:r>
            <a:endParaRPr lang="en-US" sz="900" dirty="0"/>
          </a:p>
        </p:txBody>
      </p:sp>
      <p:sp>
        <p:nvSpPr>
          <p:cNvPr id="105" name="Shape 102"/>
          <p:cNvSpPr/>
          <p:nvPr/>
        </p:nvSpPr>
        <p:spPr>
          <a:xfrm>
            <a:off x="7086600" y="3461004"/>
            <a:ext cx="402336" cy="219456"/>
          </a:xfrm>
          <a:prstGeom prst="roundRect">
            <a:avLst>
              <a:gd name="adj" fmla="val 29167"/>
            </a:avLst>
          </a:prstGeom>
          <a:solidFill>
            <a:srgbClr val="0F1829"/>
          </a:solidFill>
          <a:ln w="9525">
            <a:solidFill>
              <a:srgbClr val="27436E"/>
            </a:solidFill>
            <a:prstDash val="solid"/>
          </a:ln>
        </p:spPr>
      </p:sp>
      <p:sp>
        <p:nvSpPr>
          <p:cNvPr id="106" name="Text 103"/>
          <p:cNvSpPr txBox="1"/>
          <p:nvPr/>
        </p:nvSpPr>
        <p:spPr>
          <a:xfrm>
            <a:off x="7086600" y="3461004"/>
            <a:ext cx="402336" cy="219456"/>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E4</a:t>
            </a:r>
            <a:endParaRPr lang="en-US" sz="1000" dirty="0"/>
          </a:p>
        </p:txBody>
      </p:sp>
      <p:sp>
        <p:nvSpPr>
          <p:cNvPr id="107" name="Text 104"/>
          <p:cNvSpPr txBox="1"/>
          <p:nvPr/>
        </p:nvSpPr>
        <p:spPr>
          <a:xfrm>
            <a:off x="7580376" y="3461004"/>
            <a:ext cx="3273217" cy="237744"/>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Team-admin console, evidence pack</a:t>
            </a:r>
            <a:endParaRPr lang="en-US" sz="1300" dirty="0"/>
          </a:p>
        </p:txBody>
      </p:sp>
      <p:sp>
        <p:nvSpPr>
          <p:cNvPr id="108" name="Shape 105"/>
          <p:cNvSpPr/>
          <p:nvPr/>
        </p:nvSpPr>
        <p:spPr>
          <a:xfrm>
            <a:off x="10945033" y="3479292"/>
            <a:ext cx="789462" cy="201168"/>
          </a:xfrm>
          <a:prstGeom prst="roundRect">
            <a:avLst>
              <a:gd name="adj" fmla="val 50000"/>
            </a:avLst>
          </a:prstGeom>
          <a:solidFill>
            <a:srgbClr val="0A0A0F"/>
          </a:solidFill>
          <a:ln w="9525">
            <a:solidFill>
              <a:srgbClr val="6A6A80"/>
            </a:solidFill>
            <a:prstDash val="solid"/>
          </a:ln>
        </p:spPr>
      </p:sp>
      <p:sp>
        <p:nvSpPr>
          <p:cNvPr id="109" name="Shape 106"/>
          <p:cNvSpPr/>
          <p:nvPr/>
        </p:nvSpPr>
        <p:spPr>
          <a:xfrm>
            <a:off x="11018185" y="3547872"/>
            <a:ext cx="64008" cy="64008"/>
          </a:xfrm>
          <a:prstGeom prst="ellipse">
            <a:avLst/>
          </a:prstGeom>
          <a:solidFill>
            <a:srgbClr val="0A0A0F"/>
          </a:solidFill>
          <a:ln w="9525">
            <a:solidFill>
              <a:srgbClr val="9A9AB0"/>
            </a:solidFill>
            <a:prstDash val="solid"/>
          </a:ln>
        </p:spPr>
      </p:sp>
      <p:sp>
        <p:nvSpPr>
          <p:cNvPr id="110" name="Text 107"/>
          <p:cNvSpPr txBox="1"/>
          <p:nvPr/>
        </p:nvSpPr>
        <p:spPr>
          <a:xfrm>
            <a:off x="11118769" y="3479292"/>
            <a:ext cx="624870"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DESIGNED</a:t>
            </a:r>
            <a:endParaRPr lang="en-US" sz="700" dirty="0"/>
          </a:p>
        </p:txBody>
      </p:sp>
      <p:sp>
        <p:nvSpPr>
          <p:cNvPr id="111" name="Text 108"/>
          <p:cNvSpPr txBox="1"/>
          <p:nvPr/>
        </p:nvSpPr>
        <p:spPr>
          <a:xfrm>
            <a:off x="7580376" y="3712464"/>
            <a:ext cx="4154119" cy="155448"/>
          </a:xfrm>
          <a:prstGeom prst="rect">
            <a:avLst/>
          </a:prstGeom>
          <a:noFill/>
          <a:ln/>
        </p:spPr>
        <p:txBody>
          <a:bodyPr wrap="square" lIns="0" tIns="0" rIns="0" bIns="0" rtlCol="0" anchor="t"/>
          <a:lstStyle/>
          <a:p>
            <a:pPr indent="0" marL="0">
              <a:buNone/>
            </a:pPr>
            <a:r>
              <a:rPr lang="en-US" sz="900" dirty="0">
                <a:solidFill>
                  <a:srgbClr val="B4B4C8"/>
                </a:solidFill>
                <a:latin typeface="Arial" pitchFamily="34" charset="0"/>
                <a:ea typeface="Arial" pitchFamily="34" charset="-122"/>
                <a:cs typeface="Arial" pitchFamily="34" charset="-120"/>
              </a:rPr>
              <a:t>Coming with the pilot; seat records already built · slide 16</a:t>
            </a:r>
            <a:endParaRPr lang="en-US" sz="900" dirty="0"/>
          </a:p>
        </p:txBody>
      </p:sp>
      <p:sp>
        <p:nvSpPr>
          <p:cNvPr id="112" name="Shape 109"/>
          <p:cNvSpPr/>
          <p:nvPr/>
        </p:nvSpPr>
        <p:spPr>
          <a:xfrm>
            <a:off x="7086600" y="3959352"/>
            <a:ext cx="4647895" cy="2258568"/>
          </a:xfrm>
          <a:prstGeom prst="roundRect">
            <a:avLst>
              <a:gd name="adj" fmla="val 4049"/>
            </a:avLst>
          </a:prstGeom>
          <a:solidFill>
            <a:srgbClr val="171722"/>
          </a:solidFill>
          <a:ln w="9525">
            <a:solidFill>
              <a:srgbClr val="2C2C3E"/>
            </a:solidFill>
            <a:prstDash val="solid"/>
          </a:ln>
        </p:spPr>
      </p:sp>
      <p:sp>
        <p:nvSpPr>
          <p:cNvPr id="113" name="Text 110"/>
          <p:cNvSpPr txBox="1"/>
          <p:nvPr/>
        </p:nvSpPr>
        <p:spPr>
          <a:xfrm>
            <a:off x="7214616" y="4050792"/>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BUILD STATUS CHIPS</a:t>
            </a:r>
            <a:endParaRPr lang="en-US" sz="850" dirty="0"/>
          </a:p>
        </p:txBody>
      </p:sp>
      <p:sp>
        <p:nvSpPr>
          <p:cNvPr id="114" name="Shape 111"/>
          <p:cNvSpPr/>
          <p:nvPr/>
        </p:nvSpPr>
        <p:spPr>
          <a:xfrm>
            <a:off x="7214616" y="4224528"/>
            <a:ext cx="1161824" cy="201168"/>
          </a:xfrm>
          <a:prstGeom prst="roundRect">
            <a:avLst>
              <a:gd name="adj" fmla="val 50000"/>
            </a:avLst>
          </a:prstGeom>
          <a:solidFill>
            <a:srgbClr val="0D2019"/>
          </a:solidFill>
          <a:ln w="9525">
            <a:solidFill>
              <a:srgbClr val="1F5A43"/>
            </a:solidFill>
            <a:prstDash val="solid"/>
          </a:ln>
        </p:spPr>
      </p:sp>
      <p:sp>
        <p:nvSpPr>
          <p:cNvPr id="115" name="Shape 112"/>
          <p:cNvSpPr/>
          <p:nvPr/>
        </p:nvSpPr>
        <p:spPr>
          <a:xfrm>
            <a:off x="7287768" y="4293108"/>
            <a:ext cx="64008" cy="64008"/>
          </a:xfrm>
          <a:prstGeom prst="ellipse">
            <a:avLst/>
          </a:prstGeom>
          <a:solidFill>
            <a:srgbClr val="34D399"/>
          </a:solidFill>
          <a:ln/>
        </p:spPr>
      </p:sp>
      <p:sp>
        <p:nvSpPr>
          <p:cNvPr id="116" name="Text 113"/>
          <p:cNvSpPr txBox="1"/>
          <p:nvPr/>
        </p:nvSpPr>
        <p:spPr>
          <a:xfrm>
            <a:off x="7388352" y="4224528"/>
            <a:ext cx="997232" cy="201168"/>
          </a:xfrm>
          <a:prstGeom prst="rect">
            <a:avLst/>
          </a:prstGeom>
          <a:noFill/>
          <a:ln/>
        </p:spPr>
        <p:txBody>
          <a:bodyPr wrap="square" lIns="0" tIns="0" rIns="0" bIns="0" rtlCol="0" anchor="ctr"/>
          <a:lstStyle/>
          <a:p>
            <a:pPr indent="0" marL="0">
              <a:buNone/>
            </a:pPr>
            <a:r>
              <a:rPr lang="en-US" sz="700" b="1" spc="50" kern="0" dirty="0">
                <a:solidFill>
                  <a:srgbClr val="34D399"/>
                </a:solidFill>
                <a:latin typeface="Arial" pitchFamily="34" charset="0"/>
                <a:ea typeface="Arial" pitchFamily="34" charset="-122"/>
                <a:cs typeface="Arial" pitchFamily="34" charset="-120"/>
              </a:rPr>
              <a:t>SHOWN WORKING</a:t>
            </a:r>
            <a:endParaRPr lang="en-US" sz="700" dirty="0"/>
          </a:p>
        </p:txBody>
      </p:sp>
      <p:sp>
        <p:nvSpPr>
          <p:cNvPr id="117" name="Text 114"/>
          <p:cNvSpPr txBox="1"/>
          <p:nvPr/>
        </p:nvSpPr>
        <p:spPr>
          <a:xfrm>
            <a:off x="8486168" y="4224528"/>
            <a:ext cx="3120311"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Working today on our demo system; not live yet</a:t>
            </a:r>
            <a:endParaRPr lang="en-US" sz="850" dirty="0"/>
          </a:p>
        </p:txBody>
      </p:sp>
      <p:sp>
        <p:nvSpPr>
          <p:cNvPr id="118" name="Shape 115"/>
          <p:cNvSpPr/>
          <p:nvPr/>
        </p:nvSpPr>
        <p:spPr>
          <a:xfrm>
            <a:off x="7214616" y="4498848"/>
            <a:ext cx="567774" cy="201168"/>
          </a:xfrm>
          <a:prstGeom prst="roundRect">
            <a:avLst>
              <a:gd name="adj" fmla="val 50000"/>
            </a:avLst>
          </a:prstGeom>
          <a:solidFill>
            <a:srgbClr val="1E1A10"/>
          </a:solidFill>
          <a:ln w="9525">
            <a:solidFill>
              <a:srgbClr val="5A4A22"/>
            </a:solidFill>
            <a:prstDash val="solid"/>
          </a:ln>
        </p:spPr>
      </p:sp>
      <p:sp>
        <p:nvSpPr>
          <p:cNvPr id="119" name="Shape 116"/>
          <p:cNvSpPr/>
          <p:nvPr/>
        </p:nvSpPr>
        <p:spPr>
          <a:xfrm>
            <a:off x="7287768" y="4567428"/>
            <a:ext cx="64008" cy="64008"/>
          </a:xfrm>
          <a:prstGeom prst="ellipse">
            <a:avLst/>
          </a:prstGeom>
          <a:solidFill>
            <a:srgbClr val="F0C96B"/>
          </a:solidFill>
          <a:ln/>
        </p:spPr>
      </p:sp>
      <p:sp>
        <p:nvSpPr>
          <p:cNvPr id="120" name="Text 117"/>
          <p:cNvSpPr txBox="1"/>
          <p:nvPr/>
        </p:nvSpPr>
        <p:spPr>
          <a:xfrm>
            <a:off x="7388352" y="4498848"/>
            <a:ext cx="403182" cy="201168"/>
          </a:xfrm>
          <a:prstGeom prst="rect">
            <a:avLst/>
          </a:prstGeom>
          <a:noFill/>
          <a:ln/>
        </p:spPr>
        <p:txBody>
          <a:bodyPr wrap="square" lIns="0" tIns="0" rIns="0" bIns="0" rtlCol="0" anchor="ctr"/>
          <a:lstStyle/>
          <a:p>
            <a:pPr indent="0" marL="0">
              <a:buNone/>
            </a:pPr>
            <a:r>
              <a:rPr lang="en-US" sz="700" b="1" spc="50" kern="0" dirty="0">
                <a:solidFill>
                  <a:srgbClr val="F0C96B"/>
                </a:solidFill>
                <a:latin typeface="Arial" pitchFamily="34" charset="0"/>
                <a:ea typeface="Arial" pitchFamily="34" charset="-122"/>
                <a:cs typeface="Arial" pitchFamily="34" charset="-120"/>
              </a:rPr>
              <a:t>BUILT</a:t>
            </a:r>
            <a:endParaRPr lang="en-US" sz="700" dirty="0"/>
          </a:p>
        </p:txBody>
      </p:sp>
      <p:sp>
        <p:nvSpPr>
          <p:cNvPr id="121" name="Text 118"/>
          <p:cNvSpPr txBox="1"/>
          <p:nvPr/>
        </p:nvSpPr>
        <p:spPr>
          <a:xfrm>
            <a:off x="8486168" y="4498848"/>
            <a:ext cx="3120311"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Built and shown on test data; not live yet</a:t>
            </a:r>
            <a:endParaRPr lang="en-US" sz="850" dirty="0"/>
          </a:p>
        </p:txBody>
      </p:sp>
      <p:sp>
        <p:nvSpPr>
          <p:cNvPr id="122" name="Shape 119"/>
          <p:cNvSpPr/>
          <p:nvPr/>
        </p:nvSpPr>
        <p:spPr>
          <a:xfrm>
            <a:off x="7214616" y="4773168"/>
            <a:ext cx="1127331" cy="201168"/>
          </a:xfrm>
          <a:prstGeom prst="roundRect">
            <a:avLst>
              <a:gd name="adj" fmla="val 50000"/>
            </a:avLst>
          </a:prstGeom>
          <a:solidFill>
            <a:srgbClr val="0A0A0F"/>
          </a:solidFill>
          <a:ln w="9525">
            <a:solidFill>
              <a:srgbClr val="6A6A80"/>
            </a:solidFill>
            <a:prstDash val="solid"/>
          </a:ln>
        </p:spPr>
      </p:sp>
      <p:sp>
        <p:nvSpPr>
          <p:cNvPr id="123" name="Shape 120"/>
          <p:cNvSpPr/>
          <p:nvPr/>
        </p:nvSpPr>
        <p:spPr>
          <a:xfrm>
            <a:off x="7287768" y="4841748"/>
            <a:ext cx="64008" cy="64008"/>
          </a:xfrm>
          <a:prstGeom prst="ellipse">
            <a:avLst/>
          </a:prstGeom>
          <a:solidFill>
            <a:srgbClr val="0A0A0F"/>
          </a:solidFill>
          <a:ln w="9525">
            <a:solidFill>
              <a:srgbClr val="9A9AB0"/>
            </a:solidFill>
            <a:prstDash val="solid"/>
          </a:ln>
        </p:spPr>
      </p:sp>
      <p:sp>
        <p:nvSpPr>
          <p:cNvPr id="124" name="Text 121"/>
          <p:cNvSpPr txBox="1"/>
          <p:nvPr/>
        </p:nvSpPr>
        <p:spPr>
          <a:xfrm>
            <a:off x="7388352" y="4773168"/>
            <a:ext cx="962739"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BEFORE LAUNCH</a:t>
            </a:r>
            <a:endParaRPr lang="en-US" sz="700" dirty="0"/>
          </a:p>
        </p:txBody>
      </p:sp>
      <p:sp>
        <p:nvSpPr>
          <p:cNvPr id="125" name="Text 122"/>
          <p:cNvSpPr txBox="1"/>
          <p:nvPr/>
        </p:nvSpPr>
        <p:spPr>
          <a:xfrm>
            <a:off x="8486168" y="4773168"/>
            <a:ext cx="3120311"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Still to be finished; scheduled before launch</a:t>
            </a:r>
            <a:endParaRPr lang="en-US" sz="850" dirty="0"/>
          </a:p>
        </p:txBody>
      </p:sp>
      <p:sp>
        <p:nvSpPr>
          <p:cNvPr id="126" name="Shape 123"/>
          <p:cNvSpPr/>
          <p:nvPr/>
        </p:nvSpPr>
        <p:spPr>
          <a:xfrm>
            <a:off x="7214616" y="5047488"/>
            <a:ext cx="789462" cy="201168"/>
          </a:xfrm>
          <a:prstGeom prst="roundRect">
            <a:avLst>
              <a:gd name="adj" fmla="val 50000"/>
            </a:avLst>
          </a:prstGeom>
          <a:solidFill>
            <a:srgbClr val="0A0A0F"/>
          </a:solidFill>
          <a:ln w="9525">
            <a:solidFill>
              <a:srgbClr val="6A6A80"/>
            </a:solidFill>
            <a:prstDash val="solid"/>
          </a:ln>
        </p:spPr>
      </p:sp>
      <p:sp>
        <p:nvSpPr>
          <p:cNvPr id="127" name="Shape 124"/>
          <p:cNvSpPr/>
          <p:nvPr/>
        </p:nvSpPr>
        <p:spPr>
          <a:xfrm>
            <a:off x="7287768" y="5116068"/>
            <a:ext cx="64008" cy="64008"/>
          </a:xfrm>
          <a:prstGeom prst="ellipse">
            <a:avLst/>
          </a:prstGeom>
          <a:solidFill>
            <a:srgbClr val="0A0A0F"/>
          </a:solidFill>
          <a:ln w="9525">
            <a:solidFill>
              <a:srgbClr val="9A9AB0"/>
            </a:solidFill>
            <a:prstDash val="solid"/>
          </a:ln>
        </p:spPr>
      </p:sp>
      <p:sp>
        <p:nvSpPr>
          <p:cNvPr id="128" name="Text 125"/>
          <p:cNvSpPr txBox="1"/>
          <p:nvPr/>
        </p:nvSpPr>
        <p:spPr>
          <a:xfrm>
            <a:off x="7388352" y="5047488"/>
            <a:ext cx="624870" cy="201168"/>
          </a:xfrm>
          <a:prstGeom prst="rect">
            <a:avLst/>
          </a:prstGeom>
          <a:noFill/>
          <a:ln/>
        </p:spPr>
        <p:txBody>
          <a:bodyPr wrap="square" lIns="0" tIns="0" rIns="0" bIns="0" rtlCol="0" anchor="ctr"/>
          <a:lstStyle/>
          <a:p>
            <a:pPr indent="0" marL="0">
              <a:buNone/>
            </a:pPr>
            <a:r>
              <a:rPr lang="en-US" sz="700" b="1" spc="50" kern="0" dirty="0">
                <a:solidFill>
                  <a:srgbClr val="C4C4D4"/>
                </a:solidFill>
                <a:latin typeface="Arial" pitchFamily="34" charset="0"/>
                <a:ea typeface="Arial" pitchFamily="34" charset="-122"/>
                <a:cs typeface="Arial" pitchFamily="34" charset="-120"/>
              </a:rPr>
              <a:t>DESIGNED</a:t>
            </a:r>
            <a:endParaRPr lang="en-US" sz="700" dirty="0"/>
          </a:p>
        </p:txBody>
      </p:sp>
      <p:sp>
        <p:nvSpPr>
          <p:cNvPr id="129" name="Text 126"/>
          <p:cNvSpPr txBox="1"/>
          <p:nvPr/>
        </p:nvSpPr>
        <p:spPr>
          <a:xfrm>
            <a:off x="8486168" y="5047488"/>
            <a:ext cx="3120311" cy="201168"/>
          </a:xfrm>
          <a:prstGeom prst="rect">
            <a:avLst/>
          </a:prstGeom>
          <a:noFill/>
          <a:ln/>
        </p:spPr>
        <p:txBody>
          <a:bodyPr wrap="square" lIns="0" tIns="0" rIns="0" bIns="0" rtlCol="0" anchor="ctr"/>
          <a:lstStyle/>
          <a:p>
            <a:pPr indent="0" marL="0">
              <a:buNone/>
            </a:pPr>
            <a:r>
              <a:rPr lang="en-US" sz="850" dirty="0">
                <a:solidFill>
                  <a:srgbClr val="B4B4C8"/>
                </a:solidFill>
                <a:latin typeface="Arial" pitchFamily="34" charset="0"/>
                <a:ea typeface="Arial" pitchFamily="34" charset="-122"/>
                <a:cs typeface="Arial" pitchFamily="34" charset="-120"/>
              </a:rPr>
              <a:t>Page designed, not yet built</a:t>
            </a:r>
            <a:endParaRPr lang="en-US" sz="850" dirty="0"/>
          </a:p>
        </p:txBody>
      </p:sp>
      <p:sp>
        <p:nvSpPr>
          <p:cNvPr id="130" name="Text 127"/>
          <p:cNvSpPr txBox="1"/>
          <p:nvPr/>
        </p:nvSpPr>
        <p:spPr>
          <a:xfrm>
            <a:off x="7214616" y="5358384"/>
            <a:ext cx="4373575" cy="164592"/>
          </a:xfrm>
          <a:prstGeom prst="rect">
            <a:avLst/>
          </a:prstGeom>
          <a:noFill/>
          <a:ln/>
        </p:spPr>
        <p:txBody>
          <a:bodyPr wrap="square" lIns="0" tIns="0" rIns="0" bIns="0" rtlCol="0" anchor="t"/>
          <a:lstStyle/>
          <a:p>
            <a:pPr indent="0" marL="0">
              <a:buNone/>
            </a:pPr>
            <a:r>
              <a:rPr lang="en-US" sz="850" b="1" spc="120" kern="0" dirty="0">
                <a:solidFill>
                  <a:srgbClr val="8E8EA2"/>
                </a:solidFill>
                <a:latin typeface="Arial" pitchFamily="34" charset="0"/>
                <a:ea typeface="Arial" pitchFamily="34" charset="-122"/>
                <a:cs typeface="Arial" pitchFamily="34" charset="-120"/>
              </a:rPr>
              <a:t>SCREEN LABELS ON THE PROOF SLIDES</a:t>
            </a:r>
            <a:endParaRPr lang="en-US" sz="850" dirty="0"/>
          </a:p>
        </p:txBody>
      </p:sp>
      <p:sp>
        <p:nvSpPr>
          <p:cNvPr id="131" name="Shape 128"/>
          <p:cNvSpPr/>
          <p:nvPr/>
        </p:nvSpPr>
        <p:spPr>
          <a:xfrm>
            <a:off x="7214616" y="5532120"/>
            <a:ext cx="1967484" cy="237744"/>
          </a:xfrm>
          <a:prstGeom prst="roundRect">
            <a:avLst>
              <a:gd name="adj" fmla="val 50000"/>
            </a:avLst>
          </a:prstGeom>
          <a:solidFill>
            <a:srgbClr val="1B1B27"/>
          </a:solidFill>
          <a:ln w="9525">
            <a:solidFill>
              <a:srgbClr val="3A3A50"/>
            </a:solidFill>
            <a:prstDash val="solid"/>
          </a:ln>
        </p:spPr>
      </p:sp>
      <p:sp>
        <p:nvSpPr>
          <p:cNvPr id="132" name="Shape 129"/>
          <p:cNvSpPr/>
          <p:nvPr/>
        </p:nvSpPr>
        <p:spPr>
          <a:xfrm>
            <a:off x="7306056" y="5614416"/>
            <a:ext cx="73152" cy="73152"/>
          </a:xfrm>
          <a:prstGeom prst="ellipse">
            <a:avLst/>
          </a:prstGeom>
          <a:solidFill>
            <a:srgbClr val="34D399"/>
          </a:solidFill>
          <a:ln/>
        </p:spPr>
      </p:sp>
      <p:sp>
        <p:nvSpPr>
          <p:cNvPr id="133" name="Text 130"/>
          <p:cNvSpPr txBox="1"/>
          <p:nvPr/>
        </p:nvSpPr>
        <p:spPr>
          <a:xfrm>
            <a:off x="7434072" y="5532120"/>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34" name="Shape 131"/>
          <p:cNvSpPr/>
          <p:nvPr/>
        </p:nvSpPr>
        <p:spPr>
          <a:xfrm>
            <a:off x="7214616" y="5843016"/>
            <a:ext cx="2719349" cy="237744"/>
          </a:xfrm>
          <a:prstGeom prst="roundRect">
            <a:avLst>
              <a:gd name="adj" fmla="val 50000"/>
            </a:avLst>
          </a:prstGeom>
          <a:solidFill>
            <a:srgbClr val="1B1B27"/>
          </a:solidFill>
          <a:ln w="9525">
            <a:solidFill>
              <a:srgbClr val="3A3A50"/>
            </a:solidFill>
            <a:prstDash val="solid"/>
          </a:ln>
        </p:spPr>
      </p:sp>
      <p:sp>
        <p:nvSpPr>
          <p:cNvPr id="135" name="Shape 132"/>
          <p:cNvSpPr/>
          <p:nvPr/>
        </p:nvSpPr>
        <p:spPr>
          <a:xfrm>
            <a:off x="7306056" y="5925312"/>
            <a:ext cx="73152" cy="73152"/>
          </a:xfrm>
          <a:prstGeom prst="ellipse">
            <a:avLst/>
          </a:prstGeom>
          <a:solidFill>
            <a:srgbClr val="A9A9C6"/>
          </a:solidFill>
          <a:ln/>
        </p:spPr>
      </p:sp>
      <p:sp>
        <p:nvSpPr>
          <p:cNvPr id="136" name="Text 133"/>
          <p:cNvSpPr txBox="1"/>
          <p:nvPr/>
        </p:nvSpPr>
        <p:spPr>
          <a:xfrm>
            <a:off x="7434072" y="5843016"/>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137" name="Text 134"/>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138" name="Text 135"/>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P1</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academy, under your name, inside the city</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One template, three tenants: a stablecoin academy, a VASP's internal academy and a university school</a:t>
            </a:r>
            <a:endParaRPr lang="en-US" sz="1600" dirty="0"/>
          </a:p>
        </p:txBody>
      </p:sp>
      <p:pic>
        <p:nvPicPr>
          <p:cNvPr id="11" name="Image 0" descr="/tmp/claude-0/-home-user-Chronopoli/d7458f57-86b2-5920-914e-8615357fee63/scratchpad/sales-master/framed/wl_tether3.png">    </p:cNvPr>
          <p:cNvPicPr>
            <a:picLocks noChangeAspect="1"/>
          </p:cNvPicPr>
          <p:nvPr/>
        </p:nvPicPr>
        <p:blipFill>
          <a:blip r:embed="rId2"/>
          <a:stretch>
            <a:fillRect/>
          </a:stretch>
        </p:blipFill>
        <p:spPr>
          <a:xfrm>
            <a:off x="457200" y="2021027"/>
            <a:ext cx="3281680" cy="990981"/>
          </a:xfrm>
          <a:prstGeom prst="rect">
            <a:avLst/>
          </a:prstGeom>
        </p:spPr>
      </p:pic>
      <p:pic>
        <p:nvPicPr>
          <p:cNvPr id="12" name="Image 1" descr="preencoded.png">    </p:cNvPr>
          <p:cNvPicPr>
            <a:picLocks noChangeAspect="1"/>
          </p:cNvPicPr>
          <p:nvPr/>
        </p:nvPicPr>
        <p:blipFill>
          <a:blip r:embed="rId3"/>
          <a:stretch>
            <a:fillRect/>
          </a:stretch>
        </p:blipFill>
        <p:spPr>
          <a:xfrm>
            <a:off x="543560" y="2989656"/>
            <a:ext cx="137160" cy="137160"/>
          </a:xfrm>
          <a:prstGeom prst="rect">
            <a:avLst/>
          </a:prstGeom>
        </p:spPr>
      </p:pic>
      <p:sp>
        <p:nvSpPr>
          <p:cNvPr id="13" name="Text 8"/>
          <p:cNvSpPr txBox="1"/>
          <p:nvPr/>
        </p:nvSpPr>
        <p:spPr>
          <a:xfrm>
            <a:off x="744728" y="2962224"/>
            <a:ext cx="2907792"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tether.chronopoli.io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4" name="Image 2" descr="/tmp/claude-0/-home-user-Chronopoli/d7458f57-86b2-5920-914e-8615357fee63/scratchpad/sales-master/framed/wl_gde3.png">    </p:cNvPr>
          <p:cNvPicPr>
            <a:picLocks noChangeAspect="1"/>
          </p:cNvPicPr>
          <p:nvPr/>
        </p:nvPicPr>
        <p:blipFill>
          <a:blip r:embed="rId4"/>
          <a:stretch>
            <a:fillRect/>
          </a:stretch>
        </p:blipFill>
        <p:spPr>
          <a:xfrm>
            <a:off x="457200" y="3186760"/>
            <a:ext cx="3281680" cy="990981"/>
          </a:xfrm>
          <a:prstGeom prst="rect">
            <a:avLst/>
          </a:prstGeom>
        </p:spPr>
      </p:pic>
      <p:pic>
        <p:nvPicPr>
          <p:cNvPr id="15" name="Image 3" descr="preencoded.png">    </p:cNvPr>
          <p:cNvPicPr>
            <a:picLocks noChangeAspect="1"/>
          </p:cNvPicPr>
          <p:nvPr/>
        </p:nvPicPr>
        <p:blipFill>
          <a:blip r:embed="rId5"/>
          <a:stretch>
            <a:fillRect/>
          </a:stretch>
        </p:blipFill>
        <p:spPr>
          <a:xfrm>
            <a:off x="543560" y="4155389"/>
            <a:ext cx="137160" cy="137160"/>
          </a:xfrm>
          <a:prstGeom prst="rect">
            <a:avLst/>
          </a:prstGeom>
        </p:spPr>
      </p:pic>
      <p:sp>
        <p:nvSpPr>
          <p:cNvPr id="16" name="Text 9"/>
          <p:cNvSpPr txBox="1"/>
          <p:nvPr/>
        </p:nvSpPr>
        <p:spPr>
          <a:xfrm>
            <a:off x="744728" y="4127957"/>
            <a:ext cx="2907792"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gde.chronopoli.io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pic>
        <p:nvPicPr>
          <p:cNvPr id="17" name="Image 4" descr="/tmp/claude-0/-home-user-Chronopoli/d7458f57-86b2-5920-914e-8615357fee63/scratchpad/sales-master/framed/wl_halvenmoor3.png">    </p:cNvPr>
          <p:cNvPicPr>
            <a:picLocks noChangeAspect="1"/>
          </p:cNvPicPr>
          <p:nvPr/>
        </p:nvPicPr>
        <p:blipFill>
          <a:blip r:embed="rId6"/>
          <a:stretch>
            <a:fillRect/>
          </a:stretch>
        </p:blipFill>
        <p:spPr>
          <a:xfrm>
            <a:off x="457200" y="4352493"/>
            <a:ext cx="3281680" cy="990981"/>
          </a:xfrm>
          <a:prstGeom prst="rect">
            <a:avLst/>
          </a:prstGeom>
        </p:spPr>
      </p:pic>
      <p:pic>
        <p:nvPicPr>
          <p:cNvPr id="18" name="Image 5" descr="preencoded.png">    </p:cNvPr>
          <p:cNvPicPr>
            <a:picLocks noChangeAspect="1"/>
          </p:cNvPicPr>
          <p:nvPr/>
        </p:nvPicPr>
        <p:blipFill>
          <a:blip r:embed="rId7"/>
          <a:stretch>
            <a:fillRect/>
          </a:stretch>
        </p:blipFill>
        <p:spPr>
          <a:xfrm>
            <a:off x="543560" y="5321122"/>
            <a:ext cx="137160" cy="137160"/>
          </a:xfrm>
          <a:prstGeom prst="rect">
            <a:avLst/>
          </a:prstGeom>
        </p:spPr>
      </p:pic>
      <p:sp>
        <p:nvSpPr>
          <p:cNvPr id="19" name="Text 10"/>
          <p:cNvSpPr txBox="1"/>
          <p:nvPr/>
        </p:nvSpPr>
        <p:spPr>
          <a:xfrm>
            <a:off x="744728" y="5293690"/>
            <a:ext cx="2907792" cy="182880"/>
          </a:xfrm>
          <a:prstGeom prst="rect">
            <a:avLst/>
          </a:prstGeom>
          <a:noFill/>
          <a:ln/>
        </p:spPr>
        <p:txBody>
          <a:bodyPr wrap="square" lIns="0" tIns="0" rIns="0" bIns="0" rtlCol="0" anchor="t"/>
          <a:lstStyle/>
          <a:p>
            <a:pPr indent="0" marL="0">
              <a:buNone/>
            </a:pPr>
            <a:r>
              <a:rPr lang="en-US" sz="1050" b="1" dirty="0">
                <a:solidFill>
                  <a:srgbClr val="F0C96B"/>
                </a:solidFill>
                <a:latin typeface="Arial" pitchFamily="34" charset="0"/>
                <a:ea typeface="Arial" pitchFamily="34" charset="-122"/>
                <a:cs typeface="Arial" pitchFamily="34" charset="-120"/>
              </a:rPr>
              <a:t>halvenmoor.chronopoli.io</a:t>
            </a:r>
            <a:r>
              <a:rPr lang="en-US" sz="1050" dirty="0">
                <a:solidFill>
                  <a:srgbClr val="B4B4C8"/>
                </a:solidFill>
                <a:latin typeface="Arial" pitchFamily="34" charset="0"/>
                <a:ea typeface="Arial" pitchFamily="34" charset="-122"/>
                <a:cs typeface="Arial" pitchFamily="34" charset="-120"/>
              </a:rPr>
              <a:t>  (planned)</a:t>
            </a:r>
            <a:endParaRPr lang="en-US" sz="1050" dirty="0"/>
          </a:p>
        </p:txBody>
      </p:sp>
      <p:sp>
        <p:nvSpPr>
          <p:cNvPr id="20" name="Shape 11"/>
          <p:cNvSpPr/>
          <p:nvPr/>
        </p:nvSpPr>
        <p:spPr>
          <a:xfrm>
            <a:off x="543560" y="5613730"/>
            <a:ext cx="2719349" cy="237744"/>
          </a:xfrm>
          <a:prstGeom prst="roundRect">
            <a:avLst>
              <a:gd name="adj" fmla="val 50000"/>
            </a:avLst>
          </a:prstGeom>
          <a:solidFill>
            <a:srgbClr val="1B1B27"/>
          </a:solidFill>
          <a:ln w="9525">
            <a:solidFill>
              <a:srgbClr val="3A3A50"/>
            </a:solidFill>
            <a:prstDash val="solid"/>
          </a:ln>
        </p:spPr>
      </p:sp>
      <p:sp>
        <p:nvSpPr>
          <p:cNvPr id="21" name="Shape 12"/>
          <p:cNvSpPr/>
          <p:nvPr/>
        </p:nvSpPr>
        <p:spPr>
          <a:xfrm>
            <a:off x="635000" y="5696026"/>
            <a:ext cx="73152" cy="73152"/>
          </a:xfrm>
          <a:prstGeom prst="ellipse">
            <a:avLst/>
          </a:prstGeom>
          <a:solidFill>
            <a:srgbClr val="A9A9C6"/>
          </a:solidFill>
          <a:ln/>
        </p:spPr>
      </p:sp>
      <p:sp>
        <p:nvSpPr>
          <p:cNvPr id="22" name="Text 13"/>
          <p:cNvSpPr txBox="1"/>
          <p:nvPr/>
        </p:nvSpPr>
        <p:spPr>
          <a:xfrm>
            <a:off x="763016" y="5613730"/>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23" name="Text 14"/>
          <p:cNvSpPr txBox="1"/>
          <p:nvPr/>
        </p:nvSpPr>
        <p:spPr>
          <a:xfrm>
            <a:off x="543560" y="5906338"/>
            <a:ext cx="310896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Your colours, logo and tagline on the academy page · placeholder marks, not real logos</a:t>
            </a:r>
            <a:endParaRPr lang="en-US" sz="1000" dirty="0"/>
          </a:p>
        </p:txBody>
      </p:sp>
      <p:sp>
        <p:nvSpPr>
          <p:cNvPr id="24" name="Shape 15"/>
          <p:cNvSpPr/>
          <p:nvPr/>
        </p:nvSpPr>
        <p:spPr>
          <a:xfrm>
            <a:off x="543560" y="1741627"/>
            <a:ext cx="1114722" cy="256032"/>
          </a:xfrm>
          <a:prstGeom prst="roundRect">
            <a:avLst>
              <a:gd name="adj" fmla="val 50000"/>
            </a:avLst>
          </a:prstGeom>
          <a:solidFill>
            <a:srgbClr val="C9A84C"/>
          </a:solidFill>
          <a:ln w="9525">
            <a:solidFill>
              <a:srgbClr val="C9A84C"/>
            </a:solidFill>
            <a:prstDash val="solid"/>
          </a:ln>
        </p:spPr>
      </p:sp>
      <p:sp>
        <p:nvSpPr>
          <p:cNvPr id="25" name="Text 16"/>
          <p:cNvSpPr txBox="1"/>
          <p:nvPr/>
        </p:nvSpPr>
        <p:spPr>
          <a:xfrm>
            <a:off x="699008" y="1741627"/>
            <a:ext cx="876978"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AT LAUNCH</a:t>
            </a:r>
            <a:endParaRPr lang="en-US" sz="900" dirty="0"/>
          </a:p>
        </p:txBody>
      </p:sp>
      <p:sp>
        <p:nvSpPr>
          <p:cNvPr id="26" name="Text 17"/>
          <p:cNvSpPr txBox="1"/>
          <p:nvPr/>
        </p:nvSpPr>
        <p:spPr>
          <a:xfrm>
            <a:off x="1795442" y="1741627"/>
            <a:ext cx="109728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Your brand</a:t>
            </a:r>
            <a:endParaRPr lang="en-US" sz="1100" dirty="0"/>
          </a:p>
        </p:txBody>
      </p:sp>
      <p:pic>
        <p:nvPicPr>
          <p:cNvPr id="27" name="Image 6" descr="/tmp/claude-0/-home-user-Chronopoli/d7458f57-86b2-5920-914e-8615357fee63/scratchpad/sales-master/framed/academy_asis3.png">    </p:cNvPr>
          <p:cNvPicPr>
            <a:picLocks noChangeAspect="1"/>
          </p:cNvPicPr>
          <p:nvPr/>
        </p:nvPicPr>
        <p:blipFill>
          <a:blip r:embed="rId8"/>
          <a:stretch>
            <a:fillRect/>
          </a:stretch>
        </p:blipFill>
        <p:spPr>
          <a:xfrm>
            <a:off x="4058920" y="1904442"/>
            <a:ext cx="7675575" cy="2992687"/>
          </a:xfrm>
          <a:prstGeom prst="rect">
            <a:avLst/>
          </a:prstGeom>
        </p:spPr>
      </p:pic>
      <p:sp>
        <p:nvSpPr>
          <p:cNvPr id="28" name="Shape 18"/>
          <p:cNvSpPr/>
          <p:nvPr/>
        </p:nvSpPr>
        <p:spPr>
          <a:xfrm>
            <a:off x="4261865" y="1741627"/>
            <a:ext cx="787146" cy="256032"/>
          </a:xfrm>
          <a:prstGeom prst="roundRect">
            <a:avLst>
              <a:gd name="adj" fmla="val 50000"/>
            </a:avLst>
          </a:prstGeom>
          <a:solidFill>
            <a:srgbClr val="34D399"/>
          </a:solidFill>
          <a:ln w="9525">
            <a:solidFill>
              <a:srgbClr val="34D399"/>
            </a:solidFill>
            <a:prstDash val="solid"/>
          </a:ln>
        </p:spPr>
      </p:sp>
      <p:sp>
        <p:nvSpPr>
          <p:cNvPr id="29" name="Text 19"/>
          <p:cNvSpPr txBox="1"/>
          <p:nvPr/>
        </p:nvSpPr>
        <p:spPr>
          <a:xfrm>
            <a:off x="4417313" y="1741627"/>
            <a:ext cx="549402" cy="256032"/>
          </a:xfrm>
          <a:prstGeom prst="rect">
            <a:avLst/>
          </a:prstGeom>
          <a:noFill/>
          <a:ln/>
        </p:spPr>
        <p:txBody>
          <a:bodyPr wrap="square" lIns="0" tIns="0" rIns="0" bIns="0" rtlCol="0" anchor="ctr"/>
          <a:lstStyle/>
          <a:p>
            <a:pPr indent="0" marL="0">
              <a:buNone/>
            </a:pPr>
            <a:r>
              <a:rPr lang="en-US" sz="900" b="1" spc="120" kern="0" dirty="0">
                <a:solidFill>
                  <a:srgbClr val="0A0A0F"/>
                </a:solidFill>
                <a:latin typeface="Arial" pitchFamily="34" charset="0"/>
                <a:ea typeface="Arial" pitchFamily="34" charset="-122"/>
                <a:cs typeface="Arial" pitchFamily="34" charset="-120"/>
              </a:rPr>
              <a:t>TODAY</a:t>
            </a:r>
            <a:endParaRPr lang="en-US" sz="900" dirty="0"/>
          </a:p>
        </p:txBody>
      </p:sp>
      <p:sp>
        <p:nvSpPr>
          <p:cNvPr id="30" name="Text 20"/>
          <p:cNvSpPr txBox="1"/>
          <p:nvPr/>
        </p:nvSpPr>
        <p:spPr>
          <a:xfrm>
            <a:off x="5186171" y="1741627"/>
            <a:ext cx="4114800" cy="256032"/>
          </a:xfrm>
          <a:prstGeom prst="rect">
            <a:avLst/>
          </a:prstGeom>
          <a:noFill/>
          <a:ln/>
        </p:spPr>
        <p:txBody>
          <a:bodyPr wrap="square" lIns="0" tIns="0" rIns="0" bIns="0" rtlCol="0" anchor="ctr"/>
          <a:lstStyle/>
          <a:p>
            <a:pPr indent="0" marL="0">
              <a:buNone/>
            </a:pPr>
            <a:r>
              <a:rPr lang="en-US" sz="1100" dirty="0">
                <a:solidFill>
                  <a:srgbClr val="B4B4C8"/>
                </a:solidFill>
                <a:latin typeface="Arial" pitchFamily="34" charset="0"/>
                <a:ea typeface="Arial" pitchFamily="34" charset="-122"/>
                <a:cs typeface="Arial" pitchFamily="34" charset="-120"/>
              </a:rPr>
              <a:t>One standard design in gold and navy</a:t>
            </a:r>
            <a:endParaRPr lang="en-US" sz="1100" dirty="0"/>
          </a:p>
        </p:txBody>
      </p:sp>
      <p:sp>
        <p:nvSpPr>
          <p:cNvPr id="31" name="Shape 21"/>
          <p:cNvSpPr/>
          <p:nvPr/>
        </p:nvSpPr>
        <p:spPr>
          <a:xfrm>
            <a:off x="4261865" y="4831343"/>
            <a:ext cx="1967484" cy="237744"/>
          </a:xfrm>
          <a:prstGeom prst="roundRect">
            <a:avLst>
              <a:gd name="adj" fmla="val 50000"/>
            </a:avLst>
          </a:prstGeom>
          <a:solidFill>
            <a:srgbClr val="1B1B27"/>
          </a:solidFill>
          <a:ln w="9525">
            <a:solidFill>
              <a:srgbClr val="3A3A50"/>
            </a:solidFill>
            <a:prstDash val="solid"/>
          </a:ln>
        </p:spPr>
      </p:sp>
      <p:sp>
        <p:nvSpPr>
          <p:cNvPr id="32" name="Shape 22"/>
          <p:cNvSpPr/>
          <p:nvPr/>
        </p:nvSpPr>
        <p:spPr>
          <a:xfrm>
            <a:off x="4353305" y="4913639"/>
            <a:ext cx="73152" cy="73152"/>
          </a:xfrm>
          <a:prstGeom prst="ellipse">
            <a:avLst/>
          </a:prstGeom>
          <a:solidFill>
            <a:srgbClr val="34D399"/>
          </a:solidFill>
          <a:ln/>
        </p:spPr>
      </p:sp>
      <p:sp>
        <p:nvSpPr>
          <p:cNvPr id="33" name="Text 23"/>
          <p:cNvSpPr txBox="1"/>
          <p:nvPr/>
        </p:nvSpPr>
        <p:spPr>
          <a:xfrm>
            <a:off x="4481321" y="4831343"/>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34" name="Text 24"/>
          <p:cNvSpPr txBox="1"/>
          <p:nvPr/>
        </p:nvSpPr>
        <p:spPr>
          <a:xfrm>
            <a:off x="6339077" y="4863347"/>
            <a:ext cx="5192472"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Today: the standard academy page, Tether (illustrative)</a:t>
            </a:r>
            <a:endParaRPr lang="en-US" sz="1000" dirty="0"/>
          </a:p>
        </p:txBody>
      </p:sp>
      <p:sp>
        <p:nvSpPr>
          <p:cNvPr id="35" name="Text 25"/>
          <p:cNvSpPr txBox="1"/>
          <p:nvPr/>
        </p:nvSpPr>
        <p:spPr>
          <a:xfrm>
            <a:off x="4261865" y="5251967"/>
            <a:ext cx="7472630"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Today:</a:t>
            </a:r>
            <a:r>
              <a:rPr lang="en-US" sz="1250" dirty="0">
                <a:solidFill>
                  <a:srgbClr val="E8E8F0"/>
                </a:solidFill>
                <a:latin typeface="Arial" pitchFamily="34" charset="0"/>
                <a:ea typeface="Arial" pitchFamily="34" charset="-122"/>
                <a:cs typeface="Arial" pitchFamily="34" charset="-120"/>
              </a:rPr>
              <a:t> each academy shows its own partner's name, pathways and jobs</a:t>
            </a:r>
            <a:endParaRPr lang="en-US" sz="1250" dirty="0"/>
          </a:p>
          <a:p>
            <a:pPr marL="165100" indent="-165100">
              <a:spcAft>
                <a:spcPts val="5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At launch:</a:t>
            </a:r>
            <a:r>
              <a:rPr lang="en-US" sz="1250" dirty="0">
                <a:solidFill>
                  <a:srgbClr val="E8E8F0"/>
                </a:solidFill>
                <a:latin typeface="Arial" pitchFamily="34" charset="0"/>
                <a:ea typeface="Arial" pitchFamily="34" charset="-122"/>
                <a:cs typeface="Arial" pitchFamily="34" charset="-120"/>
              </a:rPr>
              <a:t> your colours, logo and tagline, at your own address (&lt;partner&gt;.chronopoli.io); both are switched on before launch</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Staff-only academies, such as a VASP's internal school: access model set in the partner agreement</a:t>
            </a:r>
            <a:endParaRPr lang="en-US" sz="1250" dirty="0"/>
          </a:p>
        </p:txBody>
      </p:sp>
      <p:sp>
        <p:nvSpPr>
          <p:cNvPr id="36"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7"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P2</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13232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Bring your content: author and certify in a proven authoring tool</a:t>
            </a:r>
            <a:endParaRPr lang="en-US" sz="3400" dirty="0"/>
          </a:p>
        </p:txBody>
      </p:sp>
      <p:sp>
        <p:nvSpPr>
          <p:cNvPr id="10" name="Text 7"/>
          <p:cNvSpPr txBox="1"/>
          <p:nvPr/>
        </p:nvSpPr>
        <p:spPr>
          <a:xfrm>
            <a:off x="7909560" y="1055218"/>
            <a:ext cx="382493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course team uses the authoring tool universities use: nothing proprietary to learn, nothing to rebuild</a:t>
            </a:r>
            <a:endParaRPr lang="en-US" sz="1400" dirty="0"/>
          </a:p>
        </p:txBody>
      </p:sp>
      <p:pic>
        <p:nvPicPr>
          <p:cNvPr id="11" name="Image 0" descr="/tmp/claude-0/-home-user-Chronopoli/d7458f57-86b2-5920-914e-8615357fee63/scratchpad/sales-master/framed/studio_outline3.png">    </p:cNvPr>
          <p:cNvPicPr>
            <a:picLocks noChangeAspect="1"/>
          </p:cNvPicPr>
          <p:nvPr/>
        </p:nvPicPr>
        <p:blipFill>
          <a:blip r:embed="rId2"/>
          <a:stretch>
            <a:fillRect/>
          </a:stretch>
        </p:blipFill>
        <p:spPr>
          <a:xfrm>
            <a:off x="457200" y="1936199"/>
            <a:ext cx="3325299" cy="3066337"/>
          </a:xfrm>
          <a:prstGeom prst="rect">
            <a:avLst/>
          </a:prstGeom>
        </p:spPr>
      </p:pic>
      <p:sp>
        <p:nvSpPr>
          <p:cNvPr id="12" name="Shape 8"/>
          <p:cNvSpPr/>
          <p:nvPr/>
        </p:nvSpPr>
        <p:spPr>
          <a:xfrm>
            <a:off x="545482" y="5051414"/>
            <a:ext cx="1967484"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36922" y="5133710"/>
            <a:ext cx="73152" cy="73152"/>
          </a:xfrm>
          <a:prstGeom prst="ellipse">
            <a:avLst/>
          </a:prstGeom>
          <a:solidFill>
            <a:srgbClr val="34D399"/>
          </a:solidFill>
          <a:ln/>
        </p:spPr>
      </p:sp>
      <p:sp>
        <p:nvSpPr>
          <p:cNvPr id="14" name="Text 10"/>
          <p:cNvSpPr txBox="1"/>
          <p:nvPr/>
        </p:nvSpPr>
        <p:spPr>
          <a:xfrm>
            <a:off x="764938" y="5051414"/>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45482" y="5344022"/>
            <a:ext cx="314873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USDT-201 outline, six modules</a:t>
            </a:r>
            <a:endParaRPr lang="en-US" sz="1000" dirty="0"/>
          </a:p>
        </p:txBody>
      </p:sp>
      <p:pic>
        <p:nvPicPr>
          <p:cNvPr id="16" name="Image 1" descr="/tmp/claude-0/-home-user-Chronopoli/d7458f57-86b2-5920-914e-8615357fee63/scratchpad/sales-master/framed/cert_config2.png">    </p:cNvPr>
          <p:cNvPicPr>
            <a:picLocks noChangeAspect="1"/>
          </p:cNvPicPr>
          <p:nvPr/>
        </p:nvPicPr>
        <p:blipFill>
          <a:blip r:embed="rId3"/>
          <a:stretch>
            <a:fillRect/>
          </a:stretch>
        </p:blipFill>
        <p:spPr>
          <a:xfrm>
            <a:off x="3878832" y="1889058"/>
            <a:ext cx="5098057" cy="3160621"/>
          </a:xfrm>
          <a:prstGeom prst="rect">
            <a:avLst/>
          </a:prstGeom>
        </p:spPr>
      </p:pic>
      <p:sp>
        <p:nvSpPr>
          <p:cNvPr id="17" name="Shape 12"/>
          <p:cNvSpPr/>
          <p:nvPr/>
        </p:nvSpPr>
        <p:spPr>
          <a:xfrm>
            <a:off x="4014256" y="5051414"/>
            <a:ext cx="1967484"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105696" y="5133710"/>
            <a:ext cx="73152" cy="73152"/>
          </a:xfrm>
          <a:prstGeom prst="ellipse">
            <a:avLst/>
          </a:prstGeom>
          <a:solidFill>
            <a:srgbClr val="34D399"/>
          </a:solidFill>
          <a:ln/>
        </p:spPr>
      </p:sp>
      <p:sp>
        <p:nvSpPr>
          <p:cNvPr id="19" name="Text 14"/>
          <p:cNvSpPr txBox="1"/>
          <p:nvPr/>
        </p:nvSpPr>
        <p:spPr>
          <a:xfrm>
            <a:off x="4233712" y="5051414"/>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4014256" y="5344022"/>
            <a:ext cx="4827209"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certificate details; configured, not activated</a:t>
            </a:r>
            <a:endParaRPr lang="en-US" sz="1000" dirty="0"/>
          </a:p>
        </p:txBody>
      </p:sp>
      <p:sp>
        <p:nvSpPr>
          <p:cNvPr id="21" name="Text 16"/>
          <p:cNvSpPr txBox="1"/>
          <p:nvPr/>
        </p:nvSpPr>
        <p:spPr>
          <a:xfrm>
            <a:off x="545482" y="5624438"/>
            <a:ext cx="8295983" cy="3230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Browser address shows the planned domain · signatory Nadia Karim, Academy Administrator, Tether (illustrative) · mock course, fictitious signatory</a:t>
            </a:r>
            <a:endParaRPr lang="en-US" sz="1000" dirty="0"/>
          </a:p>
        </p:txBody>
      </p:sp>
      <p:sp>
        <p:nvSpPr>
          <p:cNvPr id="22" name="Text 17"/>
          <p:cNvSpPr txBox="1"/>
          <p:nvPr/>
        </p:nvSpPr>
        <p:spPr>
          <a:xfrm>
            <a:off x="9207226" y="2024482"/>
            <a:ext cx="2527270" cy="259486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Course authoring:</a:t>
            </a:r>
            <a:r>
              <a:rPr lang="en-US" sz="1250" dirty="0">
                <a:solidFill>
                  <a:srgbClr val="E8E8F0"/>
                </a:solidFill>
                <a:latin typeface="Arial" pitchFamily="34" charset="0"/>
                <a:ea typeface="Arial" pitchFamily="34" charset="-122"/>
                <a:cs typeface="Arial" pitchFamily="34" charset="-120"/>
              </a:rPr>
              <a:t> outline, rich-text units, schedule and grading (USDT‑201: pass mark 70%; weighting: knowledge checks 40%, capstone 60%)</a:t>
            </a:r>
            <a:endParaRPr lang="en-US" sz="1250" dirty="0"/>
          </a:p>
          <a:p>
            <a:pPr marL="165100" indent="-165100">
              <a:spcAft>
                <a:spcPts val="10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Certificate:</a:t>
            </a:r>
            <a:r>
              <a:rPr lang="en-US" sz="1250" dirty="0">
                <a:solidFill>
                  <a:srgbClr val="E8E8F0"/>
                </a:solidFill>
                <a:latin typeface="Arial" pitchFamily="34" charset="0"/>
                <a:ea typeface="Arial" pitchFamily="34" charset="-122"/>
                <a:cs typeface="Arial" pitchFamily="34" charset="-120"/>
              </a:rPr>
              <a:t> configured on the verified track with your signatory; activated at launch</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Your content stays yours:</a:t>
            </a:r>
            <a:r>
              <a:rPr lang="en-US" sz="1250" dirty="0">
                <a:solidFill>
                  <a:srgbClr val="E8E8F0"/>
                </a:solidFill>
                <a:latin typeface="Arial" pitchFamily="34" charset="0"/>
                <a:ea typeface="Arial" pitchFamily="34" charset="-122"/>
                <a:cs typeface="Arial" pitchFamily="34" charset="-120"/>
              </a:rPr>
              <a:t> standard course export; rights, term and exit are set in the partner agreement</a:t>
            </a:r>
            <a:endParaRPr lang="en-US" sz="1250" dirty="0"/>
          </a:p>
        </p:txBody>
      </p:sp>
      <p:sp>
        <p:nvSpPr>
          <p:cNvPr id="23" name="Text 1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4" name="Text 1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P3</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Credentials that carry your name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Pathways of ordered courses end in an Open Badges 2.0 badge co-issued by Chronopoli and your academy</a:t>
            </a:r>
            <a:endParaRPr lang="en-US" sz="1600" dirty="0"/>
          </a:p>
        </p:txBody>
      </p:sp>
      <p:pic>
        <p:nvPicPr>
          <p:cNvPr id="11" name="Image 0" descr="/tmp/claude-0/-home-user-Chronopoli/d7458f57-86b2-5920-914e-8615357fee63/scratchpad/deck/framed/pathway.png">    </p:cNvPr>
          <p:cNvPicPr>
            <a:picLocks noChangeAspect="1"/>
          </p:cNvPicPr>
          <p:nvPr/>
        </p:nvPicPr>
        <p:blipFill>
          <a:blip r:embed="rId2"/>
          <a:stretch>
            <a:fillRect/>
          </a:stretch>
        </p:blipFill>
        <p:spPr>
          <a:xfrm>
            <a:off x="457200" y="1798722"/>
            <a:ext cx="4084906" cy="3227076"/>
          </a:xfrm>
          <a:prstGeom prst="rect">
            <a:avLst/>
          </a:prstGeom>
        </p:spPr>
      </p:pic>
      <p:sp>
        <p:nvSpPr>
          <p:cNvPr id="12" name="Shape 8"/>
          <p:cNvSpPr/>
          <p:nvPr/>
        </p:nvSpPr>
        <p:spPr>
          <a:xfrm>
            <a:off x="564698" y="5055460"/>
            <a:ext cx="1967484"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56138" y="5137756"/>
            <a:ext cx="73152" cy="73152"/>
          </a:xfrm>
          <a:prstGeom prst="ellipse">
            <a:avLst/>
          </a:prstGeom>
          <a:solidFill>
            <a:srgbClr val="34D399"/>
          </a:solidFill>
          <a:ln/>
        </p:spPr>
      </p:sp>
      <p:sp>
        <p:nvSpPr>
          <p:cNvPr id="14" name="Text 10"/>
          <p:cNvSpPr txBox="1"/>
          <p:nvPr/>
        </p:nvSpPr>
        <p:spPr>
          <a:xfrm>
            <a:off x="784154" y="5055460"/>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64698" y="5348068"/>
            <a:ext cx="3869911"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CSCS pathway, 100% complete (sample progress data)</a:t>
            </a:r>
            <a:endParaRPr lang="en-US" sz="1000" dirty="0"/>
          </a:p>
        </p:txBody>
      </p:sp>
      <p:pic>
        <p:nvPicPr>
          <p:cNvPr id="16" name="Image 1" descr="/tmp/claude-0/-home-user-Chronopoli/d7458f57-86b2-5920-914e-8615357fee63/scratchpad/deck/framed/badge.png">    </p:cNvPr>
          <p:cNvPicPr>
            <a:picLocks noChangeAspect="1"/>
          </p:cNvPicPr>
          <p:nvPr/>
        </p:nvPicPr>
        <p:blipFill>
          <a:blip r:embed="rId3"/>
          <a:stretch>
            <a:fillRect/>
          </a:stretch>
        </p:blipFill>
        <p:spPr>
          <a:xfrm>
            <a:off x="4675703" y="1827274"/>
            <a:ext cx="3008032" cy="3169972"/>
          </a:xfrm>
          <a:prstGeom prst="rect">
            <a:avLst/>
          </a:prstGeom>
        </p:spPr>
      </p:pic>
      <p:sp>
        <p:nvSpPr>
          <p:cNvPr id="17" name="Shape 12"/>
          <p:cNvSpPr/>
          <p:nvPr/>
        </p:nvSpPr>
        <p:spPr>
          <a:xfrm>
            <a:off x="4754648" y="5055460"/>
            <a:ext cx="1967484"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4846088" y="5137756"/>
            <a:ext cx="73152" cy="73152"/>
          </a:xfrm>
          <a:prstGeom prst="ellipse">
            <a:avLst/>
          </a:prstGeom>
          <a:solidFill>
            <a:srgbClr val="34D399"/>
          </a:solidFill>
          <a:ln/>
        </p:spPr>
      </p:sp>
      <p:sp>
        <p:nvSpPr>
          <p:cNvPr id="19" name="Text 14"/>
          <p:cNvSpPr txBox="1"/>
          <p:nvPr/>
        </p:nvSpPr>
        <p:spPr>
          <a:xfrm>
            <a:off x="4974104" y="5055460"/>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4754648" y="5348068"/>
            <a:ext cx="2850141"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CSCS badge page as seen by the earner (fictitious learner)</a:t>
            </a:r>
            <a:endParaRPr lang="en-US" sz="1000" dirty="0"/>
          </a:p>
        </p:txBody>
      </p:sp>
      <p:sp>
        <p:nvSpPr>
          <p:cNvPr id="21" name="Text 16"/>
          <p:cNvSpPr txBox="1"/>
          <p:nvPr/>
        </p:nvSpPr>
        <p:spPr>
          <a:xfrm>
            <a:off x="564698" y="5780884"/>
            <a:ext cx="7040092" cy="17068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The on-screen 'verifiable' wording refers to public online verification, planned before launch · Tether (illustrative)</a:t>
            </a:r>
            <a:endParaRPr lang="en-US" sz="1000" dirty="0"/>
          </a:p>
        </p:txBody>
      </p:sp>
      <p:sp>
        <p:nvSpPr>
          <p:cNvPr id="22" name="Text 17"/>
          <p:cNvSpPr txBox="1"/>
          <p:nvPr/>
        </p:nvSpPr>
        <p:spPr>
          <a:xfrm>
            <a:off x="7970549" y="1906219"/>
            <a:ext cx="3763946" cy="265582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Stablecoin Compliance Specialist:</a:t>
            </a:r>
            <a:r>
              <a:rPr lang="en-US" sz="1400" dirty="0">
                <a:solidFill>
                  <a:srgbClr val="E8E8F0"/>
                </a:solidFill>
                <a:latin typeface="Arial" pitchFamily="34" charset="0"/>
                <a:ea typeface="Arial" pitchFamily="34" charset="-122"/>
                <a:cs typeface="Arial" pitchFamily="34" charset="-120"/>
              </a:rPr>
              <a:t> 4 courses, 44 h, ending in the Certified Stablecoin Compliance Specialist (CSCS) badge</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Criteria you set:</a:t>
            </a:r>
            <a:r>
              <a:rPr lang="en-US" sz="1400" dirty="0">
                <a:solidFill>
                  <a:srgbClr val="E8E8F0"/>
                </a:solidFill>
                <a:latin typeface="Arial" pitchFamily="34" charset="0"/>
                <a:ea typeface="Arial" pitchFamily="34" charset="-122"/>
                <a:cs typeface="Arial" pitchFamily="34" charset="-120"/>
              </a:rPr>
              <a:t> the courses, the 70% pass mark, the capstone; progress is read from the platform’s grades, so a pathway is complete only when its courses are passed</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Open Badges 2.0 format, portable beyond Chronopoli; public online verification of each badge comes before launch</a:t>
            </a:r>
            <a:endParaRPr lang="en-US" sz="1400" dirty="0"/>
          </a:p>
        </p:txBody>
      </p:sp>
      <p:sp>
        <p:nvSpPr>
          <p:cNvPr id="23" name="Text 18"/>
          <p:cNvSpPr txBox="1"/>
          <p:nvPr/>
        </p:nvSpPr>
        <p:spPr>
          <a:xfrm>
            <a:off x="7970549" y="4781499"/>
            <a:ext cx="3763946" cy="182880"/>
          </a:xfrm>
          <a:prstGeom prst="rect">
            <a:avLst/>
          </a:prstGeom>
          <a:noFill/>
          <a:ln/>
        </p:spPr>
        <p:txBody>
          <a:bodyPr wrap="square" lIns="0" tIns="0" rIns="0" bIns="0" rtlCol="0" anchor="t"/>
          <a:lstStyle/>
          <a:p>
            <a:pPr indent="0" marL="0">
              <a:buNone/>
            </a:pPr>
            <a:r>
              <a:rPr lang="en-US" sz="900" b="1" spc="100" kern="0" dirty="0">
                <a:solidFill>
                  <a:srgbClr val="8E8EA2"/>
                </a:solidFill>
                <a:latin typeface="Arial" pitchFamily="34" charset="0"/>
                <a:ea typeface="Arial" pitchFamily="34" charset="-122"/>
                <a:cs typeface="Arial" pitchFamily="34" charset="-120"/>
              </a:rPr>
              <a:t>THREE PATHWAYS IN THE ILLUSTRATIVE ACADEMY</a:t>
            </a:r>
            <a:endParaRPr lang="en-US" sz="900" dirty="0"/>
          </a:p>
        </p:txBody>
      </p:sp>
      <p:sp>
        <p:nvSpPr>
          <p:cNvPr id="24" name="Shape 19"/>
          <p:cNvSpPr/>
          <p:nvPr/>
        </p:nvSpPr>
        <p:spPr>
          <a:xfrm>
            <a:off x="7970549" y="5037531"/>
            <a:ext cx="3763946" cy="329184"/>
          </a:xfrm>
          <a:prstGeom prst="roundRect">
            <a:avLst>
              <a:gd name="adj" fmla="val 22222"/>
            </a:avLst>
          </a:prstGeom>
          <a:solidFill>
            <a:srgbClr val="171722"/>
          </a:solidFill>
          <a:ln w="9525">
            <a:solidFill>
              <a:srgbClr val="2C2C3E"/>
            </a:solidFill>
            <a:prstDash val="solid"/>
          </a:ln>
        </p:spPr>
      </p:sp>
      <p:sp>
        <p:nvSpPr>
          <p:cNvPr id="25" name="Text 20"/>
          <p:cNvSpPr txBox="1"/>
          <p:nvPr/>
        </p:nvSpPr>
        <p:spPr>
          <a:xfrm>
            <a:off x="8098565" y="5037531"/>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Foundations</a:t>
            </a:r>
            <a:endParaRPr lang="en-US" sz="1150" dirty="0"/>
          </a:p>
        </p:txBody>
      </p:sp>
      <p:sp>
        <p:nvSpPr>
          <p:cNvPr id="26" name="Text 21"/>
          <p:cNvSpPr txBox="1"/>
          <p:nvPr/>
        </p:nvSpPr>
        <p:spPr>
          <a:xfrm>
            <a:off x="10591495" y="5037531"/>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10 h</a:t>
            </a:r>
            <a:endParaRPr lang="en-US" sz="1050" dirty="0"/>
          </a:p>
        </p:txBody>
      </p:sp>
      <p:sp>
        <p:nvSpPr>
          <p:cNvPr id="27" name="Shape 22"/>
          <p:cNvSpPr/>
          <p:nvPr/>
        </p:nvSpPr>
        <p:spPr>
          <a:xfrm>
            <a:off x="7970549" y="5439867"/>
            <a:ext cx="3763946" cy="329184"/>
          </a:xfrm>
          <a:prstGeom prst="roundRect">
            <a:avLst>
              <a:gd name="adj" fmla="val 22222"/>
            </a:avLst>
          </a:prstGeom>
          <a:solidFill>
            <a:srgbClr val="231E12"/>
          </a:solidFill>
          <a:ln w="9525">
            <a:solidFill>
              <a:srgbClr val="C9A84C"/>
            </a:solidFill>
            <a:prstDash val="solid"/>
          </a:ln>
        </p:spPr>
      </p:sp>
      <p:sp>
        <p:nvSpPr>
          <p:cNvPr id="28" name="Text 23"/>
          <p:cNvSpPr txBox="1"/>
          <p:nvPr/>
        </p:nvSpPr>
        <p:spPr>
          <a:xfrm>
            <a:off x="8098565" y="5439867"/>
            <a:ext cx="2529506" cy="329184"/>
          </a:xfrm>
          <a:prstGeom prst="rect">
            <a:avLst/>
          </a:prstGeom>
          <a:noFill/>
          <a:ln/>
        </p:spPr>
        <p:txBody>
          <a:bodyPr wrap="square" lIns="0" tIns="0" rIns="0" bIns="0" rtlCol="0" anchor="ctr"/>
          <a:lstStyle/>
          <a:p>
            <a:pPr indent="0" marL="0">
              <a:buNone/>
            </a:pPr>
            <a:r>
              <a:rPr lang="en-US" sz="1150" b="1" dirty="0">
                <a:solidFill>
                  <a:srgbClr val="F0C96B"/>
                </a:solidFill>
                <a:latin typeface="Arial" pitchFamily="34" charset="0"/>
                <a:ea typeface="Arial" pitchFamily="34" charset="-122"/>
                <a:cs typeface="Arial" pitchFamily="34" charset="-120"/>
              </a:rPr>
              <a:t>Stablecoin Compliance Specialist</a:t>
            </a:r>
            <a:endParaRPr lang="en-US" sz="1150" dirty="0"/>
          </a:p>
        </p:txBody>
      </p:sp>
      <p:sp>
        <p:nvSpPr>
          <p:cNvPr id="29" name="Text 24"/>
          <p:cNvSpPr txBox="1"/>
          <p:nvPr/>
        </p:nvSpPr>
        <p:spPr>
          <a:xfrm>
            <a:off x="10591495" y="5439867"/>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4 courses · 44 h</a:t>
            </a:r>
            <a:endParaRPr lang="en-US" sz="1050" dirty="0"/>
          </a:p>
        </p:txBody>
      </p:sp>
      <p:sp>
        <p:nvSpPr>
          <p:cNvPr id="30" name="Shape 25"/>
          <p:cNvSpPr/>
          <p:nvPr/>
        </p:nvSpPr>
        <p:spPr>
          <a:xfrm>
            <a:off x="7970549" y="5842203"/>
            <a:ext cx="3763946" cy="329184"/>
          </a:xfrm>
          <a:prstGeom prst="roundRect">
            <a:avLst>
              <a:gd name="adj" fmla="val 22222"/>
            </a:avLst>
          </a:prstGeom>
          <a:solidFill>
            <a:srgbClr val="171722"/>
          </a:solidFill>
          <a:ln w="9525">
            <a:solidFill>
              <a:srgbClr val="2C2C3E"/>
            </a:solidFill>
            <a:prstDash val="solid"/>
          </a:ln>
        </p:spPr>
      </p:sp>
      <p:sp>
        <p:nvSpPr>
          <p:cNvPr id="31" name="Text 26"/>
          <p:cNvSpPr txBox="1"/>
          <p:nvPr/>
        </p:nvSpPr>
        <p:spPr>
          <a:xfrm>
            <a:off x="8098565" y="5842203"/>
            <a:ext cx="2529506" cy="329184"/>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Stablecoin Investigator</a:t>
            </a:r>
            <a:endParaRPr lang="en-US" sz="1150" dirty="0"/>
          </a:p>
        </p:txBody>
      </p:sp>
      <p:sp>
        <p:nvSpPr>
          <p:cNvPr id="32" name="Text 27"/>
          <p:cNvSpPr txBox="1"/>
          <p:nvPr/>
        </p:nvSpPr>
        <p:spPr>
          <a:xfrm>
            <a:off x="10591495" y="5842203"/>
            <a:ext cx="1033272" cy="329184"/>
          </a:xfrm>
          <a:prstGeom prst="rect">
            <a:avLst/>
          </a:prstGeom>
          <a:noFill/>
          <a:ln/>
        </p:spPr>
        <p:txBody>
          <a:bodyPr wrap="square" lIns="0" tIns="0" rIns="0" bIns="0" rtlCol="0" anchor="ctr"/>
          <a:lstStyle/>
          <a:p>
            <a:pPr algn="r" indent="0" marL="0">
              <a:buNone/>
            </a:pPr>
            <a:r>
              <a:rPr lang="en-US" sz="1050" dirty="0">
                <a:solidFill>
                  <a:srgbClr val="B4B4C8"/>
                </a:solidFill>
                <a:latin typeface="Arial" pitchFamily="34" charset="0"/>
                <a:ea typeface="Arial" pitchFamily="34" charset="-122"/>
                <a:cs typeface="Arial" pitchFamily="34" charset="-120"/>
              </a:rPr>
              <a:t>2 courses · 32 h</a:t>
            </a:r>
            <a:endParaRPr lang="en-US" sz="1050" dirty="0"/>
          </a:p>
        </p:txBody>
      </p:sp>
      <p:sp>
        <p:nvSpPr>
          <p:cNvPr id="33" name="Text 28"/>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29"/>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P4</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From pathway to hire: a talent pipeline you own</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Job postings in your academy require your badge, so applicants arrive pre-qualified on your curriculum</a:t>
            </a:r>
            <a:endParaRPr lang="en-US" sz="1600" dirty="0"/>
          </a:p>
        </p:txBody>
      </p:sp>
      <p:pic>
        <p:nvPicPr>
          <p:cNvPr id="11" name="Image 0" descr="/tmp/claude-0/-home-user-Chronopoli/d7458f57-86b2-5920-914e-8615357fee63/scratchpad/sales-master/framed/jobs2.png">    </p:cNvPr>
          <p:cNvPicPr>
            <a:picLocks noChangeAspect="1"/>
          </p:cNvPicPr>
          <p:nvPr/>
        </p:nvPicPr>
        <p:blipFill>
          <a:blip r:embed="rId2"/>
          <a:stretch>
            <a:fillRect/>
          </a:stretch>
        </p:blipFill>
        <p:spPr>
          <a:xfrm>
            <a:off x="5846775" y="1751279"/>
            <a:ext cx="5887720" cy="3766451"/>
          </a:xfrm>
          <a:prstGeom prst="rect">
            <a:avLst/>
          </a:prstGeom>
        </p:spPr>
      </p:pic>
      <p:sp>
        <p:nvSpPr>
          <p:cNvPr id="12" name="Shape 8"/>
          <p:cNvSpPr/>
          <p:nvPr/>
        </p:nvSpPr>
        <p:spPr>
          <a:xfrm>
            <a:off x="6001715" y="5499950"/>
            <a:ext cx="1967484"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093155" y="5582246"/>
            <a:ext cx="73152" cy="73152"/>
          </a:xfrm>
          <a:prstGeom prst="ellipse">
            <a:avLst/>
          </a:prstGeom>
          <a:solidFill>
            <a:srgbClr val="34D399"/>
          </a:solidFill>
          <a:ln/>
        </p:spPr>
      </p:sp>
      <p:sp>
        <p:nvSpPr>
          <p:cNvPr id="14" name="Text 10"/>
          <p:cNvSpPr txBox="1"/>
          <p:nvPr/>
        </p:nvSpPr>
        <p:spPr>
          <a:xfrm>
            <a:off x="6221171" y="5499950"/>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6001715" y="5792558"/>
            <a:ext cx="5577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Academy job board, first 2 of 4 postings; gold frame: zoom of the first badge chip · Tether (illustrative), mock roles · consent step: required before launch, not yet built</a:t>
            </a:r>
            <a:endParaRPr lang="en-US" sz="1000" dirty="0"/>
          </a:p>
        </p:txBody>
      </p:sp>
      <p:sp>
        <p:nvSpPr>
          <p:cNvPr id="16" name="Text 12"/>
          <p:cNvSpPr txBox="1"/>
          <p:nvPr/>
        </p:nvSpPr>
        <p:spPr>
          <a:xfrm>
            <a:off x="457200" y="1951939"/>
            <a:ext cx="5023815" cy="2015744"/>
          </a:xfrm>
          <a:prstGeom prst="rect">
            <a:avLst/>
          </a:prstGeom>
          <a:noFill/>
          <a:ln/>
        </p:spPr>
        <p:txBody>
          <a:bodyPr wrap="square" lIns="0" tIns="0" rIns="0" bIns="0" rtlCol="0" anchor="t"/>
          <a:lstStyle/>
          <a:p>
            <a:pPr marL="165100" indent="-165100">
              <a:spcAft>
                <a:spcPts val="1000"/>
              </a:spcAft>
              <a:buClr>
                <a:srgbClr val="C9A84C"/>
              </a:buClr>
              <a:buSzPct val="80000"/>
              <a:buChar char="●"/>
            </a:pPr>
            <a:r>
              <a:rPr lang="en-US" sz="1400" dirty="0">
                <a:solidFill>
                  <a:srgbClr val="E8E8F0"/>
                </a:solidFill>
                <a:latin typeface="Arial" pitchFamily="34" charset="0"/>
                <a:ea typeface="Arial" pitchFamily="34" charset="-122"/>
                <a:cs typeface="Arial" pitchFamily="34" charset="-120"/>
              </a:rPr>
              <a:t>Each posting names the badge it requires (CSCS, Stablecoin Investigator, Stablecoin Foundations)</a:t>
            </a:r>
            <a:endParaRPr lang="en-US" sz="1400" dirty="0"/>
          </a:p>
          <a:p>
            <a:pPr marL="165100" indent="-165100">
              <a:spcAft>
                <a:spcPts val="1000"/>
              </a:spcAft>
              <a:buClr>
                <a:srgbClr val="C9A84C"/>
              </a:buClr>
              <a:buSzPct val="80000"/>
              <a:buChar char="●"/>
            </a:pPr>
            <a:r>
              <a:rPr lang="en-US" sz="1400" b="1" dirty="0">
                <a:solidFill>
                  <a:srgbClr val="FFFFFF"/>
                </a:solidFill>
                <a:latin typeface="Arial" pitchFamily="34" charset="0"/>
                <a:ea typeface="Arial" pitchFamily="34" charset="-122"/>
                <a:cs typeface="Arial" pitchFamily="34" charset="-120"/>
              </a:rPr>
              <a:t>At launch:</a:t>
            </a:r>
            <a:r>
              <a:rPr lang="en-US" sz="1400" dirty="0">
                <a:solidFill>
                  <a:srgbClr val="E8E8F0"/>
                </a:solidFill>
                <a:latin typeface="Arial" pitchFamily="34" charset="0"/>
                <a:ea typeface="Arial" pitchFamily="34" charset="-122"/>
                <a:cs typeface="Arial" pitchFamily="34" charset="-120"/>
              </a:rPr>
              <a:t> when a learner applies and gives explicit consent, a credential snapshot goes to your HR notification address. No consent, no data</a:t>
            </a:r>
            <a:endParaRPr lang="en-US" sz="1400" dirty="0"/>
          </a:p>
          <a:p>
            <a:pPr marL="165100" indent="-165100">
              <a:buClr>
                <a:srgbClr val="C9A84C"/>
              </a:buClr>
              <a:buSzPct val="80000"/>
              <a:buChar char="●"/>
            </a:pPr>
            <a:r>
              <a:rPr lang="en-US" sz="1400" dirty="0">
                <a:solidFill>
                  <a:srgbClr val="E8E8F0"/>
                </a:solidFill>
                <a:latin typeface="Arial" pitchFamily="34" charset="0"/>
                <a:ea typeface="Arial" pitchFamily="34" charset="-122"/>
                <a:cs typeface="Arial" pitchFamily="34" charset="-120"/>
              </a:rPr>
              <a:t>Works for partners hiring into their ecosystem, universities placing graduates, and enterprises growing people internally</a:t>
            </a:r>
            <a:endParaRPr lang="en-US" sz="1400" dirty="0"/>
          </a:p>
        </p:txBody>
      </p:sp>
      <p:pic>
        <p:nvPicPr>
          <p:cNvPr id="17" name="Image 1" descr="/tmp/claude-0/-home-user-Chronopoli/d7458f57-86b2-5920-914e-8615357fee63/scratchpad/sales-master/framed/jobs_chip.png">    </p:cNvPr>
          <p:cNvPicPr>
            <a:picLocks noChangeAspect="1"/>
          </p:cNvPicPr>
          <p:nvPr/>
        </p:nvPicPr>
        <p:blipFill>
          <a:blip r:embed="rId3"/>
          <a:stretch>
            <a:fillRect/>
          </a:stretch>
        </p:blipFill>
        <p:spPr>
          <a:xfrm>
            <a:off x="8511743" y="3527103"/>
            <a:ext cx="2956255" cy="599618"/>
          </a:xfrm>
          <a:prstGeom prst="rect">
            <a:avLst/>
          </a:prstGeom>
        </p:spPr>
      </p:pic>
      <p:sp>
        <p:nvSpPr>
          <p:cNvPr id="18" name="Shape 13"/>
          <p:cNvSpPr/>
          <p:nvPr/>
        </p:nvSpPr>
        <p:spPr>
          <a:xfrm>
            <a:off x="457200" y="4168851"/>
            <a:ext cx="5023815" cy="512064"/>
          </a:xfrm>
          <a:prstGeom prst="roundRect">
            <a:avLst>
              <a:gd name="adj" fmla="val 17857"/>
            </a:avLst>
          </a:prstGeom>
          <a:solidFill>
            <a:srgbClr val="231E12"/>
          </a:solidFill>
          <a:ln w="9525">
            <a:solidFill>
              <a:srgbClr val="5A4A22"/>
            </a:solidFill>
            <a:prstDash val="solid"/>
          </a:ln>
        </p:spPr>
      </p:sp>
      <p:sp>
        <p:nvSpPr>
          <p:cNvPr id="19" name="Text 14"/>
          <p:cNvSpPr txBox="1"/>
          <p:nvPr/>
        </p:nvSpPr>
        <p:spPr>
          <a:xfrm>
            <a:off x="640080" y="4168851"/>
            <a:ext cx="731520" cy="512064"/>
          </a:xfrm>
          <a:prstGeom prst="rect">
            <a:avLst/>
          </a:prstGeom>
          <a:noFill/>
          <a:ln/>
        </p:spPr>
        <p:txBody>
          <a:bodyPr wrap="square" lIns="0" tIns="0" rIns="0" bIns="0" rtlCol="0" anchor="ctr"/>
          <a:lstStyle/>
          <a:p>
            <a:pPr indent="0" marL="0">
              <a:buNone/>
            </a:pPr>
            <a:r>
              <a:rPr lang="en-US" sz="2400" b="1" dirty="0">
                <a:solidFill>
                  <a:srgbClr val="F0C96B"/>
                </a:solidFill>
                <a:latin typeface="Arial" pitchFamily="34" charset="0"/>
                <a:ea typeface="Arial" pitchFamily="34" charset="-122"/>
                <a:cs typeface="Arial" pitchFamily="34" charset="-120"/>
              </a:rPr>
              <a:t>37</a:t>
            </a:r>
            <a:endParaRPr lang="en-US" sz="2400" dirty="0"/>
          </a:p>
        </p:txBody>
      </p:sp>
      <p:sp>
        <p:nvSpPr>
          <p:cNvPr id="20" name="Text 15"/>
          <p:cNvSpPr txBox="1"/>
          <p:nvPr/>
        </p:nvSpPr>
        <p:spPr>
          <a:xfrm>
            <a:off x="1325880" y="4168851"/>
            <a:ext cx="4017975" cy="512064"/>
          </a:xfrm>
          <a:prstGeom prst="rect">
            <a:avLst/>
          </a:prstGeom>
          <a:noFill/>
          <a:ln/>
        </p:spPr>
        <p:txBody>
          <a:bodyPr wrap="square" lIns="0" tIns="0" rIns="0" bIns="0" rtlCol="0" anchor="ctr"/>
          <a:lstStyle/>
          <a:p>
            <a:pPr indent="0" marL="0">
              <a:buNone/>
            </a:pPr>
            <a:r>
              <a:rPr lang="en-US" sz="1400" dirty="0">
                <a:solidFill>
                  <a:srgbClr val="E8E8F0"/>
                </a:solidFill>
                <a:latin typeface="Arial" pitchFamily="34" charset="0"/>
                <a:ea typeface="Arial" pitchFamily="34" charset="-122"/>
                <a:cs typeface="Arial" pitchFamily="34" charset="-120"/>
              </a:rPr>
              <a:t>applications across the 4 postings, Q3 2026 (illustrative mock data)</a:t>
            </a:r>
            <a:endParaRPr lang="en-US" sz="1400" dirty="0"/>
          </a:p>
        </p:txBody>
      </p:sp>
      <p:sp>
        <p:nvSpPr>
          <p:cNvPr id="21" name="Text 16"/>
          <p:cNvSpPr txBox="1"/>
          <p:nvPr/>
        </p:nvSpPr>
        <p:spPr>
          <a:xfrm>
            <a:off x="457200" y="4918659"/>
            <a:ext cx="5023815" cy="182880"/>
          </a:xfrm>
          <a:prstGeom prst="rect">
            <a:avLst/>
          </a:prstGeom>
          <a:noFill/>
          <a:ln/>
        </p:spPr>
        <p:txBody>
          <a:bodyPr wrap="square" lIns="0" tIns="0" rIns="0" bIns="0" rtlCol="0" anchor="t"/>
          <a:lstStyle/>
          <a:p>
            <a:pPr indent="0" marL="0">
              <a:buNone/>
            </a:pPr>
            <a:r>
              <a:rPr lang="en-US" sz="900" b="1" spc="120" kern="0" dirty="0">
                <a:solidFill>
                  <a:srgbClr val="8E8EA2"/>
                </a:solidFill>
                <a:latin typeface="Arial" pitchFamily="34" charset="0"/>
                <a:ea typeface="Arial" pitchFamily="34" charset="-122"/>
                <a:cs typeface="Arial" pitchFamily="34" charset="-120"/>
              </a:rPr>
              <a:t>THE PIPELINE, END TO END</a:t>
            </a:r>
            <a:endParaRPr lang="en-US" sz="900" dirty="0"/>
          </a:p>
        </p:txBody>
      </p:sp>
      <p:sp>
        <p:nvSpPr>
          <p:cNvPr id="22" name="Shape 17"/>
          <p:cNvSpPr/>
          <p:nvPr/>
        </p:nvSpPr>
        <p:spPr>
          <a:xfrm>
            <a:off x="959582" y="5449011"/>
            <a:ext cx="4019052" cy="0"/>
          </a:xfrm>
          <a:prstGeom prst="line">
            <a:avLst/>
          </a:prstGeom>
          <a:noFill/>
          <a:ln w="15875">
            <a:solidFill>
              <a:srgbClr val="9B7A2E"/>
            </a:solidFill>
            <a:prstDash val="solid"/>
          </a:ln>
        </p:spPr>
      </p:sp>
      <p:sp>
        <p:nvSpPr>
          <p:cNvPr id="23" name="Shape 18"/>
          <p:cNvSpPr/>
          <p:nvPr/>
        </p:nvSpPr>
        <p:spPr>
          <a:xfrm>
            <a:off x="703550" y="5192979"/>
            <a:ext cx="512064" cy="512064"/>
          </a:xfrm>
          <a:prstGeom prst="ellipse">
            <a:avLst/>
          </a:prstGeom>
          <a:solidFill>
            <a:srgbClr val="1E1A10"/>
          </a:solidFill>
          <a:ln w="9525">
            <a:solidFill>
              <a:srgbClr val="5A4A22"/>
            </a:solidFill>
            <a:prstDash val="solid"/>
          </a:ln>
        </p:spPr>
      </p:sp>
      <p:pic>
        <p:nvPicPr>
          <p:cNvPr id="24" name="Image 2" descr="preencoded.png">    </p:cNvPr>
          <p:cNvPicPr>
            <a:picLocks noChangeAspect="1"/>
          </p:cNvPicPr>
          <p:nvPr/>
        </p:nvPicPr>
        <p:blipFill>
          <a:blip r:embed="rId4"/>
          <a:stretch>
            <a:fillRect/>
          </a:stretch>
        </p:blipFill>
        <p:spPr>
          <a:xfrm>
            <a:off x="831566" y="5320995"/>
            <a:ext cx="256032" cy="256032"/>
          </a:xfrm>
          <a:prstGeom prst="rect">
            <a:avLst/>
          </a:prstGeom>
        </p:spPr>
      </p:pic>
      <p:sp>
        <p:nvSpPr>
          <p:cNvPr id="25" name="Text 19"/>
          <p:cNvSpPr txBox="1"/>
          <p:nvPr/>
        </p:nvSpPr>
        <p:spPr>
          <a:xfrm>
            <a:off x="457200"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Pathway</a:t>
            </a:r>
            <a:endParaRPr lang="en-US" sz="1200" dirty="0"/>
          </a:p>
        </p:txBody>
      </p:sp>
      <p:sp>
        <p:nvSpPr>
          <p:cNvPr id="26" name="Shape 20"/>
          <p:cNvSpPr/>
          <p:nvPr/>
        </p:nvSpPr>
        <p:spPr>
          <a:xfrm>
            <a:off x="1708313" y="5192979"/>
            <a:ext cx="512064" cy="512064"/>
          </a:xfrm>
          <a:prstGeom prst="ellipse">
            <a:avLst/>
          </a:prstGeom>
          <a:solidFill>
            <a:srgbClr val="1E1A10"/>
          </a:solidFill>
          <a:ln w="9525">
            <a:solidFill>
              <a:srgbClr val="5A4A22"/>
            </a:solidFill>
            <a:prstDash val="solid"/>
          </a:ln>
        </p:spPr>
      </p:sp>
      <p:pic>
        <p:nvPicPr>
          <p:cNvPr id="27" name="Image 3" descr="preencoded.png">    </p:cNvPr>
          <p:cNvPicPr>
            <a:picLocks noChangeAspect="1"/>
          </p:cNvPicPr>
          <p:nvPr/>
        </p:nvPicPr>
        <p:blipFill>
          <a:blip r:embed="rId5"/>
          <a:stretch>
            <a:fillRect/>
          </a:stretch>
        </p:blipFill>
        <p:spPr>
          <a:xfrm>
            <a:off x="1836329" y="5320995"/>
            <a:ext cx="256032" cy="256032"/>
          </a:xfrm>
          <a:prstGeom prst="rect">
            <a:avLst/>
          </a:prstGeom>
        </p:spPr>
      </p:pic>
      <p:sp>
        <p:nvSpPr>
          <p:cNvPr id="28" name="Text 21"/>
          <p:cNvSpPr txBox="1"/>
          <p:nvPr/>
        </p:nvSpPr>
        <p:spPr>
          <a:xfrm>
            <a:off x="1461963"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Badge</a:t>
            </a:r>
            <a:endParaRPr lang="en-US" sz="1200" dirty="0"/>
          </a:p>
        </p:txBody>
      </p:sp>
      <p:sp>
        <p:nvSpPr>
          <p:cNvPr id="29" name="Shape 22"/>
          <p:cNvSpPr/>
          <p:nvPr/>
        </p:nvSpPr>
        <p:spPr>
          <a:xfrm>
            <a:off x="2713076" y="5192979"/>
            <a:ext cx="512064" cy="512064"/>
          </a:xfrm>
          <a:prstGeom prst="ellipse">
            <a:avLst/>
          </a:prstGeom>
          <a:solidFill>
            <a:srgbClr val="1E1A10"/>
          </a:solidFill>
          <a:ln w="9525">
            <a:solidFill>
              <a:srgbClr val="5A4A22"/>
            </a:solidFill>
            <a:prstDash val="solid"/>
          </a:ln>
        </p:spPr>
      </p:sp>
      <p:pic>
        <p:nvPicPr>
          <p:cNvPr id="30" name="Image 4" descr="preencoded.png">    </p:cNvPr>
          <p:cNvPicPr>
            <a:picLocks noChangeAspect="1"/>
          </p:cNvPicPr>
          <p:nvPr/>
        </p:nvPicPr>
        <p:blipFill>
          <a:blip r:embed="rId6"/>
          <a:stretch>
            <a:fillRect/>
          </a:stretch>
        </p:blipFill>
        <p:spPr>
          <a:xfrm>
            <a:off x="2841092" y="5320995"/>
            <a:ext cx="256032" cy="256032"/>
          </a:xfrm>
          <a:prstGeom prst="rect">
            <a:avLst/>
          </a:prstGeom>
        </p:spPr>
      </p:pic>
      <p:sp>
        <p:nvSpPr>
          <p:cNvPr id="31" name="Text 23"/>
          <p:cNvSpPr txBox="1"/>
          <p:nvPr/>
        </p:nvSpPr>
        <p:spPr>
          <a:xfrm>
            <a:off x="2466726"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Posting</a:t>
            </a:r>
            <a:endParaRPr lang="en-US" sz="1200" dirty="0"/>
          </a:p>
        </p:txBody>
      </p:sp>
      <p:sp>
        <p:nvSpPr>
          <p:cNvPr id="32" name="Shape 24"/>
          <p:cNvSpPr/>
          <p:nvPr/>
        </p:nvSpPr>
        <p:spPr>
          <a:xfrm>
            <a:off x="3717839" y="5192979"/>
            <a:ext cx="512064" cy="512064"/>
          </a:xfrm>
          <a:prstGeom prst="ellipse">
            <a:avLst/>
          </a:prstGeom>
          <a:solidFill>
            <a:srgbClr val="231A0B"/>
          </a:solidFill>
          <a:ln w="9525">
            <a:solidFill>
              <a:srgbClr val="F59E0B"/>
            </a:solidFill>
            <a:prstDash val="solid"/>
          </a:ln>
        </p:spPr>
      </p:sp>
      <p:pic>
        <p:nvPicPr>
          <p:cNvPr id="33" name="Image 5" descr="preencoded.png">    </p:cNvPr>
          <p:cNvPicPr>
            <a:picLocks noChangeAspect="1"/>
          </p:cNvPicPr>
          <p:nvPr/>
        </p:nvPicPr>
        <p:blipFill>
          <a:blip r:embed="rId7"/>
          <a:stretch>
            <a:fillRect/>
          </a:stretch>
        </p:blipFill>
        <p:spPr>
          <a:xfrm>
            <a:off x="3845855" y="5320995"/>
            <a:ext cx="256032" cy="256032"/>
          </a:xfrm>
          <a:prstGeom prst="rect">
            <a:avLst/>
          </a:prstGeom>
        </p:spPr>
      </p:pic>
      <p:sp>
        <p:nvSpPr>
          <p:cNvPr id="34" name="Text 25"/>
          <p:cNvSpPr txBox="1"/>
          <p:nvPr/>
        </p:nvSpPr>
        <p:spPr>
          <a:xfrm>
            <a:off x="3471489" y="5778195"/>
            <a:ext cx="1004763" cy="201168"/>
          </a:xfrm>
          <a:prstGeom prst="rect">
            <a:avLst/>
          </a:prstGeom>
          <a:noFill/>
          <a:ln/>
        </p:spPr>
        <p:txBody>
          <a:bodyPr wrap="square" lIns="0" tIns="0" rIns="0" bIns="0" rtlCol="0" anchor="t"/>
          <a:lstStyle/>
          <a:p>
            <a:pPr algn="ctr" indent="0" marL="0">
              <a:buNone/>
            </a:pPr>
            <a:r>
              <a:rPr lang="en-US" sz="1200" b="1" dirty="0">
                <a:solidFill>
                  <a:srgbClr val="F59E0B"/>
                </a:solidFill>
                <a:latin typeface="Arial" pitchFamily="34" charset="0"/>
                <a:ea typeface="Arial" pitchFamily="34" charset="-122"/>
                <a:cs typeface="Arial" pitchFamily="34" charset="-120"/>
              </a:rPr>
              <a:t>Consent</a:t>
            </a:r>
            <a:endParaRPr lang="en-US" sz="1200" dirty="0"/>
          </a:p>
        </p:txBody>
      </p:sp>
      <p:sp>
        <p:nvSpPr>
          <p:cNvPr id="35" name="Text 26"/>
          <p:cNvSpPr txBox="1"/>
          <p:nvPr/>
        </p:nvSpPr>
        <p:spPr>
          <a:xfrm>
            <a:off x="3471489" y="5979363"/>
            <a:ext cx="1004763" cy="182880"/>
          </a:xfrm>
          <a:prstGeom prst="rect">
            <a:avLst/>
          </a:prstGeom>
          <a:noFill/>
          <a:ln/>
        </p:spPr>
        <p:txBody>
          <a:bodyPr wrap="square" lIns="0" tIns="0" rIns="0" bIns="0" rtlCol="0" anchor="t"/>
          <a:lstStyle/>
          <a:p>
            <a:pPr algn="ctr" indent="0" marL="0">
              <a:buNone/>
            </a:pPr>
            <a:r>
              <a:rPr lang="en-US" sz="1000" dirty="0">
                <a:solidFill>
                  <a:srgbClr val="F59E0B"/>
                </a:solidFill>
                <a:latin typeface="Arial" pitchFamily="34" charset="0"/>
                <a:ea typeface="Arial" pitchFamily="34" charset="-122"/>
                <a:cs typeface="Arial" pitchFamily="34" charset="-120"/>
              </a:rPr>
              <a:t>before launch</a:t>
            </a:r>
            <a:endParaRPr lang="en-US" sz="1000" dirty="0"/>
          </a:p>
        </p:txBody>
      </p:sp>
      <p:sp>
        <p:nvSpPr>
          <p:cNvPr id="36" name="Shape 27"/>
          <p:cNvSpPr/>
          <p:nvPr/>
        </p:nvSpPr>
        <p:spPr>
          <a:xfrm>
            <a:off x="4722602" y="5192979"/>
            <a:ext cx="512064" cy="512064"/>
          </a:xfrm>
          <a:prstGeom prst="ellipse">
            <a:avLst/>
          </a:prstGeom>
          <a:solidFill>
            <a:srgbClr val="1E1A10"/>
          </a:solidFill>
          <a:ln w="9525">
            <a:solidFill>
              <a:srgbClr val="5A4A22"/>
            </a:solidFill>
            <a:prstDash val="solid"/>
          </a:ln>
        </p:spPr>
      </p:sp>
      <p:pic>
        <p:nvPicPr>
          <p:cNvPr id="37" name="Image 6" descr="preencoded.png">    </p:cNvPr>
          <p:cNvPicPr>
            <a:picLocks noChangeAspect="1"/>
          </p:cNvPicPr>
          <p:nvPr/>
        </p:nvPicPr>
        <p:blipFill>
          <a:blip r:embed="rId8"/>
          <a:stretch>
            <a:fillRect/>
          </a:stretch>
        </p:blipFill>
        <p:spPr>
          <a:xfrm>
            <a:off x="4850618" y="5320995"/>
            <a:ext cx="256032" cy="256032"/>
          </a:xfrm>
          <a:prstGeom prst="rect">
            <a:avLst/>
          </a:prstGeom>
        </p:spPr>
      </p:pic>
      <p:sp>
        <p:nvSpPr>
          <p:cNvPr id="38" name="Text 28"/>
          <p:cNvSpPr txBox="1"/>
          <p:nvPr/>
        </p:nvSpPr>
        <p:spPr>
          <a:xfrm>
            <a:off x="4476252" y="5778195"/>
            <a:ext cx="1004763" cy="201168"/>
          </a:xfrm>
          <a:prstGeom prst="rect">
            <a:avLst/>
          </a:prstGeom>
          <a:noFill/>
          <a:ln/>
        </p:spPr>
        <p:txBody>
          <a:bodyPr wrap="square" lIns="0" tIns="0" rIns="0" bIns="0" rtlCol="0" anchor="t"/>
          <a:lstStyle/>
          <a:p>
            <a:pPr algn="ctr" indent="0" marL="0">
              <a:buNone/>
            </a:pPr>
            <a:r>
              <a:rPr lang="en-US" sz="1200" b="1" dirty="0">
                <a:solidFill>
                  <a:srgbClr val="FFFFFF"/>
                </a:solidFill>
                <a:latin typeface="Arial" pitchFamily="34" charset="0"/>
                <a:ea typeface="Arial" pitchFamily="34" charset="-122"/>
                <a:cs typeface="Arial" pitchFamily="34" charset="-120"/>
              </a:rPr>
              <a:t>Your HR</a:t>
            </a:r>
            <a:endParaRPr lang="en-US" sz="1200" dirty="0"/>
          </a:p>
        </p:txBody>
      </p:sp>
      <p:sp>
        <p:nvSpPr>
          <p:cNvPr id="39"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0"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P5</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491610"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9" name="Text 6"/>
          <p:cNvSpPr txBox="1"/>
          <p:nvPr/>
        </p:nvSpPr>
        <p:spPr>
          <a:xfrm>
            <a:off x="457200" y="768096"/>
            <a:ext cx="9235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Learners stay engaged: an AI tutor on your content, and a community per district</a:t>
            </a:r>
            <a:endParaRPr lang="en-US" sz="3400" dirty="0"/>
          </a:p>
        </p:txBody>
      </p:sp>
      <p:sp>
        <p:nvSpPr>
          <p:cNvPr id="10" name="Text 7"/>
          <p:cNvSpPr txBox="1"/>
          <p:nvPr/>
        </p:nvSpPr>
        <p:spPr>
          <a:xfrm>
            <a:off x="457200" y="1805026"/>
            <a:ext cx="11277295" cy="4846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Designed to answer from your course material and cite its sources; district forums connect practitioners, investigators and regulators</a:t>
            </a:r>
            <a:endParaRPr lang="en-US" sz="1500" dirty="0"/>
          </a:p>
        </p:txBody>
      </p:sp>
      <p:pic>
        <p:nvPicPr>
          <p:cNvPr id="11" name="Image 0" descr="/tmp/claude-0/-home-user-Chronopoli/d7458f57-86b2-5920-914e-8615357fee63/scratchpad/sales-master/framed/tutor_panel.png">    </p:cNvPr>
          <p:cNvPicPr>
            <a:picLocks noChangeAspect="1"/>
          </p:cNvPicPr>
          <p:nvPr/>
        </p:nvPicPr>
        <p:blipFill>
          <a:blip r:embed="rId2"/>
          <a:stretch>
            <a:fillRect/>
          </a:stretch>
        </p:blipFill>
        <p:spPr>
          <a:xfrm>
            <a:off x="457200" y="2418668"/>
            <a:ext cx="2374467" cy="2967367"/>
          </a:xfrm>
          <a:prstGeom prst="rect">
            <a:avLst/>
          </a:prstGeom>
        </p:spPr>
      </p:pic>
      <p:sp>
        <p:nvSpPr>
          <p:cNvPr id="12" name="Shape 8"/>
          <p:cNvSpPr/>
          <p:nvPr/>
        </p:nvSpPr>
        <p:spPr>
          <a:xfrm>
            <a:off x="520214" y="5460182"/>
            <a:ext cx="2719349"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11654" y="5542478"/>
            <a:ext cx="73152" cy="73152"/>
          </a:xfrm>
          <a:prstGeom prst="ellipse">
            <a:avLst/>
          </a:prstGeom>
          <a:solidFill>
            <a:srgbClr val="A9A9C6"/>
          </a:solidFill>
          <a:ln/>
        </p:spPr>
      </p:sp>
      <p:sp>
        <p:nvSpPr>
          <p:cNvPr id="14" name="Text 10"/>
          <p:cNvSpPr txBox="1"/>
          <p:nvPr/>
        </p:nvSpPr>
        <p:spPr>
          <a:xfrm>
            <a:off x="739670" y="5460182"/>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15" name="Text 11"/>
          <p:cNvSpPr txBox="1"/>
          <p:nvPr/>
        </p:nvSpPr>
        <p:spPr>
          <a:xfrm>
            <a:off x="520214" y="5752790"/>
            <a:ext cx="2248439"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the AI tutor on a mock lesson page; the answer is scripted demo copy</a:t>
            </a:r>
            <a:endParaRPr lang="en-US" sz="1000" dirty="0"/>
          </a:p>
        </p:txBody>
      </p:sp>
      <p:pic>
        <p:nvPicPr>
          <p:cNvPr id="16" name="Image 1" descr="/tmp/claude-0/-home-user-Chronopoli/d7458f57-86b2-5920-914e-8615357fee63/scratchpad/sales-master/framed/discourse2.png">    </p:cNvPr>
          <p:cNvPicPr>
            <a:picLocks noChangeAspect="1"/>
          </p:cNvPicPr>
          <p:nvPr/>
        </p:nvPicPr>
        <p:blipFill>
          <a:blip r:embed="rId3"/>
          <a:stretch>
            <a:fillRect/>
          </a:stretch>
        </p:blipFill>
        <p:spPr>
          <a:xfrm>
            <a:off x="3315172" y="2342400"/>
            <a:ext cx="5214694" cy="3119903"/>
          </a:xfrm>
          <a:prstGeom prst="rect">
            <a:avLst/>
          </a:prstGeom>
        </p:spPr>
      </p:pic>
      <p:sp>
        <p:nvSpPr>
          <p:cNvPr id="17" name="Shape 12"/>
          <p:cNvSpPr/>
          <p:nvPr/>
        </p:nvSpPr>
        <p:spPr>
          <a:xfrm>
            <a:off x="3454453" y="5460182"/>
            <a:ext cx="1967484"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3545893" y="5542478"/>
            <a:ext cx="73152" cy="73152"/>
          </a:xfrm>
          <a:prstGeom prst="ellipse">
            <a:avLst/>
          </a:prstGeom>
          <a:solidFill>
            <a:srgbClr val="34D399"/>
          </a:solidFill>
          <a:ln/>
        </p:spPr>
      </p:sp>
      <p:sp>
        <p:nvSpPr>
          <p:cNvPr id="19" name="Text 14"/>
          <p:cNvSpPr txBox="1"/>
          <p:nvPr/>
        </p:nvSpPr>
        <p:spPr>
          <a:xfrm>
            <a:off x="3673909" y="5460182"/>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3454453" y="5752790"/>
            <a:ext cx="4936132"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district forum in the Chronopoli design; a mock USDT-201 case-study thread, fictitious people</a:t>
            </a:r>
            <a:endParaRPr lang="en-US" sz="1000" dirty="0"/>
          </a:p>
        </p:txBody>
      </p:sp>
      <p:sp>
        <p:nvSpPr>
          <p:cNvPr id="21" name="Text 16"/>
          <p:cNvSpPr txBox="1"/>
          <p:nvPr/>
        </p:nvSpPr>
        <p:spPr>
          <a:xfrm>
            <a:off x="8710625" y="2481682"/>
            <a:ext cx="3023871" cy="283616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AI tutor:</a:t>
            </a:r>
            <a:r>
              <a:rPr lang="en-US" sz="1250" dirty="0">
                <a:solidFill>
                  <a:srgbClr val="E8E8F0"/>
                </a:solidFill>
                <a:latin typeface="Arial" pitchFamily="34" charset="0"/>
                <a:ea typeface="Arial" pitchFamily="34" charset="-122"/>
                <a:cs typeface="Arial" pitchFamily="34" charset="-120"/>
              </a:rPr>
              <a:t> answers from a knowledge base built from your courses; it shows its sources and is a learning aid, not advice</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Before launch:</a:t>
            </a:r>
            <a:r>
              <a:rPr lang="en-US" sz="1250" dirty="0">
                <a:solidFill>
                  <a:srgbClr val="E8E8F0"/>
                </a:solidFill>
                <a:latin typeface="Arial" pitchFamily="34" charset="0"/>
                <a:ea typeface="Arial" pitchFamily="34" charset="-122"/>
                <a:cs typeface="Arial" pitchFamily="34" charset="-120"/>
              </a:rPr>
              <a:t> the knowledge base, its access rules and the handling of learner questions</a:t>
            </a:r>
            <a:endParaRPr lang="en-US" sz="1250" dirty="0"/>
          </a:p>
          <a:p>
            <a:pPr marL="165100" indent="-165100">
              <a:spcAft>
                <a:spcPts val="8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Community:</a:t>
            </a:r>
            <a:r>
              <a:rPr lang="en-US" sz="1250" dirty="0">
                <a:solidFill>
                  <a:srgbClr val="E8E8F0"/>
                </a:solidFill>
                <a:latin typeface="Arial" pitchFamily="34" charset="0"/>
                <a:ea typeface="Arial" pitchFamily="34" charset="-122"/>
                <a:cs typeface="Arial" pitchFamily="34" charset="-120"/>
              </a:rPr>
              <a:t> one forum category per district, the same sign-in as the courses, course-linked threads</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For partners:</a:t>
            </a:r>
            <a:r>
              <a:rPr lang="en-US" sz="1250" dirty="0">
                <a:solidFill>
                  <a:srgbClr val="E8E8F0"/>
                </a:solidFill>
                <a:latin typeface="Arial" pitchFamily="34" charset="0"/>
                <a:ea typeface="Arial" pitchFamily="34" charset="-122"/>
                <a:cs typeface="Arial" pitchFamily="34" charset="-120"/>
              </a:rPr>
              <a:t> questions and threads show what your market is struggling with</a:t>
            </a:r>
            <a:endParaRPr lang="en-US" sz="1250" dirty="0"/>
          </a:p>
        </p:txBody>
      </p:sp>
      <p:sp>
        <p:nvSpPr>
          <p:cNvPr id="22" name="Text 17"/>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0893374" y="384048"/>
            <a:ext cx="841121"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048822" y="384048"/>
            <a:ext cx="603377"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P6 · P7</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2727891"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2490147"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02 · COMPANY ACADEMIES</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Your dashboard and your 70% split</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See what your academy does every week, and keep 70% of every partner-course sale</a:t>
            </a:r>
            <a:endParaRPr lang="en-US" sz="1600" dirty="0"/>
          </a:p>
        </p:txBody>
      </p:sp>
      <p:sp>
        <p:nvSpPr>
          <p:cNvPr id="11" name="Shape 8"/>
          <p:cNvSpPr/>
          <p:nvPr/>
        </p:nvSpPr>
        <p:spPr>
          <a:xfrm>
            <a:off x="457200" y="1869643"/>
            <a:ext cx="1733474" cy="868680"/>
          </a:xfrm>
          <a:prstGeom prst="roundRect">
            <a:avLst>
              <a:gd name="adj" fmla="val 10526"/>
            </a:avLst>
          </a:prstGeom>
          <a:solidFill>
            <a:srgbClr val="171722"/>
          </a:solidFill>
          <a:ln w="9525">
            <a:solidFill>
              <a:srgbClr val="2C2C3E"/>
            </a:solidFill>
            <a:prstDash val="solid"/>
          </a:ln>
        </p:spPr>
      </p:sp>
      <p:sp>
        <p:nvSpPr>
          <p:cNvPr id="12" name="Text 9"/>
          <p:cNvSpPr txBox="1"/>
          <p:nvPr/>
        </p:nvSpPr>
        <p:spPr>
          <a:xfrm>
            <a:off x="603504"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ENROLMENTS</a:t>
            </a:r>
            <a:endParaRPr lang="en-US" sz="850" dirty="0"/>
          </a:p>
        </p:txBody>
      </p:sp>
      <p:sp>
        <p:nvSpPr>
          <p:cNvPr id="13" name="Text 10"/>
          <p:cNvSpPr txBox="1"/>
          <p:nvPr/>
        </p:nvSpPr>
        <p:spPr>
          <a:xfrm>
            <a:off x="603504"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4,812</a:t>
            </a:r>
            <a:endParaRPr lang="en-US" sz="2400" dirty="0"/>
          </a:p>
        </p:txBody>
      </p:sp>
      <p:sp>
        <p:nvSpPr>
          <p:cNvPr id="14" name="Text 11"/>
          <p:cNvSpPr txBox="1"/>
          <p:nvPr/>
        </p:nvSpPr>
        <p:spPr>
          <a:xfrm>
            <a:off x="603504" y="2491435"/>
            <a:ext cx="1459154" cy="182880"/>
          </a:xfrm>
          <a:prstGeom prst="rect">
            <a:avLst/>
          </a:prstGeom>
          <a:noFill/>
          <a:ln/>
        </p:spPr>
        <p:txBody>
          <a:bodyPr wrap="square" lIns="0" tIns="0" rIns="0" bIns="0" rtlCol="0" anchor="t"/>
          <a:lstStyle/>
          <a:p>
            <a:pPr indent="0" marL="0">
              <a:buNone/>
            </a:pPr>
            <a:r>
              <a:rPr lang="en-US" sz="1000" dirty="0">
                <a:solidFill>
                  <a:srgbClr val="34D399"/>
                </a:solidFill>
                <a:latin typeface="Arial" pitchFamily="34" charset="0"/>
                <a:ea typeface="Arial" pitchFamily="34" charset="-122"/>
                <a:cs typeface="Arial" pitchFamily="34" charset="-120"/>
              </a:rPr>
              <a:t>+18% QoQ</a:t>
            </a:r>
            <a:endParaRPr lang="en-US" sz="1000" dirty="0"/>
          </a:p>
        </p:txBody>
      </p:sp>
      <p:sp>
        <p:nvSpPr>
          <p:cNvPr id="15" name="Shape 12"/>
          <p:cNvSpPr/>
          <p:nvPr/>
        </p:nvSpPr>
        <p:spPr>
          <a:xfrm>
            <a:off x="2373554" y="1869643"/>
            <a:ext cx="1733474" cy="868680"/>
          </a:xfrm>
          <a:prstGeom prst="roundRect">
            <a:avLst>
              <a:gd name="adj" fmla="val 10526"/>
            </a:avLst>
          </a:prstGeom>
          <a:solidFill>
            <a:srgbClr val="171722"/>
          </a:solidFill>
          <a:ln w="9525">
            <a:solidFill>
              <a:srgbClr val="2C2C3E"/>
            </a:solidFill>
            <a:prstDash val="solid"/>
          </a:ln>
        </p:spPr>
      </p:sp>
      <p:sp>
        <p:nvSpPr>
          <p:cNvPr id="16" name="Text 13"/>
          <p:cNvSpPr txBox="1"/>
          <p:nvPr/>
        </p:nvSpPr>
        <p:spPr>
          <a:xfrm>
            <a:off x="2519858"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COMPLETIONS</a:t>
            </a:r>
            <a:endParaRPr lang="en-US" sz="850" dirty="0"/>
          </a:p>
        </p:txBody>
      </p:sp>
      <p:sp>
        <p:nvSpPr>
          <p:cNvPr id="17" name="Text 14"/>
          <p:cNvSpPr txBox="1"/>
          <p:nvPr/>
        </p:nvSpPr>
        <p:spPr>
          <a:xfrm>
            <a:off x="2519858"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1,937</a:t>
            </a:r>
            <a:endParaRPr lang="en-US" sz="2400" dirty="0"/>
          </a:p>
        </p:txBody>
      </p:sp>
      <p:sp>
        <p:nvSpPr>
          <p:cNvPr id="18" name="Text 15"/>
          <p:cNvSpPr txBox="1"/>
          <p:nvPr/>
        </p:nvSpPr>
        <p:spPr>
          <a:xfrm>
            <a:off x="2519858" y="2491435"/>
            <a:ext cx="1459154" cy="18288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40.3% completion rate</a:t>
            </a:r>
            <a:endParaRPr lang="en-US" sz="1000" dirty="0"/>
          </a:p>
        </p:txBody>
      </p:sp>
      <p:sp>
        <p:nvSpPr>
          <p:cNvPr id="19" name="Shape 16"/>
          <p:cNvSpPr/>
          <p:nvPr/>
        </p:nvSpPr>
        <p:spPr>
          <a:xfrm>
            <a:off x="4289908" y="1869643"/>
            <a:ext cx="1733474" cy="868680"/>
          </a:xfrm>
          <a:prstGeom prst="roundRect">
            <a:avLst>
              <a:gd name="adj" fmla="val 10526"/>
            </a:avLst>
          </a:prstGeom>
          <a:solidFill>
            <a:srgbClr val="171722"/>
          </a:solidFill>
          <a:ln w="9525">
            <a:solidFill>
              <a:srgbClr val="2C2C3E"/>
            </a:solidFill>
            <a:prstDash val="solid"/>
          </a:ln>
        </p:spPr>
      </p:sp>
      <p:sp>
        <p:nvSpPr>
          <p:cNvPr id="20" name="Text 17"/>
          <p:cNvSpPr txBox="1"/>
          <p:nvPr/>
        </p:nvSpPr>
        <p:spPr>
          <a:xfrm>
            <a:off x="4436212"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BADGES</a:t>
            </a:r>
            <a:endParaRPr lang="en-US" sz="850" dirty="0"/>
          </a:p>
        </p:txBody>
      </p:sp>
      <p:sp>
        <p:nvSpPr>
          <p:cNvPr id="21" name="Text 18"/>
          <p:cNvSpPr txBox="1"/>
          <p:nvPr/>
        </p:nvSpPr>
        <p:spPr>
          <a:xfrm>
            <a:off x="4436212"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1,244</a:t>
            </a:r>
            <a:endParaRPr lang="en-US" sz="2400" dirty="0"/>
          </a:p>
        </p:txBody>
      </p:sp>
      <p:sp>
        <p:nvSpPr>
          <p:cNvPr id="22" name="Shape 19"/>
          <p:cNvSpPr/>
          <p:nvPr/>
        </p:nvSpPr>
        <p:spPr>
          <a:xfrm>
            <a:off x="6206261" y="1869643"/>
            <a:ext cx="1733474" cy="868680"/>
          </a:xfrm>
          <a:prstGeom prst="roundRect">
            <a:avLst>
              <a:gd name="adj" fmla="val 10526"/>
            </a:avLst>
          </a:prstGeom>
          <a:solidFill>
            <a:srgbClr val="171722"/>
          </a:solidFill>
          <a:ln w="9525">
            <a:solidFill>
              <a:srgbClr val="2C2C3E"/>
            </a:solidFill>
            <a:prstDash val="solid"/>
          </a:ln>
        </p:spPr>
      </p:sp>
      <p:sp>
        <p:nvSpPr>
          <p:cNvPr id="23" name="Text 20"/>
          <p:cNvSpPr txBox="1"/>
          <p:nvPr/>
        </p:nvSpPr>
        <p:spPr>
          <a:xfrm>
            <a:off x="6352565" y="1961083"/>
            <a:ext cx="145915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JOB APPLICATIONS</a:t>
            </a:r>
            <a:endParaRPr lang="en-US" sz="850" dirty="0"/>
          </a:p>
        </p:txBody>
      </p:sp>
      <p:sp>
        <p:nvSpPr>
          <p:cNvPr id="24" name="Text 21"/>
          <p:cNvSpPr txBox="1"/>
          <p:nvPr/>
        </p:nvSpPr>
        <p:spPr>
          <a:xfrm>
            <a:off x="6352565" y="2125675"/>
            <a:ext cx="1459154" cy="384048"/>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37</a:t>
            </a:r>
            <a:endParaRPr lang="en-US" sz="2400" dirty="0"/>
          </a:p>
        </p:txBody>
      </p:sp>
      <p:sp>
        <p:nvSpPr>
          <p:cNvPr id="25" name="Text 22"/>
          <p:cNvSpPr txBox="1"/>
          <p:nvPr/>
        </p:nvSpPr>
        <p:spPr>
          <a:xfrm>
            <a:off x="8305495" y="1924507"/>
            <a:ext cx="3429000" cy="182880"/>
          </a:xfrm>
          <a:prstGeom prst="rect">
            <a:avLst/>
          </a:prstGeom>
          <a:noFill/>
          <a:ln/>
        </p:spPr>
        <p:txBody>
          <a:bodyPr wrap="square" lIns="0" tIns="0" rIns="0" bIns="0" rtlCol="0" anchor="t"/>
          <a:lstStyle/>
          <a:p>
            <a:pPr indent="0" marL="0">
              <a:buNone/>
            </a:pPr>
            <a:r>
              <a:rPr lang="en-US" sz="900" b="1" spc="100" kern="0" dirty="0">
                <a:solidFill>
                  <a:srgbClr val="F0C96B"/>
                </a:solidFill>
                <a:latin typeface="Arial" pitchFamily="34" charset="0"/>
                <a:ea typeface="Arial" pitchFamily="34" charset="-122"/>
                <a:cs typeface="Arial" pitchFamily="34" charset="-120"/>
              </a:rPr>
              <a:t>OPERATING VIEW · ILLUSTRATIVE QUARTER</a:t>
            </a:r>
            <a:endParaRPr lang="en-US" sz="900" dirty="0"/>
          </a:p>
        </p:txBody>
      </p:sp>
      <p:sp>
        <p:nvSpPr>
          <p:cNvPr id="26" name="Text 23"/>
          <p:cNvSpPr txBox="1"/>
          <p:nvPr/>
        </p:nvSpPr>
        <p:spPr>
          <a:xfrm>
            <a:off x="8305495" y="2143963"/>
            <a:ext cx="3429000" cy="502920"/>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Tether (illustrative) demo data, Q3 2026, not real traction; the quarter's dollar figures are explained once, on slide 23</a:t>
            </a:r>
            <a:endParaRPr lang="en-US" sz="1000" dirty="0"/>
          </a:p>
        </p:txBody>
      </p:sp>
      <p:pic>
        <p:nvPicPr>
          <p:cNvPr id="27" name="Image 0" descr="/tmp/claude-0/-home-user-Chronopoli/d7458f57-86b2-5920-914e-8615357fee63/scratchpad/sales-master/framed_v5/payouts_split.png">    </p:cNvPr>
          <p:cNvPicPr>
            <a:picLocks noChangeAspect="1"/>
          </p:cNvPicPr>
          <p:nvPr/>
        </p:nvPicPr>
        <p:blipFill>
          <a:blip r:embed="rId2"/>
          <a:stretch>
            <a:fillRect/>
          </a:stretch>
        </p:blipFill>
        <p:spPr>
          <a:xfrm>
            <a:off x="457200" y="2797542"/>
            <a:ext cx="7482535" cy="3003219"/>
          </a:xfrm>
          <a:prstGeom prst="rect">
            <a:avLst/>
          </a:prstGeom>
        </p:spPr>
      </p:pic>
      <p:sp>
        <p:nvSpPr>
          <p:cNvPr id="28" name="Shape 24"/>
          <p:cNvSpPr/>
          <p:nvPr/>
        </p:nvSpPr>
        <p:spPr>
          <a:xfrm>
            <a:off x="654013" y="5741109"/>
            <a:ext cx="2719349" cy="237744"/>
          </a:xfrm>
          <a:prstGeom prst="roundRect">
            <a:avLst>
              <a:gd name="adj" fmla="val 50000"/>
            </a:avLst>
          </a:prstGeom>
          <a:solidFill>
            <a:srgbClr val="1B1B27"/>
          </a:solidFill>
          <a:ln w="9525">
            <a:solidFill>
              <a:srgbClr val="3A3A50"/>
            </a:solidFill>
            <a:prstDash val="solid"/>
          </a:ln>
        </p:spPr>
      </p:sp>
      <p:sp>
        <p:nvSpPr>
          <p:cNvPr id="29" name="Shape 25"/>
          <p:cNvSpPr/>
          <p:nvPr/>
        </p:nvSpPr>
        <p:spPr>
          <a:xfrm>
            <a:off x="745453" y="5823405"/>
            <a:ext cx="73152" cy="73152"/>
          </a:xfrm>
          <a:prstGeom prst="ellipse">
            <a:avLst/>
          </a:prstGeom>
          <a:solidFill>
            <a:srgbClr val="A9A9C6"/>
          </a:solidFill>
          <a:ln/>
        </p:spPr>
      </p:sp>
      <p:sp>
        <p:nvSpPr>
          <p:cNvPr id="30" name="Text 26"/>
          <p:cNvSpPr txBox="1"/>
          <p:nvPr/>
        </p:nvSpPr>
        <p:spPr>
          <a:xfrm>
            <a:off x="873469" y="5741109"/>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31" name="Text 27"/>
          <p:cNvSpPr txBox="1"/>
          <p:nvPr/>
        </p:nvSpPr>
        <p:spPr>
          <a:xfrm>
            <a:off x="3483090" y="5773113"/>
            <a:ext cx="4259832"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Partner dashboard, Payouts tab: the 70/30 split of the illustrative quarter · analytics, weekly e-mail and the 70/30 split are built; this page is not</a:t>
            </a:r>
            <a:endParaRPr lang="en-US" sz="1000" dirty="0"/>
          </a:p>
        </p:txBody>
      </p:sp>
      <p:sp>
        <p:nvSpPr>
          <p:cNvPr id="32" name="Text 28"/>
          <p:cNvSpPr txBox="1"/>
          <p:nvPr/>
        </p:nvSpPr>
        <p:spPr>
          <a:xfrm>
            <a:off x="8305495" y="2994355"/>
            <a:ext cx="3429000" cy="283362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Weekly e-mail report:</a:t>
            </a:r>
            <a:r>
              <a:rPr lang="en-US" sz="1300" dirty="0">
                <a:solidFill>
                  <a:srgbClr val="E8E8F0"/>
                </a:solidFill>
                <a:latin typeface="Arial" pitchFamily="34" charset="0"/>
                <a:ea typeface="Arial" pitchFamily="34" charset="-122"/>
                <a:cs typeface="Arial" pitchFamily="34" charset="-120"/>
              </a:rPr>
              <a:t> new enrolments, completions, badges, job applications and revenue. Analytics and the weekly report are built; the dashboard page comes before launch</a:t>
            </a:r>
            <a:endParaRPr lang="en-US" sz="1300" dirty="0"/>
          </a:p>
          <a:p>
            <a:pPr marL="165100" indent="-165100">
              <a:spcAft>
                <a:spcPts val="8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70/30 split at checkout:</a:t>
            </a:r>
            <a:r>
              <a:rPr lang="en-US" sz="1300" dirty="0">
                <a:solidFill>
                  <a:srgbClr val="E8E8F0"/>
                </a:solidFill>
                <a:latin typeface="Arial" pitchFamily="34" charset="0"/>
                <a:ea typeface="Arial" pitchFamily="34" charset="-122"/>
                <a:cs typeface="Arial" pitchFamily="34" charset="-120"/>
              </a:rPr>
              <a:t> the split is built. Payout-account set-up, the payouts page, refunds and payout status come before launch. Tax treatment: set in the partner agreement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Same dashboard for an institutional academy; KPIs shown are an illustrative stablecoin scenario</a:t>
            </a:r>
            <a:endParaRPr lang="en-US" sz="1300" dirty="0"/>
          </a:p>
        </p:txBody>
      </p:sp>
      <p:sp>
        <p:nvSpPr>
          <p:cNvPr id="33" name="Text 2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4" name="Text 3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F0C96B"/>
                </a:solidFill>
                <a:latin typeface="Arial" pitchFamily="34" charset="0"/>
                <a:ea typeface="Arial" pitchFamily="34" charset="-122"/>
                <a:cs typeface="Arial" pitchFamily="34" charset="-120"/>
              </a:rPr>
              <a:t>P8</a:t>
            </a:r>
            <a:endParaRPr lang="en-US" sz="1000" dirty="0"/>
          </a:p>
        </p:txBody>
      </p:sp>
      <p:sp>
        <p:nvSpPr>
          <p:cNvPr id="5" name="Shape 2"/>
          <p:cNvSpPr/>
          <p:nvPr/>
        </p:nvSpPr>
        <p:spPr>
          <a:xfrm>
            <a:off x="457200" y="384048"/>
            <a:ext cx="2965171" cy="256032"/>
          </a:xfrm>
          <a:prstGeom prst="roundRect">
            <a:avLst>
              <a:gd name="adj" fmla="val 50000"/>
            </a:avLst>
          </a:prstGeom>
          <a:solidFill>
            <a:srgbClr val="1E1A10"/>
          </a:solidFill>
          <a:ln w="9525">
            <a:solidFill>
              <a:srgbClr val="5A4A22"/>
            </a:solidFill>
            <a:prstDash val="solid"/>
          </a:ln>
        </p:spPr>
      </p:sp>
      <p:sp>
        <p:nvSpPr>
          <p:cNvPr id="6" name="Text 3"/>
          <p:cNvSpPr txBox="1"/>
          <p:nvPr/>
        </p:nvSpPr>
        <p:spPr>
          <a:xfrm>
            <a:off x="612648" y="384048"/>
            <a:ext cx="2727427"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 · PROOF</a:t>
            </a:r>
            <a:endParaRPr lang="en-US" sz="900" dirty="0"/>
          </a:p>
        </p:txBody>
      </p:sp>
      <p:sp>
        <p:nvSpPr>
          <p:cNvPr id="7" name="Shape 4"/>
          <p:cNvSpPr/>
          <p:nvPr/>
        </p:nvSpPr>
        <p:spPr>
          <a:xfrm>
            <a:off x="3586963" y="384048"/>
            <a:ext cx="1892244"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742411" y="384048"/>
            <a:ext cx="1654500"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01 · SYMPOSIA</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Five outputs in 3 hours, one human approves</a:t>
            </a:r>
            <a:endParaRPr lang="en-US" sz="3600" dirty="0"/>
          </a:p>
        </p:txBody>
      </p:sp>
      <p:sp>
        <p:nvSpPr>
          <p:cNvPr id="10" name="Text 7"/>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Sponsor or co-convene a closed-door round table: opinion paper, LinkedIn posts, Instagram carousel, Partner Intelligence Report and an AI-tutor update</a:t>
            </a:r>
            <a:endParaRPr lang="en-US" sz="1600" dirty="0"/>
          </a:p>
        </p:txBody>
      </p:sp>
      <p:sp>
        <p:nvSpPr>
          <p:cNvPr id="11" name="Shape 8"/>
          <p:cNvSpPr/>
          <p:nvPr/>
        </p:nvSpPr>
        <p:spPr>
          <a:xfrm>
            <a:off x="457200" y="2150059"/>
            <a:ext cx="1781659" cy="310896"/>
          </a:xfrm>
          <a:prstGeom prst="roundRect">
            <a:avLst>
              <a:gd name="adj" fmla="val 50000"/>
            </a:avLst>
          </a:prstGeom>
          <a:solidFill>
            <a:srgbClr val="1B1B27"/>
          </a:solidFill>
          <a:ln w="9525">
            <a:solidFill>
              <a:srgbClr val="6A6A80"/>
            </a:solidFill>
            <a:prstDash val="solid"/>
          </a:ln>
        </p:spPr>
      </p:sp>
      <p:sp>
        <p:nvSpPr>
          <p:cNvPr id="12" name="Text 9"/>
          <p:cNvSpPr txBox="1"/>
          <p:nvPr/>
        </p:nvSpPr>
        <p:spPr>
          <a:xfrm>
            <a:off x="457200" y="2150059"/>
            <a:ext cx="1781659"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Live stream (designed)</a:t>
            </a:r>
            <a:endParaRPr lang="en-US" sz="1050" dirty="0"/>
          </a:p>
        </p:txBody>
      </p:sp>
      <p:sp>
        <p:nvSpPr>
          <p:cNvPr id="13" name="Shape 10"/>
          <p:cNvSpPr/>
          <p:nvPr/>
        </p:nvSpPr>
        <p:spPr>
          <a:xfrm>
            <a:off x="2422857" y="2305507"/>
            <a:ext cx="245331" cy="0"/>
          </a:xfrm>
          <a:prstGeom prst="line">
            <a:avLst/>
          </a:prstGeom>
          <a:noFill/>
          <a:ln w="15875">
            <a:solidFill>
              <a:srgbClr val="C9A84C"/>
            </a:solidFill>
            <a:prstDash val="solid"/>
            <a:tailEnd type="triangle"/>
          </a:ln>
        </p:spPr>
      </p:sp>
      <p:sp>
        <p:nvSpPr>
          <p:cNvPr id="14" name="Shape 11"/>
          <p:cNvSpPr/>
          <p:nvPr/>
        </p:nvSpPr>
        <p:spPr>
          <a:xfrm>
            <a:off x="2852187" y="2150059"/>
            <a:ext cx="981292" cy="310896"/>
          </a:xfrm>
          <a:prstGeom prst="roundRect">
            <a:avLst>
              <a:gd name="adj" fmla="val 50000"/>
            </a:avLst>
          </a:prstGeom>
          <a:solidFill>
            <a:srgbClr val="1B1B27"/>
          </a:solidFill>
          <a:ln w="9525">
            <a:solidFill>
              <a:srgbClr val="3A3A50"/>
            </a:solidFill>
            <a:prstDash val="solid"/>
          </a:ln>
        </p:spPr>
      </p:sp>
      <p:sp>
        <p:nvSpPr>
          <p:cNvPr id="15" name="Text 12"/>
          <p:cNvSpPr txBox="1"/>
          <p:nvPr/>
        </p:nvSpPr>
        <p:spPr>
          <a:xfrm>
            <a:off x="2852187" y="2150059"/>
            <a:ext cx="981292"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Transcript</a:t>
            </a:r>
            <a:endParaRPr lang="en-US" sz="1050" dirty="0"/>
          </a:p>
        </p:txBody>
      </p:sp>
      <p:sp>
        <p:nvSpPr>
          <p:cNvPr id="16" name="Shape 13"/>
          <p:cNvSpPr/>
          <p:nvPr/>
        </p:nvSpPr>
        <p:spPr>
          <a:xfrm>
            <a:off x="4017477" y="2305507"/>
            <a:ext cx="245331" cy="0"/>
          </a:xfrm>
          <a:prstGeom prst="line">
            <a:avLst/>
          </a:prstGeom>
          <a:noFill/>
          <a:ln w="15875">
            <a:solidFill>
              <a:srgbClr val="C9A84C"/>
            </a:solidFill>
            <a:prstDash val="solid"/>
            <a:tailEnd type="triangle"/>
          </a:ln>
        </p:spPr>
      </p:sp>
      <p:sp>
        <p:nvSpPr>
          <p:cNvPr id="17" name="Shape 14"/>
          <p:cNvSpPr/>
          <p:nvPr/>
        </p:nvSpPr>
        <p:spPr>
          <a:xfrm>
            <a:off x="4446806" y="2150059"/>
            <a:ext cx="1025964" cy="310896"/>
          </a:xfrm>
          <a:prstGeom prst="roundRect">
            <a:avLst>
              <a:gd name="adj" fmla="val 50000"/>
            </a:avLst>
          </a:prstGeom>
          <a:solidFill>
            <a:srgbClr val="1B1B27"/>
          </a:solidFill>
          <a:ln w="9525">
            <a:solidFill>
              <a:srgbClr val="3A3A50"/>
            </a:solidFill>
            <a:prstDash val="solid"/>
          </a:ln>
        </p:spPr>
      </p:sp>
      <p:sp>
        <p:nvSpPr>
          <p:cNvPr id="18" name="Text 15"/>
          <p:cNvSpPr txBox="1"/>
          <p:nvPr/>
        </p:nvSpPr>
        <p:spPr>
          <a:xfrm>
            <a:off x="4446806" y="2150059"/>
            <a:ext cx="1025964"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AI analysis</a:t>
            </a:r>
            <a:endParaRPr lang="en-US" sz="1050" dirty="0"/>
          </a:p>
        </p:txBody>
      </p:sp>
      <p:sp>
        <p:nvSpPr>
          <p:cNvPr id="19" name="Shape 16"/>
          <p:cNvSpPr/>
          <p:nvPr/>
        </p:nvSpPr>
        <p:spPr>
          <a:xfrm>
            <a:off x="5656769" y="2305507"/>
            <a:ext cx="245331" cy="0"/>
          </a:xfrm>
          <a:prstGeom prst="line">
            <a:avLst/>
          </a:prstGeom>
          <a:noFill/>
          <a:ln w="15875">
            <a:solidFill>
              <a:srgbClr val="C9A84C"/>
            </a:solidFill>
            <a:prstDash val="solid"/>
            <a:tailEnd type="triangle"/>
          </a:ln>
        </p:spPr>
      </p:sp>
      <p:sp>
        <p:nvSpPr>
          <p:cNvPr id="20" name="Shape 17"/>
          <p:cNvSpPr/>
          <p:nvPr/>
        </p:nvSpPr>
        <p:spPr>
          <a:xfrm>
            <a:off x="6086099" y="2150059"/>
            <a:ext cx="810898" cy="310896"/>
          </a:xfrm>
          <a:prstGeom prst="roundRect">
            <a:avLst>
              <a:gd name="adj" fmla="val 50000"/>
            </a:avLst>
          </a:prstGeom>
          <a:solidFill>
            <a:srgbClr val="1B1B27"/>
          </a:solidFill>
          <a:ln w="9525">
            <a:solidFill>
              <a:srgbClr val="3A3A50"/>
            </a:solidFill>
            <a:prstDash val="solid"/>
          </a:ln>
        </p:spPr>
      </p:sp>
      <p:sp>
        <p:nvSpPr>
          <p:cNvPr id="21" name="Text 18"/>
          <p:cNvSpPr txBox="1"/>
          <p:nvPr/>
        </p:nvSpPr>
        <p:spPr>
          <a:xfrm>
            <a:off x="6086099" y="2150059"/>
            <a:ext cx="810898" cy="310896"/>
          </a:xfrm>
          <a:prstGeom prst="rect">
            <a:avLst/>
          </a:prstGeom>
          <a:noFill/>
          <a:ln/>
        </p:spPr>
        <p:txBody>
          <a:bodyPr wrap="square" lIns="0" tIns="0" rIns="0" bIns="0" rtlCol="0" anchor="ctr"/>
          <a:lstStyle/>
          <a:p>
            <a:pPr algn="ctr" indent="0" marL="0">
              <a:buNone/>
            </a:pPr>
            <a:r>
              <a:rPr lang="en-US" sz="1050" b="1" dirty="0">
                <a:solidFill>
                  <a:srgbClr val="E8E8F0"/>
                </a:solidFill>
                <a:latin typeface="Arial" pitchFamily="34" charset="0"/>
                <a:ea typeface="Arial" pitchFamily="34" charset="-122"/>
                <a:cs typeface="Arial" pitchFamily="34" charset="-120"/>
              </a:rPr>
              <a:t>4 drafts</a:t>
            </a:r>
            <a:endParaRPr lang="en-US" sz="1050" dirty="0"/>
          </a:p>
        </p:txBody>
      </p:sp>
      <p:sp>
        <p:nvSpPr>
          <p:cNvPr id="22" name="Shape 19"/>
          <p:cNvSpPr/>
          <p:nvPr/>
        </p:nvSpPr>
        <p:spPr>
          <a:xfrm>
            <a:off x="7080994" y="2305507"/>
            <a:ext cx="245331" cy="0"/>
          </a:xfrm>
          <a:prstGeom prst="line">
            <a:avLst/>
          </a:prstGeom>
          <a:noFill/>
          <a:ln w="15875">
            <a:solidFill>
              <a:srgbClr val="C9A84C"/>
            </a:solidFill>
            <a:prstDash val="solid"/>
            <a:tailEnd type="triangle"/>
          </a:ln>
        </p:spPr>
      </p:sp>
      <p:sp>
        <p:nvSpPr>
          <p:cNvPr id="23" name="Shape 20"/>
          <p:cNvSpPr/>
          <p:nvPr/>
        </p:nvSpPr>
        <p:spPr>
          <a:xfrm>
            <a:off x="7510324" y="2150059"/>
            <a:ext cx="1692634" cy="310896"/>
          </a:xfrm>
          <a:prstGeom prst="roundRect">
            <a:avLst>
              <a:gd name="adj" fmla="val 50000"/>
            </a:avLst>
          </a:prstGeom>
          <a:solidFill>
            <a:srgbClr val="231A0B"/>
          </a:solidFill>
          <a:ln w="9525">
            <a:solidFill>
              <a:srgbClr val="8A5A12"/>
            </a:solidFill>
            <a:prstDash val="solid"/>
          </a:ln>
        </p:spPr>
      </p:sp>
      <p:sp>
        <p:nvSpPr>
          <p:cNvPr id="24" name="Text 21"/>
          <p:cNvSpPr txBox="1"/>
          <p:nvPr/>
        </p:nvSpPr>
        <p:spPr>
          <a:xfrm>
            <a:off x="7510324" y="2150059"/>
            <a:ext cx="1692634" cy="310896"/>
          </a:xfrm>
          <a:prstGeom prst="rect">
            <a:avLst/>
          </a:prstGeom>
          <a:noFill/>
          <a:ln/>
        </p:spPr>
        <p:txBody>
          <a:bodyPr wrap="square" lIns="0" tIns="0" rIns="0" bIns="0" rtlCol="0" anchor="ctr"/>
          <a:lstStyle/>
          <a:p>
            <a:pPr algn="ctr" indent="0" marL="0">
              <a:buNone/>
            </a:pPr>
            <a:r>
              <a:rPr lang="en-US" sz="1050" b="1" dirty="0">
                <a:solidFill>
                  <a:srgbClr val="F59E0B"/>
                </a:solidFill>
                <a:latin typeface="Arial" pitchFamily="34" charset="0"/>
                <a:ea typeface="Arial" pitchFamily="34" charset="-122"/>
                <a:cs typeface="Arial" pitchFamily="34" charset="-120"/>
              </a:rPr>
              <a:t>One human approves</a:t>
            </a:r>
            <a:endParaRPr lang="en-US" sz="1050" dirty="0"/>
          </a:p>
        </p:txBody>
      </p:sp>
      <p:sp>
        <p:nvSpPr>
          <p:cNvPr id="25" name="Shape 22"/>
          <p:cNvSpPr/>
          <p:nvPr/>
        </p:nvSpPr>
        <p:spPr>
          <a:xfrm>
            <a:off x="9386957" y="2305507"/>
            <a:ext cx="245331" cy="0"/>
          </a:xfrm>
          <a:prstGeom prst="line">
            <a:avLst/>
          </a:prstGeom>
          <a:noFill/>
          <a:ln w="15875">
            <a:solidFill>
              <a:srgbClr val="C9A84C"/>
            </a:solidFill>
            <a:prstDash val="solid"/>
            <a:tailEnd type="triangle"/>
          </a:ln>
        </p:spPr>
      </p:sp>
      <p:sp>
        <p:nvSpPr>
          <p:cNvPr id="26" name="Shape 23"/>
          <p:cNvSpPr/>
          <p:nvPr/>
        </p:nvSpPr>
        <p:spPr>
          <a:xfrm>
            <a:off x="9816286" y="2150059"/>
            <a:ext cx="1918209" cy="310896"/>
          </a:xfrm>
          <a:prstGeom prst="roundRect">
            <a:avLst>
              <a:gd name="adj" fmla="val 50000"/>
            </a:avLst>
          </a:prstGeom>
          <a:solidFill>
            <a:srgbClr val="231E12"/>
          </a:solidFill>
          <a:ln w="9525">
            <a:solidFill>
              <a:srgbClr val="C9A84C"/>
            </a:solidFill>
            <a:prstDash val="solid"/>
          </a:ln>
        </p:spPr>
      </p:sp>
      <p:sp>
        <p:nvSpPr>
          <p:cNvPr id="27" name="Text 24"/>
          <p:cNvSpPr txBox="1"/>
          <p:nvPr/>
        </p:nvSpPr>
        <p:spPr>
          <a:xfrm>
            <a:off x="9816286" y="2150059"/>
            <a:ext cx="1918209" cy="310896"/>
          </a:xfrm>
          <a:prstGeom prst="rect">
            <a:avLst/>
          </a:prstGeom>
          <a:noFill/>
          <a:ln/>
        </p:spPr>
        <p:txBody>
          <a:bodyPr wrap="square" lIns="0" tIns="0" rIns="0" bIns="0" rtlCol="0" anchor="ctr"/>
          <a:lstStyle/>
          <a:p>
            <a:pPr algn="ctr" indent="0" marL="0">
              <a:buNone/>
            </a:pPr>
            <a:r>
              <a:rPr lang="en-US" sz="1050" b="1" dirty="0">
                <a:solidFill>
                  <a:srgbClr val="F0C96B"/>
                </a:solidFill>
                <a:latin typeface="Arial" pitchFamily="34" charset="0"/>
                <a:ea typeface="Arial" pitchFamily="34" charset="-122"/>
                <a:cs typeface="Arial" pitchFamily="34" charset="-120"/>
              </a:rPr>
              <a:t>Publish + AI-tutor update</a:t>
            </a:r>
            <a:endParaRPr lang="en-US" sz="1050" dirty="0"/>
          </a:p>
        </p:txBody>
      </p:sp>
      <p:pic>
        <p:nvPicPr>
          <p:cNvPr id="28" name="Image 0" descr="/tmp/claude-0/-home-user-Chronopoli/d7458f57-86b2-5920-914e-8615357fee63/scratchpad/sales-master/framed/approval_card.png">    </p:cNvPr>
          <p:cNvPicPr>
            <a:picLocks noChangeAspect="1"/>
          </p:cNvPicPr>
          <p:nvPr/>
        </p:nvPicPr>
        <p:blipFill>
          <a:blip r:embed="rId2"/>
          <a:stretch>
            <a:fillRect/>
          </a:stretch>
        </p:blipFill>
        <p:spPr>
          <a:xfrm>
            <a:off x="6469896" y="2539852"/>
            <a:ext cx="5264599" cy="2312846"/>
          </a:xfrm>
          <a:prstGeom prst="rect">
            <a:avLst/>
          </a:prstGeom>
        </p:spPr>
      </p:pic>
      <p:sp>
        <p:nvSpPr>
          <p:cNvPr id="29" name="Shape 25"/>
          <p:cNvSpPr/>
          <p:nvPr/>
        </p:nvSpPr>
        <p:spPr>
          <a:xfrm>
            <a:off x="6610456" y="4849298"/>
            <a:ext cx="1967484" cy="237744"/>
          </a:xfrm>
          <a:prstGeom prst="roundRect">
            <a:avLst>
              <a:gd name="adj" fmla="val 50000"/>
            </a:avLst>
          </a:prstGeom>
          <a:solidFill>
            <a:srgbClr val="1B1B27"/>
          </a:solidFill>
          <a:ln w="9525">
            <a:solidFill>
              <a:srgbClr val="3A3A50"/>
            </a:solidFill>
            <a:prstDash val="solid"/>
          </a:ln>
        </p:spPr>
      </p:sp>
      <p:sp>
        <p:nvSpPr>
          <p:cNvPr id="30" name="Shape 26"/>
          <p:cNvSpPr/>
          <p:nvPr/>
        </p:nvSpPr>
        <p:spPr>
          <a:xfrm>
            <a:off x="6701896" y="4931594"/>
            <a:ext cx="73152" cy="73152"/>
          </a:xfrm>
          <a:prstGeom prst="ellipse">
            <a:avLst/>
          </a:prstGeom>
          <a:solidFill>
            <a:srgbClr val="34D399"/>
          </a:solidFill>
          <a:ln/>
        </p:spPr>
      </p:sp>
      <p:sp>
        <p:nvSpPr>
          <p:cNvPr id="31" name="Text 27"/>
          <p:cNvSpPr txBox="1"/>
          <p:nvPr/>
        </p:nvSpPr>
        <p:spPr>
          <a:xfrm>
            <a:off x="6829912" y="4849298"/>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32" name="Text 28"/>
          <p:cNvSpPr txBox="1"/>
          <p:nvPr/>
        </p:nvSpPr>
        <p:spPr>
          <a:xfrm>
            <a:off x="8687668" y="4881302"/>
            <a:ext cx="290626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approval queue, one card · session, people and sponsor illustrative</a:t>
            </a:r>
            <a:endParaRPr lang="en-US" sz="1000" dirty="0"/>
          </a:p>
        </p:txBody>
      </p:sp>
      <p:sp>
        <p:nvSpPr>
          <p:cNvPr id="33" name="Shape 29"/>
          <p:cNvSpPr/>
          <p:nvPr/>
        </p:nvSpPr>
        <p:spPr>
          <a:xfrm>
            <a:off x="6610456" y="5346122"/>
            <a:ext cx="4983480" cy="795528"/>
          </a:xfrm>
          <a:prstGeom prst="roundRect">
            <a:avLst>
              <a:gd name="adj" fmla="val 9195"/>
            </a:avLst>
          </a:prstGeom>
          <a:solidFill>
            <a:srgbClr val="231A0B"/>
          </a:solidFill>
          <a:ln w="12700">
            <a:solidFill>
              <a:srgbClr val="8A5A12"/>
            </a:solidFill>
            <a:prstDash val="solid"/>
          </a:ln>
        </p:spPr>
      </p:sp>
      <p:pic>
        <p:nvPicPr>
          <p:cNvPr id="34" name="Image 1" descr="preencoded.png">    </p:cNvPr>
          <p:cNvPicPr>
            <a:picLocks noChangeAspect="1"/>
          </p:cNvPicPr>
          <p:nvPr/>
        </p:nvPicPr>
        <p:blipFill>
          <a:blip r:embed="rId3"/>
          <a:stretch>
            <a:fillRect/>
          </a:stretch>
        </p:blipFill>
        <p:spPr>
          <a:xfrm>
            <a:off x="6756760" y="5492426"/>
            <a:ext cx="237744" cy="237744"/>
          </a:xfrm>
          <a:prstGeom prst="rect">
            <a:avLst/>
          </a:prstGeom>
        </p:spPr>
      </p:pic>
      <p:sp>
        <p:nvSpPr>
          <p:cNvPr id="35" name="Text 30"/>
          <p:cNvSpPr txBox="1"/>
          <p:nvPr/>
        </p:nvSpPr>
        <p:spPr>
          <a:xfrm>
            <a:off x="7122520" y="5483282"/>
            <a:ext cx="4325112" cy="539496"/>
          </a:xfrm>
          <a:prstGeom prst="rect">
            <a:avLst/>
          </a:prstGeom>
          <a:noFill/>
          <a:ln/>
        </p:spPr>
        <p:txBody>
          <a:bodyPr wrap="square" lIns="0" tIns="0" rIns="0" bIns="0" rtlCol="0" anchor="t"/>
          <a:lstStyle/>
          <a:p>
            <a:pPr indent="0" marL="0">
              <a:buNone/>
            </a:pPr>
            <a:r>
              <a:rPr lang="en-US" sz="1100" b="1" dirty="0">
                <a:solidFill>
                  <a:srgbClr val="F59E0B"/>
                </a:solidFill>
                <a:latin typeface="Arial" pitchFamily="34" charset="0"/>
                <a:ea typeface="Arial" pitchFamily="34" charset="-122"/>
                <a:cs typeface="Arial" pitchFamily="34" charset="-120"/>
              </a:rPr>
              <a:t>Attribution: </a:t>
            </a:r>
            <a:r>
              <a:rPr lang="en-US" sz="1100" dirty="0">
                <a:solidFill>
                  <a:srgbClr val="E8E8F0"/>
                </a:solidFill>
                <a:latin typeface="Arial" pitchFamily="34" charset="0"/>
                <a:ea typeface="Arial" pitchFamily="34" charset="-122"/>
                <a:cs typeface="Arial" pitchFamily="34" charset="-120"/>
              </a:rPr>
              <a:t>named quotes can print today; removal is fixed before launch, and until then one human (Chronopoli staff) approves every output</a:t>
            </a:r>
            <a:endParaRPr lang="en-US" sz="1100" dirty="0"/>
          </a:p>
        </p:txBody>
      </p:sp>
      <p:pic>
        <p:nvPicPr>
          <p:cNvPr id="36" name="Image 2" descr="/tmp/claude-0/-home-user-Chronopoli/d7458f57-86b2-5920-914e-8615357fee63/scratchpad/sales-master/framed/symp4.png">    </p:cNvPr>
          <p:cNvPicPr>
            <a:picLocks noChangeAspect="1"/>
          </p:cNvPicPr>
          <p:nvPr/>
        </p:nvPicPr>
        <p:blipFill>
          <a:blip r:embed="rId4"/>
          <a:stretch>
            <a:fillRect/>
          </a:stretch>
        </p:blipFill>
        <p:spPr>
          <a:xfrm>
            <a:off x="457200" y="2521216"/>
            <a:ext cx="5965327" cy="2072546"/>
          </a:xfrm>
          <a:prstGeom prst="rect">
            <a:avLst/>
          </a:prstGeom>
        </p:spPr>
      </p:pic>
      <p:sp>
        <p:nvSpPr>
          <p:cNvPr id="37" name="Shape 31"/>
          <p:cNvSpPr/>
          <p:nvPr/>
        </p:nvSpPr>
        <p:spPr>
          <a:xfrm>
            <a:off x="616396" y="4571726"/>
            <a:ext cx="1967484" cy="237744"/>
          </a:xfrm>
          <a:prstGeom prst="roundRect">
            <a:avLst>
              <a:gd name="adj" fmla="val 50000"/>
            </a:avLst>
          </a:prstGeom>
          <a:solidFill>
            <a:srgbClr val="1B1B27"/>
          </a:solidFill>
          <a:ln w="9525">
            <a:solidFill>
              <a:srgbClr val="3A3A50"/>
            </a:solidFill>
            <a:prstDash val="solid"/>
          </a:ln>
        </p:spPr>
      </p:sp>
      <p:sp>
        <p:nvSpPr>
          <p:cNvPr id="38" name="Shape 32"/>
          <p:cNvSpPr/>
          <p:nvPr/>
        </p:nvSpPr>
        <p:spPr>
          <a:xfrm>
            <a:off x="707836" y="4654022"/>
            <a:ext cx="73152" cy="73152"/>
          </a:xfrm>
          <a:prstGeom prst="ellipse">
            <a:avLst/>
          </a:prstGeom>
          <a:solidFill>
            <a:srgbClr val="34D399"/>
          </a:solidFill>
          <a:ln/>
        </p:spPr>
      </p:sp>
      <p:sp>
        <p:nvSpPr>
          <p:cNvPr id="39" name="Text 33"/>
          <p:cNvSpPr txBox="1"/>
          <p:nvPr/>
        </p:nvSpPr>
        <p:spPr>
          <a:xfrm>
            <a:off x="835852" y="4571726"/>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40" name="Text 34"/>
          <p:cNvSpPr txBox="1"/>
          <p:nvPr/>
        </p:nvSpPr>
        <p:spPr>
          <a:xfrm>
            <a:off x="2693608" y="4603730"/>
            <a:ext cx="3569724"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2 of 6 generated items, mock output texts · live streaming designed, not yet run</a:t>
            </a:r>
            <a:endParaRPr lang="en-US" sz="1000" dirty="0"/>
          </a:p>
        </p:txBody>
      </p:sp>
      <p:sp>
        <p:nvSpPr>
          <p:cNvPr id="41" name="Text 35"/>
          <p:cNvSpPr txBox="1"/>
          <p:nvPr/>
        </p:nvSpPr>
        <p:spPr>
          <a:xfrm>
            <a:off x="616396" y="5123414"/>
            <a:ext cx="5487740" cy="10327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Sponsor sign-off on sponsor-branded outputs, and for institutions the rights to transcripts, faculty publication and ethics review: set in the partner agreement</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sponsoring partner receives the Partner Intelligence Report: themes relevant to you and suggested follow-ups for your tracks</a:t>
            </a:r>
            <a:endParaRPr lang="en-US" sz="1200" dirty="0"/>
          </a:p>
        </p:txBody>
      </p:sp>
      <p:sp>
        <p:nvSpPr>
          <p:cNvPr id="42" name="Text 3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3" name="Text 3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E1</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4980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Enrol a whole team in one paste, then group them as your company</a:t>
            </a:r>
            <a:endParaRPr lang="en-US" sz="3400" dirty="0"/>
          </a:p>
        </p:txBody>
      </p:sp>
      <p:sp>
        <p:nvSpPr>
          <p:cNvPr id="10" name="Text 7"/>
          <p:cNvSpPr txBox="1"/>
          <p:nvPr/>
        </p:nvSpPr>
        <p:spPr>
          <a:xfrm>
            <a:off x="457200" y="1805026"/>
            <a:ext cx="11277295" cy="256032"/>
          </a:xfrm>
          <a:prstGeom prst="rect">
            <a:avLst/>
          </a:prstGeom>
          <a:noFill/>
          <a:ln/>
        </p:spPr>
        <p:txBody>
          <a:bodyPr wrap="square" lIns="0" tIns="0" rIns="0" bIns="0" rtlCol="0" anchor="t"/>
          <a:lstStyle/>
          <a:p>
            <a:pPr indent="0" marL="0">
              <a:buNone/>
            </a:pPr>
            <a:r>
              <a:rPr lang="en-US" sz="1500" dirty="0">
                <a:solidFill>
                  <a:srgbClr val="B4B4C8"/>
                </a:solidFill>
                <a:latin typeface="Arial" pitchFamily="34" charset="0"/>
                <a:ea typeface="Arial" pitchFamily="34" charset="-122"/>
                <a:cs typeface="Arial" pitchFamily="34" charset="-120"/>
              </a:rPr>
              <a:t>Enterprise track, on the real platform: batch enrolment, then a company cohort for reporting</a:t>
            </a:r>
            <a:endParaRPr lang="en-US" sz="1500" dirty="0"/>
          </a:p>
        </p:txBody>
      </p:sp>
      <p:pic>
        <p:nvPicPr>
          <p:cNvPr id="11" name="Image 0" descr="/tmp/claude-0/-home-user-Chronopoli/d7458f57-86b2-5920-914e-8615357fee63/scratchpad/sales-master/framed/enrol_dialog2.png">    </p:cNvPr>
          <p:cNvPicPr>
            <a:picLocks noChangeAspect="1"/>
          </p:cNvPicPr>
          <p:nvPr/>
        </p:nvPicPr>
        <p:blipFill>
          <a:blip r:embed="rId2"/>
          <a:stretch>
            <a:fillRect/>
          </a:stretch>
        </p:blipFill>
        <p:spPr>
          <a:xfrm>
            <a:off x="457200" y="2202287"/>
            <a:ext cx="2415022" cy="2092422"/>
          </a:xfrm>
          <a:prstGeom prst="rect">
            <a:avLst/>
          </a:prstGeom>
        </p:spPr>
      </p:pic>
      <p:sp>
        <p:nvSpPr>
          <p:cNvPr id="12" name="Text 8"/>
          <p:cNvSpPr txBox="1"/>
          <p:nvPr/>
        </p:nvSpPr>
        <p:spPr>
          <a:xfrm>
            <a:off x="3077459" y="2289658"/>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25</a:t>
            </a:r>
            <a:endParaRPr lang="en-US" sz="2100" dirty="0"/>
          </a:p>
        </p:txBody>
      </p:sp>
      <p:sp>
        <p:nvSpPr>
          <p:cNvPr id="13" name="Text 9"/>
          <p:cNvSpPr txBox="1"/>
          <p:nvPr/>
        </p:nvSpPr>
        <p:spPr>
          <a:xfrm>
            <a:off x="3077459" y="2609698"/>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purchased</a:t>
            </a:r>
            <a:endParaRPr lang="en-US" sz="1050" dirty="0"/>
          </a:p>
        </p:txBody>
      </p:sp>
      <p:sp>
        <p:nvSpPr>
          <p:cNvPr id="14" name="Text 10"/>
          <p:cNvSpPr txBox="1"/>
          <p:nvPr/>
        </p:nvSpPr>
        <p:spPr>
          <a:xfrm>
            <a:off x="3077459" y="2718572"/>
            <a:ext cx="1783080" cy="310896"/>
          </a:xfrm>
          <a:prstGeom prst="rect">
            <a:avLst/>
          </a:prstGeom>
          <a:noFill/>
          <a:ln/>
        </p:spPr>
        <p:txBody>
          <a:bodyPr wrap="square" lIns="0" tIns="0" rIns="0" bIns="0" rtlCol="0" anchor="b"/>
          <a:lstStyle/>
          <a:p>
            <a:pPr indent="0" marL="0">
              <a:buNone/>
            </a:pPr>
            <a:r>
              <a:rPr lang="en-US" sz="2100" b="1" dirty="0">
                <a:solidFill>
                  <a:srgbClr val="FFFFFF"/>
                </a:solidFill>
                <a:latin typeface="Arial" pitchFamily="34" charset="0"/>
                <a:ea typeface="Arial" pitchFamily="34" charset="-122"/>
                <a:cs typeface="Arial" pitchFamily="34" charset="-120"/>
              </a:rPr>
              <a:t>18</a:t>
            </a:r>
            <a:endParaRPr lang="en-US" sz="2100" dirty="0"/>
          </a:p>
        </p:txBody>
      </p:sp>
      <p:sp>
        <p:nvSpPr>
          <p:cNvPr id="15" name="Text 11"/>
          <p:cNvSpPr txBox="1"/>
          <p:nvPr/>
        </p:nvSpPr>
        <p:spPr>
          <a:xfrm>
            <a:off x="3077459" y="3038612"/>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seats assigned</a:t>
            </a:r>
            <a:endParaRPr lang="en-US" sz="1050" dirty="0"/>
          </a:p>
        </p:txBody>
      </p:sp>
      <p:sp>
        <p:nvSpPr>
          <p:cNvPr id="16" name="Text 12"/>
          <p:cNvSpPr txBox="1"/>
          <p:nvPr/>
        </p:nvSpPr>
        <p:spPr>
          <a:xfrm>
            <a:off x="3077459" y="3147487"/>
            <a:ext cx="1783080" cy="310896"/>
          </a:xfrm>
          <a:prstGeom prst="rect">
            <a:avLst/>
          </a:prstGeom>
          <a:noFill/>
          <a:ln/>
        </p:spPr>
        <p:txBody>
          <a:bodyPr wrap="square" lIns="0" tIns="0" rIns="0" bIns="0" rtlCol="0" anchor="b"/>
          <a:lstStyle/>
          <a:p>
            <a:pPr indent="0" marL="0">
              <a:buNone/>
            </a:pPr>
            <a:r>
              <a:rPr lang="en-US" sz="2100" b="1" dirty="0">
                <a:solidFill>
                  <a:srgbClr val="60A5FA"/>
                </a:solidFill>
                <a:latin typeface="Arial" pitchFamily="34" charset="0"/>
                <a:ea typeface="Arial" pitchFamily="34" charset="-122"/>
                <a:cs typeface="Arial" pitchFamily="34" charset="-120"/>
              </a:rPr>
              <a:t>17</a:t>
            </a:r>
            <a:endParaRPr lang="en-US" sz="2100" dirty="0"/>
          </a:p>
        </p:txBody>
      </p:sp>
      <p:sp>
        <p:nvSpPr>
          <p:cNvPr id="17" name="Text 13"/>
          <p:cNvSpPr txBox="1"/>
          <p:nvPr/>
        </p:nvSpPr>
        <p:spPr>
          <a:xfrm>
            <a:off x="3077459" y="3467527"/>
            <a:ext cx="1783080" cy="18745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pasted in one go</a:t>
            </a:r>
            <a:endParaRPr lang="en-US" sz="1050" dirty="0"/>
          </a:p>
        </p:txBody>
      </p:sp>
      <p:sp>
        <p:nvSpPr>
          <p:cNvPr id="18" name="Text 14"/>
          <p:cNvSpPr txBox="1"/>
          <p:nvPr/>
        </p:nvSpPr>
        <p:spPr>
          <a:xfrm>
            <a:off x="3077459" y="3576401"/>
            <a:ext cx="1783080" cy="310896"/>
          </a:xfrm>
          <a:prstGeom prst="rect">
            <a:avLst/>
          </a:prstGeom>
          <a:noFill/>
          <a:ln/>
        </p:spPr>
        <p:txBody>
          <a:bodyPr wrap="square" lIns="0" tIns="0" rIns="0" bIns="0" rtlCol="0" anchor="b"/>
          <a:lstStyle/>
          <a:p>
            <a:pPr indent="0" marL="0">
              <a:buNone/>
            </a:pPr>
            <a:r>
              <a:rPr lang="en-US" sz="2100" b="1" dirty="0">
                <a:solidFill>
                  <a:srgbClr val="F0C96B"/>
                </a:solidFill>
                <a:latin typeface="Arial" pitchFamily="34" charset="0"/>
                <a:ea typeface="Arial" pitchFamily="34" charset="-122"/>
                <a:cs typeface="Arial" pitchFamily="34" charset="-120"/>
              </a:rPr>
              <a:t>18</a:t>
            </a:r>
            <a:endParaRPr lang="en-US" sz="2100" dirty="0"/>
          </a:p>
        </p:txBody>
      </p:sp>
      <p:sp>
        <p:nvSpPr>
          <p:cNvPr id="19" name="Text 15"/>
          <p:cNvSpPr txBox="1"/>
          <p:nvPr/>
        </p:nvSpPr>
        <p:spPr>
          <a:xfrm>
            <a:off x="3077459" y="3896441"/>
            <a:ext cx="1783080" cy="347472"/>
          </a:xfrm>
          <a:prstGeom prst="rect">
            <a:avLst/>
          </a:prstGeom>
          <a:noFill/>
          <a:ln/>
        </p:spPr>
        <p:txBody>
          <a:bodyPr wrap="square" lIns="0" tIns="0" rIns="0" bIns="0" rtlCol="0" anchor="t"/>
          <a:lstStyle/>
          <a:p>
            <a:pPr indent="0" marL="0">
              <a:buNone/>
            </a:pPr>
            <a:r>
              <a:rPr lang="en-US" sz="1050" dirty="0">
                <a:solidFill>
                  <a:srgbClr val="B4B4C8"/>
                </a:solidFill>
                <a:latin typeface="Arial" pitchFamily="34" charset="0"/>
                <a:ea typeface="Arial" pitchFamily="34" charset="-122"/>
                <a:cs typeface="Arial" pitchFamily="34" charset="-120"/>
              </a:rPr>
              <a:t>in the cohort: the 17 + Layla (MLRO, alias domain)</a:t>
            </a:r>
            <a:endParaRPr lang="en-US" sz="1050" dirty="0"/>
          </a:p>
        </p:txBody>
      </p:sp>
      <p:pic>
        <p:nvPicPr>
          <p:cNvPr id="20" name="Image 1" descr="/tmp/claude-0/-home-user-Chronopoli/d7458f57-86b2-5920-914e-8615357fee63/scratchpad/sales-master/framed/cohort_panel2.png">    </p:cNvPr>
          <p:cNvPicPr>
            <a:picLocks noChangeAspect="1"/>
          </p:cNvPicPr>
          <p:nvPr/>
        </p:nvPicPr>
        <p:blipFill>
          <a:blip r:embed="rId3"/>
          <a:stretch>
            <a:fillRect/>
          </a:stretch>
        </p:blipFill>
        <p:spPr>
          <a:xfrm>
            <a:off x="5180579" y="2116369"/>
            <a:ext cx="6553916" cy="1963071"/>
          </a:xfrm>
          <a:prstGeom prst="rect">
            <a:avLst/>
          </a:prstGeom>
        </p:spPr>
      </p:pic>
      <p:sp>
        <p:nvSpPr>
          <p:cNvPr id="21" name="Shape 16"/>
          <p:cNvSpPr/>
          <p:nvPr/>
        </p:nvSpPr>
        <p:spPr>
          <a:xfrm>
            <a:off x="5353867" y="4043312"/>
            <a:ext cx="1967484" cy="237744"/>
          </a:xfrm>
          <a:prstGeom prst="roundRect">
            <a:avLst>
              <a:gd name="adj" fmla="val 50000"/>
            </a:avLst>
          </a:prstGeom>
          <a:solidFill>
            <a:srgbClr val="1B1B27"/>
          </a:solidFill>
          <a:ln w="9525">
            <a:solidFill>
              <a:srgbClr val="3A3A50"/>
            </a:solidFill>
            <a:prstDash val="solid"/>
          </a:ln>
        </p:spPr>
      </p:sp>
      <p:sp>
        <p:nvSpPr>
          <p:cNvPr id="22" name="Shape 17"/>
          <p:cNvSpPr/>
          <p:nvPr/>
        </p:nvSpPr>
        <p:spPr>
          <a:xfrm>
            <a:off x="5445307" y="4125608"/>
            <a:ext cx="73152" cy="73152"/>
          </a:xfrm>
          <a:prstGeom prst="ellipse">
            <a:avLst/>
          </a:prstGeom>
          <a:solidFill>
            <a:srgbClr val="34D399"/>
          </a:solidFill>
          <a:ln/>
        </p:spPr>
      </p:sp>
      <p:sp>
        <p:nvSpPr>
          <p:cNvPr id="23" name="Text 18"/>
          <p:cNvSpPr txBox="1"/>
          <p:nvPr/>
        </p:nvSpPr>
        <p:spPr>
          <a:xfrm>
            <a:off x="5573323" y="4043312"/>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4" name="Text 19"/>
          <p:cNvSpPr txBox="1"/>
          <p:nvPr/>
        </p:nvSpPr>
        <p:spPr>
          <a:xfrm>
            <a:off x="7431079" y="4075316"/>
            <a:ext cx="4130128"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Instructor Dashboard &gt; Cohorts, cropped to the cohort panel</a:t>
            </a:r>
            <a:endParaRPr lang="en-US" sz="1000" dirty="0"/>
          </a:p>
        </p:txBody>
      </p:sp>
      <p:sp>
        <p:nvSpPr>
          <p:cNvPr id="25" name="Text 20"/>
          <p:cNvSpPr txBox="1"/>
          <p:nvPr/>
        </p:nvSpPr>
        <p:spPr>
          <a:xfrm>
            <a:off x="5353867" y="4335920"/>
            <a:ext cx="6207340" cy="4846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Browser addresses show the planned domain · seeded test cohort; grades from test learners answering in the browser, no overrides (slides 13-15) · entry box enlarged for display · Gulf Digital Exchange and its staff are fictitious</a:t>
            </a:r>
            <a:endParaRPr lang="en-US" sz="1000" dirty="0"/>
          </a:p>
        </p:txBody>
      </p:sp>
      <p:sp>
        <p:nvSpPr>
          <p:cNvPr id="26" name="Shape 21"/>
          <p:cNvSpPr/>
          <p:nvPr/>
        </p:nvSpPr>
        <p:spPr>
          <a:xfrm>
            <a:off x="544571" y="4344497"/>
            <a:ext cx="1967484" cy="237744"/>
          </a:xfrm>
          <a:prstGeom prst="roundRect">
            <a:avLst>
              <a:gd name="adj" fmla="val 50000"/>
            </a:avLst>
          </a:prstGeom>
          <a:solidFill>
            <a:srgbClr val="1B1B27"/>
          </a:solidFill>
          <a:ln w="9525">
            <a:solidFill>
              <a:srgbClr val="3A3A50"/>
            </a:solidFill>
            <a:prstDash val="solid"/>
          </a:ln>
        </p:spPr>
      </p:sp>
      <p:sp>
        <p:nvSpPr>
          <p:cNvPr id="27" name="Shape 22"/>
          <p:cNvSpPr/>
          <p:nvPr/>
        </p:nvSpPr>
        <p:spPr>
          <a:xfrm>
            <a:off x="636011" y="4426793"/>
            <a:ext cx="73152" cy="73152"/>
          </a:xfrm>
          <a:prstGeom prst="ellipse">
            <a:avLst/>
          </a:prstGeom>
          <a:solidFill>
            <a:srgbClr val="34D399"/>
          </a:solidFill>
          <a:ln/>
        </p:spPr>
      </p:sp>
      <p:sp>
        <p:nvSpPr>
          <p:cNvPr id="28" name="Text 23"/>
          <p:cNvSpPr txBox="1"/>
          <p:nvPr/>
        </p:nvSpPr>
        <p:spPr>
          <a:xfrm>
            <a:off x="764027" y="4344497"/>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9" name="Text 24"/>
          <p:cNvSpPr txBox="1"/>
          <p:nvPr/>
        </p:nvSpPr>
        <p:spPr>
          <a:xfrm>
            <a:off x="544571" y="4637105"/>
            <a:ext cx="431596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'Enroll Learners' with the 17 @gde.example addresses, just before Save</a:t>
            </a:r>
            <a:endParaRPr lang="en-US" sz="1000" dirty="0"/>
          </a:p>
        </p:txBody>
      </p:sp>
      <p:sp>
        <p:nvSpPr>
          <p:cNvPr id="30" name="Text 25"/>
          <p:cNvSpPr txBox="1"/>
          <p:nvPr/>
        </p:nvSpPr>
        <p:spPr>
          <a:xfrm>
            <a:off x="457200" y="5179649"/>
            <a:ext cx="11277295" cy="94386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Paste the e-mail addresses, tick Auto Enroll and Notify, save: 17 Gulf Digital Exchange employees enrolled in USDT-201; Layla, the MLRO, was already enrolled on her alias domain, making 18</a:t>
            </a:r>
            <a:endParaRPr lang="en-US" sz="1250" dirty="0"/>
          </a:p>
          <a:p>
            <a:pPr marL="165100" indent="-165100">
              <a:spcAft>
                <a:spcPts val="5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One manual cohort, 'Gulf Digital Exchange', holds all 18 seat holders, so every report can filter to your company; a CSV upload also assigns cohorts</a:t>
            </a:r>
            <a:endParaRPr lang="en-US" sz="1250" dirty="0"/>
          </a:p>
          <a:p>
            <a:pPr marL="165100" indent="-165100">
              <a:buClr>
                <a:srgbClr val="C9A84C"/>
              </a:buClr>
              <a:buSzPct val="80000"/>
              <a:buChar char="●"/>
            </a:pPr>
            <a:r>
              <a:rPr lang="en-US" sz="1250" dirty="0">
                <a:solidFill>
                  <a:srgbClr val="E8E8F0"/>
                </a:solidFill>
                <a:latin typeface="Arial" pitchFamily="34" charset="0"/>
                <a:ea typeface="Arial" pitchFamily="34" charset="-122"/>
                <a:cs typeface="Arial" pitchFamily="34" charset="-120"/>
              </a:rPr>
              <a:t>Standard enrolment uses the default track; our team moves your staff to the verified track in the pilot, automated in the team-admin console (E4)</a:t>
            </a:r>
            <a:endParaRPr lang="en-US" sz="1250" dirty="0"/>
          </a:p>
        </p:txBody>
      </p:sp>
      <p:sp>
        <p:nvSpPr>
          <p:cNvPr id="31" name="Text 2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2" name="Text 2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E2</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See who is on track, and who needs help</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Gradebook filtered to your cohort, and the staff view of any employee's progress against the 70% pass mark</a:t>
            </a:r>
            <a:endParaRPr lang="en-US" sz="1600" dirty="0"/>
          </a:p>
        </p:txBody>
      </p:sp>
      <p:pic>
        <p:nvPicPr>
          <p:cNvPr id="11" name="Image 0" descr="/tmp/claude-0/-home-user-Chronopoli/d7458f57-86b2-5920-914e-8615357fee63/scratchpad/sales-master/framed/gradebook2.png">    </p:cNvPr>
          <p:cNvPicPr>
            <a:picLocks noChangeAspect="1"/>
          </p:cNvPicPr>
          <p:nvPr/>
        </p:nvPicPr>
        <p:blipFill>
          <a:blip r:embed="rId2"/>
          <a:stretch>
            <a:fillRect/>
          </a:stretch>
        </p:blipFill>
        <p:spPr>
          <a:xfrm>
            <a:off x="457200" y="1732259"/>
            <a:ext cx="4462719" cy="3858252"/>
          </a:xfrm>
          <a:prstGeom prst="rect">
            <a:avLst/>
          </a:prstGeom>
        </p:spPr>
      </p:pic>
      <p:sp>
        <p:nvSpPr>
          <p:cNvPr id="12" name="Shape 8"/>
          <p:cNvSpPr/>
          <p:nvPr/>
        </p:nvSpPr>
        <p:spPr>
          <a:xfrm>
            <a:off x="576296" y="5608576"/>
            <a:ext cx="1967484"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667736" y="5690872"/>
            <a:ext cx="73152" cy="73152"/>
          </a:xfrm>
          <a:prstGeom prst="ellipse">
            <a:avLst/>
          </a:prstGeom>
          <a:solidFill>
            <a:srgbClr val="34D399"/>
          </a:solidFill>
          <a:ln/>
        </p:spPr>
      </p:sp>
      <p:sp>
        <p:nvSpPr>
          <p:cNvPr id="14" name="Text 10"/>
          <p:cNvSpPr txBox="1"/>
          <p:nvPr/>
        </p:nvSpPr>
        <p:spPr>
          <a:xfrm>
            <a:off x="795752" y="5608576"/>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76296" y="5901184"/>
            <a:ext cx="4224528"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gradebook, cohort 'Gulf Digital Exchange' (18 of 812 learners), first 10 of the 18 rows</a:t>
            </a:r>
            <a:endParaRPr lang="en-US" sz="1000" dirty="0"/>
          </a:p>
        </p:txBody>
      </p:sp>
      <p:sp>
        <p:nvSpPr>
          <p:cNvPr id="16" name="Text 12"/>
          <p:cNvSpPr txBox="1"/>
          <p:nvPr/>
        </p:nvSpPr>
        <p:spPr>
          <a:xfrm>
            <a:off x="5285679" y="1851355"/>
            <a:ext cx="6448816" cy="948944"/>
          </a:xfrm>
          <a:prstGeom prst="rect">
            <a:avLst/>
          </a:prstGeom>
          <a:noFill/>
          <a:ln/>
        </p:spPr>
        <p:txBody>
          <a:bodyPr wrap="square" lIns="0" tIns="0" rIns="0" bIns="0" rtlCol="0" anchor="t"/>
          <a:lstStyle/>
          <a:p>
            <a:pPr marL="165100" indent="-165100">
              <a:spcAft>
                <a:spcPts val="800"/>
              </a:spcAft>
              <a:buClr>
                <a:srgbClr val="C9A84C"/>
              </a:buClr>
              <a:buSzPct val="80000"/>
              <a:buChar char="●"/>
            </a:pPr>
            <a:r>
              <a:rPr lang="en-US" sz="1300" dirty="0">
                <a:solidFill>
                  <a:srgbClr val="E8E8F0"/>
                </a:solidFill>
                <a:latin typeface="Arial" pitchFamily="34" charset="0"/>
                <a:ea typeface="Arial" pitchFamily="34" charset="-122"/>
                <a:cs typeface="Arial" pitchFamily="34" charset="-120"/>
              </a:rPr>
              <a:t>Your cohort, 18 learners, with every knowledge check, the capstone and the total: from 100% down to 0% (not started); 9 of 18 at or above the 70% pass mark</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Open one employee to see completion (83%) against grade (36%): capstone not yet attempted, so you know who to nudge</a:t>
            </a:r>
            <a:endParaRPr lang="en-US" sz="1300" dirty="0"/>
          </a:p>
        </p:txBody>
      </p:sp>
      <p:pic>
        <p:nvPicPr>
          <p:cNvPr id="17" name="Image 1" descr="/tmp/claude-0/-home-user-Chronopoli/d7458f57-86b2-5920-914e-8615357fee63/scratchpad/sales-master/framed/progress2.png">    </p:cNvPr>
          <p:cNvPicPr>
            <a:picLocks noChangeAspect="1"/>
          </p:cNvPicPr>
          <p:nvPr/>
        </p:nvPicPr>
        <p:blipFill>
          <a:blip r:embed="rId3"/>
          <a:stretch>
            <a:fillRect/>
          </a:stretch>
        </p:blipFill>
        <p:spPr>
          <a:xfrm>
            <a:off x="5285679" y="2935847"/>
            <a:ext cx="3148760" cy="2775590"/>
          </a:xfrm>
          <a:prstGeom prst="rect">
            <a:avLst/>
          </a:prstGeom>
        </p:spPr>
      </p:pic>
      <p:sp>
        <p:nvSpPr>
          <p:cNvPr id="18" name="Shape 13"/>
          <p:cNvSpPr/>
          <p:nvPr/>
        </p:nvSpPr>
        <p:spPr>
          <a:xfrm>
            <a:off x="5369588" y="5764689"/>
            <a:ext cx="1967484"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5461028" y="5846985"/>
            <a:ext cx="73152" cy="73152"/>
          </a:xfrm>
          <a:prstGeom prst="ellipse">
            <a:avLst/>
          </a:prstGeom>
          <a:solidFill>
            <a:srgbClr val="34D399"/>
          </a:solidFill>
          <a:ln/>
        </p:spPr>
      </p:sp>
      <p:sp>
        <p:nvSpPr>
          <p:cNvPr id="20" name="Text 15"/>
          <p:cNvSpPr txBox="1"/>
          <p:nvPr/>
        </p:nvSpPr>
        <p:spPr>
          <a:xfrm>
            <a:off x="5589044" y="5764689"/>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1" name="Text 16"/>
          <p:cNvSpPr txBox="1"/>
          <p:nvPr/>
        </p:nvSpPr>
        <p:spPr>
          <a:xfrm>
            <a:off x="5369588" y="6057297"/>
            <a:ext cx="2980944"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staff view of daniel_okoro</a:t>
            </a:r>
            <a:endParaRPr lang="en-US" sz="1000" dirty="0"/>
          </a:p>
        </p:txBody>
      </p:sp>
      <p:sp>
        <p:nvSpPr>
          <p:cNvPr id="22" name="Shape 17"/>
          <p:cNvSpPr/>
          <p:nvPr/>
        </p:nvSpPr>
        <p:spPr>
          <a:xfrm>
            <a:off x="8754480" y="3019755"/>
            <a:ext cx="2980016" cy="2121408"/>
          </a:xfrm>
          <a:prstGeom prst="roundRect">
            <a:avLst>
              <a:gd name="adj" fmla="val 3448"/>
            </a:avLst>
          </a:prstGeom>
          <a:solidFill>
            <a:srgbClr val="0F1829"/>
          </a:solidFill>
          <a:ln w="12700">
            <a:solidFill>
              <a:srgbClr val="27436E"/>
            </a:solidFill>
            <a:prstDash val="solid"/>
          </a:ln>
        </p:spPr>
      </p:sp>
      <p:pic>
        <p:nvPicPr>
          <p:cNvPr id="23" name="Image 2" descr="preencoded.png">    </p:cNvPr>
          <p:cNvPicPr>
            <a:picLocks noChangeAspect="1"/>
          </p:cNvPicPr>
          <p:nvPr/>
        </p:nvPicPr>
        <p:blipFill>
          <a:blip r:embed="rId4"/>
          <a:stretch>
            <a:fillRect/>
          </a:stretch>
        </p:blipFill>
        <p:spPr>
          <a:xfrm>
            <a:off x="8900784" y="3166059"/>
            <a:ext cx="237744" cy="237744"/>
          </a:xfrm>
          <a:prstGeom prst="rect">
            <a:avLst/>
          </a:prstGeom>
        </p:spPr>
      </p:pic>
      <p:sp>
        <p:nvSpPr>
          <p:cNvPr id="24" name="Text 18"/>
          <p:cNvSpPr txBox="1"/>
          <p:nvPr/>
        </p:nvSpPr>
        <p:spPr>
          <a:xfrm>
            <a:off x="9266544" y="3156915"/>
            <a:ext cx="2321648" cy="1865376"/>
          </a:xfrm>
          <a:prstGeom prst="rect">
            <a:avLst/>
          </a:prstGeom>
          <a:noFill/>
          <a:ln/>
        </p:spPr>
        <p:txBody>
          <a:bodyPr wrap="square" lIns="0" tIns="0" rIns="0" bIns="0" rtlCol="0" anchor="t"/>
          <a:lstStyle/>
          <a:p>
            <a:pPr indent="0" marL="0">
              <a:buNone/>
            </a:pPr>
            <a:r>
              <a:rPr lang="en-US" sz="1200" b="1" dirty="0">
                <a:solidFill>
                  <a:srgbClr val="60A5FA"/>
                </a:solidFill>
                <a:latin typeface="Arial" pitchFamily="34" charset="0"/>
                <a:ea typeface="Arial" pitchFamily="34" charset="-122"/>
                <a:cs typeface="Arial" pitchFamily="34" charset="-120"/>
              </a:rPr>
              <a:t>Who sees this: </a:t>
            </a:r>
            <a:r>
              <a:rPr lang="en-US" sz="1200" dirty="0">
                <a:solidFill>
                  <a:srgbClr val="E8E8F0"/>
                </a:solidFill>
                <a:latin typeface="Arial" pitchFamily="34" charset="0"/>
                <a:ea typeface="Arial" pitchFamily="34" charset="-122"/>
                <a:cs typeface="Arial" pitchFamily="34" charset="-120"/>
              </a:rPr>
              <a:t>the gradebook is a course-staff view across all companies in the course. In the pilot only Chronopoli staff hold the course-staff role, and your team admin receives cohort-filtered views and reports; company-scoped admin access is part of the team-admin console (slide 16)</a:t>
            </a:r>
            <a:endParaRPr lang="en-US" sz="1200" dirty="0"/>
          </a:p>
        </p:txBody>
      </p:sp>
      <p:sp>
        <p:nvSpPr>
          <p:cNvPr id="25" name="Text 19"/>
          <p:cNvSpPr txBox="1"/>
          <p:nvPr/>
        </p:nvSpPr>
        <p:spPr>
          <a:xfrm>
            <a:off x="8754480" y="5369763"/>
            <a:ext cx="2980016" cy="7894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Demo system at a narrower browser width; addresses show the planned domain · scroll box expanded, tooltip colours restored (display only) · seeded cohort; grades from test learners, no overrides · fictitious people</a:t>
            </a:r>
            <a:endParaRPr lang="en-US" sz="1000" dirty="0"/>
          </a:p>
        </p:txBody>
      </p:sp>
      <p:sp>
        <p:nvSpPr>
          <p:cNvPr id="26" name="Text 2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7" name="Text 2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E3</a:t>
            </a:r>
            <a:endParaRPr lang="en-US" sz="1000" dirty="0"/>
          </a:p>
        </p:txBody>
      </p:sp>
      <p:sp>
        <p:nvSpPr>
          <p:cNvPr id="5" name="Shape 2"/>
          <p:cNvSpPr/>
          <p:nvPr/>
        </p:nvSpPr>
        <p:spPr>
          <a:xfrm>
            <a:off x="457200" y="384048"/>
            <a:ext cx="268080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244306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PROOF</a:t>
            </a:r>
            <a:endParaRPr lang="en-US" sz="900" dirty="0"/>
          </a:p>
        </p:txBody>
      </p:sp>
      <p:sp>
        <p:nvSpPr>
          <p:cNvPr id="7" name="Shape 4"/>
          <p:cNvSpPr/>
          <p:nvPr/>
        </p:nvSpPr>
        <p:spPr>
          <a:xfrm>
            <a:off x="330259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345804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704088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Training evidence in a standard, system-generated format</a:t>
            </a:r>
            <a:endParaRPr lang="en-US" sz="3400" dirty="0"/>
          </a:p>
        </p:txBody>
      </p:sp>
      <p:sp>
        <p:nvSpPr>
          <p:cNvPr id="10" name="Text 7"/>
          <p:cNvSpPr txBox="1"/>
          <p:nvPr/>
        </p:nvSpPr>
        <p:spPr>
          <a:xfrm>
            <a:off x="7818120" y="841858"/>
            <a:ext cx="3916375" cy="88087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The platform's standard Data Downloads produce a course-wide grade report; your cohort's rows (Cohort Name = Gulf Digital Exchange) are handed to you as a CSV</a:t>
            </a:r>
            <a:endParaRPr lang="en-US" sz="1400" dirty="0"/>
          </a:p>
        </p:txBody>
      </p:sp>
      <p:pic>
        <p:nvPicPr>
          <p:cNvPr id="11" name="Image 0" descr="/tmp/claude-0/-home-user-Chronopoli/d7458f57-86b2-5920-914e-8615357fee63/scratchpad/sales-master/framed_v5/grade_csv.png">    </p:cNvPr>
          <p:cNvPicPr>
            <a:picLocks noChangeAspect="1"/>
          </p:cNvPicPr>
          <p:nvPr/>
        </p:nvPicPr>
        <p:blipFill>
          <a:blip r:embed="rId2"/>
          <a:stretch>
            <a:fillRect/>
          </a:stretch>
        </p:blipFill>
        <p:spPr>
          <a:xfrm>
            <a:off x="5555590" y="1806245"/>
            <a:ext cx="6178906" cy="3684422"/>
          </a:xfrm>
          <a:prstGeom prst="rect">
            <a:avLst/>
          </a:prstGeom>
        </p:spPr>
      </p:pic>
      <p:sp>
        <p:nvSpPr>
          <p:cNvPr id="12" name="Shape 8"/>
          <p:cNvSpPr/>
          <p:nvPr/>
        </p:nvSpPr>
        <p:spPr>
          <a:xfrm>
            <a:off x="5718962" y="5464454"/>
            <a:ext cx="1967484"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5810402" y="5546750"/>
            <a:ext cx="73152" cy="73152"/>
          </a:xfrm>
          <a:prstGeom prst="ellipse">
            <a:avLst/>
          </a:prstGeom>
          <a:solidFill>
            <a:srgbClr val="34D399"/>
          </a:solidFill>
          <a:ln/>
        </p:spPr>
      </p:sp>
      <p:sp>
        <p:nvSpPr>
          <p:cNvPr id="14" name="Text 10"/>
          <p:cNvSpPr txBox="1"/>
          <p:nvPr/>
        </p:nvSpPr>
        <p:spPr>
          <a:xfrm>
            <a:off x="5938418" y="5464454"/>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15" name="Text 11"/>
          <p:cNvSpPr txBox="1"/>
          <p:nvPr/>
        </p:nvSpPr>
        <p:spPr>
          <a:xfrm>
            <a:off x="5718962" y="5757062"/>
            <a:ext cx="5852160" cy="4846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the platform's grade-report CSV shown as a table: the 18 Gulf Digital Exchange rows of 829 · 10 of 18 columns, values verbatim · 9 certificate-eligible, mean grade 0.56 · certificates not activated · fictitious people</a:t>
            </a:r>
            <a:endParaRPr lang="en-US" sz="1000" dirty="0"/>
          </a:p>
        </p:txBody>
      </p:sp>
      <p:pic>
        <p:nvPicPr>
          <p:cNvPr id="16" name="Image 1" descr="/tmp/claude-0/-home-user-Chronopoli/d7458f57-86b2-5920-914e-8615357fee63/scratchpad/sales-master/framed/dl_reports_top.png">    </p:cNvPr>
          <p:cNvPicPr>
            <a:picLocks noChangeAspect="1"/>
          </p:cNvPicPr>
          <p:nvPr/>
        </p:nvPicPr>
        <p:blipFill>
          <a:blip r:embed="rId3"/>
          <a:stretch>
            <a:fillRect/>
          </a:stretch>
        </p:blipFill>
        <p:spPr>
          <a:xfrm>
            <a:off x="457200" y="1877720"/>
            <a:ext cx="3475634" cy="1333195"/>
          </a:xfrm>
          <a:prstGeom prst="rect">
            <a:avLst/>
          </a:prstGeom>
        </p:spPr>
      </p:pic>
      <p:sp>
        <p:nvSpPr>
          <p:cNvPr id="17" name="Shape 12"/>
          <p:cNvSpPr/>
          <p:nvPr/>
        </p:nvSpPr>
        <p:spPr>
          <a:xfrm>
            <a:off x="549097" y="3256178"/>
            <a:ext cx="1967484" cy="237744"/>
          </a:xfrm>
          <a:prstGeom prst="roundRect">
            <a:avLst>
              <a:gd name="adj" fmla="val 50000"/>
            </a:avLst>
          </a:prstGeom>
          <a:solidFill>
            <a:srgbClr val="1B1B27"/>
          </a:solidFill>
          <a:ln w="9525">
            <a:solidFill>
              <a:srgbClr val="3A3A50"/>
            </a:solidFill>
            <a:prstDash val="solid"/>
          </a:ln>
        </p:spPr>
      </p:sp>
      <p:sp>
        <p:nvSpPr>
          <p:cNvPr id="18" name="Shape 13"/>
          <p:cNvSpPr/>
          <p:nvPr/>
        </p:nvSpPr>
        <p:spPr>
          <a:xfrm>
            <a:off x="640537" y="3338474"/>
            <a:ext cx="73152" cy="73152"/>
          </a:xfrm>
          <a:prstGeom prst="ellipse">
            <a:avLst/>
          </a:prstGeom>
          <a:solidFill>
            <a:srgbClr val="34D399"/>
          </a:solidFill>
          <a:ln/>
        </p:spPr>
      </p:sp>
      <p:sp>
        <p:nvSpPr>
          <p:cNvPr id="19" name="Text 14"/>
          <p:cNvSpPr txBox="1"/>
          <p:nvPr/>
        </p:nvSpPr>
        <p:spPr>
          <a:xfrm>
            <a:off x="768553" y="3256178"/>
            <a:ext cx="1711452"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REAL PLATFORM SCREEN</a:t>
            </a:r>
            <a:endParaRPr lang="en-US" sz="900" dirty="0"/>
          </a:p>
        </p:txBody>
      </p:sp>
      <p:sp>
        <p:nvSpPr>
          <p:cNvPr id="20" name="Text 15"/>
          <p:cNvSpPr txBox="1"/>
          <p:nvPr/>
        </p:nvSpPr>
        <p:spPr>
          <a:xfrm>
            <a:off x="549097" y="3548786"/>
            <a:ext cx="3291840"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Instructor Dashboard &gt; Data Downloads, reports generated on demand, timestamped in UTC</a:t>
            </a:r>
            <a:endParaRPr lang="en-US" sz="1000" dirty="0"/>
          </a:p>
        </p:txBody>
      </p:sp>
      <p:sp>
        <p:nvSpPr>
          <p:cNvPr id="21" name="Text 16"/>
          <p:cNvSpPr txBox="1"/>
          <p:nvPr/>
        </p:nvSpPr>
        <p:spPr>
          <a:xfrm>
            <a:off x="457200" y="4073042"/>
            <a:ext cx="4732630" cy="105816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Per employee:</a:t>
            </a:r>
            <a:r>
              <a:rPr lang="en-US" sz="1250" dirty="0">
                <a:solidFill>
                  <a:srgbClr val="E8E8F0"/>
                </a:solidFill>
                <a:latin typeface="Arial" pitchFamily="34" charset="0"/>
                <a:ea typeface="Arial" pitchFamily="34" charset="-122"/>
                <a:cs typeface="Arial" pitchFamily="34" charset="-120"/>
              </a:rPr>
              <a:t> grade, knowledge checks, capstone, cohort, track, verification status, certificate eligibility</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Verification status column:</a:t>
            </a:r>
            <a:r>
              <a:rPr lang="en-US" sz="1250" dirty="0">
                <a:solidFill>
                  <a:srgbClr val="E8E8F0"/>
                </a:solidFill>
                <a:latin typeface="Arial" pitchFamily="34" charset="0"/>
                <a:ea typeface="Arial" pitchFamily="34" charset="-122"/>
                <a:cs typeface="Arial" pitchFamily="34" charset="-120"/>
              </a:rPr>
              <a:t> 'ID Verified' is the platform's standard value, set manually by staff on the demo system; no ID check or proctoring performed</a:t>
            </a:r>
            <a:endParaRPr lang="en-US" sz="1250" dirty="0"/>
          </a:p>
        </p:txBody>
      </p:sp>
      <p:sp>
        <p:nvSpPr>
          <p:cNvPr id="22" name="Shape 17"/>
          <p:cNvSpPr/>
          <p:nvPr/>
        </p:nvSpPr>
        <p:spPr>
          <a:xfrm>
            <a:off x="457200" y="5222646"/>
            <a:ext cx="4732630" cy="932688"/>
          </a:xfrm>
          <a:prstGeom prst="roundRect">
            <a:avLst>
              <a:gd name="adj" fmla="val 7843"/>
            </a:avLst>
          </a:prstGeom>
          <a:solidFill>
            <a:srgbClr val="231A0B"/>
          </a:solidFill>
          <a:ln w="12700">
            <a:solidFill>
              <a:srgbClr val="8A5A12"/>
            </a:solidFill>
            <a:prstDash val="solid"/>
          </a:ln>
        </p:spPr>
      </p:sp>
      <p:pic>
        <p:nvPicPr>
          <p:cNvPr id="23" name="Image 2" descr="preencoded.png">    </p:cNvPr>
          <p:cNvPicPr>
            <a:picLocks noChangeAspect="1"/>
          </p:cNvPicPr>
          <p:nvPr/>
        </p:nvPicPr>
        <p:blipFill>
          <a:blip r:embed="rId4"/>
          <a:stretch>
            <a:fillRect/>
          </a:stretch>
        </p:blipFill>
        <p:spPr>
          <a:xfrm>
            <a:off x="603504" y="5368950"/>
            <a:ext cx="237744" cy="237744"/>
          </a:xfrm>
          <a:prstGeom prst="rect">
            <a:avLst/>
          </a:prstGeom>
        </p:spPr>
      </p:pic>
      <p:sp>
        <p:nvSpPr>
          <p:cNvPr id="24" name="Text 18"/>
          <p:cNvSpPr txBox="1"/>
          <p:nvPr/>
        </p:nvSpPr>
        <p:spPr>
          <a:xfrm>
            <a:off x="969264" y="5359806"/>
            <a:ext cx="4074262" cy="676656"/>
          </a:xfrm>
          <a:prstGeom prst="rect">
            <a:avLst/>
          </a:prstGeom>
          <a:noFill/>
          <a:ln/>
        </p:spPr>
        <p:txBody>
          <a:bodyPr wrap="square" lIns="0" tIns="0" rIns="0" bIns="0" rtlCol="0" anchor="t"/>
          <a:lstStyle/>
          <a:p>
            <a:pPr indent="0" marL="0">
              <a:buNone/>
            </a:pPr>
            <a:r>
              <a:rPr lang="en-US" sz="1050" b="1" dirty="0">
                <a:solidFill>
                  <a:srgbClr val="F59E0B"/>
                </a:solidFill>
                <a:latin typeface="Arial" pitchFamily="34" charset="0"/>
                <a:ea typeface="Arial" pitchFamily="34" charset="-122"/>
                <a:cs typeface="Arial" pitchFamily="34" charset="-120"/>
              </a:rPr>
              <a:t>Before launch: </a:t>
            </a:r>
            <a:r>
              <a:rPr lang="en-US" sz="1050" dirty="0">
                <a:solidFill>
                  <a:srgbClr val="E8E8F0"/>
                </a:solidFill>
                <a:latin typeface="Arial" pitchFamily="34" charset="0"/>
                <a:ea typeface="Arial" pitchFamily="34" charset="-122"/>
                <a:cs typeface="Arial" pitchFamily="34" charset="-120"/>
              </a:rPr>
              <a:t>report files sit in publicly reachable storage today; they are made private and access-controlled before launch, and pilot reports are delivered by the Chronopoli team, not by public link</a:t>
            </a:r>
            <a:endParaRPr lang="en-US" sz="1050" dirty="0"/>
          </a:p>
        </p:txBody>
      </p:sp>
      <p:sp>
        <p:nvSpPr>
          <p:cNvPr id="25"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6"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11237773" y="384048"/>
            <a:ext cx="496722" cy="256032"/>
          </a:xfrm>
          <a:prstGeom prst="roundRect">
            <a:avLst>
              <a:gd name="adj" fmla="val 50000"/>
            </a:avLst>
          </a:prstGeom>
          <a:solidFill>
            <a:srgbClr val="0F1829"/>
          </a:solidFill>
          <a:ln w="9525">
            <a:solidFill>
              <a:srgbClr val="27436E"/>
            </a:solidFill>
            <a:prstDash val="solid"/>
          </a:ln>
        </p:spPr>
      </p:sp>
      <p:sp>
        <p:nvSpPr>
          <p:cNvPr id="4" name="Text 1"/>
          <p:cNvSpPr txBox="1"/>
          <p:nvPr/>
        </p:nvSpPr>
        <p:spPr>
          <a:xfrm>
            <a:off x="11393221" y="384048"/>
            <a:ext cx="258978" cy="256032"/>
          </a:xfrm>
          <a:prstGeom prst="rect">
            <a:avLst/>
          </a:prstGeom>
          <a:noFill/>
          <a:ln/>
        </p:spPr>
        <p:txBody>
          <a:bodyPr wrap="square" lIns="0" tIns="0" rIns="0" bIns="0" rtlCol="0" anchor="ctr"/>
          <a:lstStyle/>
          <a:p>
            <a:pPr indent="0" marL="0">
              <a:buNone/>
            </a:pPr>
            <a:r>
              <a:rPr lang="en-US" sz="1000" b="1" spc="120" kern="0" dirty="0">
                <a:solidFill>
                  <a:srgbClr val="60A5FA"/>
                </a:solidFill>
                <a:latin typeface="Arial" pitchFamily="34" charset="0"/>
                <a:ea typeface="Arial" pitchFamily="34" charset="-122"/>
                <a:cs typeface="Arial" pitchFamily="34" charset="-120"/>
              </a:rPr>
              <a:t>E4</a:t>
            </a:r>
            <a:endParaRPr lang="en-US" sz="1000" dirty="0"/>
          </a:p>
        </p:txBody>
      </p:sp>
      <p:sp>
        <p:nvSpPr>
          <p:cNvPr id="5" name="Shape 2"/>
          <p:cNvSpPr/>
          <p:nvPr/>
        </p:nvSpPr>
        <p:spPr>
          <a:xfrm>
            <a:off x="457200" y="384048"/>
            <a:ext cx="3940477" cy="256032"/>
          </a:xfrm>
          <a:prstGeom prst="roundRect">
            <a:avLst>
              <a:gd name="adj" fmla="val 50000"/>
            </a:avLst>
          </a:prstGeom>
          <a:solidFill>
            <a:srgbClr val="0F1829"/>
          </a:solidFill>
          <a:ln w="9525">
            <a:solidFill>
              <a:srgbClr val="27436E"/>
            </a:solidFill>
            <a:prstDash val="solid"/>
          </a:ln>
        </p:spPr>
      </p:sp>
      <p:sp>
        <p:nvSpPr>
          <p:cNvPr id="6" name="Text 3"/>
          <p:cNvSpPr txBox="1"/>
          <p:nvPr/>
        </p:nvSpPr>
        <p:spPr>
          <a:xfrm>
            <a:off x="612648" y="384048"/>
            <a:ext cx="3702733" cy="256032"/>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 · COMING WITH THE PILOT</a:t>
            </a:r>
            <a:endParaRPr lang="en-US" sz="900" dirty="0"/>
          </a:p>
        </p:txBody>
      </p:sp>
      <p:sp>
        <p:nvSpPr>
          <p:cNvPr id="7" name="Shape 4"/>
          <p:cNvSpPr/>
          <p:nvPr/>
        </p:nvSpPr>
        <p:spPr>
          <a:xfrm>
            <a:off x="4562269" y="384048"/>
            <a:ext cx="1505895" cy="256032"/>
          </a:xfrm>
          <a:prstGeom prst="roundRect">
            <a:avLst>
              <a:gd name="adj" fmla="val 50000"/>
            </a:avLst>
          </a:prstGeom>
          <a:solidFill>
            <a:srgbClr val="1B1B27"/>
          </a:solidFill>
          <a:ln w="9525">
            <a:solidFill>
              <a:srgbClr val="3A3A50"/>
            </a:solidFill>
            <a:prstDash val="solid"/>
          </a:ln>
        </p:spPr>
      </p:sp>
      <p:sp>
        <p:nvSpPr>
          <p:cNvPr id="8" name="Text 5"/>
          <p:cNvSpPr txBox="1"/>
          <p:nvPr/>
        </p:nvSpPr>
        <p:spPr>
          <a:xfrm>
            <a:off x="4717717" y="384048"/>
            <a:ext cx="1268151"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PLATFORM CORE</a:t>
            </a:r>
            <a:endParaRPr lang="en-US" sz="900" dirty="0"/>
          </a:p>
        </p:txBody>
      </p:sp>
      <p:sp>
        <p:nvSpPr>
          <p:cNvPr id="9" name="Text 6"/>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Coming with the pilot: your team-admin console</a:t>
            </a:r>
            <a:endParaRPr lang="en-US" sz="3600" dirty="0"/>
          </a:p>
        </p:txBody>
      </p:sp>
      <p:sp>
        <p:nvSpPr>
          <p:cNvPr id="10" name="Text 7"/>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Seats, invitations and a one-click evidence report, designed with our first pilot teams</a:t>
            </a:r>
            <a:endParaRPr lang="en-US" sz="1600" dirty="0"/>
          </a:p>
        </p:txBody>
      </p:sp>
      <p:pic>
        <p:nvPicPr>
          <p:cNvPr id="11" name="Image 0" descr="/tmp/claude-0/-home-user-Chronopoli/d7458f57-86b2-5920-914e-8615357fee63/scratchpad/sales-master/framed_v5/team_seats2.png">    </p:cNvPr>
          <p:cNvPicPr>
            <a:picLocks noChangeAspect="1"/>
          </p:cNvPicPr>
          <p:nvPr/>
        </p:nvPicPr>
        <p:blipFill>
          <a:blip r:embed="rId2"/>
          <a:stretch>
            <a:fillRect/>
          </a:stretch>
        </p:blipFill>
        <p:spPr>
          <a:xfrm>
            <a:off x="460856" y="1701849"/>
            <a:ext cx="5654453" cy="2139945"/>
          </a:xfrm>
          <a:prstGeom prst="rect">
            <a:avLst/>
          </a:prstGeom>
        </p:spPr>
      </p:pic>
      <p:sp>
        <p:nvSpPr>
          <p:cNvPr id="12" name="Shape 8"/>
          <p:cNvSpPr/>
          <p:nvPr/>
        </p:nvSpPr>
        <p:spPr>
          <a:xfrm>
            <a:off x="610362" y="3829448"/>
            <a:ext cx="2719349" cy="237744"/>
          </a:xfrm>
          <a:prstGeom prst="roundRect">
            <a:avLst>
              <a:gd name="adj" fmla="val 50000"/>
            </a:avLst>
          </a:prstGeom>
          <a:solidFill>
            <a:srgbClr val="1B1B27"/>
          </a:solidFill>
          <a:ln w="9525">
            <a:solidFill>
              <a:srgbClr val="3A3A50"/>
            </a:solidFill>
            <a:prstDash val="solid"/>
          </a:ln>
        </p:spPr>
      </p:sp>
      <p:sp>
        <p:nvSpPr>
          <p:cNvPr id="13" name="Shape 9"/>
          <p:cNvSpPr/>
          <p:nvPr/>
        </p:nvSpPr>
        <p:spPr>
          <a:xfrm>
            <a:off x="701802" y="3911744"/>
            <a:ext cx="73152" cy="73152"/>
          </a:xfrm>
          <a:prstGeom prst="ellipse">
            <a:avLst/>
          </a:prstGeom>
          <a:solidFill>
            <a:srgbClr val="A9A9C6"/>
          </a:solidFill>
          <a:ln/>
        </p:spPr>
      </p:sp>
      <p:sp>
        <p:nvSpPr>
          <p:cNvPr id="14" name="Text 10"/>
          <p:cNvSpPr txBox="1"/>
          <p:nvPr/>
        </p:nvSpPr>
        <p:spPr>
          <a:xfrm>
            <a:off x="829818" y="3829448"/>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15" name="Text 11"/>
          <p:cNvSpPr txBox="1"/>
          <p:nvPr/>
        </p:nvSpPr>
        <p:spPr>
          <a:xfrm>
            <a:off x="3439439" y="3861452"/>
            <a:ext cx="252636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team seats, Gulf Digital Exchange (fictitious)</a:t>
            </a:r>
            <a:endParaRPr lang="en-US" sz="1000" dirty="0"/>
          </a:p>
        </p:txBody>
      </p:sp>
      <p:sp>
        <p:nvSpPr>
          <p:cNvPr id="16" name="Text 12"/>
          <p:cNvSpPr txBox="1"/>
          <p:nvPr/>
        </p:nvSpPr>
        <p:spPr>
          <a:xfrm>
            <a:off x="610362" y="4698128"/>
            <a:ext cx="5355441" cy="112166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Team seats:</a:t>
            </a:r>
            <a:r>
              <a:rPr lang="en-US" sz="1300" dirty="0">
                <a:solidFill>
                  <a:srgbClr val="E8E8F0"/>
                </a:solidFill>
                <a:latin typeface="Arial" pitchFamily="34" charset="0"/>
                <a:ea typeface="Arial" pitchFamily="34" charset="-122"/>
                <a:cs typeface="Arial" pitchFamily="34" charset="-120"/>
              </a:rPr>
              <a:t> 25 purchased seats × $125 = $3,125/month (18 assigned), with progress, last activity and badge per employee, and stalled learners flagged</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Invite by e-mail, or let staff on your verified domain request a seat, with your approval</a:t>
            </a:r>
            <a:endParaRPr lang="en-US" sz="1300" dirty="0"/>
          </a:p>
        </p:txBody>
      </p:sp>
      <p:pic>
        <p:nvPicPr>
          <p:cNvPr id="17" name="Image 1" descr="/tmp/claude-0/-home-user-Chronopoli/d7458f57-86b2-5920-914e-8615357fee63/scratchpad/sales-master/framed_v5/evidence2.png">    </p:cNvPr>
          <p:cNvPicPr>
            <a:picLocks noChangeAspect="1"/>
          </p:cNvPicPr>
          <p:nvPr/>
        </p:nvPicPr>
        <p:blipFill>
          <a:blip r:embed="rId3"/>
          <a:stretch>
            <a:fillRect/>
          </a:stretch>
        </p:blipFill>
        <p:spPr>
          <a:xfrm>
            <a:off x="6232003" y="1706075"/>
            <a:ext cx="5494610" cy="2131492"/>
          </a:xfrm>
          <a:prstGeom prst="rect">
            <a:avLst/>
          </a:prstGeom>
        </p:spPr>
      </p:pic>
      <p:sp>
        <p:nvSpPr>
          <p:cNvPr id="18" name="Shape 13"/>
          <p:cNvSpPr/>
          <p:nvPr/>
        </p:nvSpPr>
        <p:spPr>
          <a:xfrm>
            <a:off x="6377283" y="3829448"/>
            <a:ext cx="2719349" cy="237744"/>
          </a:xfrm>
          <a:prstGeom prst="roundRect">
            <a:avLst>
              <a:gd name="adj" fmla="val 50000"/>
            </a:avLst>
          </a:prstGeom>
          <a:solidFill>
            <a:srgbClr val="1B1B27"/>
          </a:solidFill>
          <a:ln w="9525">
            <a:solidFill>
              <a:srgbClr val="3A3A50"/>
            </a:solidFill>
            <a:prstDash val="solid"/>
          </a:ln>
        </p:spPr>
      </p:sp>
      <p:sp>
        <p:nvSpPr>
          <p:cNvPr id="19" name="Shape 14"/>
          <p:cNvSpPr/>
          <p:nvPr/>
        </p:nvSpPr>
        <p:spPr>
          <a:xfrm>
            <a:off x="6468723" y="3911744"/>
            <a:ext cx="73152" cy="73152"/>
          </a:xfrm>
          <a:prstGeom prst="ellipse">
            <a:avLst/>
          </a:prstGeom>
          <a:solidFill>
            <a:srgbClr val="A9A9C6"/>
          </a:solidFill>
          <a:ln/>
        </p:spPr>
      </p:sp>
      <p:sp>
        <p:nvSpPr>
          <p:cNvPr id="20" name="Text 15"/>
          <p:cNvSpPr txBox="1"/>
          <p:nvPr/>
        </p:nvSpPr>
        <p:spPr>
          <a:xfrm>
            <a:off x="6596739" y="3829448"/>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21" name="Text 16"/>
          <p:cNvSpPr txBox="1"/>
          <p:nvPr/>
        </p:nvSpPr>
        <p:spPr>
          <a:xfrm>
            <a:off x="9206360" y="3861452"/>
            <a:ext cx="237497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training evidence report for USDT‑201</a:t>
            </a:r>
            <a:endParaRPr lang="en-US" sz="1000" dirty="0"/>
          </a:p>
        </p:txBody>
      </p:sp>
      <p:sp>
        <p:nvSpPr>
          <p:cNvPr id="22" name="Text 17"/>
          <p:cNvSpPr txBox="1"/>
          <p:nvPr/>
        </p:nvSpPr>
        <p:spPr>
          <a:xfrm>
            <a:off x="6377283" y="4698128"/>
            <a:ext cx="5204050" cy="1319784"/>
          </a:xfrm>
          <a:prstGeom prst="rect">
            <a:avLst/>
          </a:prstGeom>
          <a:noFill/>
          <a:ln/>
        </p:spPr>
        <p:txBody>
          <a:bodyPr wrap="square" lIns="0" tIns="0" rIns="0" bIns="0" rtlCol="0" anchor="t"/>
          <a:lstStyle/>
          <a:p>
            <a:pPr marL="165100" indent="-165100">
              <a:spcAft>
                <a:spcPts val="600"/>
              </a:spcAft>
              <a:buClr>
                <a:srgbClr val="C9A84C"/>
              </a:buClr>
              <a:buSzPct val="80000"/>
              <a:buChar char="●"/>
            </a:pPr>
            <a:r>
              <a:rPr lang="en-US" sz="1300" b="1" dirty="0">
                <a:solidFill>
                  <a:srgbClr val="FFFFFF"/>
                </a:solidFill>
                <a:latin typeface="Arial" pitchFamily="34" charset="0"/>
                <a:ea typeface="Arial" pitchFamily="34" charset="-122"/>
                <a:cs typeface="Arial" pitchFamily="34" charset="-120"/>
              </a:rPr>
              <a:t>Training evidence report:</a:t>
            </a:r>
            <a:r>
              <a:rPr lang="en-US" sz="1300" dirty="0">
                <a:solidFill>
                  <a:srgbClr val="E8E8F0"/>
                </a:solidFill>
                <a:latin typeface="Arial" pitchFamily="34" charset="0"/>
                <a:ea typeface="Arial" pitchFamily="34" charset="-122"/>
                <a:cs typeface="Arial" pitchFamily="34" charset="-120"/>
              </a:rPr>
              <a:t> USDT-201, 12 learners in scope (scope chosen by the team admin in this sample), 9 completed (75%), average grade 85.4%, with certificate and badge IDs and CSV/PDF export</a:t>
            </a:r>
            <a:endParaRPr lang="en-US" sz="1300" dirty="0"/>
          </a:p>
          <a:p>
            <a:pPr marL="165100" indent="-165100">
              <a:buClr>
                <a:srgbClr val="C9A84C"/>
              </a:buClr>
              <a:buSzPct val="80000"/>
              <a:buChar char="●"/>
            </a:pPr>
            <a:r>
              <a:rPr lang="en-US" sz="1300" dirty="0">
                <a:solidFill>
                  <a:srgbClr val="E8E8F0"/>
                </a:solidFill>
                <a:latin typeface="Arial" pitchFamily="34" charset="0"/>
                <a:ea typeface="Arial" pitchFamily="34" charset="-122"/>
                <a:cs typeface="Arial" pitchFamily="34" charset="-120"/>
              </a:rPr>
              <a:t>Evidence-pack contents (fields, timestamps, sign-off) are co-designed with pilot teams</a:t>
            </a:r>
            <a:endParaRPr lang="en-US" sz="1300" dirty="0"/>
          </a:p>
        </p:txBody>
      </p:sp>
      <p:sp>
        <p:nvSpPr>
          <p:cNvPr id="23" name="Text 18"/>
          <p:cNvSpPr txBox="1"/>
          <p:nvPr/>
        </p:nvSpPr>
        <p:spPr>
          <a:xfrm>
            <a:off x="610362" y="4216544"/>
            <a:ext cx="10970971" cy="22555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Not yet built: seat assignment, invites, domain join, CSV/PDF export; the team subscription and seat count exist · sample roster, not the slides 13-15 cohort</a:t>
            </a:r>
            <a:endParaRPr lang="en-US" sz="1000" dirty="0"/>
          </a:p>
        </p:txBody>
      </p:sp>
      <p:sp>
        <p:nvSpPr>
          <p:cNvPr id="24" name="Text 19"/>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5" name="Text 20"/>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1487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9109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COMPETITIVE LANDSCAPE</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We are not a better Coursera</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A categorically different architecture: the first neutral Knowledge City for the digital economy</a:t>
            </a:r>
            <a:endParaRPr lang="en-US" sz="1600" dirty="0"/>
          </a:p>
        </p:txBody>
      </p:sp>
      <p:sp>
        <p:nvSpPr>
          <p:cNvPr id="7" name="Shape 4"/>
          <p:cNvSpPr/>
          <p:nvPr/>
        </p:nvSpPr>
        <p:spPr>
          <a:xfrm>
            <a:off x="9226296" y="1887931"/>
            <a:ext cx="1389888" cy="3784397"/>
          </a:xfrm>
          <a:prstGeom prst="roundRect">
            <a:avLst>
              <a:gd name="adj" fmla="val 5263"/>
            </a:avLst>
          </a:prstGeom>
          <a:solidFill>
            <a:srgbClr val="231E12"/>
          </a:solidFill>
          <a:ln w="12700">
            <a:solidFill>
              <a:srgbClr val="C9A84C"/>
            </a:solidFill>
            <a:prstDash val="solid"/>
          </a:ln>
        </p:spPr>
      </p:sp>
      <p:sp>
        <p:nvSpPr>
          <p:cNvPr id="8" name="Text 5"/>
          <p:cNvSpPr txBox="1"/>
          <p:nvPr/>
        </p:nvSpPr>
        <p:spPr>
          <a:xfrm>
            <a:off x="566928" y="1997659"/>
            <a:ext cx="4160520"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FEATURE</a:t>
            </a:r>
            <a:endParaRPr lang="en-US" sz="850" dirty="0"/>
          </a:p>
        </p:txBody>
      </p:sp>
      <p:sp>
        <p:nvSpPr>
          <p:cNvPr id="9" name="Text 6"/>
          <p:cNvSpPr txBox="1"/>
          <p:nvPr/>
        </p:nvSpPr>
        <p:spPr>
          <a:xfrm>
            <a:off x="480060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COURSERA / LINKEDIN</a:t>
            </a:r>
            <a:endParaRPr lang="en-US" sz="850" dirty="0"/>
          </a:p>
        </p:txBody>
      </p:sp>
      <p:sp>
        <p:nvSpPr>
          <p:cNvPr id="10" name="Text 7"/>
          <p:cNvSpPr txBox="1"/>
          <p:nvPr/>
        </p:nvSpPr>
        <p:spPr>
          <a:xfrm>
            <a:off x="626364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ACAMS / ICA</a:t>
            </a:r>
            <a:endParaRPr lang="en-US" sz="850" dirty="0"/>
          </a:p>
        </p:txBody>
      </p:sp>
      <p:sp>
        <p:nvSpPr>
          <p:cNvPr id="11" name="Text 8"/>
          <p:cNvSpPr txBox="1"/>
          <p:nvPr/>
        </p:nvSpPr>
        <p:spPr>
          <a:xfrm>
            <a:off x="772668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VENDOR ACADEMIES</a:t>
            </a:r>
            <a:endParaRPr lang="en-US" sz="850" dirty="0"/>
          </a:p>
        </p:txBody>
      </p:sp>
      <p:sp>
        <p:nvSpPr>
          <p:cNvPr id="12" name="Text 9"/>
          <p:cNvSpPr txBox="1"/>
          <p:nvPr/>
        </p:nvSpPr>
        <p:spPr>
          <a:xfrm>
            <a:off x="9189720" y="1887931"/>
            <a:ext cx="1463040" cy="384048"/>
          </a:xfrm>
          <a:prstGeom prst="rect">
            <a:avLst/>
          </a:prstGeom>
          <a:noFill/>
          <a:ln/>
        </p:spPr>
        <p:txBody>
          <a:bodyPr wrap="square" lIns="0" tIns="0" rIns="0" bIns="0" rtlCol="0" anchor="ctr"/>
          <a:lstStyle/>
          <a:p>
            <a:pPr algn="ctr" indent="0" marL="0">
              <a:buNone/>
            </a:pPr>
            <a:r>
              <a:rPr lang="en-US" sz="850" b="1" spc="80" kern="0" dirty="0">
                <a:solidFill>
                  <a:srgbClr val="F0C96B"/>
                </a:solidFill>
                <a:latin typeface="Arial" pitchFamily="34" charset="0"/>
                <a:ea typeface="Arial" pitchFamily="34" charset="-122"/>
                <a:cs typeface="Arial" pitchFamily="34" charset="-120"/>
              </a:rPr>
              <a:t>CHRONOPOLI</a:t>
            </a:r>
            <a:endParaRPr lang="en-US" sz="850" dirty="0"/>
          </a:p>
        </p:txBody>
      </p:sp>
      <p:sp>
        <p:nvSpPr>
          <p:cNvPr id="13" name="Text 10"/>
          <p:cNvSpPr txBox="1"/>
          <p:nvPr/>
        </p:nvSpPr>
        <p:spPr>
          <a:xfrm>
            <a:off x="10652760" y="1887931"/>
            <a:ext cx="1081735" cy="384048"/>
          </a:xfrm>
          <a:prstGeom prst="rect">
            <a:avLst/>
          </a:prstGeom>
          <a:noFill/>
          <a:ln/>
        </p:spPr>
        <p:txBody>
          <a:bodyPr wrap="square" lIns="0" tIns="0" rIns="0" bIns="0" rtlCol="0" anchor="ctr"/>
          <a:lstStyle/>
          <a:p>
            <a:pPr algn="ctr" indent="0" marL="0">
              <a:buNone/>
            </a:pPr>
            <a:r>
              <a:rPr lang="en-US" sz="850" b="1" spc="80" kern="0" dirty="0">
                <a:solidFill>
                  <a:srgbClr val="8E8EA2"/>
                </a:solidFill>
                <a:latin typeface="Arial" pitchFamily="34" charset="0"/>
                <a:ea typeface="Arial" pitchFamily="34" charset="-122"/>
                <a:cs typeface="Arial" pitchFamily="34" charset="-120"/>
              </a:rPr>
              <a:t>SHOWN ON</a:t>
            </a:r>
            <a:endParaRPr lang="en-US" sz="850" dirty="0"/>
          </a:p>
        </p:txBody>
      </p:sp>
      <p:sp>
        <p:nvSpPr>
          <p:cNvPr id="14" name="Shape 11"/>
          <p:cNvSpPr/>
          <p:nvPr/>
        </p:nvSpPr>
        <p:spPr>
          <a:xfrm>
            <a:off x="457200" y="2271979"/>
            <a:ext cx="11277295" cy="0"/>
          </a:xfrm>
          <a:prstGeom prst="line">
            <a:avLst/>
          </a:prstGeom>
          <a:noFill/>
          <a:ln w="6350">
            <a:solidFill>
              <a:srgbClr val="2C2C3E"/>
            </a:solidFill>
            <a:prstDash val="solid"/>
          </a:ln>
        </p:spPr>
      </p:sp>
      <p:sp>
        <p:nvSpPr>
          <p:cNvPr id="15" name="Text 12"/>
          <p:cNvSpPr txBox="1"/>
          <p:nvPr/>
        </p:nvSpPr>
        <p:spPr>
          <a:xfrm>
            <a:off x="566928" y="227197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AI-generated content pipeline</a:t>
            </a:r>
            <a:endParaRPr lang="en-US" sz="1300" dirty="0"/>
          </a:p>
        </p:txBody>
      </p:sp>
      <p:pic>
        <p:nvPicPr>
          <p:cNvPr id="16" name="Image 0" descr="preencoded.png">    </p:cNvPr>
          <p:cNvPicPr>
            <a:picLocks noChangeAspect="1"/>
          </p:cNvPicPr>
          <p:nvPr/>
        </p:nvPicPr>
        <p:blipFill>
          <a:blip r:embed="rId2"/>
          <a:stretch>
            <a:fillRect/>
          </a:stretch>
        </p:blipFill>
        <p:spPr>
          <a:xfrm>
            <a:off x="5440680" y="2369447"/>
            <a:ext cx="182880" cy="182880"/>
          </a:xfrm>
          <a:prstGeom prst="rect">
            <a:avLst/>
          </a:prstGeom>
        </p:spPr>
      </p:pic>
      <p:pic>
        <p:nvPicPr>
          <p:cNvPr id="17" name="Image 1" descr="preencoded.png">    </p:cNvPr>
          <p:cNvPicPr>
            <a:picLocks noChangeAspect="1"/>
          </p:cNvPicPr>
          <p:nvPr/>
        </p:nvPicPr>
        <p:blipFill>
          <a:blip r:embed="rId3"/>
          <a:stretch>
            <a:fillRect/>
          </a:stretch>
        </p:blipFill>
        <p:spPr>
          <a:xfrm>
            <a:off x="6903720" y="2369447"/>
            <a:ext cx="182880" cy="182880"/>
          </a:xfrm>
          <a:prstGeom prst="rect">
            <a:avLst/>
          </a:prstGeom>
        </p:spPr>
      </p:pic>
      <p:pic>
        <p:nvPicPr>
          <p:cNvPr id="18" name="Image 2" descr="preencoded.png">    </p:cNvPr>
          <p:cNvPicPr>
            <a:picLocks noChangeAspect="1"/>
          </p:cNvPicPr>
          <p:nvPr/>
        </p:nvPicPr>
        <p:blipFill>
          <a:blip r:embed="rId4"/>
          <a:stretch>
            <a:fillRect/>
          </a:stretch>
        </p:blipFill>
        <p:spPr>
          <a:xfrm>
            <a:off x="8366760" y="2369447"/>
            <a:ext cx="182880" cy="182880"/>
          </a:xfrm>
          <a:prstGeom prst="rect">
            <a:avLst/>
          </a:prstGeom>
        </p:spPr>
      </p:pic>
      <p:pic>
        <p:nvPicPr>
          <p:cNvPr id="19" name="Image 3" descr="preencoded.png">    </p:cNvPr>
          <p:cNvPicPr>
            <a:picLocks noChangeAspect="1"/>
          </p:cNvPicPr>
          <p:nvPr/>
        </p:nvPicPr>
        <p:blipFill>
          <a:blip r:embed="rId5"/>
          <a:stretch>
            <a:fillRect/>
          </a:stretch>
        </p:blipFill>
        <p:spPr>
          <a:xfrm>
            <a:off x="9802368" y="2342015"/>
            <a:ext cx="237744" cy="237744"/>
          </a:xfrm>
          <a:prstGeom prst="rect">
            <a:avLst/>
          </a:prstGeom>
        </p:spPr>
      </p:pic>
      <p:sp>
        <p:nvSpPr>
          <p:cNvPr id="20" name="Text 13"/>
          <p:cNvSpPr txBox="1"/>
          <p:nvPr/>
        </p:nvSpPr>
        <p:spPr>
          <a:xfrm>
            <a:off x="10652760" y="227197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1" name="Shape 14"/>
          <p:cNvSpPr/>
          <p:nvPr/>
        </p:nvSpPr>
        <p:spPr>
          <a:xfrm>
            <a:off x="457200" y="2649796"/>
            <a:ext cx="11277295" cy="0"/>
          </a:xfrm>
          <a:prstGeom prst="line">
            <a:avLst/>
          </a:prstGeom>
          <a:noFill/>
          <a:ln w="6350">
            <a:solidFill>
              <a:srgbClr val="2C2C3E"/>
            </a:solidFill>
            <a:prstDash val="solid"/>
          </a:ln>
        </p:spPr>
      </p:sp>
      <p:sp>
        <p:nvSpPr>
          <p:cNvPr id="22" name="Text 15"/>
          <p:cNvSpPr txBox="1"/>
          <p:nvPr/>
        </p:nvSpPr>
        <p:spPr>
          <a:xfrm>
            <a:off x="566928" y="2649796"/>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Live round tables + automatic opinion papers</a:t>
            </a:r>
            <a:endParaRPr lang="en-US" sz="1300" dirty="0"/>
          </a:p>
        </p:txBody>
      </p:sp>
      <p:pic>
        <p:nvPicPr>
          <p:cNvPr id="23" name="Image 4" descr="preencoded.png">    </p:cNvPr>
          <p:cNvPicPr>
            <a:picLocks noChangeAspect="1"/>
          </p:cNvPicPr>
          <p:nvPr/>
        </p:nvPicPr>
        <p:blipFill>
          <a:blip r:embed="rId6"/>
          <a:stretch>
            <a:fillRect/>
          </a:stretch>
        </p:blipFill>
        <p:spPr>
          <a:xfrm>
            <a:off x="5440680" y="2747264"/>
            <a:ext cx="182880" cy="182880"/>
          </a:xfrm>
          <a:prstGeom prst="rect">
            <a:avLst/>
          </a:prstGeom>
        </p:spPr>
      </p:pic>
      <p:pic>
        <p:nvPicPr>
          <p:cNvPr id="24" name="Image 5" descr="preencoded.png">    </p:cNvPr>
          <p:cNvPicPr>
            <a:picLocks noChangeAspect="1"/>
          </p:cNvPicPr>
          <p:nvPr/>
        </p:nvPicPr>
        <p:blipFill>
          <a:blip r:embed="rId7"/>
          <a:stretch>
            <a:fillRect/>
          </a:stretch>
        </p:blipFill>
        <p:spPr>
          <a:xfrm>
            <a:off x="6903720" y="2747264"/>
            <a:ext cx="182880" cy="182880"/>
          </a:xfrm>
          <a:prstGeom prst="rect">
            <a:avLst/>
          </a:prstGeom>
        </p:spPr>
      </p:pic>
      <p:pic>
        <p:nvPicPr>
          <p:cNvPr id="25" name="Image 6" descr="preencoded.png">    </p:cNvPr>
          <p:cNvPicPr>
            <a:picLocks noChangeAspect="1"/>
          </p:cNvPicPr>
          <p:nvPr/>
        </p:nvPicPr>
        <p:blipFill>
          <a:blip r:embed="rId8"/>
          <a:stretch>
            <a:fillRect/>
          </a:stretch>
        </p:blipFill>
        <p:spPr>
          <a:xfrm>
            <a:off x="8366760" y="2747264"/>
            <a:ext cx="182880" cy="182880"/>
          </a:xfrm>
          <a:prstGeom prst="rect">
            <a:avLst/>
          </a:prstGeom>
        </p:spPr>
      </p:pic>
      <p:pic>
        <p:nvPicPr>
          <p:cNvPr id="26" name="Image 7" descr="preencoded.png">    </p:cNvPr>
          <p:cNvPicPr>
            <a:picLocks noChangeAspect="1"/>
          </p:cNvPicPr>
          <p:nvPr/>
        </p:nvPicPr>
        <p:blipFill>
          <a:blip r:embed="rId9"/>
          <a:stretch>
            <a:fillRect/>
          </a:stretch>
        </p:blipFill>
        <p:spPr>
          <a:xfrm>
            <a:off x="9802368" y="2719832"/>
            <a:ext cx="237744" cy="237744"/>
          </a:xfrm>
          <a:prstGeom prst="rect">
            <a:avLst/>
          </a:prstGeom>
        </p:spPr>
      </p:pic>
      <p:sp>
        <p:nvSpPr>
          <p:cNvPr id="27" name="Text 16"/>
          <p:cNvSpPr txBox="1"/>
          <p:nvPr/>
        </p:nvSpPr>
        <p:spPr>
          <a:xfrm>
            <a:off x="10652760" y="2649796"/>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28" name="Shape 17"/>
          <p:cNvSpPr/>
          <p:nvPr/>
        </p:nvSpPr>
        <p:spPr>
          <a:xfrm>
            <a:off x="457200" y="3027612"/>
            <a:ext cx="11277295" cy="0"/>
          </a:xfrm>
          <a:prstGeom prst="line">
            <a:avLst/>
          </a:prstGeom>
          <a:noFill/>
          <a:ln w="6350">
            <a:solidFill>
              <a:srgbClr val="2C2C3E"/>
            </a:solidFill>
            <a:prstDash val="solid"/>
          </a:ln>
        </p:spPr>
      </p:sp>
      <p:sp>
        <p:nvSpPr>
          <p:cNvPr id="29" name="Text 18"/>
          <p:cNvSpPr txBox="1"/>
          <p:nvPr/>
        </p:nvSpPr>
        <p:spPr>
          <a:xfrm>
            <a:off x="566928" y="302761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Digital Twin expert system</a:t>
            </a:r>
            <a:endParaRPr lang="en-US" sz="1300" dirty="0"/>
          </a:p>
        </p:txBody>
      </p:sp>
      <p:pic>
        <p:nvPicPr>
          <p:cNvPr id="30" name="Image 8" descr="preencoded.png">    </p:cNvPr>
          <p:cNvPicPr>
            <a:picLocks noChangeAspect="1"/>
          </p:cNvPicPr>
          <p:nvPr/>
        </p:nvPicPr>
        <p:blipFill>
          <a:blip r:embed="rId10"/>
          <a:stretch>
            <a:fillRect/>
          </a:stretch>
        </p:blipFill>
        <p:spPr>
          <a:xfrm>
            <a:off x="5440680" y="3125081"/>
            <a:ext cx="182880" cy="182880"/>
          </a:xfrm>
          <a:prstGeom prst="rect">
            <a:avLst/>
          </a:prstGeom>
        </p:spPr>
      </p:pic>
      <p:pic>
        <p:nvPicPr>
          <p:cNvPr id="31" name="Image 9" descr="preencoded.png">    </p:cNvPr>
          <p:cNvPicPr>
            <a:picLocks noChangeAspect="1"/>
          </p:cNvPicPr>
          <p:nvPr/>
        </p:nvPicPr>
        <p:blipFill>
          <a:blip r:embed="rId11"/>
          <a:stretch>
            <a:fillRect/>
          </a:stretch>
        </p:blipFill>
        <p:spPr>
          <a:xfrm>
            <a:off x="6903720" y="3125081"/>
            <a:ext cx="182880" cy="182880"/>
          </a:xfrm>
          <a:prstGeom prst="rect">
            <a:avLst/>
          </a:prstGeom>
        </p:spPr>
      </p:pic>
      <p:pic>
        <p:nvPicPr>
          <p:cNvPr id="32" name="Image 10" descr="preencoded.png">    </p:cNvPr>
          <p:cNvPicPr>
            <a:picLocks noChangeAspect="1"/>
          </p:cNvPicPr>
          <p:nvPr/>
        </p:nvPicPr>
        <p:blipFill>
          <a:blip r:embed="rId12"/>
          <a:stretch>
            <a:fillRect/>
          </a:stretch>
        </p:blipFill>
        <p:spPr>
          <a:xfrm>
            <a:off x="8366760" y="3125081"/>
            <a:ext cx="182880" cy="182880"/>
          </a:xfrm>
          <a:prstGeom prst="rect">
            <a:avLst/>
          </a:prstGeom>
        </p:spPr>
      </p:pic>
      <p:pic>
        <p:nvPicPr>
          <p:cNvPr id="33" name="Image 11" descr="preencoded.png">    </p:cNvPr>
          <p:cNvPicPr>
            <a:picLocks noChangeAspect="1"/>
          </p:cNvPicPr>
          <p:nvPr/>
        </p:nvPicPr>
        <p:blipFill>
          <a:blip r:embed="rId13"/>
          <a:stretch>
            <a:fillRect/>
          </a:stretch>
        </p:blipFill>
        <p:spPr>
          <a:xfrm>
            <a:off x="9802368" y="3097649"/>
            <a:ext cx="237744" cy="237744"/>
          </a:xfrm>
          <a:prstGeom prst="rect">
            <a:avLst/>
          </a:prstGeom>
        </p:spPr>
      </p:pic>
      <p:sp>
        <p:nvSpPr>
          <p:cNvPr id="34" name="Text 19"/>
          <p:cNvSpPr txBox="1"/>
          <p:nvPr/>
        </p:nvSpPr>
        <p:spPr>
          <a:xfrm>
            <a:off x="10652760" y="302761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29</a:t>
            </a:r>
            <a:endParaRPr lang="en-US" sz="1050" dirty="0"/>
          </a:p>
        </p:txBody>
      </p:sp>
      <p:sp>
        <p:nvSpPr>
          <p:cNvPr id="35" name="Shape 20"/>
          <p:cNvSpPr/>
          <p:nvPr/>
        </p:nvSpPr>
        <p:spPr>
          <a:xfrm>
            <a:off x="457200" y="3405429"/>
            <a:ext cx="11277295" cy="0"/>
          </a:xfrm>
          <a:prstGeom prst="line">
            <a:avLst/>
          </a:prstGeom>
          <a:noFill/>
          <a:ln w="6350">
            <a:solidFill>
              <a:srgbClr val="2C2C3E"/>
            </a:solidFill>
            <a:prstDash val="solid"/>
          </a:ln>
        </p:spPr>
      </p:sp>
      <p:sp>
        <p:nvSpPr>
          <p:cNvPr id="36" name="Text 21"/>
          <p:cNvSpPr txBox="1"/>
          <p:nvPr/>
        </p:nvSpPr>
        <p:spPr>
          <a:xfrm>
            <a:off x="566928" y="3405429"/>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Seven cross-sector Knowledge Districts</a:t>
            </a:r>
            <a:endParaRPr lang="en-US" sz="1300" dirty="0"/>
          </a:p>
        </p:txBody>
      </p:sp>
      <p:pic>
        <p:nvPicPr>
          <p:cNvPr id="37" name="Image 12" descr="preencoded.png">    </p:cNvPr>
          <p:cNvPicPr>
            <a:picLocks noChangeAspect="1"/>
          </p:cNvPicPr>
          <p:nvPr/>
        </p:nvPicPr>
        <p:blipFill>
          <a:blip r:embed="rId14"/>
          <a:stretch>
            <a:fillRect/>
          </a:stretch>
        </p:blipFill>
        <p:spPr>
          <a:xfrm>
            <a:off x="5440680" y="3502897"/>
            <a:ext cx="182880" cy="182880"/>
          </a:xfrm>
          <a:prstGeom prst="rect">
            <a:avLst/>
          </a:prstGeom>
        </p:spPr>
      </p:pic>
      <p:pic>
        <p:nvPicPr>
          <p:cNvPr id="38" name="Image 13" descr="preencoded.png">    </p:cNvPr>
          <p:cNvPicPr>
            <a:picLocks noChangeAspect="1"/>
          </p:cNvPicPr>
          <p:nvPr/>
        </p:nvPicPr>
        <p:blipFill>
          <a:blip r:embed="rId15"/>
          <a:stretch>
            <a:fillRect/>
          </a:stretch>
        </p:blipFill>
        <p:spPr>
          <a:xfrm>
            <a:off x="6903720" y="3502897"/>
            <a:ext cx="182880" cy="182880"/>
          </a:xfrm>
          <a:prstGeom prst="rect">
            <a:avLst/>
          </a:prstGeom>
        </p:spPr>
      </p:pic>
      <p:pic>
        <p:nvPicPr>
          <p:cNvPr id="39" name="Image 14" descr="preencoded.png">    </p:cNvPr>
          <p:cNvPicPr>
            <a:picLocks noChangeAspect="1"/>
          </p:cNvPicPr>
          <p:nvPr/>
        </p:nvPicPr>
        <p:blipFill>
          <a:blip r:embed="rId16"/>
          <a:stretch>
            <a:fillRect/>
          </a:stretch>
        </p:blipFill>
        <p:spPr>
          <a:xfrm>
            <a:off x="8366760" y="3502897"/>
            <a:ext cx="182880" cy="182880"/>
          </a:xfrm>
          <a:prstGeom prst="rect">
            <a:avLst/>
          </a:prstGeom>
        </p:spPr>
      </p:pic>
      <p:pic>
        <p:nvPicPr>
          <p:cNvPr id="40" name="Image 15" descr="preencoded.png">    </p:cNvPr>
          <p:cNvPicPr>
            <a:picLocks noChangeAspect="1"/>
          </p:cNvPicPr>
          <p:nvPr/>
        </p:nvPicPr>
        <p:blipFill>
          <a:blip r:embed="rId17"/>
          <a:stretch>
            <a:fillRect/>
          </a:stretch>
        </p:blipFill>
        <p:spPr>
          <a:xfrm>
            <a:off x="9802368" y="3475465"/>
            <a:ext cx="237744" cy="237744"/>
          </a:xfrm>
          <a:prstGeom prst="rect">
            <a:avLst/>
          </a:prstGeom>
        </p:spPr>
      </p:pic>
      <p:sp>
        <p:nvSpPr>
          <p:cNvPr id="41" name="Text 22"/>
          <p:cNvSpPr txBox="1"/>
          <p:nvPr/>
        </p:nvSpPr>
        <p:spPr>
          <a:xfrm>
            <a:off x="10652760" y="3405429"/>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42" name="Shape 23"/>
          <p:cNvSpPr/>
          <p:nvPr/>
        </p:nvSpPr>
        <p:spPr>
          <a:xfrm>
            <a:off x="457200" y="3783245"/>
            <a:ext cx="11277295" cy="0"/>
          </a:xfrm>
          <a:prstGeom prst="line">
            <a:avLst/>
          </a:prstGeom>
          <a:noFill/>
          <a:ln w="6350">
            <a:solidFill>
              <a:srgbClr val="2C2C3E"/>
            </a:solidFill>
            <a:prstDash val="solid"/>
          </a:ln>
        </p:spPr>
      </p:sp>
      <p:sp>
        <p:nvSpPr>
          <p:cNvPr id="43" name="Text 24"/>
          <p:cNvSpPr txBox="1"/>
          <p:nvPr/>
        </p:nvSpPr>
        <p:spPr>
          <a:xfrm>
            <a:off x="566928" y="378324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Verified Open Badges 2.0 credentials</a:t>
            </a:r>
            <a:endParaRPr lang="en-US" sz="1300" dirty="0"/>
          </a:p>
        </p:txBody>
      </p:sp>
      <p:pic>
        <p:nvPicPr>
          <p:cNvPr id="44" name="Image 16" descr="preencoded.png">    </p:cNvPr>
          <p:cNvPicPr>
            <a:picLocks noChangeAspect="1"/>
          </p:cNvPicPr>
          <p:nvPr/>
        </p:nvPicPr>
        <p:blipFill>
          <a:blip r:embed="rId18"/>
          <a:stretch>
            <a:fillRect/>
          </a:stretch>
        </p:blipFill>
        <p:spPr>
          <a:xfrm>
            <a:off x="5440680" y="3880714"/>
            <a:ext cx="182880" cy="182880"/>
          </a:xfrm>
          <a:prstGeom prst="rect">
            <a:avLst/>
          </a:prstGeom>
        </p:spPr>
      </p:pic>
      <p:pic>
        <p:nvPicPr>
          <p:cNvPr id="45" name="Image 17" descr="preencoded.png">    </p:cNvPr>
          <p:cNvPicPr>
            <a:picLocks noChangeAspect="1"/>
          </p:cNvPicPr>
          <p:nvPr/>
        </p:nvPicPr>
        <p:blipFill>
          <a:blip r:embed="rId19"/>
          <a:stretch>
            <a:fillRect/>
          </a:stretch>
        </p:blipFill>
        <p:spPr>
          <a:xfrm>
            <a:off x="6903720" y="3880714"/>
            <a:ext cx="182880" cy="182880"/>
          </a:xfrm>
          <a:prstGeom prst="rect">
            <a:avLst/>
          </a:prstGeom>
        </p:spPr>
      </p:pic>
      <p:pic>
        <p:nvPicPr>
          <p:cNvPr id="46" name="Image 18" descr="preencoded.png">    </p:cNvPr>
          <p:cNvPicPr>
            <a:picLocks noChangeAspect="1"/>
          </p:cNvPicPr>
          <p:nvPr/>
        </p:nvPicPr>
        <p:blipFill>
          <a:blip r:embed="rId20"/>
          <a:stretch>
            <a:fillRect/>
          </a:stretch>
        </p:blipFill>
        <p:spPr>
          <a:xfrm>
            <a:off x="8366760" y="3880714"/>
            <a:ext cx="182880" cy="182880"/>
          </a:xfrm>
          <a:prstGeom prst="rect">
            <a:avLst/>
          </a:prstGeom>
        </p:spPr>
      </p:pic>
      <p:pic>
        <p:nvPicPr>
          <p:cNvPr id="47" name="Image 19" descr="preencoded.png">    </p:cNvPr>
          <p:cNvPicPr>
            <a:picLocks noChangeAspect="1"/>
          </p:cNvPicPr>
          <p:nvPr/>
        </p:nvPicPr>
        <p:blipFill>
          <a:blip r:embed="rId21"/>
          <a:stretch>
            <a:fillRect/>
          </a:stretch>
        </p:blipFill>
        <p:spPr>
          <a:xfrm>
            <a:off x="9802368" y="3853282"/>
            <a:ext cx="237744" cy="237744"/>
          </a:xfrm>
          <a:prstGeom prst="rect">
            <a:avLst/>
          </a:prstGeom>
        </p:spPr>
      </p:pic>
      <p:sp>
        <p:nvSpPr>
          <p:cNvPr id="48" name="Text 25"/>
          <p:cNvSpPr txBox="1"/>
          <p:nvPr/>
        </p:nvSpPr>
        <p:spPr>
          <a:xfrm>
            <a:off x="10652760" y="378324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8</a:t>
            </a:r>
            <a:endParaRPr lang="en-US" sz="1050" dirty="0"/>
          </a:p>
        </p:txBody>
      </p:sp>
      <p:sp>
        <p:nvSpPr>
          <p:cNvPr id="49" name="Shape 26"/>
          <p:cNvSpPr/>
          <p:nvPr/>
        </p:nvSpPr>
        <p:spPr>
          <a:xfrm>
            <a:off x="457200" y="4161062"/>
            <a:ext cx="11277295" cy="0"/>
          </a:xfrm>
          <a:prstGeom prst="line">
            <a:avLst/>
          </a:prstGeom>
          <a:noFill/>
          <a:ln w="6350">
            <a:solidFill>
              <a:srgbClr val="2C2C3E"/>
            </a:solidFill>
            <a:prstDash val="solid"/>
          </a:ln>
        </p:spPr>
      </p:sp>
      <p:sp>
        <p:nvSpPr>
          <p:cNvPr id="50" name="Text 27"/>
          <p:cNvSpPr txBox="1"/>
          <p:nvPr/>
        </p:nvSpPr>
        <p:spPr>
          <a:xfrm>
            <a:off x="566928" y="4161062"/>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Automated talent pipeline</a:t>
            </a:r>
            <a:endParaRPr lang="en-US" sz="1300" dirty="0"/>
          </a:p>
        </p:txBody>
      </p:sp>
      <p:pic>
        <p:nvPicPr>
          <p:cNvPr id="51" name="Image 20" descr="preencoded.png">    </p:cNvPr>
          <p:cNvPicPr>
            <a:picLocks noChangeAspect="1"/>
          </p:cNvPicPr>
          <p:nvPr/>
        </p:nvPicPr>
        <p:blipFill>
          <a:blip r:embed="rId22"/>
          <a:stretch>
            <a:fillRect/>
          </a:stretch>
        </p:blipFill>
        <p:spPr>
          <a:xfrm>
            <a:off x="5440680" y="4258530"/>
            <a:ext cx="182880" cy="182880"/>
          </a:xfrm>
          <a:prstGeom prst="rect">
            <a:avLst/>
          </a:prstGeom>
        </p:spPr>
      </p:pic>
      <p:pic>
        <p:nvPicPr>
          <p:cNvPr id="52" name="Image 21" descr="preencoded.png">    </p:cNvPr>
          <p:cNvPicPr>
            <a:picLocks noChangeAspect="1"/>
          </p:cNvPicPr>
          <p:nvPr/>
        </p:nvPicPr>
        <p:blipFill>
          <a:blip r:embed="rId23"/>
          <a:stretch>
            <a:fillRect/>
          </a:stretch>
        </p:blipFill>
        <p:spPr>
          <a:xfrm>
            <a:off x="6903720" y="4258530"/>
            <a:ext cx="182880" cy="182880"/>
          </a:xfrm>
          <a:prstGeom prst="rect">
            <a:avLst/>
          </a:prstGeom>
        </p:spPr>
      </p:pic>
      <p:pic>
        <p:nvPicPr>
          <p:cNvPr id="53" name="Image 22" descr="preencoded.png">    </p:cNvPr>
          <p:cNvPicPr>
            <a:picLocks noChangeAspect="1"/>
          </p:cNvPicPr>
          <p:nvPr/>
        </p:nvPicPr>
        <p:blipFill>
          <a:blip r:embed="rId24"/>
          <a:stretch>
            <a:fillRect/>
          </a:stretch>
        </p:blipFill>
        <p:spPr>
          <a:xfrm>
            <a:off x="8366760" y="4258530"/>
            <a:ext cx="182880" cy="182880"/>
          </a:xfrm>
          <a:prstGeom prst="rect">
            <a:avLst/>
          </a:prstGeom>
        </p:spPr>
      </p:pic>
      <p:pic>
        <p:nvPicPr>
          <p:cNvPr id="54" name="Image 23" descr="preencoded.png">    </p:cNvPr>
          <p:cNvPicPr>
            <a:picLocks noChangeAspect="1"/>
          </p:cNvPicPr>
          <p:nvPr/>
        </p:nvPicPr>
        <p:blipFill>
          <a:blip r:embed="rId25"/>
          <a:stretch>
            <a:fillRect/>
          </a:stretch>
        </p:blipFill>
        <p:spPr>
          <a:xfrm>
            <a:off x="9802368" y="4231098"/>
            <a:ext cx="237744" cy="237744"/>
          </a:xfrm>
          <a:prstGeom prst="rect">
            <a:avLst/>
          </a:prstGeom>
        </p:spPr>
      </p:pic>
      <p:sp>
        <p:nvSpPr>
          <p:cNvPr id="55" name="Text 28"/>
          <p:cNvSpPr txBox="1"/>
          <p:nvPr/>
        </p:nvSpPr>
        <p:spPr>
          <a:xfrm>
            <a:off x="10652760" y="4161062"/>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9</a:t>
            </a:r>
            <a:endParaRPr lang="en-US" sz="1050" dirty="0"/>
          </a:p>
        </p:txBody>
      </p:sp>
      <p:sp>
        <p:nvSpPr>
          <p:cNvPr id="56" name="Shape 29"/>
          <p:cNvSpPr/>
          <p:nvPr/>
        </p:nvSpPr>
        <p:spPr>
          <a:xfrm>
            <a:off x="457200" y="4538878"/>
            <a:ext cx="11277295" cy="0"/>
          </a:xfrm>
          <a:prstGeom prst="line">
            <a:avLst/>
          </a:prstGeom>
          <a:noFill/>
          <a:ln w="6350">
            <a:solidFill>
              <a:srgbClr val="2C2C3E"/>
            </a:solidFill>
            <a:prstDash val="solid"/>
          </a:ln>
        </p:spPr>
      </p:sp>
      <p:sp>
        <p:nvSpPr>
          <p:cNvPr id="57" name="Text 30"/>
          <p:cNvSpPr txBox="1"/>
          <p:nvPr/>
        </p:nvSpPr>
        <p:spPr>
          <a:xfrm>
            <a:off x="566928" y="4538878"/>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Partner Intelligence Reports</a:t>
            </a:r>
            <a:endParaRPr lang="en-US" sz="1300" dirty="0"/>
          </a:p>
        </p:txBody>
      </p:sp>
      <p:pic>
        <p:nvPicPr>
          <p:cNvPr id="58" name="Image 24" descr="preencoded.png">    </p:cNvPr>
          <p:cNvPicPr>
            <a:picLocks noChangeAspect="1"/>
          </p:cNvPicPr>
          <p:nvPr/>
        </p:nvPicPr>
        <p:blipFill>
          <a:blip r:embed="rId26"/>
          <a:stretch>
            <a:fillRect/>
          </a:stretch>
        </p:blipFill>
        <p:spPr>
          <a:xfrm>
            <a:off x="5440680" y="4636347"/>
            <a:ext cx="182880" cy="182880"/>
          </a:xfrm>
          <a:prstGeom prst="rect">
            <a:avLst/>
          </a:prstGeom>
        </p:spPr>
      </p:pic>
      <p:pic>
        <p:nvPicPr>
          <p:cNvPr id="59" name="Image 25" descr="preencoded.png">    </p:cNvPr>
          <p:cNvPicPr>
            <a:picLocks noChangeAspect="1"/>
          </p:cNvPicPr>
          <p:nvPr/>
        </p:nvPicPr>
        <p:blipFill>
          <a:blip r:embed="rId27"/>
          <a:stretch>
            <a:fillRect/>
          </a:stretch>
        </p:blipFill>
        <p:spPr>
          <a:xfrm>
            <a:off x="6903720" y="4636347"/>
            <a:ext cx="182880" cy="182880"/>
          </a:xfrm>
          <a:prstGeom prst="rect">
            <a:avLst/>
          </a:prstGeom>
        </p:spPr>
      </p:pic>
      <p:pic>
        <p:nvPicPr>
          <p:cNvPr id="60" name="Image 26" descr="preencoded.png">    </p:cNvPr>
          <p:cNvPicPr>
            <a:picLocks noChangeAspect="1"/>
          </p:cNvPicPr>
          <p:nvPr/>
        </p:nvPicPr>
        <p:blipFill>
          <a:blip r:embed="rId28"/>
          <a:stretch>
            <a:fillRect/>
          </a:stretch>
        </p:blipFill>
        <p:spPr>
          <a:xfrm>
            <a:off x="8366760" y="4636347"/>
            <a:ext cx="182880" cy="182880"/>
          </a:xfrm>
          <a:prstGeom prst="rect">
            <a:avLst/>
          </a:prstGeom>
        </p:spPr>
      </p:pic>
      <p:pic>
        <p:nvPicPr>
          <p:cNvPr id="61" name="Image 27" descr="preencoded.png">    </p:cNvPr>
          <p:cNvPicPr>
            <a:picLocks noChangeAspect="1"/>
          </p:cNvPicPr>
          <p:nvPr/>
        </p:nvPicPr>
        <p:blipFill>
          <a:blip r:embed="rId29"/>
          <a:stretch>
            <a:fillRect/>
          </a:stretch>
        </p:blipFill>
        <p:spPr>
          <a:xfrm>
            <a:off x="9802368" y="4608915"/>
            <a:ext cx="237744" cy="237744"/>
          </a:xfrm>
          <a:prstGeom prst="rect">
            <a:avLst/>
          </a:prstGeom>
        </p:spPr>
      </p:pic>
      <p:sp>
        <p:nvSpPr>
          <p:cNvPr id="62" name="Text 31"/>
          <p:cNvSpPr txBox="1"/>
          <p:nvPr/>
        </p:nvSpPr>
        <p:spPr>
          <a:xfrm>
            <a:off x="10652760" y="4538878"/>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12</a:t>
            </a:r>
            <a:endParaRPr lang="en-US" sz="1050" dirty="0"/>
          </a:p>
        </p:txBody>
      </p:sp>
      <p:sp>
        <p:nvSpPr>
          <p:cNvPr id="63" name="Shape 32"/>
          <p:cNvSpPr/>
          <p:nvPr/>
        </p:nvSpPr>
        <p:spPr>
          <a:xfrm>
            <a:off x="457200" y="4916695"/>
            <a:ext cx="11277295" cy="0"/>
          </a:xfrm>
          <a:prstGeom prst="line">
            <a:avLst/>
          </a:prstGeom>
          <a:noFill/>
          <a:ln w="6350">
            <a:solidFill>
              <a:srgbClr val="2C2C3E"/>
            </a:solidFill>
            <a:prstDash val="solid"/>
          </a:ln>
        </p:spPr>
      </p:sp>
      <p:sp>
        <p:nvSpPr>
          <p:cNvPr id="64" name="Text 33"/>
          <p:cNvSpPr txBox="1"/>
          <p:nvPr/>
        </p:nvSpPr>
        <p:spPr>
          <a:xfrm>
            <a:off x="566928" y="4916695"/>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Curriculum updates in under 48 h</a:t>
            </a:r>
            <a:endParaRPr lang="en-US" sz="1300" dirty="0"/>
          </a:p>
        </p:txBody>
      </p:sp>
      <p:pic>
        <p:nvPicPr>
          <p:cNvPr id="65" name="Image 28" descr="preencoded.png">    </p:cNvPr>
          <p:cNvPicPr>
            <a:picLocks noChangeAspect="1"/>
          </p:cNvPicPr>
          <p:nvPr/>
        </p:nvPicPr>
        <p:blipFill>
          <a:blip r:embed="rId30"/>
          <a:stretch>
            <a:fillRect/>
          </a:stretch>
        </p:blipFill>
        <p:spPr>
          <a:xfrm>
            <a:off x="5440680" y="5014163"/>
            <a:ext cx="182880" cy="182880"/>
          </a:xfrm>
          <a:prstGeom prst="rect">
            <a:avLst/>
          </a:prstGeom>
        </p:spPr>
      </p:pic>
      <p:pic>
        <p:nvPicPr>
          <p:cNvPr id="66" name="Image 29" descr="preencoded.png">    </p:cNvPr>
          <p:cNvPicPr>
            <a:picLocks noChangeAspect="1"/>
          </p:cNvPicPr>
          <p:nvPr/>
        </p:nvPicPr>
        <p:blipFill>
          <a:blip r:embed="rId31"/>
          <a:stretch>
            <a:fillRect/>
          </a:stretch>
        </p:blipFill>
        <p:spPr>
          <a:xfrm>
            <a:off x="6903720" y="5014163"/>
            <a:ext cx="182880" cy="182880"/>
          </a:xfrm>
          <a:prstGeom prst="rect">
            <a:avLst/>
          </a:prstGeom>
        </p:spPr>
      </p:pic>
      <p:pic>
        <p:nvPicPr>
          <p:cNvPr id="67" name="Image 30" descr="preencoded.png">    </p:cNvPr>
          <p:cNvPicPr>
            <a:picLocks noChangeAspect="1"/>
          </p:cNvPicPr>
          <p:nvPr/>
        </p:nvPicPr>
        <p:blipFill>
          <a:blip r:embed="rId32"/>
          <a:stretch>
            <a:fillRect/>
          </a:stretch>
        </p:blipFill>
        <p:spPr>
          <a:xfrm>
            <a:off x="8366760" y="5014163"/>
            <a:ext cx="182880" cy="182880"/>
          </a:xfrm>
          <a:prstGeom prst="rect">
            <a:avLst/>
          </a:prstGeom>
        </p:spPr>
      </p:pic>
      <p:pic>
        <p:nvPicPr>
          <p:cNvPr id="68" name="Image 31" descr="preencoded.png">    </p:cNvPr>
          <p:cNvPicPr>
            <a:picLocks noChangeAspect="1"/>
          </p:cNvPicPr>
          <p:nvPr/>
        </p:nvPicPr>
        <p:blipFill>
          <a:blip r:embed="rId33"/>
          <a:stretch>
            <a:fillRect/>
          </a:stretch>
        </p:blipFill>
        <p:spPr>
          <a:xfrm>
            <a:off x="9802368" y="4986731"/>
            <a:ext cx="237744" cy="237744"/>
          </a:xfrm>
          <a:prstGeom prst="rect">
            <a:avLst/>
          </a:prstGeom>
        </p:spPr>
      </p:pic>
      <p:sp>
        <p:nvSpPr>
          <p:cNvPr id="69" name="Text 34"/>
          <p:cNvSpPr txBox="1"/>
          <p:nvPr/>
        </p:nvSpPr>
        <p:spPr>
          <a:xfrm>
            <a:off x="10652760" y="4916695"/>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Slides 7, 12</a:t>
            </a:r>
            <a:endParaRPr lang="en-US" sz="1050" dirty="0"/>
          </a:p>
        </p:txBody>
      </p:sp>
      <p:sp>
        <p:nvSpPr>
          <p:cNvPr id="70" name="Shape 35"/>
          <p:cNvSpPr/>
          <p:nvPr/>
        </p:nvSpPr>
        <p:spPr>
          <a:xfrm>
            <a:off x="457200" y="5294511"/>
            <a:ext cx="11277295" cy="0"/>
          </a:xfrm>
          <a:prstGeom prst="line">
            <a:avLst/>
          </a:prstGeom>
          <a:noFill/>
          <a:ln w="6350">
            <a:solidFill>
              <a:srgbClr val="2C2C3E"/>
            </a:solidFill>
            <a:prstDash val="solid"/>
          </a:ln>
        </p:spPr>
      </p:sp>
      <p:sp>
        <p:nvSpPr>
          <p:cNvPr id="71" name="Text 36"/>
          <p:cNvSpPr txBox="1"/>
          <p:nvPr/>
        </p:nvSpPr>
        <p:spPr>
          <a:xfrm>
            <a:off x="566928" y="5294511"/>
            <a:ext cx="4160520" cy="377817"/>
          </a:xfrm>
          <a:prstGeom prst="rect">
            <a:avLst/>
          </a:prstGeom>
          <a:noFill/>
          <a:ln/>
        </p:spPr>
        <p:txBody>
          <a:bodyPr wrap="square" lIns="0" tIns="0" rIns="0" bIns="0" rtlCol="0" anchor="ctr"/>
          <a:lstStyle/>
          <a:p>
            <a:pPr indent="0" marL="0">
              <a:buNone/>
            </a:pPr>
            <a:r>
              <a:rPr lang="en-US" sz="1300" dirty="0">
                <a:solidFill>
                  <a:srgbClr val="E8E8F0"/>
                </a:solidFill>
                <a:latin typeface="Arial" pitchFamily="34" charset="0"/>
                <a:ea typeface="Arial" pitchFamily="34" charset="-122"/>
                <a:cs typeface="Arial" pitchFamily="34" charset="-120"/>
              </a:rPr>
              <a:t>Neutral cross-sector positioning</a:t>
            </a:r>
            <a:endParaRPr lang="en-US" sz="1300" dirty="0"/>
          </a:p>
        </p:txBody>
      </p:sp>
      <p:pic>
        <p:nvPicPr>
          <p:cNvPr id="72" name="Image 32" descr="preencoded.png">    </p:cNvPr>
          <p:cNvPicPr>
            <a:picLocks noChangeAspect="1"/>
          </p:cNvPicPr>
          <p:nvPr/>
        </p:nvPicPr>
        <p:blipFill>
          <a:blip r:embed="rId34"/>
          <a:stretch>
            <a:fillRect/>
          </a:stretch>
        </p:blipFill>
        <p:spPr>
          <a:xfrm>
            <a:off x="5440680" y="5391980"/>
            <a:ext cx="182880" cy="182880"/>
          </a:xfrm>
          <a:prstGeom prst="rect">
            <a:avLst/>
          </a:prstGeom>
        </p:spPr>
      </p:pic>
      <p:pic>
        <p:nvPicPr>
          <p:cNvPr id="73" name="Image 33" descr="preencoded.png">    </p:cNvPr>
          <p:cNvPicPr>
            <a:picLocks noChangeAspect="1"/>
          </p:cNvPicPr>
          <p:nvPr/>
        </p:nvPicPr>
        <p:blipFill>
          <a:blip r:embed="rId35"/>
          <a:stretch>
            <a:fillRect/>
          </a:stretch>
        </p:blipFill>
        <p:spPr>
          <a:xfrm>
            <a:off x="6903720" y="5391980"/>
            <a:ext cx="182880" cy="182880"/>
          </a:xfrm>
          <a:prstGeom prst="rect">
            <a:avLst/>
          </a:prstGeom>
        </p:spPr>
      </p:pic>
      <p:pic>
        <p:nvPicPr>
          <p:cNvPr id="74" name="Image 34" descr="preencoded.png">    </p:cNvPr>
          <p:cNvPicPr>
            <a:picLocks noChangeAspect="1"/>
          </p:cNvPicPr>
          <p:nvPr/>
        </p:nvPicPr>
        <p:blipFill>
          <a:blip r:embed="rId36"/>
          <a:stretch>
            <a:fillRect/>
          </a:stretch>
        </p:blipFill>
        <p:spPr>
          <a:xfrm>
            <a:off x="8366760" y="5391980"/>
            <a:ext cx="182880" cy="182880"/>
          </a:xfrm>
          <a:prstGeom prst="rect">
            <a:avLst/>
          </a:prstGeom>
        </p:spPr>
      </p:pic>
      <p:pic>
        <p:nvPicPr>
          <p:cNvPr id="75" name="Image 35" descr="preencoded.png">    </p:cNvPr>
          <p:cNvPicPr>
            <a:picLocks noChangeAspect="1"/>
          </p:cNvPicPr>
          <p:nvPr/>
        </p:nvPicPr>
        <p:blipFill>
          <a:blip r:embed="rId37"/>
          <a:stretch>
            <a:fillRect/>
          </a:stretch>
        </p:blipFill>
        <p:spPr>
          <a:xfrm>
            <a:off x="9802368" y="5364548"/>
            <a:ext cx="237744" cy="237744"/>
          </a:xfrm>
          <a:prstGeom prst="rect">
            <a:avLst/>
          </a:prstGeom>
        </p:spPr>
      </p:pic>
      <p:sp>
        <p:nvSpPr>
          <p:cNvPr id="76" name="Text 37"/>
          <p:cNvSpPr txBox="1"/>
          <p:nvPr/>
        </p:nvSpPr>
        <p:spPr>
          <a:xfrm>
            <a:off x="10652760" y="5294511"/>
            <a:ext cx="1081735" cy="377817"/>
          </a:xfrm>
          <a:prstGeom prst="rect">
            <a:avLst/>
          </a:prstGeom>
          <a:noFill/>
          <a:ln/>
        </p:spPr>
        <p:txBody>
          <a:bodyPr wrap="square" lIns="0" tIns="0" rIns="0" bIns="0" rtlCol="0" anchor="ctr"/>
          <a:lstStyle/>
          <a:p>
            <a:pPr algn="ctr" indent="0" marL="0">
              <a:buNone/>
            </a:pPr>
            <a:r>
              <a:rPr lang="en-US" sz="1050" dirty="0">
                <a:solidFill>
                  <a:srgbClr val="C9A84C"/>
                </a:solidFill>
                <a:latin typeface="Arial" pitchFamily="34" charset="0"/>
                <a:ea typeface="Arial" pitchFamily="34" charset="-122"/>
                <a:cs typeface="Arial" pitchFamily="34" charset="-120"/>
              </a:rPr>
              <a:t>Slide 2</a:t>
            </a:r>
            <a:endParaRPr lang="en-US" sz="1050" dirty="0"/>
          </a:p>
        </p:txBody>
      </p:sp>
      <p:sp>
        <p:nvSpPr>
          <p:cNvPr id="77" name="Shape 38"/>
          <p:cNvSpPr/>
          <p:nvPr/>
        </p:nvSpPr>
        <p:spPr>
          <a:xfrm>
            <a:off x="457200" y="5672328"/>
            <a:ext cx="11277295" cy="0"/>
          </a:xfrm>
          <a:prstGeom prst="line">
            <a:avLst/>
          </a:prstGeom>
          <a:noFill/>
          <a:ln w="6350">
            <a:solidFill>
              <a:srgbClr val="2C2C3E"/>
            </a:solidFill>
            <a:prstDash val="solid"/>
          </a:ln>
        </p:spPr>
      </p:sp>
      <p:pic>
        <p:nvPicPr>
          <p:cNvPr id="78" name="Image 36" descr="preencoded.png">    </p:cNvPr>
          <p:cNvPicPr>
            <a:picLocks noChangeAspect="1"/>
          </p:cNvPicPr>
          <p:nvPr/>
        </p:nvPicPr>
        <p:blipFill>
          <a:blip r:embed="rId38"/>
          <a:stretch>
            <a:fillRect/>
          </a:stretch>
        </p:blipFill>
        <p:spPr>
          <a:xfrm>
            <a:off x="457200" y="5954268"/>
            <a:ext cx="182880" cy="182880"/>
          </a:xfrm>
          <a:prstGeom prst="rect">
            <a:avLst/>
          </a:prstGeom>
        </p:spPr>
      </p:pic>
      <p:sp>
        <p:nvSpPr>
          <p:cNvPr id="79" name="Text 39"/>
          <p:cNvSpPr txBox="1"/>
          <p:nvPr/>
        </p:nvSpPr>
        <p:spPr>
          <a:xfrm>
            <a:off x="694944"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yes</a:t>
            </a:r>
            <a:endParaRPr lang="en-US" sz="1050" dirty="0"/>
          </a:p>
        </p:txBody>
      </p:sp>
      <p:pic>
        <p:nvPicPr>
          <p:cNvPr id="80" name="Image 37" descr="preencoded.png">    </p:cNvPr>
          <p:cNvPicPr>
            <a:picLocks noChangeAspect="1"/>
          </p:cNvPicPr>
          <p:nvPr/>
        </p:nvPicPr>
        <p:blipFill>
          <a:blip r:embed="rId39"/>
          <a:stretch>
            <a:fillRect/>
          </a:stretch>
        </p:blipFill>
        <p:spPr>
          <a:xfrm>
            <a:off x="1176783" y="5954268"/>
            <a:ext cx="182880" cy="182880"/>
          </a:xfrm>
          <a:prstGeom prst="rect">
            <a:avLst/>
          </a:prstGeom>
        </p:spPr>
      </p:pic>
      <p:sp>
        <p:nvSpPr>
          <p:cNvPr id="81" name="Text 40"/>
          <p:cNvSpPr txBox="1"/>
          <p:nvPr/>
        </p:nvSpPr>
        <p:spPr>
          <a:xfrm>
            <a:off x="1414527"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partial</a:t>
            </a:r>
            <a:endParaRPr lang="en-US" sz="1050" dirty="0"/>
          </a:p>
        </p:txBody>
      </p:sp>
      <p:pic>
        <p:nvPicPr>
          <p:cNvPr id="82" name="Image 38" descr="preencoded.png">    </p:cNvPr>
          <p:cNvPicPr>
            <a:picLocks noChangeAspect="1"/>
          </p:cNvPicPr>
          <p:nvPr/>
        </p:nvPicPr>
        <p:blipFill>
          <a:blip r:embed="rId40"/>
          <a:stretch>
            <a:fillRect/>
          </a:stretch>
        </p:blipFill>
        <p:spPr>
          <a:xfrm>
            <a:off x="2052066" y="5954268"/>
            <a:ext cx="182880" cy="182880"/>
          </a:xfrm>
          <a:prstGeom prst="rect">
            <a:avLst/>
          </a:prstGeom>
        </p:spPr>
      </p:pic>
      <p:sp>
        <p:nvSpPr>
          <p:cNvPr id="83" name="Text 41"/>
          <p:cNvSpPr txBox="1"/>
          <p:nvPr/>
        </p:nvSpPr>
        <p:spPr>
          <a:xfrm>
            <a:off x="2289810" y="5873496"/>
            <a:ext cx="731520" cy="344424"/>
          </a:xfrm>
          <a:prstGeom prst="rect">
            <a:avLst/>
          </a:prstGeom>
          <a:noFill/>
          <a:ln/>
        </p:spPr>
        <p:txBody>
          <a:bodyPr wrap="square" lIns="0" tIns="0" rIns="0" bIns="0" rtlCol="0" anchor="ctr"/>
          <a:lstStyle/>
          <a:p>
            <a:pPr indent="0" marL="0">
              <a:buNone/>
            </a:pPr>
            <a:r>
              <a:rPr lang="en-US" sz="1050" dirty="0">
                <a:solidFill>
                  <a:srgbClr val="B4B4C8"/>
                </a:solidFill>
                <a:latin typeface="Arial" pitchFamily="34" charset="0"/>
                <a:ea typeface="Arial" pitchFamily="34" charset="-122"/>
                <a:cs typeface="Arial" pitchFamily="34" charset="-120"/>
              </a:rPr>
              <a:t>no</a:t>
            </a:r>
            <a:endParaRPr lang="en-US" sz="1050" dirty="0"/>
          </a:p>
        </p:txBody>
      </p:sp>
      <p:sp>
        <p:nvSpPr>
          <p:cNvPr id="84" name="Text 42"/>
          <p:cNvSpPr txBox="1"/>
          <p:nvPr/>
        </p:nvSpPr>
        <p:spPr>
          <a:xfrm>
            <a:off x="3474720" y="5873496"/>
            <a:ext cx="8259775" cy="344424"/>
          </a:xfrm>
          <a:prstGeom prst="rect">
            <a:avLst/>
          </a:prstGeom>
          <a:noFill/>
          <a:ln/>
        </p:spPr>
        <p:txBody>
          <a:bodyPr wrap="square" lIns="0" tIns="0" rIns="0" bIns="0" rtlCol="0" anchor="ctr"/>
          <a:lstStyle/>
          <a:p>
            <a:pPr indent="0" marL="0">
              <a:buNone/>
            </a:pPr>
            <a:r>
              <a:rPr lang="en-US" sz="950" dirty="0">
                <a:solidFill>
                  <a:srgbClr val="8E8EA2"/>
                </a:solidFill>
                <a:latin typeface="Arial" pitchFamily="34" charset="0"/>
                <a:ea typeface="Arial" pitchFamily="34" charset="-122"/>
                <a:cs typeface="Arial" pitchFamily="34" charset="-120"/>
              </a:rPr>
              <a:t>Competitor ratings: Chronopoli master papers. Chronopoli column: built, not yet live; goes live with the launch plan; status per item on slide 5. The 48-hour update and online badge verification are launch targets.</a:t>
            </a:r>
            <a:endParaRPr lang="en-US" sz="950" dirty="0"/>
          </a:p>
        </p:txBody>
      </p:sp>
      <p:sp>
        <p:nvSpPr>
          <p:cNvPr id="85" name="Text 4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4215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0440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WHY IT COMPOUNDS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Four self-reinforcing moats</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Each moat strengthens the other three, and each one works in your favour as a partner or a team</a:t>
            </a:r>
            <a:endParaRPr lang="en-US" sz="1600" dirty="0"/>
          </a:p>
        </p:txBody>
      </p:sp>
      <p:sp>
        <p:nvSpPr>
          <p:cNvPr id="7" name="Shape 4"/>
          <p:cNvSpPr/>
          <p:nvPr/>
        </p:nvSpPr>
        <p:spPr>
          <a:xfrm>
            <a:off x="457200" y="1942795"/>
            <a:ext cx="5501488" cy="2000402"/>
          </a:xfrm>
          <a:prstGeom prst="roundRect">
            <a:avLst>
              <a:gd name="adj" fmla="val 5485"/>
            </a:avLst>
          </a:prstGeom>
          <a:solidFill>
            <a:srgbClr val="171722"/>
          </a:solidFill>
          <a:ln w="9525">
            <a:solidFill>
              <a:srgbClr val="2C2C3E"/>
            </a:solidFill>
            <a:prstDash val="solid"/>
          </a:ln>
        </p:spPr>
      </p:sp>
      <p:sp>
        <p:nvSpPr>
          <p:cNvPr id="8" name="Shape 5"/>
          <p:cNvSpPr/>
          <p:nvPr/>
        </p:nvSpPr>
        <p:spPr>
          <a:xfrm>
            <a:off x="713232" y="2162251"/>
            <a:ext cx="457200" cy="45720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27532" y="2276551"/>
            <a:ext cx="228600" cy="228600"/>
          </a:xfrm>
          <a:prstGeom prst="rect">
            <a:avLst/>
          </a:prstGeom>
        </p:spPr>
      </p:pic>
      <p:sp>
        <p:nvSpPr>
          <p:cNvPr id="10" name="Text 6"/>
          <p:cNvSpPr txBox="1"/>
          <p:nvPr/>
        </p:nvSpPr>
        <p:spPr>
          <a:xfrm>
            <a:off x="1316736"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Proprietary Knowledge Moat</a:t>
            </a:r>
            <a:endParaRPr lang="en-US" sz="1700" dirty="0"/>
          </a:p>
        </p:txBody>
      </p:sp>
      <p:sp>
        <p:nvSpPr>
          <p:cNvPr id="11" name="Text 7"/>
          <p:cNvSpPr txBox="1"/>
          <p:nvPr/>
        </p:nvSpPr>
        <p:spPr>
          <a:xfrm>
            <a:off x="713232"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Every round table, opinion paper and masterclass feeds the AI tutor. After 12 months no general-purpose AI has access to this knowledge base. It compounds like interest.</a:t>
            </a:r>
            <a:endParaRPr lang="en-US" sz="1200" dirty="0"/>
          </a:p>
        </p:txBody>
      </p:sp>
      <p:sp>
        <p:nvSpPr>
          <p:cNvPr id="12" name="Text 8"/>
          <p:cNvSpPr txBox="1"/>
          <p:nvPr/>
        </p:nvSpPr>
        <p:spPr>
          <a:xfrm>
            <a:off x="713232"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learners get answers grounded in your district's sessions.</a:t>
            </a:r>
            <a:endParaRPr lang="en-US" sz="1200" dirty="0"/>
          </a:p>
        </p:txBody>
      </p:sp>
      <p:sp>
        <p:nvSpPr>
          <p:cNvPr id="13" name="Text 9"/>
          <p:cNvSpPr txBox="1"/>
          <p:nvPr/>
        </p:nvSpPr>
        <p:spPr>
          <a:xfrm>
            <a:off x="713232"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10, 12</a:t>
            </a:r>
            <a:endParaRPr lang="en-US" sz="1000" dirty="0"/>
          </a:p>
        </p:txBody>
      </p:sp>
      <p:sp>
        <p:nvSpPr>
          <p:cNvPr id="14" name="Shape 10"/>
          <p:cNvSpPr/>
          <p:nvPr/>
        </p:nvSpPr>
        <p:spPr>
          <a:xfrm>
            <a:off x="6233008" y="1942795"/>
            <a:ext cx="5501488" cy="2000402"/>
          </a:xfrm>
          <a:prstGeom prst="roundRect">
            <a:avLst>
              <a:gd name="adj" fmla="val 5485"/>
            </a:avLst>
          </a:prstGeom>
          <a:solidFill>
            <a:srgbClr val="171722"/>
          </a:solidFill>
          <a:ln w="9525">
            <a:solidFill>
              <a:srgbClr val="2C2C3E"/>
            </a:solidFill>
            <a:prstDash val="solid"/>
          </a:ln>
        </p:spPr>
      </p:sp>
      <p:sp>
        <p:nvSpPr>
          <p:cNvPr id="15" name="Shape 11"/>
          <p:cNvSpPr/>
          <p:nvPr/>
        </p:nvSpPr>
        <p:spPr>
          <a:xfrm>
            <a:off x="6489040" y="2162251"/>
            <a:ext cx="457200" cy="457200"/>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6603340" y="2276551"/>
            <a:ext cx="228600" cy="228600"/>
          </a:xfrm>
          <a:prstGeom prst="rect">
            <a:avLst/>
          </a:prstGeom>
        </p:spPr>
      </p:pic>
      <p:sp>
        <p:nvSpPr>
          <p:cNvPr id="17" name="Text 12"/>
          <p:cNvSpPr txBox="1"/>
          <p:nvPr/>
        </p:nvSpPr>
        <p:spPr>
          <a:xfrm>
            <a:off x="7092544" y="2162251"/>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Partner Lock-in Moat</a:t>
            </a:r>
            <a:endParaRPr lang="en-US" sz="1700" dirty="0"/>
          </a:p>
        </p:txBody>
      </p:sp>
      <p:sp>
        <p:nvSpPr>
          <p:cNvPr id="18" name="Text 13"/>
          <p:cNvSpPr txBox="1"/>
          <p:nvPr/>
        </p:nvSpPr>
        <p:spPr>
          <a:xfrm>
            <a:off x="6489040" y="2710891"/>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When a partner builds its academy inside Chronopoli, its credential history, talent pipeline and community are embedded there and grow every year.</a:t>
            </a:r>
            <a:endParaRPr lang="en-US" sz="1200" dirty="0"/>
          </a:p>
        </p:txBody>
      </p:sp>
      <p:sp>
        <p:nvSpPr>
          <p:cNvPr id="19" name="Text 14"/>
          <p:cNvSpPr txBox="1"/>
          <p:nvPr/>
        </p:nvSpPr>
        <p:spPr>
          <a:xfrm>
            <a:off x="6489040" y="3369259"/>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academy gains value every year, and exit stays open.</a:t>
            </a:r>
            <a:endParaRPr lang="en-US" sz="1200" dirty="0"/>
          </a:p>
        </p:txBody>
      </p:sp>
      <p:sp>
        <p:nvSpPr>
          <p:cNvPr id="20" name="Text 15"/>
          <p:cNvSpPr txBox="1"/>
          <p:nvPr/>
        </p:nvSpPr>
        <p:spPr>
          <a:xfrm>
            <a:off x="6489040" y="3632302"/>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6, 9, 22</a:t>
            </a:r>
            <a:endParaRPr lang="en-US" sz="1000" dirty="0"/>
          </a:p>
        </p:txBody>
      </p:sp>
      <p:sp>
        <p:nvSpPr>
          <p:cNvPr id="21" name="Shape 16"/>
          <p:cNvSpPr/>
          <p:nvPr/>
        </p:nvSpPr>
        <p:spPr>
          <a:xfrm>
            <a:off x="457200" y="4217518"/>
            <a:ext cx="5501488" cy="2000402"/>
          </a:xfrm>
          <a:prstGeom prst="roundRect">
            <a:avLst>
              <a:gd name="adj" fmla="val 5485"/>
            </a:avLst>
          </a:prstGeom>
          <a:solidFill>
            <a:srgbClr val="171722"/>
          </a:solidFill>
          <a:ln w="9525">
            <a:solidFill>
              <a:srgbClr val="2C2C3E"/>
            </a:solidFill>
            <a:prstDash val="solid"/>
          </a:ln>
        </p:spPr>
      </p:sp>
      <p:sp>
        <p:nvSpPr>
          <p:cNvPr id="22" name="Shape 17"/>
          <p:cNvSpPr/>
          <p:nvPr/>
        </p:nvSpPr>
        <p:spPr>
          <a:xfrm>
            <a:off x="713232" y="4436974"/>
            <a:ext cx="457200" cy="457200"/>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27532" y="4551274"/>
            <a:ext cx="228600" cy="228600"/>
          </a:xfrm>
          <a:prstGeom prst="rect">
            <a:avLst/>
          </a:prstGeom>
        </p:spPr>
      </p:pic>
      <p:sp>
        <p:nvSpPr>
          <p:cNvPr id="24" name="Text 18"/>
          <p:cNvSpPr txBox="1"/>
          <p:nvPr/>
        </p:nvSpPr>
        <p:spPr>
          <a:xfrm>
            <a:off x="1316736"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Network Effects Moat</a:t>
            </a:r>
            <a:endParaRPr lang="en-US" sz="1700" dirty="0"/>
          </a:p>
        </p:txBody>
      </p:sp>
      <p:sp>
        <p:nvSpPr>
          <p:cNvPr id="25" name="Text 19"/>
          <p:cNvSpPr txBox="1"/>
          <p:nvPr/>
        </p:nvSpPr>
        <p:spPr>
          <a:xfrm>
            <a:off x="713232"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More partners → more round tables → more knowledge → more users → more employer demand → more partners: a two-sided flywheel in a high-value niche.</a:t>
            </a:r>
            <a:endParaRPr lang="en-US" sz="1200" dirty="0"/>
          </a:p>
        </p:txBody>
      </p:sp>
      <p:sp>
        <p:nvSpPr>
          <p:cNvPr id="26" name="Text 20"/>
          <p:cNvSpPr txBox="1"/>
          <p:nvPr/>
        </p:nvSpPr>
        <p:spPr>
          <a:xfrm>
            <a:off x="713232" y="5643982"/>
            <a:ext cx="4989424"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Each new partner brings learners and employers to your district.</a:t>
            </a:r>
            <a:endParaRPr lang="en-US" sz="1200" dirty="0"/>
          </a:p>
        </p:txBody>
      </p:sp>
      <p:sp>
        <p:nvSpPr>
          <p:cNvPr id="27" name="Text 21"/>
          <p:cNvSpPr txBox="1"/>
          <p:nvPr/>
        </p:nvSpPr>
        <p:spPr>
          <a:xfrm>
            <a:off x="713232"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slides 2, 4</a:t>
            </a:r>
            <a:endParaRPr lang="en-US" sz="1000" dirty="0"/>
          </a:p>
        </p:txBody>
      </p:sp>
      <p:sp>
        <p:nvSpPr>
          <p:cNvPr id="28" name="Shape 22"/>
          <p:cNvSpPr/>
          <p:nvPr/>
        </p:nvSpPr>
        <p:spPr>
          <a:xfrm>
            <a:off x="6233008" y="4217518"/>
            <a:ext cx="5501488" cy="2000402"/>
          </a:xfrm>
          <a:prstGeom prst="roundRect">
            <a:avLst>
              <a:gd name="adj" fmla="val 5485"/>
            </a:avLst>
          </a:prstGeom>
          <a:solidFill>
            <a:srgbClr val="171722"/>
          </a:solidFill>
          <a:ln w="9525">
            <a:solidFill>
              <a:srgbClr val="2C2C3E"/>
            </a:solidFill>
            <a:prstDash val="solid"/>
          </a:ln>
        </p:spPr>
      </p:sp>
      <p:sp>
        <p:nvSpPr>
          <p:cNvPr id="29" name="Shape 23"/>
          <p:cNvSpPr/>
          <p:nvPr/>
        </p:nvSpPr>
        <p:spPr>
          <a:xfrm>
            <a:off x="6489040" y="4436974"/>
            <a:ext cx="457200" cy="457200"/>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603340" y="4551274"/>
            <a:ext cx="228600" cy="228600"/>
          </a:xfrm>
          <a:prstGeom prst="rect">
            <a:avLst/>
          </a:prstGeom>
        </p:spPr>
      </p:pic>
      <p:sp>
        <p:nvSpPr>
          <p:cNvPr id="31" name="Text 24"/>
          <p:cNvSpPr txBox="1"/>
          <p:nvPr/>
        </p:nvSpPr>
        <p:spPr>
          <a:xfrm>
            <a:off x="7092544" y="4436974"/>
            <a:ext cx="4349344"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Cost Structure Moat</a:t>
            </a:r>
            <a:endParaRPr lang="en-US" sz="1700" dirty="0"/>
          </a:p>
        </p:txBody>
      </p:sp>
      <p:sp>
        <p:nvSpPr>
          <p:cNvPr id="32" name="Text 25"/>
          <p:cNvSpPr txBox="1"/>
          <p:nvPr/>
        </p:nvSpPr>
        <p:spPr>
          <a:xfrm>
            <a:off x="6489040" y="4985614"/>
            <a:ext cx="4989424" cy="57607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About $374 a month of infrastructure to start, and a lean cost base as the city grows. SaaS competitors cannot undercut this without operating at a loss.</a:t>
            </a:r>
            <a:endParaRPr lang="en-US" sz="1200" dirty="0"/>
          </a:p>
        </p:txBody>
      </p:sp>
      <p:sp>
        <p:nvSpPr>
          <p:cNvPr id="33" name="Text 26"/>
          <p:cNvSpPr txBox="1"/>
          <p:nvPr/>
        </p:nvSpPr>
        <p:spPr>
          <a:xfrm>
            <a:off x="6489040" y="5643982"/>
            <a:ext cx="4989424"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For you: </a:t>
            </a:r>
            <a:r>
              <a:rPr lang="en-US" sz="1200" dirty="0">
                <a:solidFill>
                  <a:srgbClr val="FFFFFF"/>
                </a:solidFill>
                <a:latin typeface="Arial" pitchFamily="34" charset="0"/>
                <a:ea typeface="Arial" pitchFamily="34" charset="-122"/>
                <a:cs typeface="Arial" pitchFamily="34" charset="-120"/>
              </a:rPr>
              <a:t>Your fee pays for the academy, not for overhead.</a:t>
            </a:r>
            <a:endParaRPr lang="en-US" sz="1200" dirty="0"/>
          </a:p>
        </p:txBody>
      </p:sp>
      <p:sp>
        <p:nvSpPr>
          <p:cNvPr id="34" name="Text 27"/>
          <p:cNvSpPr txBox="1"/>
          <p:nvPr/>
        </p:nvSpPr>
        <p:spPr>
          <a:xfrm>
            <a:off x="6489040" y="5907024"/>
            <a:ext cx="4989424" cy="182880"/>
          </a:xfrm>
          <a:prstGeom prst="rect">
            <a:avLst/>
          </a:prstGeom>
          <a:noFill/>
          <a:ln/>
        </p:spPr>
        <p:txBody>
          <a:bodyPr wrap="square" lIns="0" tIns="0" rIns="0" bIns="0" rtlCol="0" anchor="t"/>
          <a:lstStyle/>
          <a:p>
            <a:pPr indent="0" marL="0">
              <a:buNone/>
            </a:pPr>
            <a:r>
              <a:rPr lang="en-US" sz="1000" dirty="0">
                <a:solidFill>
                  <a:srgbClr val="C9A84C"/>
                </a:solidFill>
                <a:latin typeface="Arial" pitchFamily="34" charset="0"/>
                <a:ea typeface="Arial" pitchFamily="34" charset="-122"/>
                <a:cs typeface="Arial" pitchFamily="34" charset="-120"/>
              </a:rPr>
              <a:t>In this deck: slide 20</a:t>
            </a:r>
            <a:endParaRPr lang="en-US" sz="1000" dirty="0"/>
          </a:p>
        </p:txBody>
      </p:sp>
      <p:sp>
        <p:nvSpPr>
          <p:cNvPr id="35" name="Text 2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065927"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828183"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TRACTION &amp; VALIDATION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Platform built. Anchor confirmed.</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Built, not yet live; launch plan in place. Anchor confirmed, MOU in progress, nothing signed yet</a:t>
            </a:r>
            <a:endParaRPr lang="en-US" sz="1600" dirty="0"/>
          </a:p>
        </p:txBody>
      </p:sp>
      <p:sp>
        <p:nvSpPr>
          <p:cNvPr id="7" name="Shape 4"/>
          <p:cNvSpPr/>
          <p:nvPr/>
        </p:nvSpPr>
        <p:spPr>
          <a:xfrm>
            <a:off x="457200" y="1942795"/>
            <a:ext cx="3576218" cy="1596542"/>
          </a:xfrm>
          <a:prstGeom prst="roundRect">
            <a:avLst>
              <a:gd name="adj" fmla="val 6873"/>
            </a:avLst>
          </a:prstGeom>
          <a:solidFill>
            <a:srgbClr val="231E12"/>
          </a:solidFill>
          <a:ln w="9525">
            <a:solidFill>
              <a:srgbClr val="5A4A22"/>
            </a:solidFill>
            <a:prstDash val="solid"/>
          </a:ln>
        </p:spPr>
      </p:sp>
      <p:sp>
        <p:nvSpPr>
          <p:cNvPr id="8" name="Shape 5"/>
          <p:cNvSpPr/>
          <p:nvPr/>
        </p:nvSpPr>
        <p:spPr>
          <a:xfrm>
            <a:off x="685800" y="2143963"/>
            <a:ext cx="420624" cy="420624"/>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90956" y="2249119"/>
            <a:ext cx="210312" cy="210312"/>
          </a:xfrm>
          <a:prstGeom prst="rect">
            <a:avLst/>
          </a:prstGeom>
        </p:spPr>
      </p:pic>
      <p:sp>
        <p:nvSpPr>
          <p:cNvPr id="10" name="Shape 6"/>
          <p:cNvSpPr/>
          <p:nvPr/>
        </p:nvSpPr>
        <p:spPr>
          <a:xfrm>
            <a:off x="3167908" y="2235403"/>
            <a:ext cx="636910" cy="237744"/>
          </a:xfrm>
          <a:prstGeom prst="roundRect">
            <a:avLst>
              <a:gd name="adj" fmla="val 50000"/>
            </a:avLst>
          </a:prstGeom>
          <a:solidFill>
            <a:srgbClr val="1E1A10"/>
          </a:solidFill>
          <a:ln w="9525">
            <a:solidFill>
              <a:srgbClr val="C9A84C"/>
            </a:solidFill>
            <a:prstDash val="solid"/>
          </a:ln>
        </p:spPr>
      </p:sp>
      <p:sp>
        <p:nvSpPr>
          <p:cNvPr id="11" name="Text 7"/>
          <p:cNvSpPr txBox="1"/>
          <p:nvPr/>
        </p:nvSpPr>
        <p:spPr>
          <a:xfrm>
            <a:off x="3167908" y="2235403"/>
            <a:ext cx="636910"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BUILT</a:t>
            </a:r>
            <a:endParaRPr lang="en-US" sz="800" dirty="0"/>
          </a:p>
        </p:txBody>
      </p:sp>
      <p:sp>
        <p:nvSpPr>
          <p:cNvPr id="12" name="Text 8"/>
          <p:cNvSpPr txBox="1"/>
          <p:nvPr/>
        </p:nvSpPr>
        <p:spPr>
          <a:xfrm>
            <a:off x="1243584" y="2262835"/>
            <a:ext cx="184202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3" name="Text 9"/>
          <p:cNvSpPr txBox="1"/>
          <p:nvPr/>
        </p:nvSpPr>
        <p:spPr>
          <a:xfrm>
            <a:off x="685800"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Built, not yet live</a:t>
            </a:r>
            <a:endParaRPr lang="en-US" sz="2200" dirty="0"/>
          </a:p>
        </p:txBody>
      </p:sp>
      <p:sp>
        <p:nvSpPr>
          <p:cNvPr id="14" name="Text 10"/>
          <p:cNvSpPr txBox="1"/>
          <p:nvPr/>
        </p:nvSpPr>
        <p:spPr>
          <a:xfrm>
            <a:off x="685800"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Real screens show the working product; prototypes are still to be built</a:t>
            </a:r>
            <a:endParaRPr lang="en-US" sz="1200" dirty="0"/>
          </a:p>
        </p:txBody>
      </p:sp>
      <p:sp>
        <p:nvSpPr>
          <p:cNvPr id="15" name="Shape 11"/>
          <p:cNvSpPr/>
          <p:nvPr/>
        </p:nvSpPr>
        <p:spPr>
          <a:xfrm>
            <a:off x="4307738" y="1942795"/>
            <a:ext cx="3576218" cy="1596542"/>
          </a:xfrm>
          <a:prstGeom prst="roundRect">
            <a:avLst>
              <a:gd name="adj" fmla="val 6873"/>
            </a:avLst>
          </a:prstGeom>
          <a:solidFill>
            <a:srgbClr val="171722"/>
          </a:solidFill>
          <a:ln w="9525">
            <a:solidFill>
              <a:srgbClr val="2C2C3E"/>
            </a:solidFill>
            <a:prstDash val="solid"/>
          </a:ln>
        </p:spPr>
      </p:sp>
      <p:sp>
        <p:nvSpPr>
          <p:cNvPr id="16" name="Shape 12"/>
          <p:cNvSpPr/>
          <p:nvPr/>
        </p:nvSpPr>
        <p:spPr>
          <a:xfrm>
            <a:off x="4536338" y="2143963"/>
            <a:ext cx="420624" cy="420624"/>
          </a:xfrm>
          <a:prstGeom prst="ellipse">
            <a:avLst/>
          </a:prstGeom>
          <a:solidFill>
            <a:srgbClr val="1E1A10"/>
          </a:solidFill>
          <a:ln w="9525">
            <a:solidFill>
              <a:srgbClr val="5A4A22"/>
            </a:solidFill>
            <a:prstDash val="solid"/>
          </a:ln>
        </p:spPr>
      </p:sp>
      <p:pic>
        <p:nvPicPr>
          <p:cNvPr id="17" name="Image 1" descr="preencoded.png">    </p:cNvPr>
          <p:cNvPicPr>
            <a:picLocks noChangeAspect="1"/>
          </p:cNvPicPr>
          <p:nvPr/>
        </p:nvPicPr>
        <p:blipFill>
          <a:blip r:embed="rId3"/>
          <a:stretch>
            <a:fillRect/>
          </a:stretch>
        </p:blipFill>
        <p:spPr>
          <a:xfrm>
            <a:off x="4641494" y="2249119"/>
            <a:ext cx="210312" cy="210312"/>
          </a:xfrm>
          <a:prstGeom prst="rect">
            <a:avLst/>
          </a:prstGeom>
        </p:spPr>
      </p:pic>
      <p:sp>
        <p:nvSpPr>
          <p:cNvPr id="18" name="Shape 13"/>
          <p:cNvSpPr/>
          <p:nvPr/>
        </p:nvSpPr>
        <p:spPr>
          <a:xfrm>
            <a:off x="7059270" y="2235403"/>
            <a:ext cx="596087" cy="237744"/>
          </a:xfrm>
          <a:prstGeom prst="roundRect">
            <a:avLst>
              <a:gd name="adj" fmla="val 50000"/>
            </a:avLst>
          </a:prstGeom>
          <a:solidFill>
            <a:srgbClr val="1B1B27"/>
          </a:solidFill>
          <a:ln w="9525">
            <a:solidFill>
              <a:srgbClr val="3A3A50"/>
            </a:solidFill>
            <a:prstDash val="solid"/>
          </a:ln>
        </p:spPr>
      </p:sp>
      <p:sp>
        <p:nvSpPr>
          <p:cNvPr id="19" name="Text 14"/>
          <p:cNvSpPr txBox="1"/>
          <p:nvPr/>
        </p:nvSpPr>
        <p:spPr>
          <a:xfrm>
            <a:off x="7059270" y="2235403"/>
            <a:ext cx="59608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NEXT</a:t>
            </a:r>
            <a:endParaRPr lang="en-US" sz="800" dirty="0"/>
          </a:p>
        </p:txBody>
      </p:sp>
      <p:sp>
        <p:nvSpPr>
          <p:cNvPr id="20" name="Text 15"/>
          <p:cNvSpPr txBox="1"/>
          <p:nvPr/>
        </p:nvSpPr>
        <p:spPr>
          <a:xfrm>
            <a:off x="5094122" y="2262835"/>
            <a:ext cx="188285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LAUNCH</a:t>
            </a:r>
            <a:endParaRPr lang="en-US" sz="850" dirty="0"/>
          </a:p>
        </p:txBody>
      </p:sp>
      <p:sp>
        <p:nvSpPr>
          <p:cNvPr id="21" name="Text 16"/>
          <p:cNvSpPr txBox="1"/>
          <p:nvPr/>
        </p:nvSpPr>
        <p:spPr>
          <a:xfrm>
            <a:off x="4536338" y="2637739"/>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Plan in place</a:t>
            </a:r>
            <a:endParaRPr lang="en-US" sz="2200" dirty="0"/>
          </a:p>
        </p:txBody>
      </p:sp>
      <p:sp>
        <p:nvSpPr>
          <p:cNvPr id="22" name="Text 17"/>
          <p:cNvSpPr txBox="1"/>
          <p:nvPr/>
        </p:nvSpPr>
        <p:spPr>
          <a:xfrm>
            <a:off x="4536338"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Hosted in the UAE · onboarding runs in parallel with launch preparation (slide 24)</a:t>
            </a:r>
            <a:endParaRPr lang="en-US" sz="1200" dirty="0"/>
          </a:p>
        </p:txBody>
      </p:sp>
      <p:sp>
        <p:nvSpPr>
          <p:cNvPr id="23" name="Shape 18"/>
          <p:cNvSpPr/>
          <p:nvPr/>
        </p:nvSpPr>
        <p:spPr>
          <a:xfrm>
            <a:off x="8158277" y="1942795"/>
            <a:ext cx="3576218" cy="1596542"/>
          </a:xfrm>
          <a:prstGeom prst="roundRect">
            <a:avLst>
              <a:gd name="adj" fmla="val 6873"/>
            </a:avLst>
          </a:prstGeom>
          <a:solidFill>
            <a:srgbClr val="231E12"/>
          </a:solidFill>
          <a:ln w="9525">
            <a:solidFill>
              <a:srgbClr val="5A4A22"/>
            </a:solidFill>
            <a:prstDash val="solid"/>
          </a:ln>
        </p:spPr>
      </p:sp>
      <p:sp>
        <p:nvSpPr>
          <p:cNvPr id="24" name="Shape 19"/>
          <p:cNvSpPr/>
          <p:nvPr/>
        </p:nvSpPr>
        <p:spPr>
          <a:xfrm>
            <a:off x="8386877" y="2143963"/>
            <a:ext cx="420624" cy="420624"/>
          </a:xfrm>
          <a:prstGeom prst="ellipse">
            <a:avLst/>
          </a:prstGeom>
          <a:solidFill>
            <a:srgbClr val="1E1A10"/>
          </a:solidFill>
          <a:ln w="9525">
            <a:solidFill>
              <a:srgbClr val="5A4A22"/>
            </a:solidFill>
            <a:prstDash val="solid"/>
          </a:ln>
        </p:spPr>
      </p:sp>
      <p:pic>
        <p:nvPicPr>
          <p:cNvPr id="25" name="Image 2" descr="preencoded.png">    </p:cNvPr>
          <p:cNvPicPr>
            <a:picLocks noChangeAspect="1"/>
          </p:cNvPicPr>
          <p:nvPr/>
        </p:nvPicPr>
        <p:blipFill>
          <a:blip r:embed="rId4"/>
          <a:stretch>
            <a:fillRect/>
          </a:stretch>
        </p:blipFill>
        <p:spPr>
          <a:xfrm>
            <a:off x="8492033" y="2249119"/>
            <a:ext cx="210312" cy="210312"/>
          </a:xfrm>
          <a:prstGeom prst="rect">
            <a:avLst/>
          </a:prstGeom>
        </p:spPr>
      </p:pic>
      <p:sp>
        <p:nvSpPr>
          <p:cNvPr id="26" name="Shape 20"/>
          <p:cNvSpPr/>
          <p:nvPr/>
        </p:nvSpPr>
        <p:spPr>
          <a:xfrm>
            <a:off x="10887232" y="2235403"/>
            <a:ext cx="618663" cy="237744"/>
          </a:xfrm>
          <a:prstGeom prst="roundRect">
            <a:avLst>
              <a:gd name="adj" fmla="val 50000"/>
            </a:avLst>
          </a:prstGeom>
          <a:solidFill>
            <a:srgbClr val="1E1A10"/>
          </a:solidFill>
          <a:ln w="9525">
            <a:solidFill>
              <a:srgbClr val="C9A84C"/>
            </a:solidFill>
            <a:prstDash val="solid"/>
          </a:ln>
        </p:spPr>
      </p:sp>
      <p:sp>
        <p:nvSpPr>
          <p:cNvPr id="27" name="Text 21"/>
          <p:cNvSpPr txBox="1"/>
          <p:nvPr/>
        </p:nvSpPr>
        <p:spPr>
          <a:xfrm>
            <a:off x="10887232" y="2235403"/>
            <a:ext cx="618663" cy="237744"/>
          </a:xfrm>
          <a:prstGeom prst="rect">
            <a:avLst/>
          </a:prstGeom>
          <a:noFill/>
          <a:ln/>
        </p:spPr>
        <p:txBody>
          <a:bodyPr wrap="square" lIns="0" tIns="0" rIns="0" bIns="0" rtlCol="0" anchor="ctr"/>
          <a:lstStyle/>
          <a:p>
            <a:pPr algn="ctr" indent="0" marL="0">
              <a:buNone/>
            </a:pPr>
            <a:r>
              <a:rPr lang="en-US" sz="800" b="1" spc="100" kern="0" dirty="0">
                <a:solidFill>
                  <a:srgbClr val="F0C96B"/>
                </a:solidFill>
                <a:latin typeface="Arial" pitchFamily="34" charset="0"/>
                <a:ea typeface="Arial" pitchFamily="34" charset="-122"/>
                <a:cs typeface="Arial" pitchFamily="34" charset="-120"/>
              </a:rPr>
              <a:t>DONE</a:t>
            </a:r>
            <a:endParaRPr lang="en-US" sz="800" dirty="0"/>
          </a:p>
        </p:txBody>
      </p:sp>
      <p:sp>
        <p:nvSpPr>
          <p:cNvPr id="28" name="Text 22"/>
          <p:cNvSpPr txBox="1"/>
          <p:nvPr/>
        </p:nvSpPr>
        <p:spPr>
          <a:xfrm>
            <a:off x="8944661" y="2262835"/>
            <a:ext cx="1860276"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DBCC PARTNERSHIP</a:t>
            </a:r>
            <a:endParaRPr lang="en-US" sz="850" dirty="0"/>
          </a:p>
        </p:txBody>
      </p:sp>
      <p:sp>
        <p:nvSpPr>
          <p:cNvPr id="29" name="Text 23"/>
          <p:cNvSpPr txBox="1"/>
          <p:nvPr/>
        </p:nvSpPr>
        <p:spPr>
          <a:xfrm>
            <a:off x="8386877" y="2637739"/>
            <a:ext cx="3119018"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Confirmed</a:t>
            </a:r>
            <a:endParaRPr lang="en-US" sz="2200" dirty="0"/>
          </a:p>
        </p:txBody>
      </p:sp>
      <p:sp>
        <p:nvSpPr>
          <p:cNvPr id="30" name="Text 24"/>
          <p:cNvSpPr txBox="1"/>
          <p:nvPr/>
        </p:nvSpPr>
        <p:spPr>
          <a:xfrm>
            <a:off x="8386877" y="3040075"/>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Anchor institutional partner · 500+ company network</a:t>
            </a:r>
            <a:endParaRPr lang="en-US" sz="1200" dirty="0"/>
          </a:p>
        </p:txBody>
      </p:sp>
      <p:sp>
        <p:nvSpPr>
          <p:cNvPr id="31" name="Shape 25"/>
          <p:cNvSpPr/>
          <p:nvPr/>
        </p:nvSpPr>
        <p:spPr>
          <a:xfrm>
            <a:off x="457200" y="3813658"/>
            <a:ext cx="3576218" cy="1596542"/>
          </a:xfrm>
          <a:prstGeom prst="roundRect">
            <a:avLst>
              <a:gd name="adj" fmla="val 6873"/>
            </a:avLst>
          </a:prstGeom>
          <a:solidFill>
            <a:srgbClr val="171722"/>
          </a:solidFill>
          <a:ln w="9525">
            <a:solidFill>
              <a:srgbClr val="2C2C3E"/>
            </a:solidFill>
            <a:prstDash val="solid"/>
          </a:ln>
        </p:spPr>
      </p:sp>
      <p:sp>
        <p:nvSpPr>
          <p:cNvPr id="32" name="Shape 26"/>
          <p:cNvSpPr/>
          <p:nvPr/>
        </p:nvSpPr>
        <p:spPr>
          <a:xfrm>
            <a:off x="685800" y="4014826"/>
            <a:ext cx="420624" cy="420624"/>
          </a:xfrm>
          <a:prstGeom prst="ellipse">
            <a:avLst/>
          </a:prstGeom>
          <a:solidFill>
            <a:srgbClr val="1E1A10"/>
          </a:solidFill>
          <a:ln w="9525">
            <a:solidFill>
              <a:srgbClr val="5A4A22"/>
            </a:solidFill>
            <a:prstDash val="solid"/>
          </a:ln>
        </p:spPr>
      </p:sp>
      <p:pic>
        <p:nvPicPr>
          <p:cNvPr id="33" name="Image 3" descr="preencoded.png">    </p:cNvPr>
          <p:cNvPicPr>
            <a:picLocks noChangeAspect="1"/>
          </p:cNvPicPr>
          <p:nvPr/>
        </p:nvPicPr>
        <p:blipFill>
          <a:blip r:embed="rId5"/>
          <a:stretch>
            <a:fillRect/>
          </a:stretch>
        </p:blipFill>
        <p:spPr>
          <a:xfrm>
            <a:off x="790956" y="4119982"/>
            <a:ext cx="210312" cy="210312"/>
          </a:xfrm>
          <a:prstGeom prst="rect">
            <a:avLst/>
          </a:prstGeom>
        </p:spPr>
      </p:pic>
      <p:sp>
        <p:nvSpPr>
          <p:cNvPr id="34" name="Shape 27"/>
          <p:cNvSpPr/>
          <p:nvPr/>
        </p:nvSpPr>
        <p:spPr>
          <a:xfrm>
            <a:off x="2685105" y="4106266"/>
            <a:ext cx="1119713" cy="237744"/>
          </a:xfrm>
          <a:prstGeom prst="roundRect">
            <a:avLst>
              <a:gd name="adj" fmla="val 50000"/>
            </a:avLst>
          </a:prstGeom>
          <a:solidFill>
            <a:srgbClr val="1B1B27"/>
          </a:solidFill>
          <a:ln w="9525">
            <a:solidFill>
              <a:srgbClr val="3A3A50"/>
            </a:solidFill>
            <a:prstDash val="solid"/>
          </a:ln>
        </p:spPr>
      </p:sp>
      <p:sp>
        <p:nvSpPr>
          <p:cNvPr id="35" name="Text 28"/>
          <p:cNvSpPr txBox="1"/>
          <p:nvPr/>
        </p:nvSpPr>
        <p:spPr>
          <a:xfrm>
            <a:off x="2685105" y="4106266"/>
            <a:ext cx="1119713"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IN PROGRESS</a:t>
            </a:r>
            <a:endParaRPr lang="en-US" sz="800" dirty="0"/>
          </a:p>
        </p:txBody>
      </p:sp>
      <p:sp>
        <p:nvSpPr>
          <p:cNvPr id="36" name="Text 29"/>
          <p:cNvSpPr txBox="1"/>
          <p:nvPr/>
        </p:nvSpPr>
        <p:spPr>
          <a:xfrm>
            <a:off x="1243584" y="4133698"/>
            <a:ext cx="1359225"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BUiD ACADEMIC</a:t>
            </a:r>
            <a:endParaRPr lang="en-US" sz="850" dirty="0"/>
          </a:p>
        </p:txBody>
      </p:sp>
      <p:sp>
        <p:nvSpPr>
          <p:cNvPr id="37" name="Text 30"/>
          <p:cNvSpPr txBox="1"/>
          <p:nvPr/>
        </p:nvSpPr>
        <p:spPr>
          <a:xfrm>
            <a:off x="685800"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MOU in progress</a:t>
            </a:r>
            <a:endParaRPr lang="en-US" sz="2200" dirty="0"/>
          </a:p>
        </p:txBody>
      </p:sp>
      <p:sp>
        <p:nvSpPr>
          <p:cNvPr id="38" name="Text 31"/>
          <p:cNvSpPr txBox="1"/>
          <p:nvPr/>
        </p:nvSpPr>
        <p:spPr>
          <a:xfrm>
            <a:off x="685800"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Maria Papadaki · target: 30 CPD credits a year recognised</a:t>
            </a:r>
            <a:endParaRPr lang="en-US" sz="1200" dirty="0"/>
          </a:p>
        </p:txBody>
      </p:sp>
      <p:sp>
        <p:nvSpPr>
          <p:cNvPr id="39" name="Shape 32"/>
          <p:cNvSpPr/>
          <p:nvPr/>
        </p:nvSpPr>
        <p:spPr>
          <a:xfrm>
            <a:off x="4307738" y="3813658"/>
            <a:ext cx="3576218" cy="1596542"/>
          </a:xfrm>
          <a:prstGeom prst="roundRect">
            <a:avLst>
              <a:gd name="adj" fmla="val 6873"/>
            </a:avLst>
          </a:prstGeom>
          <a:solidFill>
            <a:srgbClr val="171722"/>
          </a:solidFill>
          <a:ln w="9525">
            <a:solidFill>
              <a:srgbClr val="2C2C3E"/>
            </a:solidFill>
            <a:prstDash val="solid"/>
          </a:ln>
        </p:spPr>
      </p:sp>
      <p:sp>
        <p:nvSpPr>
          <p:cNvPr id="40" name="Shape 33"/>
          <p:cNvSpPr/>
          <p:nvPr/>
        </p:nvSpPr>
        <p:spPr>
          <a:xfrm>
            <a:off x="4536338" y="4014826"/>
            <a:ext cx="420624" cy="420624"/>
          </a:xfrm>
          <a:prstGeom prst="ellipse">
            <a:avLst/>
          </a:prstGeom>
          <a:solidFill>
            <a:srgbClr val="1E1A10"/>
          </a:solidFill>
          <a:ln w="9525">
            <a:solidFill>
              <a:srgbClr val="5A4A22"/>
            </a:solidFill>
            <a:prstDash val="solid"/>
          </a:ln>
        </p:spPr>
      </p:sp>
      <p:pic>
        <p:nvPicPr>
          <p:cNvPr id="41" name="Image 4" descr="preencoded.png">    </p:cNvPr>
          <p:cNvPicPr>
            <a:picLocks noChangeAspect="1"/>
          </p:cNvPicPr>
          <p:nvPr/>
        </p:nvPicPr>
        <p:blipFill>
          <a:blip r:embed="rId6"/>
          <a:stretch>
            <a:fillRect/>
          </a:stretch>
        </p:blipFill>
        <p:spPr>
          <a:xfrm>
            <a:off x="4641494" y="4119982"/>
            <a:ext cx="210312" cy="210312"/>
          </a:xfrm>
          <a:prstGeom prst="rect">
            <a:avLst/>
          </a:prstGeom>
        </p:spPr>
      </p:pic>
      <p:sp>
        <p:nvSpPr>
          <p:cNvPr id="42" name="Shape 34"/>
          <p:cNvSpPr/>
          <p:nvPr/>
        </p:nvSpPr>
        <p:spPr>
          <a:xfrm>
            <a:off x="6887180" y="4106266"/>
            <a:ext cx="768177" cy="237744"/>
          </a:xfrm>
          <a:prstGeom prst="roundRect">
            <a:avLst>
              <a:gd name="adj" fmla="val 50000"/>
            </a:avLst>
          </a:prstGeom>
          <a:solidFill>
            <a:srgbClr val="1B1B27"/>
          </a:solidFill>
          <a:ln w="9525">
            <a:solidFill>
              <a:srgbClr val="3A3A50"/>
            </a:solidFill>
            <a:prstDash val="solid"/>
          </a:ln>
        </p:spPr>
      </p:sp>
      <p:sp>
        <p:nvSpPr>
          <p:cNvPr id="43" name="Text 35"/>
          <p:cNvSpPr txBox="1"/>
          <p:nvPr/>
        </p:nvSpPr>
        <p:spPr>
          <a:xfrm>
            <a:off x="6887180" y="4106266"/>
            <a:ext cx="768177"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TARGET</a:t>
            </a:r>
            <a:endParaRPr lang="en-US" sz="800" dirty="0"/>
          </a:p>
        </p:txBody>
      </p:sp>
      <p:sp>
        <p:nvSpPr>
          <p:cNvPr id="44" name="Text 36"/>
          <p:cNvSpPr txBox="1"/>
          <p:nvPr/>
        </p:nvSpPr>
        <p:spPr>
          <a:xfrm>
            <a:off x="5094122" y="4133698"/>
            <a:ext cx="1710761"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TETHER</a:t>
            </a:r>
            <a:endParaRPr lang="en-US" sz="850" dirty="0"/>
          </a:p>
        </p:txBody>
      </p:sp>
      <p:sp>
        <p:nvSpPr>
          <p:cNvPr id="45" name="Text 37"/>
          <p:cNvSpPr txBox="1"/>
          <p:nvPr/>
        </p:nvSpPr>
        <p:spPr>
          <a:xfrm>
            <a:off x="4536338"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Target partner</a:t>
            </a:r>
            <a:endParaRPr lang="en-US" sz="2200" dirty="0"/>
          </a:p>
        </p:txBody>
      </p:sp>
      <p:sp>
        <p:nvSpPr>
          <p:cNvPr id="46" name="Text 38"/>
          <p:cNvSpPr txBox="1"/>
          <p:nvPr/>
        </p:nvSpPr>
        <p:spPr>
          <a:xfrm>
            <a:off x="4536338"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Strategic tier · illustrative demo academy (slide 6), no partnership</a:t>
            </a:r>
            <a:endParaRPr lang="en-US" sz="1200" dirty="0"/>
          </a:p>
        </p:txBody>
      </p:sp>
      <p:sp>
        <p:nvSpPr>
          <p:cNvPr id="47" name="Shape 39"/>
          <p:cNvSpPr/>
          <p:nvPr/>
        </p:nvSpPr>
        <p:spPr>
          <a:xfrm>
            <a:off x="8158277" y="3813658"/>
            <a:ext cx="3576218" cy="1596542"/>
          </a:xfrm>
          <a:prstGeom prst="roundRect">
            <a:avLst>
              <a:gd name="adj" fmla="val 6873"/>
            </a:avLst>
          </a:prstGeom>
          <a:solidFill>
            <a:srgbClr val="171722"/>
          </a:solidFill>
          <a:ln w="9525">
            <a:solidFill>
              <a:srgbClr val="2C2C3E"/>
            </a:solidFill>
            <a:prstDash val="solid"/>
          </a:ln>
        </p:spPr>
      </p:sp>
      <p:sp>
        <p:nvSpPr>
          <p:cNvPr id="48" name="Shape 40"/>
          <p:cNvSpPr/>
          <p:nvPr/>
        </p:nvSpPr>
        <p:spPr>
          <a:xfrm>
            <a:off x="8386877" y="4014826"/>
            <a:ext cx="420624" cy="420624"/>
          </a:xfrm>
          <a:prstGeom prst="ellipse">
            <a:avLst/>
          </a:prstGeom>
          <a:solidFill>
            <a:srgbClr val="1E1A10"/>
          </a:solidFill>
          <a:ln w="9525">
            <a:solidFill>
              <a:srgbClr val="5A4A22"/>
            </a:solidFill>
            <a:prstDash val="solid"/>
          </a:ln>
        </p:spPr>
      </p:sp>
      <p:pic>
        <p:nvPicPr>
          <p:cNvPr id="49" name="Image 5" descr="preencoded.png">    </p:cNvPr>
          <p:cNvPicPr>
            <a:picLocks noChangeAspect="1"/>
          </p:cNvPicPr>
          <p:nvPr/>
        </p:nvPicPr>
        <p:blipFill>
          <a:blip r:embed="rId7"/>
          <a:stretch>
            <a:fillRect/>
          </a:stretch>
        </p:blipFill>
        <p:spPr>
          <a:xfrm>
            <a:off x="8492033" y="4119982"/>
            <a:ext cx="210312" cy="210312"/>
          </a:xfrm>
          <a:prstGeom prst="rect">
            <a:avLst/>
          </a:prstGeom>
        </p:spPr>
      </p:pic>
      <p:sp>
        <p:nvSpPr>
          <p:cNvPr id="50" name="Shape 41"/>
          <p:cNvSpPr/>
          <p:nvPr/>
        </p:nvSpPr>
        <p:spPr>
          <a:xfrm>
            <a:off x="10892841" y="4106266"/>
            <a:ext cx="613054" cy="237744"/>
          </a:xfrm>
          <a:prstGeom prst="roundRect">
            <a:avLst>
              <a:gd name="adj" fmla="val 50000"/>
            </a:avLst>
          </a:prstGeom>
          <a:solidFill>
            <a:srgbClr val="1B1B27"/>
          </a:solidFill>
          <a:ln w="9525">
            <a:solidFill>
              <a:srgbClr val="3A3A50"/>
            </a:solidFill>
            <a:prstDash val="solid"/>
          </a:ln>
        </p:spPr>
      </p:sp>
      <p:sp>
        <p:nvSpPr>
          <p:cNvPr id="51" name="Text 42"/>
          <p:cNvSpPr txBox="1"/>
          <p:nvPr/>
        </p:nvSpPr>
        <p:spPr>
          <a:xfrm>
            <a:off x="10892841" y="4106266"/>
            <a:ext cx="613054" cy="237744"/>
          </a:xfrm>
          <a:prstGeom prst="rect">
            <a:avLst/>
          </a:prstGeom>
          <a:noFill/>
          <a:ln/>
        </p:spPr>
        <p:txBody>
          <a:bodyPr wrap="square" lIns="0" tIns="0" rIns="0" bIns="0" rtlCol="0" anchor="ctr"/>
          <a:lstStyle/>
          <a:p>
            <a:pPr algn="ctr" indent="0" marL="0">
              <a:buNone/>
            </a:pPr>
            <a:r>
              <a:rPr lang="en-US" sz="800" b="1" spc="100" kern="0" dirty="0">
                <a:solidFill>
                  <a:srgbClr val="D6D6E4"/>
                </a:solidFill>
                <a:latin typeface="Arial" pitchFamily="34" charset="0"/>
                <a:ea typeface="Arial" pitchFamily="34" charset="-122"/>
                <a:cs typeface="Arial" pitchFamily="34" charset="-120"/>
              </a:rPr>
              <a:t>OPEN</a:t>
            </a:r>
            <a:endParaRPr lang="en-US" sz="800" dirty="0"/>
          </a:p>
        </p:txBody>
      </p:sp>
      <p:sp>
        <p:nvSpPr>
          <p:cNvPr id="52" name="Text 43"/>
          <p:cNvSpPr txBox="1"/>
          <p:nvPr/>
        </p:nvSpPr>
        <p:spPr>
          <a:xfrm>
            <a:off x="8944661" y="4133698"/>
            <a:ext cx="186588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FOUNDING PARTNERS</a:t>
            </a:r>
            <a:endParaRPr lang="en-US" sz="850" dirty="0"/>
          </a:p>
        </p:txBody>
      </p:sp>
      <p:sp>
        <p:nvSpPr>
          <p:cNvPr id="53" name="Text 44"/>
          <p:cNvSpPr txBox="1"/>
          <p:nvPr/>
        </p:nvSpPr>
        <p:spPr>
          <a:xfrm>
            <a:off x="8386877" y="4508602"/>
            <a:ext cx="3119018" cy="384048"/>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Two seats open</a:t>
            </a:r>
            <a:endParaRPr lang="en-US" sz="2200" dirty="0"/>
          </a:p>
        </p:txBody>
      </p:sp>
      <p:sp>
        <p:nvSpPr>
          <p:cNvPr id="54" name="Text 45"/>
          <p:cNvSpPr txBox="1"/>
          <p:nvPr/>
        </p:nvSpPr>
        <p:spPr>
          <a:xfrm>
            <a:off x="8386877" y="4910938"/>
            <a:ext cx="3119018" cy="393192"/>
          </a:xfrm>
          <a:prstGeom prst="rect">
            <a:avLst/>
          </a:prstGeom>
          <a:noFill/>
          <a:ln/>
        </p:spPr>
        <p:txBody>
          <a:bodyPr wrap="square" lIns="0" tIns="0" rIns="0" bIns="0" rtlCol="0" anchor="t"/>
          <a:lstStyle/>
          <a:p>
            <a:pPr indent="0" marL="0">
              <a:buNone/>
            </a:pPr>
            <a:r>
              <a:rPr lang="en-US" sz="1200" dirty="0">
                <a:solidFill>
                  <a:srgbClr val="B4B4C8"/>
                </a:solidFill>
                <a:latin typeface="Arial" pitchFamily="34" charset="0"/>
                <a:ea typeface="Arial" pitchFamily="34" charset="-122"/>
                <a:cs typeface="Arial" pitchFamily="34" charset="-120"/>
              </a:rPr>
              <a:t>$150K Founding Academy each (slide 20) · to close before launch</a:t>
            </a:r>
            <a:endParaRPr lang="en-US" sz="1200" dirty="0"/>
          </a:p>
        </p:txBody>
      </p:sp>
      <p:sp>
        <p:nvSpPr>
          <p:cNvPr id="55" name="Shape 46"/>
          <p:cNvSpPr/>
          <p:nvPr/>
        </p:nvSpPr>
        <p:spPr>
          <a:xfrm>
            <a:off x="457200" y="5684520"/>
            <a:ext cx="11277295" cy="533400"/>
          </a:xfrm>
          <a:prstGeom prst="roundRect">
            <a:avLst>
              <a:gd name="adj" fmla="val 17143"/>
            </a:avLst>
          </a:prstGeom>
          <a:solidFill>
            <a:srgbClr val="15151F"/>
          </a:solidFill>
          <a:ln w="9525">
            <a:solidFill>
              <a:srgbClr val="5A4A22"/>
            </a:solidFill>
            <a:prstDash val="solid"/>
          </a:ln>
        </p:spPr>
      </p:sp>
      <p:pic>
        <p:nvPicPr>
          <p:cNvPr id="56" name="Image 6" descr="preencoded.png">    </p:cNvPr>
          <p:cNvPicPr>
            <a:picLocks noChangeAspect="1"/>
          </p:cNvPicPr>
          <p:nvPr/>
        </p:nvPicPr>
        <p:blipFill>
          <a:blip r:embed="rId8"/>
          <a:stretch>
            <a:fillRect/>
          </a:stretch>
        </p:blipFill>
        <p:spPr>
          <a:xfrm>
            <a:off x="603504" y="5850636"/>
            <a:ext cx="201168" cy="201168"/>
          </a:xfrm>
          <a:prstGeom prst="rect">
            <a:avLst/>
          </a:prstGeom>
        </p:spPr>
      </p:pic>
      <p:sp>
        <p:nvSpPr>
          <p:cNvPr id="57" name="Text 47"/>
          <p:cNvSpPr txBox="1"/>
          <p:nvPr/>
        </p:nvSpPr>
        <p:spPr>
          <a:xfrm>
            <a:off x="914400" y="5684520"/>
            <a:ext cx="10682935" cy="533400"/>
          </a:xfrm>
          <a:prstGeom prst="rect">
            <a:avLst/>
          </a:prstGeom>
          <a:noFill/>
          <a:ln/>
        </p:spPr>
        <p:txBody>
          <a:bodyPr wrap="square" lIns="0" tIns="0" rIns="0" bIns="0" rtlCol="0" anchor="ctr"/>
          <a:lstStyle/>
          <a:p>
            <a:pPr indent="0" marL="0">
              <a:buNone/>
            </a:pPr>
            <a:r>
              <a:rPr lang="en-US" sz="1150" dirty="0">
                <a:solidFill>
                  <a:srgbClr val="E8E8F0"/>
                </a:solidFill>
                <a:latin typeface="Arial" pitchFamily="34" charset="0"/>
                <a:ea typeface="Arial" pitchFamily="34" charset="-122"/>
                <a:cs typeface="Arial" pitchFamily="34" charset="-120"/>
              </a:rPr>
              <a:t>Statuses as in the master papers; nothing is signed. What is built and what still comes before launch is listed item by item on slide 5. Tether is a target partner; the Tether academy in this deck is illustrative mock data.</a:t>
            </a:r>
            <a:endParaRPr lang="en-US" sz="1150" dirty="0"/>
          </a:p>
        </p:txBody>
      </p:sp>
      <p:sp>
        <p:nvSpPr>
          <p:cNvPr id="58" name="Text 48"/>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7738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5361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COMMERCIAL TERMS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Companies pay. Students benefit.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B2B-first: Company Academy fees and team seats fund the city; learners get the credentials</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942795"/>
          <a:ext cx="7223760" cy="914400"/>
        </p:xfrm>
        <a:graphic>
          <a:graphicData uri="http://schemas.openxmlformats.org/drawingml/2006/table">
            <a:tbl>
              <a:tblPr/>
              <a:tblGrid>
                <a:gridCol w="2331720"/>
                <a:gridCol w="2788920"/>
                <a:gridCol w="2103120"/>
              </a:tblGrid>
              <a:tr h="603504">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REVENUE STREAM</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WHAT IT COVERS</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c>
                  <a:txBody>
                    <a:bodyPr/>
                    <a:lstStyle/>
                    <a:p>
                      <a:pPr indent="0" marL="0">
                        <a:buNone/>
                      </a:pPr>
                      <a:r>
                        <a:rPr lang="en-US" sz="900" b="1" spc="100" kern="0" dirty="0">
                          <a:solidFill>
                            <a:srgbClr val="F0C96B"/>
                          </a:solidFill>
                          <a:latin typeface="Arial" pitchFamily="34" charset="0"/>
                          <a:ea typeface="Arial" pitchFamily="34" charset="-122"/>
                          <a:cs typeface="Arial" pitchFamily="34" charset="-120"/>
                        </a:rPr>
                        <a:t>PRICE</a:t>
                      </a:r>
                      <a:endParaRPr lang="en-US" sz="9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E1A10"/>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Company Academies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Your branded academy: pathways, badges, jobs, dashboard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$25K–$150K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231E1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Corporate Team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Seats for an enterprise team</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$1,500 / seat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Individual Subscriptions</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A single professional learner</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$490–$1,490 / yr</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Open Marketplace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Partner and creator course sales</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70% creator · 30% Chronopoli</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2121A"/>
                    </a:solidFill>
                  </a:tcPr>
                </a:tc>
              </a:tr>
              <a:tr h="603504">
                <a:tc>
                  <a:txBody>
                    <a:bodyPr/>
                    <a:lstStyle/>
                    <a:p>
                      <a:pPr indent="0" marL="0">
                        <a:buNone/>
                      </a:pPr>
                      <a:r>
                        <a:rPr lang="en-US" sz="1300" b="1" dirty="0">
                          <a:solidFill>
                            <a:srgbClr val="FFFFFF"/>
                          </a:solidFill>
                          <a:latin typeface="Arial" pitchFamily="34" charset="0"/>
                          <a:ea typeface="Arial" pitchFamily="34" charset="-122"/>
                          <a:cs typeface="Arial" pitchFamily="34" charset="-120"/>
                        </a:rPr>
                        <a:t>Certification</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200" dirty="0">
                          <a:solidFill>
                            <a:srgbClr val="B4B4C8"/>
                          </a:solidFill>
                          <a:latin typeface="Arial" pitchFamily="34" charset="0"/>
                          <a:ea typeface="Arial" pitchFamily="34" charset="-122"/>
                          <a:cs typeface="Arial" pitchFamily="34" charset="-120"/>
                        </a:rPr>
                        <a:t>Each certificate issued</a:t>
                      </a:r>
                      <a:endParaRPr lang="en-US" sz="12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300" b="1" dirty="0">
                          <a:solidFill>
                            <a:srgbClr val="F0C96B"/>
                          </a:solidFill>
                          <a:latin typeface="Arial" pitchFamily="34" charset="0"/>
                          <a:ea typeface="Arial" pitchFamily="34" charset="-122"/>
                          <a:cs typeface="Arial" pitchFamily="34" charset="-120"/>
                        </a:rPr>
                        <a:t>$15 / certificate</a:t>
                      </a:r>
                      <a:endParaRPr lang="en-US" sz="1300" dirty="0">
                        <a:latin typeface="Arial" charset="0"/>
                        <a:ea typeface="Arial" charset="0"/>
                        <a:cs typeface="Arial" charset="0"/>
                      </a:endParaRPr>
                    </a:p>
                  </a:txBody>
                  <a:tcPr marL="128016" marR="128016" marT="0" marB="0" anchor="ctr">
                    <a:lnL w="9525" cap="flat" cmpd="sng" algn="ctr">
                      <a:solidFill>
                        <a:srgbClr val="2C2C3E"/>
                      </a:solidFill>
                      <a:prstDash val="solid"/>
                      <a:round/>
                      <a:headEnd type="none" w="med" len="med"/>
                      <a:tailEnd type="none" w="med" len="med"/>
                    </a:lnL>
                    <a:lnR w="9525" cap="flat" cmpd="sng" algn="ctr">
                      <a:solidFill>
                        <a:srgbClr val="2C2C3E"/>
                      </a:solidFill>
                      <a:prstDash val="solid"/>
                      <a:round/>
                      <a:headEnd type="none" w="med" len="med"/>
                      <a:tailEnd type="none" w="med" len="med"/>
                    </a:lnR>
                    <a:lnT w="9525" cap="flat" cmpd="sng" algn="ctr">
                      <a:solidFill>
                        <a:srgbClr val="2C2C3E"/>
                      </a:solidFill>
                      <a:prstDash val="solid"/>
                      <a:round/>
                      <a:headEnd type="none" w="med" len="med"/>
                      <a:tailEnd type="none" w="med" len="med"/>
                    </a:lnT>
                    <a:lnB w="9525" cap="flat" cmpd="sng" algn="ctr">
                      <a:solidFill>
                        <a:srgbClr val="2C2C3E"/>
                      </a:solidFill>
                      <a:prstDash val="solid"/>
                      <a:round/>
                      <a:headEnd type="none" w="med" len="med"/>
                      <a:tailEnd type="none" w="med" len="med"/>
                    </a:lnB>
                    <a:solidFill>
                      <a:srgbClr val="171722"/>
                    </a:solidFill>
                  </a:tcPr>
                </a:tc>
              </a:tr>
            </a:tbl>
          </a:graphicData>
        </a:graphic>
      </p:graphicFrame>
      <p:sp>
        <p:nvSpPr>
          <p:cNvPr id="8" name="Text 4"/>
          <p:cNvSpPr txBox="1"/>
          <p:nvPr/>
        </p:nvSpPr>
        <p:spPr>
          <a:xfrm>
            <a:off x="457200" y="5691835"/>
            <a:ext cx="7223760" cy="316992"/>
          </a:xfrm>
          <a:prstGeom prst="rect">
            <a:avLst/>
          </a:prstGeom>
          <a:noFill/>
          <a:ln/>
        </p:spPr>
        <p:txBody>
          <a:bodyPr wrap="square" lIns="0" tIns="0" rIns="0" bIns="0" rtlCol="0" anchor="t"/>
          <a:lstStyle/>
          <a:p>
            <a:pPr indent="0" marL="0">
              <a:buNone/>
            </a:pPr>
            <a:r>
              <a:rPr lang="en-US" sz="950" dirty="0">
                <a:solidFill>
                  <a:srgbClr val="8E8EA2"/>
                </a:solidFill>
                <a:latin typeface="Arial" pitchFamily="34" charset="0"/>
                <a:ea typeface="Arial" pitchFamily="34" charset="-122"/>
                <a:cs typeface="Arial" pitchFamily="34" charset="-120"/>
              </a:rPr>
              <a:t>Source: Chronopoli master papers (March 2026). Where your academy sits in the range, term and exclusivity: partner agreement; seats: pilot order.</a:t>
            </a:r>
            <a:endParaRPr lang="en-US" sz="950" dirty="0"/>
          </a:p>
        </p:txBody>
      </p:sp>
      <p:sp>
        <p:nvSpPr>
          <p:cNvPr id="9" name="Shape 5"/>
          <p:cNvSpPr/>
          <p:nvPr/>
        </p:nvSpPr>
        <p:spPr>
          <a:xfrm>
            <a:off x="8092440" y="1942795"/>
            <a:ext cx="3642055" cy="1947672"/>
          </a:xfrm>
          <a:prstGeom prst="roundRect">
            <a:avLst>
              <a:gd name="adj" fmla="val 5634"/>
            </a:avLst>
          </a:prstGeom>
          <a:solidFill>
            <a:srgbClr val="171722"/>
          </a:solidFill>
          <a:ln w="9525">
            <a:solidFill>
              <a:srgbClr val="2C2C3E"/>
            </a:solidFill>
            <a:prstDash val="solid"/>
          </a:ln>
        </p:spPr>
      </p:sp>
      <p:sp>
        <p:nvSpPr>
          <p:cNvPr id="10" name="Text 6"/>
          <p:cNvSpPr txBox="1"/>
          <p:nvPr/>
        </p:nvSpPr>
        <p:spPr>
          <a:xfrm>
            <a:off x="8293608" y="2125675"/>
            <a:ext cx="3239719"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TWO PRICING VIEWS</a:t>
            </a:r>
            <a:endParaRPr lang="en-US" sz="850" dirty="0"/>
          </a:p>
        </p:txBody>
      </p:sp>
      <p:sp>
        <p:nvSpPr>
          <p:cNvPr id="11" name="Text 7"/>
          <p:cNvSpPr txBox="1"/>
          <p:nvPr/>
        </p:nvSpPr>
        <p:spPr>
          <a:xfrm>
            <a:off x="8293608" y="2399995"/>
            <a:ext cx="3239719" cy="408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Commercial model (left): </a:t>
            </a:r>
            <a:r>
              <a:rPr lang="en-US" sz="1250" dirty="0">
                <a:solidFill>
                  <a:srgbClr val="B4B4C8"/>
                </a:solidFill>
                <a:latin typeface="Arial" pitchFamily="34" charset="0"/>
                <a:ea typeface="Arial" pitchFamily="34" charset="-122"/>
                <a:cs typeface="Arial" pitchFamily="34" charset="-120"/>
              </a:rPr>
              <a:t>annual academy fees and subscriptions.</a:t>
            </a:r>
            <a:endParaRPr lang="en-US" sz="1250" dirty="0"/>
          </a:p>
        </p:txBody>
      </p:sp>
      <p:sp>
        <p:nvSpPr>
          <p:cNvPr id="12" name="Text 8"/>
          <p:cNvSpPr txBox="1"/>
          <p:nvPr/>
        </p:nvSpPr>
        <p:spPr>
          <a:xfrm>
            <a:off x="8293608" y="2927299"/>
            <a:ext cx="3239719" cy="789432"/>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In the product (slides 11, 21, 23): </a:t>
            </a:r>
            <a:r>
              <a:rPr lang="en-US" sz="1250" dirty="0">
                <a:solidFill>
                  <a:srgbClr val="B4B4C8"/>
                </a:solidFill>
                <a:latin typeface="Arial" pitchFamily="34" charset="0"/>
                <a:ea typeface="Arial" pitchFamily="34" charset="-122"/>
                <a:cs typeface="Arial" pitchFamily="34" charset="-120"/>
              </a:rPr>
              <a:t>per-course layer prices from $0 to $8,000 for single purchases, seats at $125 a month (= $1,500 a year), 70/30 split at checkout.</a:t>
            </a:r>
            <a:endParaRPr lang="en-US" sz="1250" dirty="0"/>
          </a:p>
        </p:txBody>
      </p:sp>
      <p:sp>
        <p:nvSpPr>
          <p:cNvPr id="13" name="Shape 9"/>
          <p:cNvSpPr/>
          <p:nvPr/>
        </p:nvSpPr>
        <p:spPr>
          <a:xfrm>
            <a:off x="8092440" y="4164787"/>
            <a:ext cx="3642055" cy="2053133"/>
          </a:xfrm>
          <a:prstGeom prst="roundRect">
            <a:avLst>
              <a:gd name="adj" fmla="val 5344"/>
            </a:avLst>
          </a:prstGeom>
          <a:solidFill>
            <a:srgbClr val="231E12"/>
          </a:solidFill>
          <a:ln w="9525">
            <a:solidFill>
              <a:srgbClr val="C9A84C"/>
            </a:solidFill>
            <a:prstDash val="solid"/>
          </a:ln>
        </p:spPr>
      </p:sp>
      <p:sp>
        <p:nvSpPr>
          <p:cNvPr id="14" name="Text 10"/>
          <p:cNvSpPr txBox="1"/>
          <p:nvPr/>
        </p:nvSpPr>
        <p:spPr>
          <a:xfrm>
            <a:off x="8293608" y="4347667"/>
            <a:ext cx="3239719"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EXAMPLE: A FOUNDING ACADEMY, PER YEAR</a:t>
            </a:r>
            <a:endParaRPr lang="en-US" sz="850" dirty="0"/>
          </a:p>
        </p:txBody>
      </p:sp>
      <p:sp>
        <p:nvSpPr>
          <p:cNvPr id="15" name="Text 11"/>
          <p:cNvSpPr txBox="1"/>
          <p:nvPr/>
        </p:nvSpPr>
        <p:spPr>
          <a:xfrm>
            <a:off x="8293608" y="4567123"/>
            <a:ext cx="3239719" cy="548640"/>
          </a:xfrm>
          <a:prstGeom prst="rect">
            <a:avLst/>
          </a:prstGeom>
          <a:noFill/>
          <a:ln/>
        </p:spPr>
        <p:txBody>
          <a:bodyPr wrap="square" lIns="0" tIns="0" rIns="0" bIns="0" rtlCol="0" anchor="t"/>
          <a:lstStyle/>
          <a:p>
            <a:pPr indent="0" marL="0">
              <a:buNone/>
            </a:pPr>
            <a:r>
              <a:rPr lang="en-US" sz="3400" b="1" dirty="0">
                <a:solidFill>
                  <a:srgbClr val="F0C96B"/>
                </a:solidFill>
                <a:latin typeface="Arial" pitchFamily="34" charset="0"/>
                <a:ea typeface="Arial" pitchFamily="34" charset="-122"/>
                <a:cs typeface="Arial" pitchFamily="34" charset="-120"/>
              </a:rPr>
              <a:t>$150K</a:t>
            </a:r>
            <a:endParaRPr lang="en-US" sz="3400" dirty="0"/>
          </a:p>
        </p:txBody>
      </p:sp>
      <p:sp>
        <p:nvSpPr>
          <p:cNvPr id="16" name="Text 12"/>
          <p:cNvSpPr txBox="1"/>
          <p:nvPr/>
        </p:nvSpPr>
        <p:spPr>
          <a:xfrm>
            <a:off x="8293608" y="5152339"/>
            <a:ext cx="3239719" cy="992429"/>
          </a:xfrm>
          <a:prstGeom prst="rect">
            <a:avLst/>
          </a:prstGeom>
          <a:noFill/>
          <a:ln/>
        </p:spPr>
        <p:txBody>
          <a:bodyPr wrap="square" lIns="0" tIns="0" rIns="0" bIns="0" rtlCol="0" anchor="t"/>
          <a:lstStyle/>
          <a:p>
            <a:pPr indent="0" marL="0">
              <a:buNone/>
            </a:pPr>
            <a:r>
              <a:rPr lang="en-US" sz="1200" dirty="0">
                <a:solidFill>
                  <a:srgbClr val="E8E8F0"/>
                </a:solidFill>
                <a:latin typeface="Arial" pitchFamily="34" charset="0"/>
                <a:ea typeface="Arial" pitchFamily="34" charset="-122"/>
                <a:cs typeface="Arial" pitchFamily="34" charset="-120"/>
              </a:rPr>
              <a:t>Your academy, trained staff and regulators, co-issued credentials, candidates for your hiring team and a Partner Intelligence Report per round table. One recruiter placement: about $20K.</a:t>
            </a:r>
            <a:endParaRPr lang="en-US" sz="12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062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287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PACKAGES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Packages: four partner tiers and a team licence</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Every partner tier runs on the same platform capabilities. The tier describes your role in the city and what we ask of you</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814779"/>
          <a:ext cx="11277295" cy="914400"/>
        </p:xfrm>
        <a:graphic>
          <a:graphicData uri="http://schemas.openxmlformats.org/drawingml/2006/table">
            <a:tbl>
              <a:tblPr/>
              <a:tblGrid>
                <a:gridCol w="1828800"/>
                <a:gridCol w="2103120"/>
                <a:gridCol w="4507992"/>
                <a:gridCol w="2834640"/>
              </a:tblGrid>
              <a:tr h="256032">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PACKAGE</a:t>
                      </a:r>
                      <a:endParaRPr lang="en-US" sz="850" dirty="0">
                        <a:latin typeface="Arial" charset="0"/>
                        <a:ea typeface="Arial" charset="0"/>
                        <a:cs typeface="Arial" charset="0"/>
                      </a:endParaRPr>
                    </a:p>
                  </a:txBody>
                  <a:tcPr marL="45720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WHO IT IS FOR</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8E8EA2"/>
                          </a:solidFill>
                          <a:latin typeface="Arial" pitchFamily="34" charset="0"/>
                          <a:ea typeface="Arial" pitchFamily="34" charset="-122"/>
                          <a:cs typeface="Arial" pitchFamily="34" charset="-120"/>
                        </a:rPr>
                        <a:t>WHAT YOU GET</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c>
                  <a:txBody>
                    <a:bodyPr/>
                    <a:lstStyle/>
                    <a:p>
                      <a:pPr indent="0" marL="0">
                        <a:buNone/>
                      </a:pPr>
                      <a:r>
                        <a:rPr lang="en-US" sz="850" b="1" spc="100" kern="0" dirty="0">
                          <a:solidFill>
                            <a:srgbClr val="F0C96B"/>
                          </a:solidFill>
                          <a:latin typeface="Arial" pitchFamily="34" charset="0"/>
                          <a:ea typeface="Arial" pitchFamily="34" charset="-122"/>
                          <a:cs typeface="Arial" pitchFamily="34" charset="-120"/>
                        </a:rPr>
                        <a:t>WHAT WE ASK OF YOU</a:t>
                      </a:r>
                      <a:endParaRPr lang="en-US" sz="850" dirty="0">
                        <a:latin typeface="Arial" charset="0"/>
                        <a:ea typeface="Arial" charset="0"/>
                        <a:cs typeface="Arial" charset="0"/>
                      </a:endParaRPr>
                    </a:p>
                  </a:txBody>
                  <a:tcPr marL="91440" marR="91440" marT="27432" marB="27432"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2121A"/>
                    </a:solidFill>
                  </a:tcPr>
                </a:tc>
              </a:tr>
              <a:tr h="7010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Founding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First anchor partners who co-design the city</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 web address, flagship tracks, pathways + co-issued badges, badge-gated jobs, dashboard + weekly report, 70/30 payouts, first round tables, masterclass option</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 Founding Academy fee (example: $150K/yr), co-design time in the pilot cohort, a flagship track, the first round table in your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Strategic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Protocols and issuers with multi-district curricula</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Same capabilities, multi-district tracks,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a multi-district curriculum</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39624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Content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Analytics, investigation, AI and specialist training firms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Partner tracks and pathways in the relevant district, dashboard, 70/30 payouts, round-table sponsorship</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tracks in one district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71722"/>
                    </a:solidFill>
                  </a:tcPr>
                </a:tc>
              </a:tr>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Institutional Partner</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Universities, think tanks, banks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Academy for students or staff, pathways + badges, course authoring, co-convened research round tables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An academy fee ($25K–$150K/yr), SMEs for one track, a research lead, a cohort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14141D"/>
                    </a:solidFill>
                  </a:tcPr>
                </a:tc>
              </a:tr>
              <a:tr h="457200">
                <a:tc>
                  <a:txBody>
                    <a:bodyPr/>
                    <a:lstStyle/>
                    <a:p>
                      <a:pPr indent="0" marL="0">
                        <a:buNone/>
                      </a:pPr>
                      <a:r>
                        <a:rPr lang="en-US" sz="1200" b="1" dirty="0">
                          <a:solidFill>
                            <a:srgbClr val="F0C96B"/>
                          </a:solidFill>
                          <a:latin typeface="Arial" pitchFamily="34" charset="0"/>
                          <a:ea typeface="Arial" pitchFamily="34" charset="-122"/>
                          <a:cs typeface="Arial" pitchFamily="34" charset="-120"/>
                        </a:rPr>
                        <a:t>Enterprise team licence</a:t>
                      </a:r>
                      <a:endParaRPr lang="en-US" sz="1200" dirty="0">
                        <a:latin typeface="Arial" charset="0"/>
                        <a:ea typeface="Arial" charset="0"/>
                        <a:cs typeface="Arial" charset="0"/>
                      </a:endParaRPr>
                    </a:p>
                  </a:txBody>
                  <a:tcPr marL="45720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Banks, fintechs, VASPs, regulators, FIUs, corporates</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B4B4C8"/>
                          </a:solidFill>
                          <a:latin typeface="Arial" pitchFamily="34" charset="0"/>
                          <a:ea typeface="Arial" pitchFamily="34" charset="-122"/>
                          <a:cs typeface="Arial" pitchFamily="34" charset="-120"/>
                        </a:rPr>
                        <a:t>Seats, batch enrolment, cohort, gradebook, grade reports, verified-track certificates; team-admin console and evidence pack with the pilot</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c>
                  <a:txBody>
                    <a:bodyPr/>
                    <a:lstStyle/>
                    <a:p>
                      <a:pPr indent="0" marL="0">
                        <a:buNone/>
                      </a:pPr>
                      <a:r>
                        <a:rPr lang="en-US" sz="1000" dirty="0">
                          <a:solidFill>
                            <a:srgbClr val="E8E8F0"/>
                          </a:solidFill>
                          <a:latin typeface="Arial" pitchFamily="34" charset="0"/>
                          <a:ea typeface="Arial" pitchFamily="34" charset="-122"/>
                          <a:cs typeface="Arial" pitchFamily="34" charset="-120"/>
                        </a:rPr>
                        <a:t>Seats at $1,500/seat/yr ($125/month), a team admin, a seat list, a pathway choice</a:t>
                      </a:r>
                      <a:endParaRPr lang="en-US" sz="1000" dirty="0">
                        <a:latin typeface="Arial" charset="0"/>
                        <a:ea typeface="Arial" charset="0"/>
                        <a:cs typeface="Arial" charset="0"/>
                      </a:endParaRPr>
                    </a:p>
                  </a:txBody>
                  <a:tcPr marL="91440" marR="91440" marT="32004" marB="32004" anchor="ctr">
                    <a:lnL w="6350" cap="flat" cmpd="sng" algn="ctr">
                      <a:solidFill>
                        <a:srgbClr val="2C2C3E"/>
                      </a:solidFill>
                      <a:prstDash val="solid"/>
                      <a:round/>
                      <a:headEnd type="none" w="med" len="med"/>
                      <a:tailEnd type="none" w="med" len="med"/>
                    </a:lnL>
                    <a:lnR w="6350" cap="flat" cmpd="sng" algn="ctr">
                      <a:solidFill>
                        <a:srgbClr val="2C2C3E"/>
                      </a:solidFill>
                      <a:prstDash val="solid"/>
                      <a:round/>
                      <a:headEnd type="none" w="med" len="med"/>
                      <a:tailEnd type="none" w="med" len="med"/>
                    </a:lnR>
                    <a:lnT w="6350" cap="flat" cmpd="sng" algn="ctr">
                      <a:solidFill>
                        <a:srgbClr val="2C2C3E"/>
                      </a:solidFill>
                      <a:prstDash val="solid"/>
                      <a:round/>
                      <a:headEnd type="none" w="med" len="med"/>
                      <a:tailEnd type="none" w="med" len="med"/>
                    </a:lnT>
                    <a:lnB w="6350" cap="flat" cmpd="sng" algn="ctr">
                      <a:solidFill>
                        <a:srgbClr val="2C2C3E"/>
                      </a:solidFill>
                      <a:prstDash val="solid"/>
                      <a:round/>
                      <a:headEnd type="none" w="med" len="med"/>
                      <a:tailEnd type="none" w="med" len="med"/>
                    </a:lnB>
                    <a:solidFill>
                      <a:srgbClr val="231E12"/>
                    </a:solidFill>
                  </a:tcPr>
                </a:tc>
              </a:tr>
            </a:tbl>
          </a:graphicData>
        </a:graphic>
      </p:graphicFrame>
      <p:sp>
        <p:nvSpPr>
          <p:cNvPr id="8" name="Shape 4"/>
          <p:cNvSpPr/>
          <p:nvPr/>
        </p:nvSpPr>
        <p:spPr>
          <a:xfrm>
            <a:off x="548640" y="2284171"/>
            <a:ext cx="274320" cy="274320"/>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17220" y="2352751"/>
            <a:ext cx="137160" cy="137160"/>
          </a:xfrm>
          <a:prstGeom prst="rect">
            <a:avLst/>
          </a:prstGeom>
        </p:spPr>
      </p:pic>
      <p:sp>
        <p:nvSpPr>
          <p:cNvPr id="10" name="Shape 5"/>
          <p:cNvSpPr/>
          <p:nvPr/>
        </p:nvSpPr>
        <p:spPr>
          <a:xfrm>
            <a:off x="548640" y="2832811"/>
            <a:ext cx="274320" cy="274320"/>
          </a:xfrm>
          <a:prstGeom prst="ellipse">
            <a:avLst/>
          </a:prstGeom>
          <a:solidFill>
            <a:srgbClr val="1E1A10"/>
          </a:solidFill>
          <a:ln w="9525">
            <a:solidFill>
              <a:srgbClr val="5A4A22"/>
            </a:solidFill>
            <a:prstDash val="solid"/>
          </a:ln>
        </p:spPr>
      </p:sp>
      <p:pic>
        <p:nvPicPr>
          <p:cNvPr id="11" name="Image 1" descr="preencoded.png">    </p:cNvPr>
          <p:cNvPicPr>
            <a:picLocks noChangeAspect="1"/>
          </p:cNvPicPr>
          <p:nvPr/>
        </p:nvPicPr>
        <p:blipFill>
          <a:blip r:embed="rId3"/>
          <a:stretch>
            <a:fillRect/>
          </a:stretch>
        </p:blipFill>
        <p:spPr>
          <a:xfrm>
            <a:off x="617220" y="2901391"/>
            <a:ext cx="137160" cy="137160"/>
          </a:xfrm>
          <a:prstGeom prst="rect">
            <a:avLst/>
          </a:prstGeom>
        </p:spPr>
      </p:pic>
      <p:sp>
        <p:nvSpPr>
          <p:cNvPr id="12" name="Shape 6"/>
          <p:cNvSpPr/>
          <p:nvPr/>
        </p:nvSpPr>
        <p:spPr>
          <a:xfrm>
            <a:off x="548640" y="3229051"/>
            <a:ext cx="274320" cy="274320"/>
          </a:xfrm>
          <a:prstGeom prst="ellipse">
            <a:avLst/>
          </a:prstGeom>
          <a:solidFill>
            <a:srgbClr val="1E1A10"/>
          </a:solidFill>
          <a:ln w="9525">
            <a:solidFill>
              <a:srgbClr val="5A4A22"/>
            </a:solidFill>
            <a:prstDash val="solid"/>
          </a:ln>
        </p:spPr>
      </p:sp>
      <p:pic>
        <p:nvPicPr>
          <p:cNvPr id="13" name="Image 2" descr="preencoded.png">    </p:cNvPr>
          <p:cNvPicPr>
            <a:picLocks noChangeAspect="1"/>
          </p:cNvPicPr>
          <p:nvPr/>
        </p:nvPicPr>
        <p:blipFill>
          <a:blip r:embed="rId4"/>
          <a:stretch>
            <a:fillRect/>
          </a:stretch>
        </p:blipFill>
        <p:spPr>
          <a:xfrm>
            <a:off x="617220" y="3297631"/>
            <a:ext cx="137160" cy="137160"/>
          </a:xfrm>
          <a:prstGeom prst="rect">
            <a:avLst/>
          </a:prstGeom>
        </p:spPr>
      </p:pic>
      <p:sp>
        <p:nvSpPr>
          <p:cNvPr id="14" name="Shape 7"/>
          <p:cNvSpPr/>
          <p:nvPr/>
        </p:nvSpPr>
        <p:spPr>
          <a:xfrm>
            <a:off x="548640" y="3655771"/>
            <a:ext cx="274320" cy="274320"/>
          </a:xfrm>
          <a:prstGeom prst="ellipse">
            <a:avLst/>
          </a:prstGeom>
          <a:solidFill>
            <a:srgbClr val="1E1A10"/>
          </a:solidFill>
          <a:ln w="9525">
            <a:solidFill>
              <a:srgbClr val="5A4A22"/>
            </a:solidFill>
            <a:prstDash val="solid"/>
          </a:ln>
        </p:spPr>
      </p:sp>
      <p:pic>
        <p:nvPicPr>
          <p:cNvPr id="15" name="Image 3" descr="preencoded.png">    </p:cNvPr>
          <p:cNvPicPr>
            <a:picLocks noChangeAspect="1"/>
          </p:cNvPicPr>
          <p:nvPr/>
        </p:nvPicPr>
        <p:blipFill>
          <a:blip r:embed="rId5"/>
          <a:stretch>
            <a:fillRect/>
          </a:stretch>
        </p:blipFill>
        <p:spPr>
          <a:xfrm>
            <a:off x="617220" y="3724351"/>
            <a:ext cx="137160" cy="137160"/>
          </a:xfrm>
          <a:prstGeom prst="rect">
            <a:avLst/>
          </a:prstGeom>
        </p:spPr>
      </p:pic>
      <p:sp>
        <p:nvSpPr>
          <p:cNvPr id="16" name="Shape 8"/>
          <p:cNvSpPr/>
          <p:nvPr/>
        </p:nvSpPr>
        <p:spPr>
          <a:xfrm>
            <a:off x="548640" y="4112971"/>
            <a:ext cx="274320" cy="274320"/>
          </a:xfrm>
          <a:prstGeom prst="ellipse">
            <a:avLst/>
          </a:prstGeom>
          <a:solidFill>
            <a:srgbClr val="C9A84C"/>
          </a:solidFill>
          <a:ln w="9525">
            <a:solidFill>
              <a:srgbClr val="C9A84C"/>
            </a:solidFill>
            <a:prstDash val="solid"/>
          </a:ln>
        </p:spPr>
      </p:sp>
      <p:pic>
        <p:nvPicPr>
          <p:cNvPr id="17" name="Image 4" descr="preencoded.png">    </p:cNvPr>
          <p:cNvPicPr>
            <a:picLocks noChangeAspect="1"/>
          </p:cNvPicPr>
          <p:nvPr/>
        </p:nvPicPr>
        <p:blipFill>
          <a:blip r:embed="rId6"/>
          <a:stretch>
            <a:fillRect/>
          </a:stretch>
        </p:blipFill>
        <p:spPr>
          <a:xfrm>
            <a:off x="617220" y="4181551"/>
            <a:ext cx="137160" cy="137160"/>
          </a:xfrm>
          <a:prstGeom prst="rect">
            <a:avLst/>
          </a:prstGeom>
        </p:spPr>
      </p:pic>
      <p:sp>
        <p:nvSpPr>
          <p:cNvPr id="18" name="Shape 9"/>
          <p:cNvSpPr/>
          <p:nvPr/>
        </p:nvSpPr>
        <p:spPr>
          <a:xfrm>
            <a:off x="457200" y="4698187"/>
            <a:ext cx="11277295" cy="530352"/>
          </a:xfrm>
          <a:prstGeom prst="roundRect">
            <a:avLst>
              <a:gd name="adj" fmla="val 13793"/>
            </a:avLst>
          </a:prstGeom>
          <a:solidFill>
            <a:srgbClr val="231E12"/>
          </a:solidFill>
          <a:ln w="9525">
            <a:solidFill>
              <a:srgbClr val="C9A84C"/>
            </a:solidFill>
            <a:prstDash val="solid"/>
          </a:ln>
        </p:spPr>
      </p:sp>
      <p:sp>
        <p:nvSpPr>
          <p:cNvPr id="19" name="Text 10"/>
          <p:cNvSpPr txBox="1"/>
          <p:nvPr/>
        </p:nvSpPr>
        <p:spPr>
          <a:xfrm>
            <a:off x="640080" y="4780483"/>
            <a:ext cx="10911535" cy="39319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Team licence: </a:t>
            </a:r>
            <a:r>
              <a:rPr lang="en-US" sz="1200" dirty="0">
                <a:solidFill>
                  <a:srgbClr val="FFFFFF"/>
                </a:solidFill>
                <a:latin typeface="Arial" pitchFamily="34" charset="0"/>
                <a:ea typeface="Arial" pitchFamily="34" charset="-122"/>
                <a:cs typeface="Arial" pitchFamily="34" charset="-120"/>
              </a:rPr>
              <a:t>$1,500 per seat per year = $125 per seat per month (list price in the master pricing and in the product) · billed on purchased seats, not assigned seats · example: 25 seats = $3,125/month ($37,500/year at list) · catalogue scope per seat, minimum term and pilot length set in the pilot order</a:t>
            </a:r>
            <a:endParaRPr lang="en-US" sz="1200" dirty="0"/>
          </a:p>
        </p:txBody>
      </p:sp>
      <p:sp>
        <p:nvSpPr>
          <p:cNvPr id="20" name="Text 11"/>
          <p:cNvSpPr txBox="1"/>
          <p:nvPr/>
        </p:nvSpPr>
        <p:spPr>
          <a:xfrm>
            <a:off x="457200" y="5447995"/>
            <a:ext cx="5455768" cy="776224"/>
          </a:xfrm>
          <a:prstGeom prst="rect">
            <a:avLst/>
          </a:prstGeom>
          <a:noFill/>
          <a:ln/>
        </p:spPr>
        <p:txBody>
          <a:bodyPr wrap="square" lIns="0" tIns="0" rIns="0" bIns="0" rtlCol="0" anchor="t"/>
          <a:lstStyle/>
          <a:p>
            <a:pPr marL="165100" indent="-165100">
              <a:spcAft>
                <a:spcPts val="400"/>
              </a:spcAft>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Fixed in the product:</a:t>
            </a:r>
            <a:r>
              <a:rPr lang="en-US" sz="1100" dirty="0">
                <a:solidFill>
                  <a:srgbClr val="B4B4C8"/>
                </a:solidFill>
                <a:latin typeface="Arial" pitchFamily="34" charset="0"/>
                <a:ea typeface="Arial" pitchFamily="34" charset="-122"/>
                <a:cs typeface="Arial" pitchFamily="34" charset="-120"/>
              </a:rPr>
              <a:t> 70/30 split on partner-course sales; seat list price $125/seat/month.</a:t>
            </a:r>
            <a:endParaRPr lang="en-US" sz="1100" dirty="0"/>
          </a:p>
          <a:p>
            <a:pPr marL="165100" indent="-165100">
              <a:buClr>
                <a:srgbClr val="C9A84C"/>
              </a:buClr>
              <a:buSzPct val="80000"/>
              <a:buChar char="●"/>
            </a:pPr>
            <a:r>
              <a:rPr lang="en-US" sz="1100" dirty="0">
                <a:solidFill>
                  <a:srgbClr val="B4B4C8"/>
                </a:solidFill>
                <a:latin typeface="Arial" pitchFamily="34" charset="0"/>
                <a:ea typeface="Arial" pitchFamily="34" charset="-122"/>
                <a:cs typeface="Arial" pitchFamily="34" charset="-120"/>
              </a:rPr>
              <a:t>Single-course price guidance by layer (partners set their own prices): L1 $0‑149 · L2 $299‑799 · L3 $999‑2,499 · L4 $3,000‑8,000.</a:t>
            </a:r>
            <a:endParaRPr lang="en-US" sz="1100" dirty="0"/>
          </a:p>
        </p:txBody>
      </p:sp>
      <p:sp>
        <p:nvSpPr>
          <p:cNvPr id="21" name="Text 12"/>
          <p:cNvSpPr txBox="1"/>
          <p:nvPr/>
        </p:nvSpPr>
        <p:spPr>
          <a:xfrm>
            <a:off x="6278728" y="5447995"/>
            <a:ext cx="5455768" cy="390144"/>
          </a:xfrm>
          <a:prstGeom prst="rect">
            <a:avLst/>
          </a:prstGeom>
          <a:noFill/>
          <a:ln/>
        </p:spPr>
        <p:txBody>
          <a:bodyPr wrap="square" lIns="0" tIns="0" rIns="0" bIns="0" rtlCol="0" anchor="t"/>
          <a:lstStyle/>
          <a:p>
            <a:pPr marL="165100" indent="-165100">
              <a:buClr>
                <a:srgbClr val="C9A84C"/>
              </a:buClr>
              <a:buSzPct val="80000"/>
              <a:buChar char="●"/>
            </a:pPr>
            <a:r>
              <a:rPr lang="en-US" sz="1100" b="1" dirty="0">
                <a:solidFill>
                  <a:srgbClr val="FFFFFF"/>
                </a:solidFill>
                <a:latin typeface="Arial" pitchFamily="34" charset="0"/>
                <a:ea typeface="Arial" pitchFamily="34" charset="-122"/>
                <a:cs typeface="Arial" pitchFamily="34" charset="-120"/>
              </a:rPr>
              <a:t>Company Academy fee:</a:t>
            </a:r>
            <a:r>
              <a:rPr lang="en-US" sz="1100" dirty="0">
                <a:solidFill>
                  <a:srgbClr val="B4B4C8"/>
                </a:solidFill>
                <a:latin typeface="Arial" pitchFamily="34" charset="0"/>
                <a:ea typeface="Arial" pitchFamily="34" charset="-122"/>
                <a:cs typeface="Arial" pitchFamily="34" charset="-120"/>
              </a:rPr>
              <a:t> $25K–$150K/yr by scope (Founding Academy example: $150K/yr, slide 20); tier placement in the range: partner agreement.</a:t>
            </a:r>
            <a:endParaRPr lang="en-US" sz="1100" dirty="0"/>
          </a:p>
        </p:txBody>
      </p:sp>
      <p:sp>
        <p:nvSpPr>
          <p:cNvPr id="22" name="Text 1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3" name="Text 1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2708803"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471059"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GOVERNANCE · IP · DATA ACCESS</a:t>
            </a:r>
            <a:endParaRPr lang="en-US" sz="900" dirty="0"/>
          </a:p>
        </p:txBody>
      </p:sp>
      <p:sp>
        <p:nvSpPr>
          <p:cNvPr id="5" name="Text 2"/>
          <p:cNvSpPr txBox="1"/>
          <p:nvPr/>
        </p:nvSpPr>
        <p:spPr>
          <a:xfrm>
            <a:off x="457200" y="768096"/>
            <a:ext cx="694944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Who controls what: governance, IP and data access</a:t>
            </a:r>
            <a:endParaRPr lang="en-US" sz="3400" dirty="0"/>
          </a:p>
        </p:txBody>
      </p:sp>
      <p:sp>
        <p:nvSpPr>
          <p:cNvPr id="6" name="Text 3"/>
          <p:cNvSpPr txBox="1"/>
          <p:nvPr/>
        </p:nvSpPr>
        <p:spPr>
          <a:xfrm>
            <a:off x="7726680" y="1268578"/>
            <a:ext cx="4007815" cy="45415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Our proposed model. Each point is confirmed in the partner agreement or pilot order</a:t>
            </a:r>
            <a:endParaRPr lang="en-US" sz="1400" dirty="0"/>
          </a:p>
        </p:txBody>
      </p:sp>
      <p:sp>
        <p:nvSpPr>
          <p:cNvPr id="7" name="Shape 4"/>
          <p:cNvSpPr/>
          <p:nvPr/>
        </p:nvSpPr>
        <p:spPr>
          <a:xfrm>
            <a:off x="457200" y="1987906"/>
            <a:ext cx="5501488" cy="4230014"/>
          </a:xfrm>
          <a:prstGeom prst="roundRect">
            <a:avLst>
              <a:gd name="adj" fmla="val 2594"/>
            </a:avLst>
          </a:prstGeom>
          <a:solidFill>
            <a:srgbClr val="231E12"/>
          </a:solidFill>
          <a:ln w="12700">
            <a:solidFill>
              <a:srgbClr val="5A4A22"/>
            </a:solidFill>
            <a:prstDash val="solid"/>
          </a:ln>
        </p:spPr>
      </p:sp>
      <p:sp>
        <p:nvSpPr>
          <p:cNvPr id="8" name="Shape 5"/>
          <p:cNvSpPr/>
          <p:nvPr/>
        </p:nvSpPr>
        <p:spPr>
          <a:xfrm>
            <a:off x="658368" y="2152498"/>
            <a:ext cx="402336" cy="402336"/>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758952" y="2253082"/>
            <a:ext cx="201168" cy="201168"/>
          </a:xfrm>
          <a:prstGeom prst="rect">
            <a:avLst/>
          </a:prstGeom>
        </p:spPr>
      </p:pic>
      <p:sp>
        <p:nvSpPr>
          <p:cNvPr id="10" name="Text 6"/>
          <p:cNvSpPr txBox="1"/>
          <p:nvPr/>
        </p:nvSpPr>
        <p:spPr>
          <a:xfrm>
            <a:off x="1188720"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Governance and IP</a:t>
            </a:r>
            <a:endParaRPr lang="en-US" sz="1700" dirty="0"/>
          </a:p>
        </p:txBody>
      </p:sp>
      <p:sp>
        <p:nvSpPr>
          <p:cNvPr id="11" name="Text 7"/>
          <p:cNvSpPr txBox="1"/>
          <p:nvPr/>
        </p:nvSpPr>
        <p:spPr>
          <a:xfrm>
            <a:off x="1188720"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partners and institutions</a:t>
            </a:r>
            <a:endParaRPr lang="en-US" sz="1000" dirty="0"/>
          </a:p>
        </p:txBody>
      </p:sp>
      <p:sp>
        <p:nvSpPr>
          <p:cNvPr id="12" name="Shape 8"/>
          <p:cNvSpPr/>
          <p:nvPr/>
        </p:nvSpPr>
        <p:spPr>
          <a:xfrm>
            <a:off x="658368" y="2682850"/>
            <a:ext cx="4190901" cy="246888"/>
          </a:xfrm>
          <a:prstGeom prst="roundRect">
            <a:avLst>
              <a:gd name="adj" fmla="val 50000"/>
            </a:avLst>
          </a:prstGeom>
          <a:solidFill>
            <a:srgbClr val="1B1B27"/>
          </a:solidFill>
          <a:ln w="9525">
            <a:solidFill>
              <a:srgbClr val="3A3A50"/>
            </a:solidFill>
            <a:prstDash val="solid"/>
          </a:ln>
        </p:spPr>
      </p:sp>
      <p:sp>
        <p:nvSpPr>
          <p:cNvPr id="13" name="Text 9"/>
          <p:cNvSpPr txBox="1"/>
          <p:nvPr/>
        </p:nvSpPr>
        <p:spPr>
          <a:xfrm>
            <a:off x="813816" y="2682850"/>
            <a:ext cx="3953157" cy="246888"/>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PROPOSED · CONFIRMED IN THE PARTNER AGREEMENT</a:t>
            </a:r>
            <a:endParaRPr lang="en-US" sz="900" dirty="0"/>
          </a:p>
        </p:txBody>
      </p:sp>
      <p:sp>
        <p:nvSpPr>
          <p:cNvPr id="14" name="Shape 10"/>
          <p:cNvSpPr/>
          <p:nvPr/>
        </p:nvSpPr>
        <p:spPr>
          <a:xfrm>
            <a:off x="658368" y="3052420"/>
            <a:ext cx="292608" cy="292608"/>
          </a:xfrm>
          <a:prstGeom prst="ellipse">
            <a:avLst/>
          </a:prstGeom>
          <a:solidFill>
            <a:srgbClr val="1E1A10"/>
          </a:solidFill>
          <a:ln w="9525">
            <a:solidFill>
              <a:srgbClr val="5A4A22"/>
            </a:solidFill>
            <a:prstDash val="solid"/>
          </a:ln>
        </p:spPr>
      </p:sp>
      <p:pic>
        <p:nvPicPr>
          <p:cNvPr id="15" name="Image 1" descr="preencoded.png">    </p:cNvPr>
          <p:cNvPicPr>
            <a:picLocks noChangeAspect="1"/>
          </p:cNvPicPr>
          <p:nvPr/>
        </p:nvPicPr>
        <p:blipFill>
          <a:blip r:embed="rId3"/>
          <a:stretch>
            <a:fillRect/>
          </a:stretch>
        </p:blipFill>
        <p:spPr>
          <a:xfrm>
            <a:off x="731520" y="3125572"/>
            <a:ext cx="146304" cy="146304"/>
          </a:xfrm>
          <a:prstGeom prst="rect">
            <a:avLst/>
          </a:prstGeom>
        </p:spPr>
      </p:pic>
      <p:sp>
        <p:nvSpPr>
          <p:cNvPr id="16" name="Text 11"/>
          <p:cNvSpPr txBox="1"/>
          <p:nvPr/>
        </p:nvSpPr>
        <p:spPr>
          <a:xfrm>
            <a:off x="1097280" y="3103474"/>
            <a:ext cx="4660240" cy="2270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Contracting party: </a:t>
            </a:r>
            <a:r>
              <a:rPr lang="en-US" sz="1250" dirty="0">
                <a:solidFill>
                  <a:srgbClr val="E8E8F0"/>
                </a:solidFill>
                <a:latin typeface="Arial" pitchFamily="34" charset="0"/>
                <a:ea typeface="Arial" pitchFamily="34" charset="-122"/>
                <a:cs typeface="Arial" pitchFamily="34" charset="-120"/>
              </a:rPr>
              <a:t>named in the partner agreement</a:t>
            </a:r>
            <a:endParaRPr lang="en-US" sz="1250" dirty="0"/>
          </a:p>
        </p:txBody>
      </p:sp>
      <p:sp>
        <p:nvSpPr>
          <p:cNvPr id="17" name="Shape 12"/>
          <p:cNvSpPr/>
          <p:nvPr/>
        </p:nvSpPr>
        <p:spPr>
          <a:xfrm>
            <a:off x="658368" y="3481273"/>
            <a:ext cx="292608" cy="292608"/>
          </a:xfrm>
          <a:prstGeom prst="ellipse">
            <a:avLst/>
          </a:prstGeom>
          <a:solidFill>
            <a:srgbClr val="1E1A10"/>
          </a:solidFill>
          <a:ln w="9525">
            <a:solidFill>
              <a:srgbClr val="5A4A22"/>
            </a:solidFill>
            <a:prstDash val="solid"/>
          </a:ln>
        </p:spPr>
      </p:sp>
      <p:pic>
        <p:nvPicPr>
          <p:cNvPr id="18" name="Image 2" descr="preencoded.png">    </p:cNvPr>
          <p:cNvPicPr>
            <a:picLocks noChangeAspect="1"/>
          </p:cNvPicPr>
          <p:nvPr/>
        </p:nvPicPr>
        <p:blipFill>
          <a:blip r:embed="rId4"/>
          <a:stretch>
            <a:fillRect/>
          </a:stretch>
        </p:blipFill>
        <p:spPr>
          <a:xfrm>
            <a:off x="731520" y="3554425"/>
            <a:ext cx="146304" cy="146304"/>
          </a:xfrm>
          <a:prstGeom prst="rect">
            <a:avLst/>
          </a:prstGeom>
        </p:spPr>
      </p:pic>
      <p:sp>
        <p:nvSpPr>
          <p:cNvPr id="19" name="Text 13"/>
          <p:cNvSpPr txBox="1"/>
          <p:nvPr/>
        </p:nvSpPr>
        <p:spPr>
          <a:xfrm>
            <a:off x="1097280" y="3532327"/>
            <a:ext cx="466024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You control your course content, badge criteria and certificate signatory; Chronopoli controls the platform and the approval of AI-generated outputs</a:t>
            </a:r>
            <a:endParaRPr lang="en-US" sz="1250" dirty="0"/>
          </a:p>
        </p:txBody>
      </p:sp>
      <p:sp>
        <p:nvSpPr>
          <p:cNvPr id="20" name="Shape 14"/>
          <p:cNvSpPr/>
          <p:nvPr/>
        </p:nvSpPr>
        <p:spPr>
          <a:xfrm>
            <a:off x="658368" y="4291127"/>
            <a:ext cx="292608" cy="292608"/>
          </a:xfrm>
          <a:prstGeom prst="ellipse">
            <a:avLst/>
          </a:prstGeom>
          <a:solidFill>
            <a:srgbClr val="1E1A10"/>
          </a:solidFill>
          <a:ln w="9525">
            <a:solidFill>
              <a:srgbClr val="5A4A22"/>
            </a:solidFill>
            <a:prstDash val="solid"/>
          </a:ln>
        </p:spPr>
      </p:sp>
      <p:pic>
        <p:nvPicPr>
          <p:cNvPr id="21" name="Image 3" descr="preencoded.png">    </p:cNvPr>
          <p:cNvPicPr>
            <a:picLocks noChangeAspect="1"/>
          </p:cNvPicPr>
          <p:nvPr/>
        </p:nvPicPr>
        <p:blipFill>
          <a:blip r:embed="rId5"/>
          <a:stretch>
            <a:fillRect/>
          </a:stretch>
        </p:blipFill>
        <p:spPr>
          <a:xfrm>
            <a:off x="731520" y="4364279"/>
            <a:ext cx="146304" cy="146304"/>
          </a:xfrm>
          <a:prstGeom prst="rect">
            <a:avLst/>
          </a:prstGeom>
        </p:spPr>
      </p:pic>
      <p:sp>
        <p:nvSpPr>
          <p:cNvPr id="22" name="Text 15"/>
          <p:cNvSpPr txBox="1"/>
          <p:nvPr/>
        </p:nvSpPr>
        <p:spPr>
          <a:xfrm>
            <a:off x="1097280" y="4342181"/>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Content IP stays with the author; the licence to Chronopoli (scope, term) is set in the partner agreement</a:t>
            </a:r>
            <a:endParaRPr lang="en-US" sz="1250" dirty="0"/>
          </a:p>
        </p:txBody>
      </p:sp>
      <p:sp>
        <p:nvSpPr>
          <p:cNvPr id="23" name="Shape 16"/>
          <p:cNvSpPr/>
          <p:nvPr/>
        </p:nvSpPr>
        <p:spPr>
          <a:xfrm>
            <a:off x="658368" y="4910480"/>
            <a:ext cx="292608" cy="292608"/>
          </a:xfrm>
          <a:prstGeom prst="ellipse">
            <a:avLst/>
          </a:prstGeom>
          <a:solidFill>
            <a:srgbClr val="1E1A10"/>
          </a:solidFill>
          <a:ln w="9525">
            <a:solidFill>
              <a:srgbClr val="5A4A22"/>
            </a:solidFill>
            <a:prstDash val="solid"/>
          </a:ln>
        </p:spPr>
      </p:sp>
      <p:pic>
        <p:nvPicPr>
          <p:cNvPr id="24" name="Image 4" descr="preencoded.png">    </p:cNvPr>
          <p:cNvPicPr>
            <a:picLocks noChangeAspect="1"/>
          </p:cNvPicPr>
          <p:nvPr/>
        </p:nvPicPr>
        <p:blipFill>
          <a:blip r:embed="rId6"/>
          <a:stretch>
            <a:fillRect/>
          </a:stretch>
        </p:blipFill>
        <p:spPr>
          <a:xfrm>
            <a:off x="731520" y="4983632"/>
            <a:ext cx="146304" cy="146304"/>
          </a:xfrm>
          <a:prstGeom prst="rect">
            <a:avLst/>
          </a:prstGeom>
        </p:spPr>
      </p:pic>
      <p:sp>
        <p:nvSpPr>
          <p:cNvPr id="25" name="Text 17"/>
          <p:cNvSpPr txBox="1"/>
          <p:nvPr/>
        </p:nvSpPr>
        <p:spPr>
          <a:xfrm>
            <a:off x="1097280" y="4961534"/>
            <a:ext cx="4660240" cy="417576"/>
          </a:xfrm>
          <a:prstGeom prst="rect">
            <a:avLst/>
          </a:prstGeom>
          <a:noFill/>
          <a:ln/>
        </p:spPr>
        <p:txBody>
          <a:bodyPr wrap="square" lIns="0" tIns="0" rIns="0" bIns="0" rtlCol="0" anchor="t"/>
          <a:lstStyle/>
          <a:p>
            <a:pPr indent="0" marL="0">
              <a:buNone/>
            </a:pPr>
            <a:r>
              <a:rPr lang="en-US" sz="1250" b="1" dirty="0">
                <a:solidFill>
                  <a:srgbClr val="F0C96B"/>
                </a:solidFill>
                <a:latin typeface="Arial" pitchFamily="34" charset="0"/>
                <a:ea typeface="Arial" pitchFamily="34" charset="-122"/>
                <a:cs typeface="Arial" pitchFamily="34" charset="-120"/>
              </a:rPr>
              <a:t>Exit: </a:t>
            </a:r>
            <a:r>
              <a:rPr lang="en-US" sz="1250" dirty="0">
                <a:solidFill>
                  <a:srgbClr val="E8E8F0"/>
                </a:solidFill>
                <a:latin typeface="Arial" pitchFamily="34" charset="0"/>
                <a:ea typeface="Arial" pitchFamily="34" charset="-122"/>
                <a:cs typeface="Arial" pitchFamily="34" charset="-120"/>
              </a:rPr>
              <a:t>a standard course export plus the badge records issued under your academy</a:t>
            </a:r>
            <a:endParaRPr lang="en-US" sz="1250" dirty="0"/>
          </a:p>
        </p:txBody>
      </p:sp>
      <p:sp>
        <p:nvSpPr>
          <p:cNvPr id="26" name="Shape 18"/>
          <p:cNvSpPr/>
          <p:nvPr/>
        </p:nvSpPr>
        <p:spPr>
          <a:xfrm>
            <a:off x="658368" y="5529834"/>
            <a:ext cx="292608" cy="292608"/>
          </a:xfrm>
          <a:prstGeom prst="ellipse">
            <a:avLst/>
          </a:prstGeom>
          <a:solidFill>
            <a:srgbClr val="1E1A10"/>
          </a:solidFill>
          <a:ln w="9525">
            <a:solidFill>
              <a:srgbClr val="5A4A22"/>
            </a:solidFill>
            <a:prstDash val="solid"/>
          </a:ln>
        </p:spPr>
      </p:sp>
      <p:pic>
        <p:nvPicPr>
          <p:cNvPr id="27" name="Image 5" descr="preencoded.png">    </p:cNvPr>
          <p:cNvPicPr>
            <a:picLocks noChangeAspect="1"/>
          </p:cNvPicPr>
          <p:nvPr/>
        </p:nvPicPr>
        <p:blipFill>
          <a:blip r:embed="rId7"/>
          <a:stretch>
            <a:fillRect/>
          </a:stretch>
        </p:blipFill>
        <p:spPr>
          <a:xfrm>
            <a:off x="731520" y="5602986"/>
            <a:ext cx="146304" cy="146304"/>
          </a:xfrm>
          <a:prstGeom prst="rect">
            <a:avLst/>
          </a:prstGeom>
        </p:spPr>
      </p:pic>
      <p:sp>
        <p:nvSpPr>
          <p:cNvPr id="28" name="Text 19"/>
          <p:cNvSpPr txBox="1"/>
          <p:nvPr/>
        </p:nvSpPr>
        <p:spPr>
          <a:xfrm>
            <a:off x="1097280" y="5580888"/>
            <a:ext cx="4660240" cy="417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Research outputs from round tables follow the agreement's publication and attribution clause</a:t>
            </a:r>
            <a:endParaRPr lang="en-US" sz="1250" dirty="0"/>
          </a:p>
        </p:txBody>
      </p:sp>
      <p:sp>
        <p:nvSpPr>
          <p:cNvPr id="29" name="Shape 20"/>
          <p:cNvSpPr/>
          <p:nvPr/>
        </p:nvSpPr>
        <p:spPr>
          <a:xfrm>
            <a:off x="6233008" y="1987906"/>
            <a:ext cx="5501488" cy="4230014"/>
          </a:xfrm>
          <a:prstGeom prst="roundRect">
            <a:avLst>
              <a:gd name="adj" fmla="val 2594"/>
            </a:avLst>
          </a:prstGeom>
          <a:solidFill>
            <a:srgbClr val="121B2C"/>
          </a:solidFill>
          <a:ln w="12700">
            <a:solidFill>
              <a:srgbClr val="27436E"/>
            </a:solidFill>
            <a:prstDash val="solid"/>
          </a:ln>
        </p:spPr>
      </p:sp>
      <p:sp>
        <p:nvSpPr>
          <p:cNvPr id="30" name="Shape 21"/>
          <p:cNvSpPr/>
          <p:nvPr/>
        </p:nvSpPr>
        <p:spPr>
          <a:xfrm>
            <a:off x="6434176" y="2152498"/>
            <a:ext cx="402336" cy="402336"/>
          </a:xfrm>
          <a:prstGeom prst="ellipse">
            <a:avLst/>
          </a:prstGeom>
          <a:solidFill>
            <a:srgbClr val="0F1829"/>
          </a:solidFill>
          <a:ln w="9525">
            <a:solidFill>
              <a:srgbClr val="27436E"/>
            </a:solidFill>
            <a:prstDash val="solid"/>
          </a:ln>
        </p:spPr>
      </p:sp>
      <p:pic>
        <p:nvPicPr>
          <p:cNvPr id="31" name="Image 6" descr="preencoded.png">    </p:cNvPr>
          <p:cNvPicPr>
            <a:picLocks noChangeAspect="1"/>
          </p:cNvPicPr>
          <p:nvPr/>
        </p:nvPicPr>
        <p:blipFill>
          <a:blip r:embed="rId8"/>
          <a:stretch>
            <a:fillRect/>
          </a:stretch>
        </p:blipFill>
        <p:spPr>
          <a:xfrm>
            <a:off x="6534760" y="2253082"/>
            <a:ext cx="201168" cy="201168"/>
          </a:xfrm>
          <a:prstGeom prst="rect">
            <a:avLst/>
          </a:prstGeom>
        </p:spPr>
      </p:pic>
      <p:sp>
        <p:nvSpPr>
          <p:cNvPr id="32" name="Text 22"/>
          <p:cNvSpPr txBox="1"/>
          <p:nvPr/>
        </p:nvSpPr>
        <p:spPr>
          <a:xfrm>
            <a:off x="6964528" y="2134210"/>
            <a:ext cx="4587088" cy="2743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Who sees your employees' data</a:t>
            </a:r>
            <a:endParaRPr lang="en-US" sz="1700" dirty="0"/>
          </a:p>
        </p:txBody>
      </p:sp>
      <p:sp>
        <p:nvSpPr>
          <p:cNvPr id="33" name="Text 23"/>
          <p:cNvSpPr txBox="1"/>
          <p:nvPr/>
        </p:nvSpPr>
        <p:spPr>
          <a:xfrm>
            <a:off x="6964528" y="2408530"/>
            <a:ext cx="2194560" cy="182880"/>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For enterprise teams</a:t>
            </a:r>
            <a:endParaRPr lang="en-US" sz="1000" dirty="0"/>
          </a:p>
        </p:txBody>
      </p:sp>
      <p:sp>
        <p:nvSpPr>
          <p:cNvPr id="34" name="Shape 24"/>
          <p:cNvSpPr/>
          <p:nvPr/>
        </p:nvSpPr>
        <p:spPr>
          <a:xfrm>
            <a:off x="6434176" y="2682850"/>
            <a:ext cx="3566000" cy="246888"/>
          </a:xfrm>
          <a:prstGeom prst="roundRect">
            <a:avLst>
              <a:gd name="adj" fmla="val 50000"/>
            </a:avLst>
          </a:prstGeom>
          <a:solidFill>
            <a:srgbClr val="1B1B27"/>
          </a:solidFill>
          <a:ln w="9525">
            <a:solidFill>
              <a:srgbClr val="3A3A50"/>
            </a:solidFill>
            <a:prstDash val="solid"/>
          </a:ln>
        </p:spPr>
      </p:sp>
      <p:sp>
        <p:nvSpPr>
          <p:cNvPr id="35" name="Text 25"/>
          <p:cNvSpPr txBox="1"/>
          <p:nvPr/>
        </p:nvSpPr>
        <p:spPr>
          <a:xfrm>
            <a:off x="6589624" y="2682850"/>
            <a:ext cx="3328256" cy="246888"/>
          </a:xfrm>
          <a:prstGeom prst="rect">
            <a:avLst/>
          </a:prstGeom>
          <a:noFill/>
          <a:ln/>
        </p:spPr>
        <p:txBody>
          <a:bodyPr wrap="square" lIns="0" tIns="0" rIns="0" bIns="0" rtlCol="0" anchor="ctr"/>
          <a:lstStyle/>
          <a:p>
            <a:pPr indent="0" marL="0">
              <a:buNone/>
            </a:pPr>
            <a:r>
              <a:rPr lang="en-US" sz="900" b="1" spc="120" kern="0" dirty="0">
                <a:solidFill>
                  <a:srgbClr val="60A5FA"/>
                </a:solidFill>
                <a:latin typeface="Arial" pitchFamily="34" charset="0"/>
                <a:ea typeface="Arial" pitchFamily="34" charset="-122"/>
                <a:cs typeface="Arial" pitchFamily="34" charset="-120"/>
              </a:rPr>
              <a:t>PROPOSED · CONFIRMED IN THE PILOT ORDER</a:t>
            </a:r>
            <a:endParaRPr lang="en-US" sz="900" dirty="0"/>
          </a:p>
        </p:txBody>
      </p:sp>
      <p:sp>
        <p:nvSpPr>
          <p:cNvPr id="36" name="Shape 26"/>
          <p:cNvSpPr/>
          <p:nvPr/>
        </p:nvSpPr>
        <p:spPr>
          <a:xfrm>
            <a:off x="6434176" y="3085186"/>
            <a:ext cx="5099152" cy="681228"/>
          </a:xfrm>
          <a:prstGeom prst="roundRect">
            <a:avLst>
              <a:gd name="adj" fmla="val 8054"/>
            </a:avLst>
          </a:prstGeom>
          <a:solidFill>
            <a:srgbClr val="0A0A0F"/>
          </a:solidFill>
          <a:ln w="9525">
            <a:solidFill>
              <a:srgbClr val="27436E"/>
            </a:solidFill>
            <a:prstDash val="solid"/>
          </a:ln>
        </p:spPr>
      </p:sp>
      <p:sp>
        <p:nvSpPr>
          <p:cNvPr id="37" name="Shape 27"/>
          <p:cNvSpPr/>
          <p:nvPr/>
        </p:nvSpPr>
        <p:spPr>
          <a:xfrm>
            <a:off x="6525616" y="3288640"/>
            <a:ext cx="274320" cy="274320"/>
          </a:xfrm>
          <a:prstGeom prst="ellipse">
            <a:avLst/>
          </a:prstGeom>
          <a:solidFill>
            <a:srgbClr val="0F1829"/>
          </a:solidFill>
          <a:ln w="9525">
            <a:solidFill>
              <a:srgbClr val="27436E"/>
            </a:solidFill>
            <a:prstDash val="solid"/>
          </a:ln>
        </p:spPr>
      </p:sp>
      <p:pic>
        <p:nvPicPr>
          <p:cNvPr id="38" name="Image 7" descr="preencoded.png">    </p:cNvPr>
          <p:cNvPicPr>
            <a:picLocks noChangeAspect="1"/>
          </p:cNvPicPr>
          <p:nvPr/>
        </p:nvPicPr>
        <p:blipFill>
          <a:blip r:embed="rId9"/>
          <a:stretch>
            <a:fillRect/>
          </a:stretch>
        </p:blipFill>
        <p:spPr>
          <a:xfrm>
            <a:off x="6594196" y="3357220"/>
            <a:ext cx="137160" cy="137160"/>
          </a:xfrm>
          <a:prstGeom prst="rect">
            <a:avLst/>
          </a:prstGeom>
        </p:spPr>
      </p:pic>
      <p:sp>
        <p:nvSpPr>
          <p:cNvPr id="39" name="Text 28"/>
          <p:cNvSpPr txBox="1"/>
          <p:nvPr/>
        </p:nvSpPr>
        <p:spPr>
          <a:xfrm>
            <a:off x="6891376" y="3085186"/>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Your team admin</a:t>
            </a:r>
            <a:endParaRPr lang="en-US" sz="1150" dirty="0"/>
          </a:p>
        </p:txBody>
      </p:sp>
      <p:sp>
        <p:nvSpPr>
          <p:cNvPr id="40" name="Text 29"/>
          <p:cNvSpPr txBox="1"/>
          <p:nvPr/>
        </p:nvSpPr>
        <p:spPr>
          <a:xfrm>
            <a:off x="8390992" y="3085186"/>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Your cohort only (cohort-filtered reports in the pilot; company-scoped console in a later release)</a:t>
            </a:r>
            <a:endParaRPr lang="en-US" sz="1250" dirty="0"/>
          </a:p>
        </p:txBody>
      </p:sp>
      <p:sp>
        <p:nvSpPr>
          <p:cNvPr id="41" name="Shape 30"/>
          <p:cNvSpPr/>
          <p:nvPr/>
        </p:nvSpPr>
        <p:spPr>
          <a:xfrm>
            <a:off x="6434176" y="3857854"/>
            <a:ext cx="5099152" cy="681228"/>
          </a:xfrm>
          <a:prstGeom prst="roundRect">
            <a:avLst>
              <a:gd name="adj" fmla="val 8054"/>
            </a:avLst>
          </a:prstGeom>
          <a:solidFill>
            <a:srgbClr val="0A0A0F"/>
          </a:solidFill>
          <a:ln w="9525">
            <a:solidFill>
              <a:srgbClr val="27436E"/>
            </a:solidFill>
            <a:prstDash val="solid"/>
          </a:ln>
        </p:spPr>
      </p:sp>
      <p:sp>
        <p:nvSpPr>
          <p:cNvPr id="42" name="Shape 31"/>
          <p:cNvSpPr/>
          <p:nvPr/>
        </p:nvSpPr>
        <p:spPr>
          <a:xfrm>
            <a:off x="6525616" y="4061308"/>
            <a:ext cx="274320" cy="274320"/>
          </a:xfrm>
          <a:prstGeom prst="ellipse">
            <a:avLst/>
          </a:prstGeom>
          <a:solidFill>
            <a:srgbClr val="0F1829"/>
          </a:solidFill>
          <a:ln w="9525">
            <a:solidFill>
              <a:srgbClr val="27436E"/>
            </a:solidFill>
            <a:prstDash val="solid"/>
          </a:ln>
        </p:spPr>
      </p:sp>
      <p:pic>
        <p:nvPicPr>
          <p:cNvPr id="43" name="Image 8" descr="preencoded.png">    </p:cNvPr>
          <p:cNvPicPr>
            <a:picLocks noChangeAspect="1"/>
          </p:cNvPicPr>
          <p:nvPr/>
        </p:nvPicPr>
        <p:blipFill>
          <a:blip r:embed="rId10"/>
          <a:stretch>
            <a:fillRect/>
          </a:stretch>
        </p:blipFill>
        <p:spPr>
          <a:xfrm>
            <a:off x="6594196" y="4129888"/>
            <a:ext cx="137160" cy="137160"/>
          </a:xfrm>
          <a:prstGeom prst="rect">
            <a:avLst/>
          </a:prstGeom>
        </p:spPr>
      </p:pic>
      <p:sp>
        <p:nvSpPr>
          <p:cNvPr id="44" name="Text 32"/>
          <p:cNvSpPr txBox="1"/>
          <p:nvPr/>
        </p:nvSpPr>
        <p:spPr>
          <a:xfrm>
            <a:off x="6891376" y="3857854"/>
            <a:ext cx="1417320" cy="6812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A partner academy</a:t>
            </a:r>
            <a:endParaRPr lang="en-US" sz="1150" dirty="0"/>
          </a:p>
        </p:txBody>
      </p:sp>
      <p:sp>
        <p:nvSpPr>
          <p:cNvPr id="45" name="Text 33"/>
          <p:cNvSpPr txBox="1"/>
          <p:nvPr/>
        </p:nvSpPr>
        <p:spPr>
          <a:xfrm>
            <a:off x="8390992" y="3857854"/>
            <a:ext cx="3050896" cy="6812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Course-level aggregates; learner-level data only with candidate consent (required before launch)</a:t>
            </a:r>
            <a:endParaRPr lang="en-US" sz="1250" dirty="0"/>
          </a:p>
        </p:txBody>
      </p:sp>
      <p:sp>
        <p:nvSpPr>
          <p:cNvPr id="46" name="Shape 34"/>
          <p:cNvSpPr/>
          <p:nvPr/>
        </p:nvSpPr>
        <p:spPr>
          <a:xfrm>
            <a:off x="6434176" y="4630522"/>
            <a:ext cx="5099152" cy="490728"/>
          </a:xfrm>
          <a:prstGeom prst="roundRect">
            <a:avLst>
              <a:gd name="adj" fmla="val 11180"/>
            </a:avLst>
          </a:prstGeom>
          <a:solidFill>
            <a:srgbClr val="0A0A0F"/>
          </a:solidFill>
          <a:ln w="9525">
            <a:solidFill>
              <a:srgbClr val="27436E"/>
            </a:solidFill>
            <a:prstDash val="solid"/>
          </a:ln>
        </p:spPr>
      </p:sp>
      <p:sp>
        <p:nvSpPr>
          <p:cNvPr id="47" name="Shape 35"/>
          <p:cNvSpPr/>
          <p:nvPr/>
        </p:nvSpPr>
        <p:spPr>
          <a:xfrm>
            <a:off x="6525616" y="4738726"/>
            <a:ext cx="274320" cy="274320"/>
          </a:xfrm>
          <a:prstGeom prst="ellipse">
            <a:avLst/>
          </a:prstGeom>
          <a:solidFill>
            <a:srgbClr val="0F1829"/>
          </a:solidFill>
          <a:ln w="9525">
            <a:solidFill>
              <a:srgbClr val="27436E"/>
            </a:solidFill>
            <a:prstDash val="solid"/>
          </a:ln>
        </p:spPr>
      </p:sp>
      <p:pic>
        <p:nvPicPr>
          <p:cNvPr id="48" name="Image 9" descr="preencoded.png">    </p:cNvPr>
          <p:cNvPicPr>
            <a:picLocks noChangeAspect="1"/>
          </p:cNvPicPr>
          <p:nvPr/>
        </p:nvPicPr>
        <p:blipFill>
          <a:blip r:embed="rId11"/>
          <a:stretch>
            <a:fillRect/>
          </a:stretch>
        </p:blipFill>
        <p:spPr>
          <a:xfrm>
            <a:off x="6594196" y="4807306"/>
            <a:ext cx="137160" cy="137160"/>
          </a:xfrm>
          <a:prstGeom prst="rect">
            <a:avLst/>
          </a:prstGeom>
        </p:spPr>
      </p:pic>
      <p:sp>
        <p:nvSpPr>
          <p:cNvPr id="49" name="Text 36"/>
          <p:cNvSpPr txBox="1"/>
          <p:nvPr/>
        </p:nvSpPr>
        <p:spPr>
          <a:xfrm>
            <a:off x="6891376" y="4630522"/>
            <a:ext cx="1417320" cy="490728"/>
          </a:xfrm>
          <a:prstGeom prst="rect">
            <a:avLst/>
          </a:prstGeom>
          <a:noFill/>
          <a:ln/>
        </p:spPr>
        <p:txBody>
          <a:bodyPr wrap="square" lIns="0" tIns="0" rIns="0" bIns="0" rtlCol="0" anchor="ctr"/>
          <a:lstStyle/>
          <a:p>
            <a:pPr indent="0" marL="0">
              <a:buNone/>
            </a:pPr>
            <a:r>
              <a:rPr lang="en-US" sz="1150" b="1" dirty="0">
                <a:solidFill>
                  <a:srgbClr val="60A5FA"/>
                </a:solidFill>
                <a:latin typeface="Arial" pitchFamily="34" charset="0"/>
                <a:ea typeface="Arial" pitchFamily="34" charset="-122"/>
                <a:cs typeface="Arial" pitchFamily="34" charset="-120"/>
              </a:rPr>
              <a:t>Chronopoli staff</a:t>
            </a:r>
            <a:endParaRPr lang="en-US" sz="1150" dirty="0"/>
          </a:p>
        </p:txBody>
      </p:sp>
      <p:sp>
        <p:nvSpPr>
          <p:cNvPr id="50" name="Text 37"/>
          <p:cNvSpPr txBox="1"/>
          <p:nvPr/>
        </p:nvSpPr>
        <p:spPr>
          <a:xfrm>
            <a:off x="8390992" y="4630522"/>
            <a:ext cx="3050896" cy="490728"/>
          </a:xfrm>
          <a:prstGeom prst="rect">
            <a:avLst/>
          </a:prstGeom>
          <a:noFill/>
          <a:ln/>
        </p:spPr>
        <p:txBody>
          <a:bodyPr wrap="square" lIns="0" tIns="0" rIns="0" bIns="0" rtlCol="0" anchor="ctr"/>
          <a:lstStyle/>
          <a:p>
            <a:pPr indent="0" marL="0">
              <a:buNone/>
            </a:pPr>
            <a:r>
              <a:rPr lang="en-US" sz="1250" dirty="0">
                <a:solidFill>
                  <a:srgbClr val="E8E8F0"/>
                </a:solidFill>
                <a:latin typeface="Arial" pitchFamily="34" charset="0"/>
                <a:ea typeface="Arial" pitchFamily="34" charset="-122"/>
                <a:cs typeface="Arial" pitchFamily="34" charset="-120"/>
              </a:rPr>
              <a:t>Operator access to all data; in the pilot they hold the course-staff role</a:t>
            </a:r>
            <a:endParaRPr lang="en-US" sz="1250" dirty="0"/>
          </a:p>
        </p:txBody>
      </p:sp>
      <p:sp>
        <p:nvSpPr>
          <p:cNvPr id="51" name="Shape 38"/>
          <p:cNvSpPr/>
          <p:nvPr/>
        </p:nvSpPr>
        <p:spPr>
          <a:xfrm>
            <a:off x="6434176" y="5267554"/>
            <a:ext cx="5099152" cy="818388"/>
          </a:xfrm>
          <a:prstGeom prst="roundRect">
            <a:avLst>
              <a:gd name="adj" fmla="val 8939"/>
            </a:avLst>
          </a:prstGeom>
          <a:solidFill>
            <a:srgbClr val="0F1829"/>
          </a:solidFill>
          <a:ln w="12700">
            <a:solidFill>
              <a:srgbClr val="27436E"/>
            </a:solidFill>
            <a:prstDash val="solid"/>
          </a:ln>
        </p:spPr>
      </p:sp>
      <p:pic>
        <p:nvPicPr>
          <p:cNvPr id="52" name="Image 10" descr="preencoded.png">    </p:cNvPr>
          <p:cNvPicPr>
            <a:picLocks noChangeAspect="1"/>
          </p:cNvPicPr>
          <p:nvPr/>
        </p:nvPicPr>
        <p:blipFill>
          <a:blip r:embed="rId12"/>
          <a:stretch>
            <a:fillRect/>
          </a:stretch>
        </p:blipFill>
        <p:spPr>
          <a:xfrm>
            <a:off x="6580480" y="5413858"/>
            <a:ext cx="237744" cy="237744"/>
          </a:xfrm>
          <a:prstGeom prst="rect">
            <a:avLst/>
          </a:prstGeom>
        </p:spPr>
      </p:pic>
      <p:sp>
        <p:nvSpPr>
          <p:cNvPr id="53" name="Text 39"/>
          <p:cNvSpPr txBox="1"/>
          <p:nvPr/>
        </p:nvSpPr>
        <p:spPr>
          <a:xfrm>
            <a:off x="6946240" y="5404714"/>
            <a:ext cx="4440784" cy="562356"/>
          </a:xfrm>
          <a:prstGeom prst="rect">
            <a:avLst/>
          </a:prstGeom>
          <a:noFill/>
          <a:ln/>
        </p:spPr>
        <p:txBody>
          <a:bodyPr wrap="square" lIns="0" tIns="0" rIns="0" bIns="0" rtlCol="0" anchor="t"/>
          <a:lstStyle/>
          <a:p>
            <a:pPr indent="0" marL="0">
              <a:buNone/>
            </a:pPr>
            <a:r>
              <a:rPr lang="en-US" sz="1150" dirty="0">
                <a:solidFill>
                  <a:srgbClr val="E8E8F0"/>
                </a:solidFill>
                <a:latin typeface="Arial" pitchFamily="34" charset="0"/>
                <a:ea typeface="Arial" pitchFamily="34" charset="-122"/>
                <a:cs typeface="Arial" pitchFamily="34" charset="-120"/>
              </a:rPr>
              <a:t>Pilot environment, and the learner data allowed in it (for example pseudonymous usernames until data protection is hardened before launch), are set in the pilot order</a:t>
            </a:r>
            <a:endParaRPr lang="en-US" sz="1150" dirty="0"/>
          </a:p>
        </p:txBody>
      </p:sp>
      <p:sp>
        <p:nvSpPr>
          <p:cNvPr id="54"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55"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30623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406848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ILLUSTRATIVE ECONOMICS · A MODEL, NOT A FORECAST</a:t>
            </a:r>
            <a:endParaRPr lang="en-US" sz="900" dirty="0"/>
          </a:p>
        </p:txBody>
      </p:sp>
      <p:sp>
        <p:nvSpPr>
          <p:cNvPr id="5" name="Text 2"/>
          <p:cNvSpPr txBox="1"/>
          <p:nvPr/>
        </p:nvSpPr>
        <p:spPr>
          <a:xfrm>
            <a:off x="457200" y="768096"/>
            <a:ext cx="758952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Illustrative economics: per course, per quarter, per team licence</a:t>
            </a:r>
            <a:endParaRPr lang="en-US" sz="3400" dirty="0"/>
          </a:p>
        </p:txBody>
      </p:sp>
      <p:sp>
        <p:nvSpPr>
          <p:cNvPr id="6" name="Text 3"/>
          <p:cNvSpPr txBox="1"/>
          <p:nvPr/>
        </p:nvSpPr>
        <p:spPr>
          <a:xfrm>
            <a:off x="8366760" y="1055218"/>
            <a:ext cx="336773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Fictitious Tether (illustrative) scenario showing the mechanics. Not a forecast, not traction.</a:t>
            </a:r>
            <a:endParaRPr lang="en-US" sz="1400" dirty="0"/>
          </a:p>
        </p:txBody>
      </p:sp>
      <p:sp>
        <p:nvSpPr>
          <p:cNvPr id="7" name="Shape 4"/>
          <p:cNvSpPr/>
          <p:nvPr/>
        </p:nvSpPr>
        <p:spPr>
          <a:xfrm>
            <a:off x="457200" y="2006194"/>
            <a:ext cx="2682164" cy="804672"/>
          </a:xfrm>
          <a:prstGeom prst="roundRect">
            <a:avLst>
              <a:gd name="adj" fmla="val 11364"/>
            </a:avLst>
          </a:prstGeom>
          <a:solidFill>
            <a:srgbClr val="231E12"/>
          </a:solidFill>
          <a:ln w="15875">
            <a:solidFill>
              <a:srgbClr val="C9A84C"/>
            </a:solidFill>
            <a:prstDash val="solid"/>
          </a:ln>
        </p:spPr>
      </p:sp>
      <p:sp>
        <p:nvSpPr>
          <p:cNvPr id="8" name="Text 5"/>
          <p:cNvSpPr txBox="1"/>
          <p:nvPr/>
        </p:nvSpPr>
        <p:spPr>
          <a:xfrm>
            <a:off x="621792" y="2079346"/>
            <a:ext cx="2407844" cy="182880"/>
          </a:xfrm>
          <a:prstGeom prst="rect">
            <a:avLst/>
          </a:prstGeom>
          <a:noFill/>
          <a:ln/>
        </p:spPr>
        <p:txBody>
          <a:bodyPr wrap="square" lIns="0" tIns="0" rIns="0" bIns="0" rtlCol="0" anchor="t"/>
          <a:lstStyle/>
          <a:p>
            <a:pPr indent="0" marL="0">
              <a:buNone/>
            </a:pPr>
            <a:r>
              <a:rPr lang="en-US" sz="850" b="1" spc="100" kern="0" dirty="0">
                <a:solidFill>
                  <a:srgbClr val="F0C96B"/>
                </a:solidFill>
                <a:latin typeface="Arial" pitchFamily="34" charset="0"/>
                <a:ea typeface="Arial" pitchFamily="34" charset="-122"/>
                <a:cs typeface="Arial" pitchFamily="34" charset="-120"/>
              </a:rPr>
              <a:t>PER 100 USDT-201</a:t>
            </a:r>
            <a:endParaRPr lang="en-US" sz="850" dirty="0"/>
          </a:p>
        </p:txBody>
      </p:sp>
      <p:sp>
        <p:nvSpPr>
          <p:cNvPr id="9" name="Text 6"/>
          <p:cNvSpPr txBox="1"/>
          <p:nvPr/>
        </p:nvSpPr>
        <p:spPr>
          <a:xfrm>
            <a:off x="621792" y="2225650"/>
            <a:ext cx="2407844" cy="329184"/>
          </a:xfrm>
          <a:prstGeom prst="rect">
            <a:avLst/>
          </a:prstGeom>
          <a:noFill/>
          <a:ln/>
        </p:spPr>
        <p:txBody>
          <a:bodyPr wrap="square" lIns="0" tIns="0" rIns="0" bIns="0" rtlCol="0" anchor="ctr"/>
          <a:lstStyle/>
          <a:p>
            <a:pPr indent="0" marL="0">
              <a:buNone/>
            </a:pPr>
            <a:r>
              <a:rPr lang="en-US" sz="2200" b="1" dirty="0">
                <a:solidFill>
                  <a:srgbClr val="F0C96B"/>
                </a:solidFill>
                <a:latin typeface="Arial" pitchFamily="34" charset="0"/>
                <a:ea typeface="Arial" pitchFamily="34" charset="-122"/>
                <a:cs typeface="Arial" pitchFamily="34" charset="-120"/>
              </a:rPr>
              <a:t>$41,930</a:t>
            </a:r>
            <a:endParaRPr lang="en-US" sz="2200" dirty="0"/>
          </a:p>
        </p:txBody>
      </p:sp>
      <p:sp>
        <p:nvSpPr>
          <p:cNvPr id="10" name="Text 7"/>
          <p:cNvSpPr txBox="1"/>
          <p:nvPr/>
        </p:nvSpPr>
        <p:spPr>
          <a:xfrm>
            <a:off x="621792"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partner 70% of $59,900</a:t>
            </a:r>
            <a:endParaRPr lang="en-US" sz="1000" dirty="0"/>
          </a:p>
        </p:txBody>
      </p:sp>
      <p:sp>
        <p:nvSpPr>
          <p:cNvPr id="11" name="Shape 8"/>
          <p:cNvSpPr/>
          <p:nvPr/>
        </p:nvSpPr>
        <p:spPr>
          <a:xfrm>
            <a:off x="3322244" y="2006194"/>
            <a:ext cx="2682164" cy="804672"/>
          </a:xfrm>
          <a:prstGeom prst="roundRect">
            <a:avLst>
              <a:gd name="adj" fmla="val 11364"/>
            </a:avLst>
          </a:prstGeom>
          <a:solidFill>
            <a:srgbClr val="171722"/>
          </a:solidFill>
          <a:ln w="9525">
            <a:solidFill>
              <a:srgbClr val="2C2C3E"/>
            </a:solidFill>
            <a:prstDash val="solid"/>
          </a:ln>
        </p:spPr>
      </p:sp>
      <p:sp>
        <p:nvSpPr>
          <p:cNvPr id="12" name="Text 9"/>
          <p:cNvSpPr txBox="1"/>
          <p:nvPr/>
        </p:nvSpPr>
        <p:spPr>
          <a:xfrm>
            <a:off x="3486836"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QUARTER GROSS</a:t>
            </a:r>
            <a:endParaRPr lang="en-US" sz="850" dirty="0"/>
          </a:p>
        </p:txBody>
      </p:sp>
      <p:sp>
        <p:nvSpPr>
          <p:cNvPr id="13" name="Text 10"/>
          <p:cNvSpPr txBox="1"/>
          <p:nvPr/>
        </p:nvSpPr>
        <p:spPr>
          <a:xfrm>
            <a:off x="3486836"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$1,108,440</a:t>
            </a:r>
            <a:endParaRPr lang="en-US" sz="2200" dirty="0"/>
          </a:p>
        </p:txBody>
      </p:sp>
      <p:sp>
        <p:nvSpPr>
          <p:cNvPr id="14" name="Text 11"/>
          <p:cNvSpPr txBox="1"/>
          <p:nvPr/>
        </p:nvSpPr>
        <p:spPr>
          <a:xfrm>
            <a:off x="3486836"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8 courses, Q3 2026</a:t>
            </a:r>
            <a:endParaRPr lang="en-US" sz="1000" dirty="0"/>
          </a:p>
        </p:txBody>
      </p:sp>
      <p:sp>
        <p:nvSpPr>
          <p:cNvPr id="15" name="Shape 12"/>
          <p:cNvSpPr/>
          <p:nvPr/>
        </p:nvSpPr>
        <p:spPr>
          <a:xfrm>
            <a:off x="6187288" y="2006194"/>
            <a:ext cx="2682164" cy="804672"/>
          </a:xfrm>
          <a:prstGeom prst="roundRect">
            <a:avLst>
              <a:gd name="adj" fmla="val 11364"/>
            </a:avLst>
          </a:prstGeom>
          <a:solidFill>
            <a:srgbClr val="171722"/>
          </a:solidFill>
          <a:ln w="9525">
            <a:solidFill>
              <a:srgbClr val="2C2C3E"/>
            </a:solidFill>
            <a:prstDash val="solid"/>
          </a:ln>
        </p:spPr>
      </p:sp>
      <p:sp>
        <p:nvSpPr>
          <p:cNvPr id="16" name="Text 13"/>
          <p:cNvSpPr txBox="1"/>
          <p:nvPr/>
        </p:nvSpPr>
        <p:spPr>
          <a:xfrm>
            <a:off x="6351880"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PARTNER 70%</a:t>
            </a:r>
            <a:endParaRPr lang="en-US" sz="850" dirty="0"/>
          </a:p>
        </p:txBody>
      </p:sp>
      <p:sp>
        <p:nvSpPr>
          <p:cNvPr id="17" name="Text 14"/>
          <p:cNvSpPr txBox="1"/>
          <p:nvPr/>
        </p:nvSpPr>
        <p:spPr>
          <a:xfrm>
            <a:off x="6351880"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$775,908</a:t>
            </a:r>
            <a:endParaRPr lang="en-US" sz="2200" dirty="0"/>
          </a:p>
        </p:txBody>
      </p:sp>
      <p:sp>
        <p:nvSpPr>
          <p:cNvPr id="18" name="Text 15"/>
          <p:cNvSpPr txBox="1"/>
          <p:nvPr/>
        </p:nvSpPr>
        <p:spPr>
          <a:xfrm>
            <a:off x="6351880"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of gross</a:t>
            </a:r>
            <a:endParaRPr lang="en-US" sz="1000" dirty="0"/>
          </a:p>
        </p:txBody>
      </p:sp>
      <p:sp>
        <p:nvSpPr>
          <p:cNvPr id="19" name="Shape 16"/>
          <p:cNvSpPr/>
          <p:nvPr/>
        </p:nvSpPr>
        <p:spPr>
          <a:xfrm>
            <a:off x="9052331" y="2006194"/>
            <a:ext cx="2682164" cy="804672"/>
          </a:xfrm>
          <a:prstGeom prst="roundRect">
            <a:avLst>
              <a:gd name="adj" fmla="val 11364"/>
            </a:avLst>
          </a:prstGeom>
          <a:solidFill>
            <a:srgbClr val="171722"/>
          </a:solidFill>
          <a:ln w="9525">
            <a:solidFill>
              <a:srgbClr val="2C2C3E"/>
            </a:solidFill>
            <a:prstDash val="solid"/>
          </a:ln>
        </p:spPr>
      </p:sp>
      <p:sp>
        <p:nvSpPr>
          <p:cNvPr id="20" name="Text 17"/>
          <p:cNvSpPr txBox="1"/>
          <p:nvPr/>
        </p:nvSpPr>
        <p:spPr>
          <a:xfrm>
            <a:off x="9216923" y="2079346"/>
            <a:ext cx="24078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TEAM LICENCE</a:t>
            </a:r>
            <a:endParaRPr lang="en-US" sz="850" dirty="0"/>
          </a:p>
        </p:txBody>
      </p:sp>
      <p:sp>
        <p:nvSpPr>
          <p:cNvPr id="21" name="Text 18"/>
          <p:cNvSpPr txBox="1"/>
          <p:nvPr/>
        </p:nvSpPr>
        <p:spPr>
          <a:xfrm>
            <a:off x="9216923" y="2225650"/>
            <a:ext cx="2407844" cy="329184"/>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$3,125/mo</a:t>
            </a:r>
            <a:endParaRPr lang="en-US" sz="2200" dirty="0"/>
          </a:p>
        </p:txBody>
      </p:sp>
      <p:sp>
        <p:nvSpPr>
          <p:cNvPr id="22" name="Text 19"/>
          <p:cNvSpPr txBox="1"/>
          <p:nvPr/>
        </p:nvSpPr>
        <p:spPr>
          <a:xfrm>
            <a:off x="9216923" y="2573122"/>
            <a:ext cx="2407844" cy="164592"/>
          </a:xfrm>
          <a:prstGeom prst="rect">
            <a:avLst/>
          </a:prstGeom>
          <a:noFill/>
          <a:ln/>
        </p:spPr>
        <p:txBody>
          <a:bodyPr wrap="square" lIns="0" tIns="0" rIns="0" bIns="0" rtlCol="0" anchor="ctr"/>
          <a:lstStyle/>
          <a:p>
            <a:pPr indent="0" marL="0">
              <a:buNone/>
            </a:pPr>
            <a:r>
              <a:rPr lang="en-US" sz="1000" dirty="0">
                <a:solidFill>
                  <a:srgbClr val="B4B4C8"/>
                </a:solidFill>
                <a:latin typeface="Arial" pitchFamily="34" charset="0"/>
                <a:ea typeface="Arial" pitchFamily="34" charset="-122"/>
                <a:cs typeface="Arial" pitchFamily="34" charset="-120"/>
              </a:rPr>
              <a:t>25 seats × $125</a:t>
            </a:r>
            <a:endParaRPr lang="en-US" sz="1000" dirty="0"/>
          </a:p>
        </p:txBody>
      </p:sp>
      <p:sp>
        <p:nvSpPr>
          <p:cNvPr id="23" name="Text 20"/>
          <p:cNvSpPr txBox="1"/>
          <p:nvPr/>
        </p:nvSpPr>
        <p:spPr>
          <a:xfrm>
            <a:off x="457200" y="3030322"/>
            <a:ext cx="11277295" cy="256032"/>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Unit view: </a:t>
            </a:r>
            <a:r>
              <a:rPr lang="en-US" sz="1400" dirty="0">
                <a:solidFill>
                  <a:srgbClr val="FFFFFF"/>
                </a:solidFill>
                <a:latin typeface="Arial" pitchFamily="34" charset="0"/>
                <a:ea typeface="Arial" pitchFamily="34" charset="-122"/>
                <a:cs typeface="Arial" pitchFamily="34" charset="-120"/>
              </a:rPr>
              <a:t>per 100 paid USDT-201 enrolments at $599 → $59,900 gross → $41,930 partner (70%) · $17,970 platform (30%)</a:t>
            </a:r>
            <a:endParaRPr lang="en-US" sz="1400" dirty="0"/>
          </a:p>
        </p:txBody>
      </p:sp>
      <p:sp>
        <p:nvSpPr>
          <p:cNvPr id="24" name="Shape 21"/>
          <p:cNvSpPr/>
          <p:nvPr/>
        </p:nvSpPr>
        <p:spPr>
          <a:xfrm>
            <a:off x="457200" y="3560674"/>
            <a:ext cx="6126480" cy="2014118"/>
          </a:xfrm>
          <a:prstGeom prst="roundRect">
            <a:avLst>
              <a:gd name="adj" fmla="val 5448"/>
            </a:avLst>
          </a:prstGeom>
          <a:solidFill>
            <a:srgbClr val="171722"/>
          </a:solidFill>
          <a:ln w="9525">
            <a:solidFill>
              <a:srgbClr val="2C2C3E"/>
            </a:solidFill>
            <a:prstDash val="solid"/>
          </a:ln>
        </p:spPr>
      </p:sp>
      <p:graphicFrame>
        <p:nvGraphicFramePr>
          <p:cNvPr id="25" name="Chart 0" descr=""/>
          <p:cNvGraphicFramePr/>
          <p:nvPr/>
        </p:nvGraphicFramePr>
        <p:xfrm>
          <a:off x="566928" y="3615538"/>
          <a:ext cx="5907024" cy="1886102"/>
        </p:xfrm>
        <a:graphic xmlns:a="http://schemas.openxmlformats.org/drawingml/2006/main">
          <a:graphicData uri="http://schemas.openxmlformats.org/drawingml/2006/chart">
            <c:chart xmlns:c="http://schemas.openxmlformats.org/drawingml/2006/chart" r:id="rId2"/>
          </a:graphicData>
        </a:graphic>
      </p:graphicFrame>
      <p:sp>
        <p:nvSpPr>
          <p:cNvPr id="26" name="Shape 22"/>
          <p:cNvSpPr/>
          <p:nvPr/>
        </p:nvSpPr>
        <p:spPr>
          <a:xfrm>
            <a:off x="1866473" y="3981011"/>
            <a:ext cx="73152" cy="115442"/>
          </a:xfrm>
          <a:prstGeom prst="rect">
            <a:avLst/>
          </a:prstGeom>
          <a:solidFill>
            <a:srgbClr val="171722"/>
          </a:solidFill>
          <a:ln w="9525">
            <a:solidFill>
              <a:srgbClr val="C9A84C"/>
            </a:solidFill>
            <a:prstDash val="dash"/>
          </a:ln>
        </p:spPr>
      </p:sp>
      <p:sp>
        <p:nvSpPr>
          <p:cNvPr id="27" name="Text 23"/>
          <p:cNvSpPr txBox="1"/>
          <p:nvPr/>
        </p:nvSpPr>
        <p:spPr>
          <a:xfrm>
            <a:off x="2012777" y="3981011"/>
            <a:ext cx="2926080" cy="115442"/>
          </a:xfrm>
          <a:prstGeom prst="rect">
            <a:avLst/>
          </a:prstGeom>
          <a:noFill/>
          <a:ln/>
        </p:spPr>
        <p:txBody>
          <a:bodyPr wrap="square" lIns="0" tIns="0" rIns="0" bIns="0" rtlCol="0" anchor="ctr"/>
          <a:lstStyle/>
          <a:p>
            <a:pPr indent="0" marL="0">
              <a:buNone/>
            </a:pPr>
            <a:r>
              <a:rPr lang="en-US" sz="1000" dirty="0">
                <a:solidFill>
                  <a:srgbClr val="F0C96B"/>
                </a:solidFill>
                <a:latin typeface="Arial" pitchFamily="34" charset="0"/>
                <a:ea typeface="Arial" pitchFamily="34" charset="-122"/>
                <a:cs typeface="Arial" pitchFamily="34" charset="-120"/>
              </a:rPr>
              <a:t>Free · 2,140 enrolments · the funnel</a:t>
            </a:r>
            <a:endParaRPr lang="en-US" sz="1000" dirty="0"/>
          </a:p>
        </p:txBody>
      </p:sp>
      <p:sp>
        <p:nvSpPr>
          <p:cNvPr id="28" name="Text 24"/>
          <p:cNvSpPr txBox="1"/>
          <p:nvPr/>
        </p:nvSpPr>
        <p:spPr>
          <a:xfrm>
            <a:off x="1866473" y="4148402"/>
            <a:ext cx="41249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$40k</a:t>
            </a:r>
            <a:endParaRPr lang="en-US" sz="950" dirty="0"/>
          </a:p>
        </p:txBody>
      </p:sp>
      <p:sp>
        <p:nvSpPr>
          <p:cNvPr id="29" name="Text 25"/>
          <p:cNvSpPr txBox="1"/>
          <p:nvPr/>
        </p:nvSpPr>
        <p:spPr>
          <a:xfrm>
            <a:off x="2519760" y="414840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$17k Chronopoli</a:t>
            </a:r>
            <a:endParaRPr lang="en-US" sz="950" dirty="0"/>
          </a:p>
        </p:txBody>
      </p:sp>
      <p:sp>
        <p:nvSpPr>
          <p:cNvPr id="30" name="Text 26"/>
          <p:cNvSpPr txBox="1"/>
          <p:nvPr/>
        </p:nvSpPr>
        <p:spPr>
          <a:xfrm>
            <a:off x="1866473" y="4315794"/>
            <a:ext cx="2269234"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$218k</a:t>
            </a:r>
            <a:endParaRPr lang="en-US" sz="950" dirty="0"/>
          </a:p>
        </p:txBody>
      </p:sp>
      <p:sp>
        <p:nvSpPr>
          <p:cNvPr id="31" name="Text 27"/>
          <p:cNvSpPr txBox="1"/>
          <p:nvPr/>
        </p:nvSpPr>
        <p:spPr>
          <a:xfrm>
            <a:off x="5172245" y="4315794"/>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$93k Chronopoli</a:t>
            </a:r>
            <a:endParaRPr lang="en-US" sz="950" dirty="0"/>
          </a:p>
        </p:txBody>
      </p:sp>
      <p:sp>
        <p:nvSpPr>
          <p:cNvPr id="32" name="Text 28"/>
          <p:cNvSpPr txBox="1"/>
          <p:nvPr/>
        </p:nvSpPr>
        <p:spPr>
          <a:xfrm>
            <a:off x="1866473" y="4483185"/>
            <a:ext cx="755780"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$73k</a:t>
            </a:r>
            <a:endParaRPr lang="en-US" sz="950" dirty="0"/>
          </a:p>
        </p:txBody>
      </p:sp>
      <p:sp>
        <p:nvSpPr>
          <p:cNvPr id="33" name="Text 29"/>
          <p:cNvSpPr txBox="1"/>
          <p:nvPr/>
        </p:nvSpPr>
        <p:spPr>
          <a:xfrm>
            <a:off x="3010167" y="4483185"/>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$31k Chronopoli</a:t>
            </a:r>
            <a:endParaRPr lang="en-US" sz="950" dirty="0"/>
          </a:p>
        </p:txBody>
      </p:sp>
      <p:sp>
        <p:nvSpPr>
          <p:cNvPr id="34" name="Text 30"/>
          <p:cNvSpPr txBox="1"/>
          <p:nvPr/>
        </p:nvSpPr>
        <p:spPr>
          <a:xfrm>
            <a:off x="1866473" y="4650577"/>
            <a:ext cx="618015"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$59k</a:t>
            </a:r>
            <a:endParaRPr lang="en-US" sz="950" dirty="0"/>
          </a:p>
        </p:txBody>
      </p:sp>
      <p:sp>
        <p:nvSpPr>
          <p:cNvPr id="35" name="Text 31"/>
          <p:cNvSpPr txBox="1"/>
          <p:nvPr/>
        </p:nvSpPr>
        <p:spPr>
          <a:xfrm>
            <a:off x="2813359" y="4650577"/>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$25k Chronopoli</a:t>
            </a:r>
            <a:endParaRPr lang="en-US" sz="950" dirty="0"/>
          </a:p>
        </p:txBody>
      </p:sp>
      <p:sp>
        <p:nvSpPr>
          <p:cNvPr id="36" name="Text 32"/>
          <p:cNvSpPr txBox="1"/>
          <p:nvPr/>
        </p:nvSpPr>
        <p:spPr>
          <a:xfrm>
            <a:off x="1866473" y="4817969"/>
            <a:ext cx="15288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$147k</a:t>
            </a:r>
            <a:endParaRPr lang="en-US" sz="950" dirty="0"/>
          </a:p>
        </p:txBody>
      </p:sp>
      <p:sp>
        <p:nvSpPr>
          <p:cNvPr id="37" name="Text 33"/>
          <p:cNvSpPr txBox="1"/>
          <p:nvPr/>
        </p:nvSpPr>
        <p:spPr>
          <a:xfrm>
            <a:off x="4114623" y="4817969"/>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$63k Chronopoli</a:t>
            </a:r>
            <a:endParaRPr lang="en-US" sz="950" dirty="0"/>
          </a:p>
        </p:txBody>
      </p:sp>
      <p:sp>
        <p:nvSpPr>
          <p:cNvPr id="38" name="Text 34"/>
          <p:cNvSpPr txBox="1"/>
          <p:nvPr/>
        </p:nvSpPr>
        <p:spPr>
          <a:xfrm>
            <a:off x="1866473" y="4985360"/>
            <a:ext cx="851728"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$82k</a:t>
            </a:r>
            <a:endParaRPr lang="en-US" sz="950" dirty="0"/>
          </a:p>
        </p:txBody>
      </p:sp>
      <p:sp>
        <p:nvSpPr>
          <p:cNvPr id="39" name="Text 35"/>
          <p:cNvSpPr txBox="1"/>
          <p:nvPr/>
        </p:nvSpPr>
        <p:spPr>
          <a:xfrm>
            <a:off x="3147235" y="4985360"/>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$35k Chronopoli</a:t>
            </a:r>
            <a:endParaRPr lang="en-US" sz="950" dirty="0"/>
          </a:p>
        </p:txBody>
      </p:sp>
      <p:sp>
        <p:nvSpPr>
          <p:cNvPr id="40" name="Text 36"/>
          <p:cNvSpPr txBox="1"/>
          <p:nvPr/>
        </p:nvSpPr>
        <p:spPr>
          <a:xfrm>
            <a:off x="1866473" y="5152752"/>
            <a:ext cx="1639199" cy="115442"/>
          </a:xfrm>
          <a:prstGeom prst="rect">
            <a:avLst/>
          </a:prstGeom>
          <a:noFill/>
          <a:ln/>
        </p:spPr>
        <p:txBody>
          <a:bodyPr wrap="square" lIns="0" tIns="0" rIns="0" bIns="0" rtlCol="0" anchor="ctr"/>
          <a:lstStyle/>
          <a:p>
            <a:pPr algn="ctr" indent="0" marL="0">
              <a:buNone/>
            </a:pPr>
            <a:r>
              <a:rPr lang="en-US" sz="950" b="1" dirty="0">
                <a:solidFill>
                  <a:srgbClr val="0A0A0F"/>
                </a:solidFill>
                <a:latin typeface="Arial" pitchFamily="34" charset="0"/>
                <a:ea typeface="Arial" pitchFamily="34" charset="-122"/>
                <a:cs typeface="Arial" pitchFamily="34" charset="-120"/>
              </a:rPr>
              <a:t>$158k</a:t>
            </a:r>
            <a:endParaRPr lang="en-US" sz="950" dirty="0"/>
          </a:p>
        </p:txBody>
      </p:sp>
      <p:sp>
        <p:nvSpPr>
          <p:cNvPr id="41" name="Text 37"/>
          <p:cNvSpPr txBox="1"/>
          <p:nvPr/>
        </p:nvSpPr>
        <p:spPr>
          <a:xfrm>
            <a:off x="4272194" y="5152752"/>
            <a:ext cx="1371600" cy="115442"/>
          </a:xfrm>
          <a:prstGeom prst="rect">
            <a:avLst/>
          </a:prstGeom>
          <a:noFill/>
          <a:ln/>
        </p:spPr>
        <p:txBody>
          <a:bodyPr wrap="square" lIns="0" tIns="0" rIns="0" bIns="0" rtlCol="0" anchor="ctr"/>
          <a:lstStyle/>
          <a:p>
            <a:pPr indent="0" marL="0">
              <a:buNone/>
            </a:pPr>
            <a:r>
              <a:rPr lang="en-US" sz="950" dirty="0">
                <a:solidFill>
                  <a:srgbClr val="B4B4C8"/>
                </a:solidFill>
                <a:latin typeface="Arial" pitchFamily="34" charset="0"/>
                <a:ea typeface="Arial" pitchFamily="34" charset="-122"/>
                <a:cs typeface="Arial" pitchFamily="34" charset="-120"/>
              </a:rPr>
              <a:t>$68k Chronopoli</a:t>
            </a:r>
            <a:endParaRPr lang="en-US" sz="950" dirty="0"/>
          </a:p>
        </p:txBody>
      </p:sp>
      <p:sp>
        <p:nvSpPr>
          <p:cNvPr id="42" name="Shape 38"/>
          <p:cNvSpPr/>
          <p:nvPr/>
        </p:nvSpPr>
        <p:spPr>
          <a:xfrm>
            <a:off x="457200" y="5867400"/>
            <a:ext cx="2046115" cy="237744"/>
          </a:xfrm>
          <a:prstGeom prst="roundRect">
            <a:avLst>
              <a:gd name="adj" fmla="val 50000"/>
            </a:avLst>
          </a:prstGeom>
          <a:solidFill>
            <a:srgbClr val="1B1B27"/>
          </a:solidFill>
          <a:ln w="9525">
            <a:solidFill>
              <a:srgbClr val="3A3A50"/>
            </a:solidFill>
            <a:prstDash val="solid"/>
          </a:ln>
        </p:spPr>
      </p:sp>
      <p:sp>
        <p:nvSpPr>
          <p:cNvPr id="43" name="Shape 39"/>
          <p:cNvSpPr/>
          <p:nvPr/>
        </p:nvSpPr>
        <p:spPr>
          <a:xfrm>
            <a:off x="548640" y="5949696"/>
            <a:ext cx="73152" cy="73152"/>
          </a:xfrm>
          <a:prstGeom prst="ellipse">
            <a:avLst/>
          </a:prstGeom>
          <a:solidFill>
            <a:srgbClr val="F0C96B"/>
          </a:solidFill>
          <a:ln/>
        </p:spPr>
      </p:sp>
      <p:sp>
        <p:nvSpPr>
          <p:cNvPr id="44" name="Text 40"/>
          <p:cNvSpPr txBox="1"/>
          <p:nvPr/>
        </p:nvSpPr>
        <p:spPr>
          <a:xfrm>
            <a:off x="676656" y="5867400"/>
            <a:ext cx="1790083"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ILLUSTRATIVE MOCK DATA</a:t>
            </a:r>
            <a:endParaRPr lang="en-US" sz="900" dirty="0"/>
          </a:p>
        </p:txBody>
      </p:sp>
      <p:sp>
        <p:nvSpPr>
          <p:cNvPr id="45" name="Text 41"/>
          <p:cNvSpPr txBox="1"/>
          <p:nvPr/>
        </p:nvSpPr>
        <p:spPr>
          <a:xfrm>
            <a:off x="2613043" y="5899404"/>
            <a:ext cx="3970637"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Fictitious Tether (USDT) academy, Gulf Digital Exchange licence · no partnership or traction implied · paid enrolments × list price</a:t>
            </a:r>
            <a:endParaRPr lang="en-US" sz="1000" dirty="0"/>
          </a:p>
        </p:txBody>
      </p:sp>
      <p:sp>
        <p:nvSpPr>
          <p:cNvPr id="46" name="Text 42"/>
          <p:cNvSpPr txBox="1"/>
          <p:nvPr/>
        </p:nvSpPr>
        <p:spPr>
          <a:xfrm>
            <a:off x="6903720" y="3560674"/>
            <a:ext cx="4830775" cy="2607564"/>
          </a:xfrm>
          <a:prstGeom prst="rect">
            <a:avLst/>
          </a:prstGeom>
          <a:noFill/>
          <a:ln/>
        </p:spPr>
        <p:txBody>
          <a:bodyPr wrap="square" lIns="0" tIns="0" rIns="0" bIns="0" rtlCol="0" anchor="t"/>
          <a:lstStyle/>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Illustrative quarter (Q3 2026):</a:t>
            </a:r>
            <a:r>
              <a:rPr lang="en-US" sz="1250" dirty="0">
                <a:solidFill>
                  <a:srgbClr val="E8E8F0"/>
                </a:solidFill>
                <a:latin typeface="Arial" pitchFamily="34" charset="0"/>
                <a:ea typeface="Arial" pitchFamily="34" charset="-122"/>
                <a:cs typeface="Arial" pitchFamily="34" charset="-120"/>
              </a:rPr>
              <a:t> 8 courses (USDT-101 to 401) · 4,812 enrolments · $1,108,440 gross individual sales → $775,908 partner (70%) · $332,532 platform (30%)</a:t>
            </a:r>
            <a:endParaRPr lang="en-US" sz="1250" dirty="0"/>
          </a:p>
          <a:p>
            <a:pPr marL="165100" indent="-165100">
              <a:spcAft>
                <a:spcPts val="700"/>
              </a:spcAft>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Depth pays:</a:t>
            </a:r>
            <a:r>
              <a:rPr lang="en-US" sz="1250" dirty="0">
                <a:solidFill>
                  <a:srgbClr val="E8E8F0"/>
                </a:solidFill>
                <a:latin typeface="Arial" pitchFamily="34" charset="0"/>
                <a:ea typeface="Arial" pitchFamily="34" charset="-122"/>
                <a:cs typeface="Arial" pitchFamily="34" charset="-120"/>
              </a:rPr>
              <a:t> L3/L4 courses bring about 50% of gross from about 17% of paid enrolments; the free USDT-101 is the funnel (2,140 enrolments). Institutions may run L1 courses at $0; the model then works on reach, not revenue</a:t>
            </a:r>
            <a:endParaRPr lang="en-US" sz="1250" dirty="0"/>
          </a:p>
          <a:p>
            <a:pPr marL="165100" indent="-165100">
              <a:spcAft>
                <a:spcPts val="700"/>
              </a:spcAft>
              <a:buClr>
                <a:srgbClr val="C9A84C"/>
              </a:buClr>
              <a:buSzPct val="80000"/>
              <a:buChar char="●"/>
            </a:pPr>
            <a:r>
              <a:rPr lang="en-US" sz="1250" dirty="0">
                <a:solidFill>
                  <a:srgbClr val="E8E8F0"/>
                </a:solidFill>
                <a:latin typeface="Arial" pitchFamily="34" charset="0"/>
                <a:ea typeface="Arial" pitchFamily="34" charset="-122"/>
                <a:cs typeface="Arial" pitchFamily="34" charset="-120"/>
              </a:rPr>
              <a:t>Team licence, Gulf Digital Exchange (fictitious): 25 seats × $125 = $3,125/month ($37,500/year at list); not included in the partner figures, sharing set in the partner agreement</a:t>
            </a:r>
            <a:endParaRPr lang="en-US" sz="1250" dirty="0"/>
          </a:p>
          <a:p>
            <a:pPr marL="165100" indent="-165100">
              <a:buClr>
                <a:srgbClr val="C9A84C"/>
              </a:buClr>
              <a:buSzPct val="80000"/>
              <a:buChar char="●"/>
            </a:pPr>
            <a:r>
              <a:rPr lang="en-US" sz="1250" b="1" dirty="0">
                <a:solidFill>
                  <a:srgbClr val="FFFFFF"/>
                </a:solidFill>
                <a:latin typeface="Arial" pitchFamily="34" charset="0"/>
                <a:ea typeface="Arial" pitchFamily="34" charset="-122"/>
                <a:cs typeface="Arial" pitchFamily="34" charset="-120"/>
              </a:rPr>
              <a:t>Not modelled:</a:t>
            </a:r>
            <a:r>
              <a:rPr lang="en-US" sz="1250" dirty="0">
                <a:solidFill>
                  <a:srgbClr val="E8E8F0"/>
                </a:solidFill>
                <a:latin typeface="Arial" pitchFamily="34" charset="0"/>
                <a:ea typeface="Arial" pitchFamily="34" charset="-122"/>
                <a:cs typeface="Arial" pitchFamily="34" charset="-120"/>
              </a:rPr>
              <a:t> your expert time, content production and the annual Company Academy fee ($25K–$150K; slide 20)</a:t>
            </a:r>
            <a:endParaRPr lang="en-US" sz="1250" dirty="0"/>
          </a:p>
        </p:txBody>
      </p:sp>
      <p:sp>
        <p:nvSpPr>
          <p:cNvPr id="47" name="Text 43"/>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4"/>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3146809"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2909065"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ONBOARDING · 90 DAYS FROM KICK-OFF</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How onboarding works: your first 90 days</a:t>
            </a:r>
            <a:endParaRPr lang="en-US" sz="3600" dirty="0"/>
          </a:p>
        </p:txBody>
      </p:sp>
      <p:sp>
        <p:nvSpPr>
          <p:cNvPr id="6" name="Text 3"/>
          <p:cNvSpPr txBox="1"/>
          <p:nvPr/>
        </p:nvSpPr>
        <p:spPr>
          <a:xfrm>
            <a:off x="457200" y="1369771"/>
            <a:ext cx="11277295" cy="51511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Day 0 = the kick-off date set in your partner agreement or pilot order. Content work runs in a preview while the platform completes its launch preparation</a:t>
            </a:r>
            <a:endParaRPr lang="en-US" sz="1600" dirty="0"/>
          </a:p>
        </p:txBody>
      </p:sp>
      <p:sp>
        <p:nvSpPr>
          <p:cNvPr id="7" name="Text 4"/>
          <p:cNvSpPr txBox="1"/>
          <p:nvPr/>
        </p:nvSpPr>
        <p:spPr>
          <a:xfrm>
            <a:off x="1783080"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0-30 · AGREE AND SET UP</a:t>
            </a:r>
            <a:endParaRPr lang="en-US" sz="850" dirty="0"/>
          </a:p>
        </p:txBody>
      </p:sp>
      <p:sp>
        <p:nvSpPr>
          <p:cNvPr id="8" name="Text 5"/>
          <p:cNvSpPr txBox="1"/>
          <p:nvPr/>
        </p:nvSpPr>
        <p:spPr>
          <a:xfrm>
            <a:off x="5130698"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31-60 · BUILD</a:t>
            </a:r>
            <a:endParaRPr lang="en-US" sz="850" dirty="0"/>
          </a:p>
        </p:txBody>
      </p:sp>
      <p:sp>
        <p:nvSpPr>
          <p:cNvPr id="9" name="Text 6"/>
          <p:cNvSpPr txBox="1"/>
          <p:nvPr/>
        </p:nvSpPr>
        <p:spPr>
          <a:xfrm>
            <a:off x="8478317" y="2095195"/>
            <a:ext cx="3256178"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DAYS 61-90 · READY TO LAUNCH</a:t>
            </a:r>
            <a:endParaRPr lang="en-US" sz="850" dirty="0"/>
          </a:p>
        </p:txBody>
      </p:sp>
      <p:sp>
        <p:nvSpPr>
          <p:cNvPr id="10" name="Shape 7"/>
          <p:cNvSpPr/>
          <p:nvPr/>
        </p:nvSpPr>
        <p:spPr>
          <a:xfrm>
            <a:off x="457200" y="2314651"/>
            <a:ext cx="1252728" cy="755904"/>
          </a:xfrm>
          <a:prstGeom prst="roundRect">
            <a:avLst>
              <a:gd name="adj" fmla="val 9677"/>
            </a:avLst>
          </a:prstGeom>
          <a:solidFill>
            <a:srgbClr val="1E1A10"/>
          </a:solidFill>
          <a:ln w="9525">
            <a:solidFill>
              <a:srgbClr val="5A4A22"/>
            </a:solidFill>
            <a:prstDash val="solid"/>
          </a:ln>
        </p:spPr>
      </p:sp>
      <p:sp>
        <p:nvSpPr>
          <p:cNvPr id="11" name="Text 8"/>
          <p:cNvSpPr txBox="1"/>
          <p:nvPr/>
        </p:nvSpPr>
        <p:spPr>
          <a:xfrm>
            <a:off x="566928" y="2314651"/>
            <a:ext cx="1051560" cy="755904"/>
          </a:xfrm>
          <a:prstGeom prst="rect">
            <a:avLst/>
          </a:prstGeom>
          <a:noFill/>
          <a:ln/>
        </p:spPr>
        <p:txBody>
          <a:bodyPr wrap="square" lIns="0" tIns="0" rIns="0" bIns="0" rtlCol="0" anchor="ctr"/>
          <a:lstStyle/>
          <a:p>
            <a:pPr indent="0" marL="0">
              <a:buNone/>
            </a:pPr>
            <a:r>
              <a:rPr lang="en-US" sz="1200" b="1" dirty="0">
                <a:solidFill>
                  <a:srgbClr val="F0C96B"/>
                </a:solidFill>
                <a:latin typeface="Arial" pitchFamily="34" charset="0"/>
                <a:ea typeface="Arial" pitchFamily="34" charset="-122"/>
                <a:cs typeface="Arial" pitchFamily="34" charset="-120"/>
              </a:rPr>
              <a:t>Knowledge Partner</a:t>
            </a:r>
            <a:endParaRPr lang="en-US" sz="1200" dirty="0"/>
          </a:p>
        </p:txBody>
      </p:sp>
      <p:sp>
        <p:nvSpPr>
          <p:cNvPr id="12" name="Shape 9"/>
          <p:cNvSpPr/>
          <p:nvPr/>
        </p:nvSpPr>
        <p:spPr>
          <a:xfrm>
            <a:off x="1783080" y="2314651"/>
            <a:ext cx="3256178" cy="755904"/>
          </a:xfrm>
          <a:prstGeom prst="roundRect">
            <a:avLst>
              <a:gd name="adj" fmla="val 9677"/>
            </a:avLst>
          </a:prstGeom>
          <a:solidFill>
            <a:srgbClr val="171722"/>
          </a:solidFill>
          <a:ln w="9525">
            <a:solidFill>
              <a:srgbClr val="5A4A22"/>
            </a:solidFill>
            <a:prstDash val="solid"/>
          </a:ln>
        </p:spPr>
      </p:sp>
      <p:sp>
        <p:nvSpPr>
          <p:cNvPr id="13" name="Text 10"/>
          <p:cNvSpPr txBox="1"/>
          <p:nvPr/>
        </p:nvSpPr>
        <p:spPr>
          <a:xfrm>
            <a:off x="1892808" y="2387803"/>
            <a:ext cx="3036722" cy="6278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Agreement, tier and districts · brand assets and web address · payout account · HR notification e-mail · SMEs named</a:t>
            </a:r>
            <a:endParaRPr lang="en-US" sz="1000" dirty="0"/>
          </a:p>
        </p:txBody>
      </p:sp>
      <p:sp>
        <p:nvSpPr>
          <p:cNvPr id="14" name="Shape 11"/>
          <p:cNvSpPr/>
          <p:nvPr/>
        </p:nvSpPr>
        <p:spPr>
          <a:xfrm>
            <a:off x="5130698" y="2314651"/>
            <a:ext cx="3256178" cy="755904"/>
          </a:xfrm>
          <a:prstGeom prst="roundRect">
            <a:avLst>
              <a:gd name="adj" fmla="val 9677"/>
            </a:avLst>
          </a:prstGeom>
          <a:solidFill>
            <a:srgbClr val="171722"/>
          </a:solidFill>
          <a:ln w="9525">
            <a:solidFill>
              <a:srgbClr val="5A4A22"/>
            </a:solidFill>
            <a:prstDash val="solid"/>
          </a:ln>
        </p:spPr>
      </p:sp>
      <p:sp>
        <p:nvSpPr>
          <p:cNvPr id="15" name="Text 12"/>
          <p:cNvSpPr txBox="1"/>
          <p:nvPr/>
        </p:nvSpPr>
        <p:spPr>
          <a:xfrm>
            <a:off x="5240426" y="2387803"/>
            <a:ext cx="3036722" cy="6278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track in course authoring · grading policy and certificate · pathway and badge criteria · content QA with the Chronopoli team · first round-table topic</a:t>
            </a:r>
            <a:endParaRPr lang="en-US" sz="1000" dirty="0"/>
          </a:p>
        </p:txBody>
      </p:sp>
      <p:sp>
        <p:nvSpPr>
          <p:cNvPr id="16" name="Shape 13"/>
          <p:cNvSpPr/>
          <p:nvPr/>
        </p:nvSpPr>
        <p:spPr>
          <a:xfrm>
            <a:off x="8478317" y="2314651"/>
            <a:ext cx="3256178" cy="755904"/>
          </a:xfrm>
          <a:prstGeom prst="roundRect">
            <a:avLst>
              <a:gd name="adj" fmla="val 9677"/>
            </a:avLst>
          </a:prstGeom>
          <a:solidFill>
            <a:srgbClr val="171722"/>
          </a:solidFill>
          <a:ln w="9525">
            <a:solidFill>
              <a:srgbClr val="5A4A22"/>
            </a:solidFill>
            <a:prstDash val="solid"/>
          </a:ln>
        </p:spPr>
      </p:sp>
      <p:sp>
        <p:nvSpPr>
          <p:cNvPr id="17" name="Text 14"/>
          <p:cNvSpPr txBox="1"/>
          <p:nvPr/>
        </p:nvSpPr>
        <p:spPr>
          <a:xfrm>
            <a:off x="8588045" y="2387803"/>
            <a:ext cx="3036722" cy="6278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Academy preview ready · job postings drafted · soft launch to your own audience</a:t>
            </a:r>
            <a:endParaRPr lang="en-US" sz="1000" dirty="0"/>
          </a:p>
        </p:txBody>
      </p:sp>
      <p:sp>
        <p:nvSpPr>
          <p:cNvPr id="18" name="Shape 15"/>
          <p:cNvSpPr/>
          <p:nvPr/>
        </p:nvSpPr>
        <p:spPr>
          <a:xfrm>
            <a:off x="457200" y="3125419"/>
            <a:ext cx="1252728" cy="451104"/>
          </a:xfrm>
          <a:prstGeom prst="roundRect">
            <a:avLst>
              <a:gd name="adj" fmla="val 16216"/>
            </a:avLst>
          </a:prstGeom>
          <a:solidFill>
            <a:srgbClr val="0F1829"/>
          </a:solidFill>
          <a:ln w="9525">
            <a:solidFill>
              <a:srgbClr val="27436E"/>
            </a:solidFill>
            <a:prstDash val="solid"/>
          </a:ln>
        </p:spPr>
      </p:sp>
      <p:sp>
        <p:nvSpPr>
          <p:cNvPr id="19" name="Text 16"/>
          <p:cNvSpPr txBox="1"/>
          <p:nvPr/>
        </p:nvSpPr>
        <p:spPr>
          <a:xfrm>
            <a:off x="566928" y="3125419"/>
            <a:ext cx="1051560" cy="451104"/>
          </a:xfrm>
          <a:prstGeom prst="rect">
            <a:avLst/>
          </a:prstGeom>
          <a:noFill/>
          <a:ln/>
        </p:spPr>
        <p:txBody>
          <a:bodyPr wrap="square" lIns="0" tIns="0" rIns="0" bIns="0" rtlCol="0" anchor="ctr"/>
          <a:lstStyle/>
          <a:p>
            <a:pPr indent="0" marL="0">
              <a:buNone/>
            </a:pPr>
            <a:r>
              <a:rPr lang="en-US" sz="1200" b="1" dirty="0">
                <a:solidFill>
                  <a:srgbClr val="60A5FA"/>
                </a:solidFill>
                <a:latin typeface="Arial" pitchFamily="34" charset="0"/>
                <a:ea typeface="Arial" pitchFamily="34" charset="-122"/>
                <a:cs typeface="Arial" pitchFamily="34" charset="-120"/>
              </a:rPr>
              <a:t>Enterprise team</a:t>
            </a:r>
            <a:endParaRPr lang="en-US" sz="1200" dirty="0"/>
          </a:p>
        </p:txBody>
      </p:sp>
      <p:sp>
        <p:nvSpPr>
          <p:cNvPr id="20" name="Shape 17"/>
          <p:cNvSpPr/>
          <p:nvPr/>
        </p:nvSpPr>
        <p:spPr>
          <a:xfrm>
            <a:off x="1783080" y="3125419"/>
            <a:ext cx="3256178" cy="451104"/>
          </a:xfrm>
          <a:prstGeom prst="roundRect">
            <a:avLst>
              <a:gd name="adj" fmla="val 16216"/>
            </a:avLst>
          </a:prstGeom>
          <a:solidFill>
            <a:srgbClr val="171722"/>
          </a:solidFill>
          <a:ln w="9525">
            <a:solidFill>
              <a:srgbClr val="27436E"/>
            </a:solidFill>
            <a:prstDash val="solid"/>
          </a:ln>
        </p:spPr>
      </p:sp>
      <p:sp>
        <p:nvSpPr>
          <p:cNvPr id="21" name="Text 18"/>
          <p:cNvSpPr txBox="1"/>
          <p:nvPr/>
        </p:nvSpPr>
        <p:spPr>
          <a:xfrm>
            <a:off x="1892808" y="31985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Licence and seat list · roster and cohort · team admin named</a:t>
            </a:r>
            <a:endParaRPr lang="en-US" sz="1000" dirty="0"/>
          </a:p>
        </p:txBody>
      </p:sp>
      <p:sp>
        <p:nvSpPr>
          <p:cNvPr id="22" name="Shape 19"/>
          <p:cNvSpPr/>
          <p:nvPr/>
        </p:nvSpPr>
        <p:spPr>
          <a:xfrm>
            <a:off x="5130698" y="3125419"/>
            <a:ext cx="3256178" cy="451104"/>
          </a:xfrm>
          <a:prstGeom prst="roundRect">
            <a:avLst>
              <a:gd name="adj" fmla="val 16216"/>
            </a:avLst>
          </a:prstGeom>
          <a:solidFill>
            <a:srgbClr val="171722"/>
          </a:solidFill>
          <a:ln w="9525">
            <a:solidFill>
              <a:srgbClr val="27436E"/>
            </a:solidFill>
            <a:prstDash val="solid"/>
          </a:ln>
        </p:spPr>
      </p:sp>
      <p:sp>
        <p:nvSpPr>
          <p:cNvPr id="23" name="Text 20"/>
          <p:cNvSpPr txBox="1"/>
          <p:nvPr/>
        </p:nvSpPr>
        <p:spPr>
          <a:xfrm>
            <a:off x="5240426" y="31985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Pathway choice · pilot cohort starts · first module completions tracked in the gradebook</a:t>
            </a:r>
            <a:endParaRPr lang="en-US" sz="1000" dirty="0"/>
          </a:p>
        </p:txBody>
      </p:sp>
      <p:sp>
        <p:nvSpPr>
          <p:cNvPr id="24" name="Shape 21"/>
          <p:cNvSpPr/>
          <p:nvPr/>
        </p:nvSpPr>
        <p:spPr>
          <a:xfrm>
            <a:off x="8478317" y="3125419"/>
            <a:ext cx="3256178" cy="451104"/>
          </a:xfrm>
          <a:prstGeom prst="roundRect">
            <a:avLst>
              <a:gd name="adj" fmla="val 16216"/>
            </a:avLst>
          </a:prstGeom>
          <a:solidFill>
            <a:srgbClr val="171722"/>
          </a:solidFill>
          <a:ln w="9525">
            <a:solidFill>
              <a:srgbClr val="27436E"/>
            </a:solidFill>
            <a:prstDash val="solid"/>
          </a:ln>
        </p:spPr>
      </p:sp>
      <p:sp>
        <p:nvSpPr>
          <p:cNvPr id="25" name="Text 22"/>
          <p:cNvSpPr txBox="1"/>
          <p:nvPr/>
        </p:nvSpPr>
        <p:spPr>
          <a:xfrm>
            <a:off x="8588045" y="3198571"/>
            <a:ext cx="3036722" cy="323088"/>
          </a:xfrm>
          <a:prstGeom prst="rect">
            <a:avLst/>
          </a:prstGeom>
          <a:noFill/>
          <a:ln/>
        </p:spPr>
        <p:txBody>
          <a:bodyPr wrap="square" lIns="0" tIns="0" rIns="0" bIns="0" rtlCol="0" anchor="t"/>
          <a:lstStyle/>
          <a:p>
            <a:pPr indent="0" marL="0">
              <a:buNone/>
            </a:pPr>
            <a:r>
              <a:rPr lang="en-US" sz="1000" dirty="0">
                <a:solidFill>
                  <a:srgbClr val="E8E8F0"/>
                </a:solidFill>
                <a:latin typeface="Arial" pitchFamily="34" charset="0"/>
                <a:ea typeface="Arial" pitchFamily="34" charset="-122"/>
                <a:cs typeface="Arial" pitchFamily="34" charset="-120"/>
              </a:rPr>
              <a:t>First grade report reviewed with your team admin · environment and learner data: per pilot order</a:t>
            </a:r>
            <a:endParaRPr lang="en-US" sz="1000" dirty="0"/>
          </a:p>
        </p:txBody>
      </p:sp>
      <p:pic>
        <p:nvPicPr>
          <p:cNvPr id="26" name="Image 0" descr="/tmp/claude-0/-home-user-Chronopoli/d7458f57-86b2-5920-914e-8615357fee63/scratchpad/sales-master/framed_v5/onboarding4.png">    </p:cNvPr>
          <p:cNvPicPr>
            <a:picLocks noChangeAspect="1"/>
          </p:cNvPicPr>
          <p:nvPr/>
        </p:nvPicPr>
        <p:blipFill>
          <a:blip r:embed="rId2"/>
          <a:stretch>
            <a:fillRect/>
          </a:stretch>
        </p:blipFill>
        <p:spPr>
          <a:xfrm>
            <a:off x="457200" y="3719862"/>
            <a:ext cx="6955371" cy="1961264"/>
          </a:xfrm>
          <a:prstGeom prst="rect">
            <a:avLst/>
          </a:prstGeom>
        </p:spPr>
      </p:pic>
      <p:sp>
        <p:nvSpPr>
          <p:cNvPr id="27" name="Shape 23"/>
          <p:cNvSpPr/>
          <p:nvPr/>
        </p:nvSpPr>
        <p:spPr>
          <a:xfrm>
            <a:off x="643046" y="5769600"/>
            <a:ext cx="2719349" cy="237744"/>
          </a:xfrm>
          <a:prstGeom prst="roundRect">
            <a:avLst>
              <a:gd name="adj" fmla="val 50000"/>
            </a:avLst>
          </a:prstGeom>
          <a:solidFill>
            <a:srgbClr val="1B1B27"/>
          </a:solidFill>
          <a:ln w="9525">
            <a:solidFill>
              <a:srgbClr val="3A3A50"/>
            </a:solidFill>
            <a:prstDash val="solid"/>
          </a:ln>
        </p:spPr>
      </p:sp>
      <p:sp>
        <p:nvSpPr>
          <p:cNvPr id="28" name="Shape 24"/>
          <p:cNvSpPr/>
          <p:nvPr/>
        </p:nvSpPr>
        <p:spPr>
          <a:xfrm>
            <a:off x="734486" y="5851896"/>
            <a:ext cx="73152" cy="73152"/>
          </a:xfrm>
          <a:prstGeom prst="ellipse">
            <a:avLst/>
          </a:prstGeom>
          <a:solidFill>
            <a:srgbClr val="A9A9C6"/>
          </a:solidFill>
          <a:ln/>
        </p:spPr>
      </p:sp>
      <p:sp>
        <p:nvSpPr>
          <p:cNvPr id="29" name="Text 25"/>
          <p:cNvSpPr txBox="1"/>
          <p:nvPr/>
        </p:nvSpPr>
        <p:spPr>
          <a:xfrm>
            <a:off x="862502" y="5769600"/>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30" name="Text 26"/>
          <p:cNvSpPr txBox="1"/>
          <p:nvPr/>
        </p:nvSpPr>
        <p:spPr>
          <a:xfrm>
            <a:off x="643046" y="6062208"/>
            <a:ext cx="6583680" cy="1798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Steps 01-02, not yet built · dates are a fictitious university's mock plan, not our commitment</a:t>
            </a:r>
            <a:endParaRPr lang="en-US" sz="1000" dirty="0"/>
          </a:p>
        </p:txBody>
      </p:sp>
      <p:sp>
        <p:nvSpPr>
          <p:cNvPr id="31" name="Shape 27"/>
          <p:cNvSpPr/>
          <p:nvPr/>
        </p:nvSpPr>
        <p:spPr>
          <a:xfrm>
            <a:off x="3472123" y="5769600"/>
            <a:ext cx="4016045" cy="237744"/>
          </a:xfrm>
          <a:prstGeom prst="roundRect">
            <a:avLst>
              <a:gd name="adj" fmla="val 50000"/>
            </a:avLst>
          </a:prstGeom>
          <a:solidFill>
            <a:srgbClr val="231A0B"/>
          </a:solidFill>
          <a:ln w="9525">
            <a:solidFill>
              <a:srgbClr val="8A5A12"/>
            </a:solidFill>
            <a:prstDash val="solid"/>
          </a:ln>
        </p:spPr>
      </p:sp>
      <p:sp>
        <p:nvSpPr>
          <p:cNvPr id="32" name="Text 28"/>
          <p:cNvSpPr txBox="1"/>
          <p:nvPr/>
        </p:nvSpPr>
        <p:spPr>
          <a:xfrm>
            <a:off x="3472123" y="5769600"/>
            <a:ext cx="4016045" cy="237744"/>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MOCK SCHEDULE · FICTITIOUS HALVENMOOR UNIVERSITY</a:t>
            </a:r>
            <a:endParaRPr lang="en-US" sz="900" dirty="0"/>
          </a:p>
        </p:txBody>
      </p:sp>
      <p:sp>
        <p:nvSpPr>
          <p:cNvPr id="33" name="Shape 29"/>
          <p:cNvSpPr/>
          <p:nvPr/>
        </p:nvSpPr>
        <p:spPr>
          <a:xfrm>
            <a:off x="7732611" y="3905707"/>
            <a:ext cx="4001884" cy="533400"/>
          </a:xfrm>
          <a:prstGeom prst="roundRect">
            <a:avLst>
              <a:gd name="adj" fmla="val 13714"/>
            </a:avLst>
          </a:prstGeom>
          <a:solidFill>
            <a:srgbClr val="231E12"/>
          </a:solidFill>
          <a:ln w="9525">
            <a:solidFill>
              <a:srgbClr val="C9A84C"/>
            </a:solidFill>
            <a:prstDash val="solid"/>
          </a:ln>
        </p:spPr>
      </p:sp>
      <p:pic>
        <p:nvPicPr>
          <p:cNvPr id="34" name="Image 1" descr="preencoded.png">    </p:cNvPr>
          <p:cNvPicPr>
            <a:picLocks noChangeAspect="1"/>
          </p:cNvPicPr>
          <p:nvPr/>
        </p:nvPicPr>
        <p:blipFill>
          <a:blip r:embed="rId3"/>
          <a:stretch>
            <a:fillRect/>
          </a:stretch>
        </p:blipFill>
        <p:spPr>
          <a:xfrm>
            <a:off x="7860627" y="4006291"/>
            <a:ext cx="201168" cy="201168"/>
          </a:xfrm>
          <a:prstGeom prst="rect">
            <a:avLst/>
          </a:prstGeom>
        </p:spPr>
      </p:pic>
      <p:sp>
        <p:nvSpPr>
          <p:cNvPr id="35" name="Text 30"/>
          <p:cNvSpPr txBox="1"/>
          <p:nvPr/>
        </p:nvSpPr>
        <p:spPr>
          <a:xfrm>
            <a:off x="8171523" y="3997147"/>
            <a:ext cx="3453244" cy="377952"/>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Platform go-live: after launch preparation; no calendar date committed</a:t>
            </a:r>
            <a:endParaRPr lang="en-US" sz="1150" dirty="0"/>
          </a:p>
        </p:txBody>
      </p:sp>
      <p:sp>
        <p:nvSpPr>
          <p:cNvPr id="36" name="Text 31"/>
          <p:cNvSpPr txBox="1"/>
          <p:nvPr/>
        </p:nvSpPr>
        <p:spPr>
          <a:xfrm>
            <a:off x="7732611" y="4621987"/>
            <a:ext cx="4001884" cy="152044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Where learners come from:</a:t>
            </a:r>
            <a:r>
              <a:rPr lang="en-US" sz="1150" dirty="0">
                <a:solidFill>
                  <a:srgbClr val="E8E8F0"/>
                </a:solidFill>
                <a:latin typeface="Arial" pitchFamily="34" charset="0"/>
                <a:ea typeface="Arial" pitchFamily="34" charset="-122"/>
                <a:cs typeface="Arial" pitchFamily="34" charset="-120"/>
              </a:rPr>
              <a:t> your own channels first; in the city, the 5-question onboarding routes new learners to your district, plus community and round tables. No audience size is promised</a:t>
            </a:r>
            <a:endParaRPr lang="en-US" sz="1150" dirty="0"/>
          </a:p>
          <a:p>
            <a:pPr marL="165100" indent="-165100">
              <a:buClr>
                <a:srgbClr val="C9A84C"/>
              </a:buClr>
              <a:buSzPct val="80000"/>
              <a:buChar char="●"/>
            </a:pPr>
            <a:r>
              <a:rPr lang="en-US" sz="1150" b="1" dirty="0">
                <a:solidFill>
                  <a:srgbClr val="FFFFFF"/>
                </a:solidFill>
                <a:latin typeface="Arial" pitchFamily="34" charset="0"/>
                <a:ea typeface="Arial" pitchFamily="34" charset="-122"/>
                <a:cs typeface="Arial" pitchFamily="34" charset="-120"/>
              </a:rPr>
              <a:t>Your effort:</a:t>
            </a:r>
            <a:r>
              <a:rPr lang="en-US" sz="1150" dirty="0">
                <a:solidFill>
                  <a:srgbClr val="E8E8F0"/>
                </a:solidFill>
                <a:latin typeface="Arial" pitchFamily="34" charset="0"/>
                <a:ea typeface="Arial" pitchFamily="34" charset="-122"/>
                <a:cs typeface="Arial" pitchFamily="34" charset="-120"/>
              </a:rPr>
              <a:t> an executive sponsor, one academy admin (or team admin), SMEs to author or review each module, one content-QA cycle per track; time agreed in the workshop</a:t>
            </a:r>
            <a:endParaRPr lang="en-US" sz="1150" dirty="0"/>
          </a:p>
        </p:txBody>
      </p:sp>
      <p:sp>
        <p:nvSpPr>
          <p:cNvPr id="37" name="Text 32"/>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38" name="Text 3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5809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13432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TRUST BY DESIGN</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Trust by design</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Commitments built into the product and the launch plan. These are design commitments, not certifications</a:t>
            </a:r>
            <a:endParaRPr lang="en-US" sz="1600" dirty="0"/>
          </a:p>
        </p:txBody>
      </p:sp>
      <p:sp>
        <p:nvSpPr>
          <p:cNvPr id="7" name="Shape 4"/>
          <p:cNvSpPr/>
          <p:nvPr/>
        </p:nvSpPr>
        <p:spPr>
          <a:xfrm>
            <a:off x="457200" y="1851355"/>
            <a:ext cx="3600602" cy="996798"/>
          </a:xfrm>
          <a:prstGeom prst="roundRect">
            <a:avLst>
              <a:gd name="adj" fmla="val 9173"/>
            </a:avLst>
          </a:prstGeom>
          <a:solidFill>
            <a:srgbClr val="171722"/>
          </a:solidFill>
          <a:ln w="9525">
            <a:solidFill>
              <a:srgbClr val="2C2C3E"/>
            </a:solidFill>
            <a:prstDash val="solid"/>
          </a:ln>
        </p:spPr>
      </p:sp>
      <p:sp>
        <p:nvSpPr>
          <p:cNvPr id="8" name="Shape 5"/>
          <p:cNvSpPr/>
          <p:nvPr/>
        </p:nvSpPr>
        <p:spPr>
          <a:xfrm>
            <a:off x="585216" y="1970227"/>
            <a:ext cx="347472" cy="347472"/>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672084" y="2057095"/>
            <a:ext cx="173736" cy="173736"/>
          </a:xfrm>
          <a:prstGeom prst="rect">
            <a:avLst/>
          </a:prstGeom>
        </p:spPr>
      </p:pic>
      <p:sp>
        <p:nvSpPr>
          <p:cNvPr id="10" name="Shape 6"/>
          <p:cNvSpPr/>
          <p:nvPr/>
        </p:nvSpPr>
        <p:spPr>
          <a:xfrm>
            <a:off x="2595524" y="2020519"/>
            <a:ext cx="1334262" cy="246888"/>
          </a:xfrm>
          <a:prstGeom prst="roundRect">
            <a:avLst>
              <a:gd name="adj" fmla="val 50000"/>
            </a:avLst>
          </a:prstGeom>
          <a:solidFill>
            <a:srgbClr val="0D2019"/>
          </a:solidFill>
          <a:ln w="12700">
            <a:solidFill>
              <a:srgbClr val="34D399"/>
            </a:solidFill>
            <a:prstDash val="solid"/>
          </a:ln>
        </p:spPr>
      </p:sp>
      <p:sp>
        <p:nvSpPr>
          <p:cNvPr id="11" name="Text 7"/>
          <p:cNvSpPr txBox="1"/>
          <p:nvPr/>
        </p:nvSpPr>
        <p:spPr>
          <a:xfrm>
            <a:off x="2595524" y="2020519"/>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12" name="Text 8"/>
          <p:cNvSpPr txBox="1"/>
          <p:nvPr/>
        </p:nvSpPr>
        <p:spPr>
          <a:xfrm>
            <a:off x="1024128" y="1970227"/>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Human approval</a:t>
            </a:r>
            <a:endParaRPr lang="en-US" sz="1300" dirty="0"/>
          </a:p>
        </p:txBody>
      </p:sp>
      <p:sp>
        <p:nvSpPr>
          <p:cNvPr id="13" name="Text 9"/>
          <p:cNvSpPr txBox="1"/>
          <p:nvPr/>
        </p:nvSpPr>
        <p:spPr>
          <a:xfrm>
            <a:off x="585216" y="2381707"/>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One human approves or rejects every AI-generated round-table output before it is published</a:t>
            </a:r>
            <a:endParaRPr lang="en-US" sz="1100" dirty="0"/>
          </a:p>
        </p:txBody>
      </p:sp>
      <p:sp>
        <p:nvSpPr>
          <p:cNvPr id="14" name="Shape 10"/>
          <p:cNvSpPr/>
          <p:nvPr/>
        </p:nvSpPr>
        <p:spPr>
          <a:xfrm>
            <a:off x="4295546" y="1851355"/>
            <a:ext cx="3600602" cy="996798"/>
          </a:xfrm>
          <a:prstGeom prst="roundRect">
            <a:avLst>
              <a:gd name="adj" fmla="val 9173"/>
            </a:avLst>
          </a:prstGeom>
          <a:solidFill>
            <a:srgbClr val="171722"/>
          </a:solidFill>
          <a:ln w="9525">
            <a:solidFill>
              <a:srgbClr val="2C2C3E"/>
            </a:solidFill>
            <a:prstDash val="solid"/>
          </a:ln>
        </p:spPr>
      </p:sp>
      <p:sp>
        <p:nvSpPr>
          <p:cNvPr id="15" name="Shape 11"/>
          <p:cNvSpPr/>
          <p:nvPr/>
        </p:nvSpPr>
        <p:spPr>
          <a:xfrm>
            <a:off x="4423562" y="1970227"/>
            <a:ext cx="347472" cy="347472"/>
          </a:xfrm>
          <a:prstGeom prst="ellipse">
            <a:avLst/>
          </a:prstGeom>
          <a:solidFill>
            <a:srgbClr val="1E1A10"/>
          </a:solidFill>
          <a:ln w="9525">
            <a:solidFill>
              <a:srgbClr val="5A4A22"/>
            </a:solidFill>
            <a:prstDash val="solid"/>
          </a:ln>
        </p:spPr>
      </p:sp>
      <p:pic>
        <p:nvPicPr>
          <p:cNvPr id="16" name="Image 1" descr="preencoded.png">    </p:cNvPr>
          <p:cNvPicPr>
            <a:picLocks noChangeAspect="1"/>
          </p:cNvPicPr>
          <p:nvPr/>
        </p:nvPicPr>
        <p:blipFill>
          <a:blip r:embed="rId3"/>
          <a:stretch>
            <a:fillRect/>
          </a:stretch>
        </p:blipFill>
        <p:spPr>
          <a:xfrm>
            <a:off x="4510430" y="2057095"/>
            <a:ext cx="173736" cy="173736"/>
          </a:xfrm>
          <a:prstGeom prst="rect">
            <a:avLst/>
          </a:prstGeom>
        </p:spPr>
      </p:pic>
      <p:sp>
        <p:nvSpPr>
          <p:cNvPr id="17" name="Shape 12"/>
          <p:cNvSpPr/>
          <p:nvPr/>
        </p:nvSpPr>
        <p:spPr>
          <a:xfrm>
            <a:off x="6770431" y="2020519"/>
            <a:ext cx="997702" cy="246888"/>
          </a:xfrm>
          <a:prstGeom prst="roundRect">
            <a:avLst>
              <a:gd name="adj" fmla="val 50000"/>
            </a:avLst>
          </a:prstGeom>
          <a:solidFill>
            <a:srgbClr val="231A0B"/>
          </a:solidFill>
          <a:ln w="12700">
            <a:solidFill>
              <a:srgbClr val="F59E0B"/>
            </a:solidFill>
            <a:prstDash val="solid"/>
          </a:ln>
        </p:spPr>
      </p:sp>
      <p:sp>
        <p:nvSpPr>
          <p:cNvPr id="18" name="Text 13"/>
          <p:cNvSpPr txBox="1"/>
          <p:nvPr/>
        </p:nvSpPr>
        <p:spPr>
          <a:xfrm>
            <a:off x="6770431" y="2020519"/>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19" name="Text 14"/>
          <p:cNvSpPr txBox="1"/>
          <p:nvPr/>
        </p:nvSpPr>
        <p:spPr>
          <a:xfrm>
            <a:off x="4862474" y="1970227"/>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Chatham House</a:t>
            </a:r>
            <a:endParaRPr lang="en-US" sz="1300" dirty="0"/>
          </a:p>
        </p:txBody>
      </p:sp>
      <p:sp>
        <p:nvSpPr>
          <p:cNvPr id="20" name="Text 15"/>
          <p:cNvSpPr txBox="1"/>
          <p:nvPr/>
        </p:nvSpPr>
        <p:spPr>
          <a:xfrm>
            <a:off x="4423562" y="2381707"/>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Chatham House Rule sessions; removing attribution from outputs is fixed before launch</a:t>
            </a:r>
            <a:endParaRPr lang="en-US" sz="1100" dirty="0"/>
          </a:p>
        </p:txBody>
      </p:sp>
      <p:sp>
        <p:nvSpPr>
          <p:cNvPr id="21" name="Shape 16"/>
          <p:cNvSpPr/>
          <p:nvPr/>
        </p:nvSpPr>
        <p:spPr>
          <a:xfrm>
            <a:off x="8133893" y="1851355"/>
            <a:ext cx="3600602" cy="996798"/>
          </a:xfrm>
          <a:prstGeom prst="roundRect">
            <a:avLst>
              <a:gd name="adj" fmla="val 9173"/>
            </a:avLst>
          </a:prstGeom>
          <a:solidFill>
            <a:srgbClr val="171722"/>
          </a:solidFill>
          <a:ln w="9525">
            <a:solidFill>
              <a:srgbClr val="2C2C3E"/>
            </a:solidFill>
            <a:prstDash val="solid"/>
          </a:ln>
        </p:spPr>
      </p:sp>
      <p:sp>
        <p:nvSpPr>
          <p:cNvPr id="22" name="Shape 17"/>
          <p:cNvSpPr/>
          <p:nvPr/>
        </p:nvSpPr>
        <p:spPr>
          <a:xfrm>
            <a:off x="8261909" y="1970227"/>
            <a:ext cx="347472" cy="347472"/>
          </a:xfrm>
          <a:prstGeom prst="ellipse">
            <a:avLst/>
          </a:prstGeom>
          <a:solidFill>
            <a:srgbClr val="1E1A10"/>
          </a:solidFill>
          <a:ln w="9525">
            <a:solidFill>
              <a:srgbClr val="5A4A22"/>
            </a:solidFill>
            <a:prstDash val="solid"/>
          </a:ln>
        </p:spPr>
      </p:sp>
      <p:pic>
        <p:nvPicPr>
          <p:cNvPr id="23" name="Image 2" descr="preencoded.png">    </p:cNvPr>
          <p:cNvPicPr>
            <a:picLocks noChangeAspect="1"/>
          </p:cNvPicPr>
          <p:nvPr/>
        </p:nvPicPr>
        <p:blipFill>
          <a:blip r:embed="rId4"/>
          <a:stretch>
            <a:fillRect/>
          </a:stretch>
        </p:blipFill>
        <p:spPr>
          <a:xfrm>
            <a:off x="8348777" y="2057095"/>
            <a:ext cx="173736" cy="173736"/>
          </a:xfrm>
          <a:prstGeom prst="rect">
            <a:avLst/>
          </a:prstGeom>
        </p:spPr>
      </p:pic>
      <p:sp>
        <p:nvSpPr>
          <p:cNvPr id="24" name="Shape 18"/>
          <p:cNvSpPr/>
          <p:nvPr/>
        </p:nvSpPr>
        <p:spPr>
          <a:xfrm>
            <a:off x="10608777" y="2020519"/>
            <a:ext cx="997702" cy="246888"/>
          </a:xfrm>
          <a:prstGeom prst="roundRect">
            <a:avLst>
              <a:gd name="adj" fmla="val 50000"/>
            </a:avLst>
          </a:prstGeom>
          <a:solidFill>
            <a:srgbClr val="231A0B"/>
          </a:solidFill>
          <a:ln w="12700">
            <a:solidFill>
              <a:srgbClr val="F59E0B"/>
            </a:solidFill>
            <a:prstDash val="solid"/>
          </a:ln>
        </p:spPr>
      </p:sp>
      <p:sp>
        <p:nvSpPr>
          <p:cNvPr id="25" name="Text 19"/>
          <p:cNvSpPr txBox="1"/>
          <p:nvPr/>
        </p:nvSpPr>
        <p:spPr>
          <a:xfrm>
            <a:off x="10608777" y="2020519"/>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26" name="Text 20"/>
          <p:cNvSpPr txBox="1"/>
          <p:nvPr/>
        </p:nvSpPr>
        <p:spPr>
          <a:xfrm>
            <a:off x="8700821" y="1970227"/>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Expert consent</a:t>
            </a:r>
            <a:endParaRPr lang="en-US" sz="1300" dirty="0"/>
          </a:p>
        </p:txBody>
      </p:sp>
      <p:sp>
        <p:nvSpPr>
          <p:cNvPr id="27" name="Text 21"/>
          <p:cNvSpPr txBox="1"/>
          <p:nvPr/>
        </p:nvSpPr>
        <p:spPr>
          <a:xfrm>
            <a:off x="8261909" y="2381707"/>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voice or avatar twin without the expert's written consent (required before launch)</a:t>
            </a:r>
            <a:endParaRPr lang="en-US" sz="1100" dirty="0"/>
          </a:p>
        </p:txBody>
      </p:sp>
      <p:sp>
        <p:nvSpPr>
          <p:cNvPr id="28" name="Shape 22"/>
          <p:cNvSpPr/>
          <p:nvPr/>
        </p:nvSpPr>
        <p:spPr>
          <a:xfrm>
            <a:off x="457200" y="3085897"/>
            <a:ext cx="3600602" cy="996798"/>
          </a:xfrm>
          <a:prstGeom prst="roundRect">
            <a:avLst>
              <a:gd name="adj" fmla="val 9173"/>
            </a:avLst>
          </a:prstGeom>
          <a:solidFill>
            <a:srgbClr val="171722"/>
          </a:solidFill>
          <a:ln w="9525">
            <a:solidFill>
              <a:srgbClr val="2C2C3E"/>
            </a:solidFill>
            <a:prstDash val="solid"/>
          </a:ln>
        </p:spPr>
      </p:sp>
      <p:sp>
        <p:nvSpPr>
          <p:cNvPr id="29" name="Shape 23"/>
          <p:cNvSpPr/>
          <p:nvPr/>
        </p:nvSpPr>
        <p:spPr>
          <a:xfrm>
            <a:off x="585216" y="3204769"/>
            <a:ext cx="347472" cy="347472"/>
          </a:xfrm>
          <a:prstGeom prst="ellipse">
            <a:avLst/>
          </a:prstGeom>
          <a:solidFill>
            <a:srgbClr val="1E1A10"/>
          </a:solidFill>
          <a:ln w="9525">
            <a:solidFill>
              <a:srgbClr val="5A4A22"/>
            </a:solidFill>
            <a:prstDash val="solid"/>
          </a:ln>
        </p:spPr>
      </p:sp>
      <p:pic>
        <p:nvPicPr>
          <p:cNvPr id="30" name="Image 3" descr="preencoded.png">    </p:cNvPr>
          <p:cNvPicPr>
            <a:picLocks noChangeAspect="1"/>
          </p:cNvPicPr>
          <p:nvPr/>
        </p:nvPicPr>
        <p:blipFill>
          <a:blip r:embed="rId5"/>
          <a:stretch>
            <a:fillRect/>
          </a:stretch>
        </p:blipFill>
        <p:spPr>
          <a:xfrm>
            <a:off x="672084" y="3291637"/>
            <a:ext cx="173736" cy="173736"/>
          </a:xfrm>
          <a:prstGeom prst="rect">
            <a:avLst/>
          </a:prstGeom>
        </p:spPr>
      </p:pic>
      <p:sp>
        <p:nvSpPr>
          <p:cNvPr id="31" name="Shape 24"/>
          <p:cNvSpPr/>
          <p:nvPr/>
        </p:nvSpPr>
        <p:spPr>
          <a:xfrm>
            <a:off x="2932085" y="3255061"/>
            <a:ext cx="997702" cy="246888"/>
          </a:xfrm>
          <a:prstGeom prst="roundRect">
            <a:avLst>
              <a:gd name="adj" fmla="val 50000"/>
            </a:avLst>
          </a:prstGeom>
          <a:solidFill>
            <a:srgbClr val="231A0B"/>
          </a:solidFill>
          <a:ln w="12700">
            <a:solidFill>
              <a:srgbClr val="F59E0B"/>
            </a:solidFill>
            <a:prstDash val="solid"/>
          </a:ln>
        </p:spPr>
      </p:sp>
      <p:sp>
        <p:nvSpPr>
          <p:cNvPr id="32" name="Text 25"/>
          <p:cNvSpPr txBox="1"/>
          <p:nvPr/>
        </p:nvSpPr>
        <p:spPr>
          <a:xfrm>
            <a:off x="2932085" y="3255061"/>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33" name="Text 26"/>
          <p:cNvSpPr txBox="1"/>
          <p:nvPr/>
        </p:nvSpPr>
        <p:spPr>
          <a:xfrm>
            <a:off x="1024128" y="3204769"/>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Candidate consent</a:t>
            </a:r>
            <a:endParaRPr lang="en-US" sz="1300" dirty="0"/>
          </a:p>
        </p:txBody>
      </p:sp>
      <p:sp>
        <p:nvSpPr>
          <p:cNvPr id="34" name="Text 27"/>
          <p:cNvSpPr txBox="1"/>
          <p:nvPr/>
        </p:nvSpPr>
        <p:spPr>
          <a:xfrm>
            <a:off x="585216" y="3616249"/>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 credential snapshot goes to partner HR without it (required before launch)</a:t>
            </a:r>
            <a:endParaRPr lang="en-US" sz="1100" dirty="0"/>
          </a:p>
        </p:txBody>
      </p:sp>
      <p:sp>
        <p:nvSpPr>
          <p:cNvPr id="35" name="Shape 28"/>
          <p:cNvSpPr/>
          <p:nvPr/>
        </p:nvSpPr>
        <p:spPr>
          <a:xfrm>
            <a:off x="4295546" y="3085897"/>
            <a:ext cx="3600602" cy="996798"/>
          </a:xfrm>
          <a:prstGeom prst="roundRect">
            <a:avLst>
              <a:gd name="adj" fmla="val 9173"/>
            </a:avLst>
          </a:prstGeom>
          <a:solidFill>
            <a:srgbClr val="171722"/>
          </a:solidFill>
          <a:ln w="9525">
            <a:solidFill>
              <a:srgbClr val="2C2C3E"/>
            </a:solidFill>
            <a:prstDash val="solid"/>
          </a:ln>
        </p:spPr>
      </p:sp>
      <p:sp>
        <p:nvSpPr>
          <p:cNvPr id="36" name="Shape 29"/>
          <p:cNvSpPr/>
          <p:nvPr/>
        </p:nvSpPr>
        <p:spPr>
          <a:xfrm>
            <a:off x="4423562" y="3204769"/>
            <a:ext cx="347472" cy="347472"/>
          </a:xfrm>
          <a:prstGeom prst="ellipse">
            <a:avLst/>
          </a:prstGeom>
          <a:solidFill>
            <a:srgbClr val="1E1A10"/>
          </a:solidFill>
          <a:ln w="9525">
            <a:solidFill>
              <a:srgbClr val="5A4A22"/>
            </a:solidFill>
            <a:prstDash val="solid"/>
          </a:ln>
        </p:spPr>
      </p:sp>
      <p:pic>
        <p:nvPicPr>
          <p:cNvPr id="37" name="Image 4" descr="preencoded.png">    </p:cNvPr>
          <p:cNvPicPr>
            <a:picLocks noChangeAspect="1"/>
          </p:cNvPicPr>
          <p:nvPr/>
        </p:nvPicPr>
        <p:blipFill>
          <a:blip r:embed="rId6"/>
          <a:stretch>
            <a:fillRect/>
          </a:stretch>
        </p:blipFill>
        <p:spPr>
          <a:xfrm>
            <a:off x="4510430" y="3291637"/>
            <a:ext cx="173736" cy="173736"/>
          </a:xfrm>
          <a:prstGeom prst="rect">
            <a:avLst/>
          </a:prstGeom>
        </p:spPr>
      </p:pic>
      <p:sp>
        <p:nvSpPr>
          <p:cNvPr id="38" name="Shape 30"/>
          <p:cNvSpPr/>
          <p:nvPr/>
        </p:nvSpPr>
        <p:spPr>
          <a:xfrm>
            <a:off x="6433871" y="3255061"/>
            <a:ext cx="1334262" cy="246888"/>
          </a:xfrm>
          <a:prstGeom prst="roundRect">
            <a:avLst>
              <a:gd name="adj" fmla="val 50000"/>
            </a:avLst>
          </a:prstGeom>
          <a:solidFill>
            <a:srgbClr val="0D2019"/>
          </a:solidFill>
          <a:ln w="12700">
            <a:solidFill>
              <a:srgbClr val="34D399"/>
            </a:solidFill>
            <a:prstDash val="solid"/>
          </a:ln>
        </p:spPr>
      </p:sp>
      <p:sp>
        <p:nvSpPr>
          <p:cNvPr id="39" name="Text 31"/>
          <p:cNvSpPr txBox="1"/>
          <p:nvPr/>
        </p:nvSpPr>
        <p:spPr>
          <a:xfrm>
            <a:off x="6433871" y="325506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0" name="Text 32"/>
          <p:cNvSpPr txBox="1"/>
          <p:nvPr/>
        </p:nvSpPr>
        <p:spPr>
          <a:xfrm>
            <a:off x="4862474" y="320476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Open standards</a:t>
            </a:r>
            <a:endParaRPr lang="en-US" sz="1300" dirty="0"/>
          </a:p>
        </p:txBody>
      </p:sp>
      <p:sp>
        <p:nvSpPr>
          <p:cNvPr id="41" name="Text 33"/>
          <p:cNvSpPr txBox="1"/>
          <p:nvPr/>
        </p:nvSpPr>
        <p:spPr>
          <a:xfrm>
            <a:off x="4423562" y="3616249"/>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Open Badges 2.0 credentials; the platform’s standard grade reports as CSV</a:t>
            </a:r>
            <a:endParaRPr lang="en-US" sz="1100" dirty="0"/>
          </a:p>
        </p:txBody>
      </p:sp>
      <p:sp>
        <p:nvSpPr>
          <p:cNvPr id="42" name="Shape 34"/>
          <p:cNvSpPr/>
          <p:nvPr/>
        </p:nvSpPr>
        <p:spPr>
          <a:xfrm>
            <a:off x="8133893" y="3085897"/>
            <a:ext cx="3600602" cy="996798"/>
          </a:xfrm>
          <a:prstGeom prst="roundRect">
            <a:avLst>
              <a:gd name="adj" fmla="val 9173"/>
            </a:avLst>
          </a:prstGeom>
          <a:solidFill>
            <a:srgbClr val="171722"/>
          </a:solidFill>
          <a:ln w="9525">
            <a:solidFill>
              <a:srgbClr val="2C2C3E"/>
            </a:solidFill>
            <a:prstDash val="solid"/>
          </a:ln>
        </p:spPr>
      </p:sp>
      <p:sp>
        <p:nvSpPr>
          <p:cNvPr id="43" name="Shape 35"/>
          <p:cNvSpPr/>
          <p:nvPr/>
        </p:nvSpPr>
        <p:spPr>
          <a:xfrm>
            <a:off x="8261909" y="3204769"/>
            <a:ext cx="347472" cy="347472"/>
          </a:xfrm>
          <a:prstGeom prst="ellipse">
            <a:avLst/>
          </a:prstGeom>
          <a:solidFill>
            <a:srgbClr val="1E1A10"/>
          </a:solidFill>
          <a:ln w="9525">
            <a:solidFill>
              <a:srgbClr val="5A4A22"/>
            </a:solidFill>
            <a:prstDash val="solid"/>
          </a:ln>
        </p:spPr>
      </p:sp>
      <p:pic>
        <p:nvPicPr>
          <p:cNvPr id="44" name="Image 5" descr="preencoded.png">    </p:cNvPr>
          <p:cNvPicPr>
            <a:picLocks noChangeAspect="1"/>
          </p:cNvPicPr>
          <p:nvPr/>
        </p:nvPicPr>
        <p:blipFill>
          <a:blip r:embed="rId7"/>
          <a:stretch>
            <a:fillRect/>
          </a:stretch>
        </p:blipFill>
        <p:spPr>
          <a:xfrm>
            <a:off x="8348777" y="3291637"/>
            <a:ext cx="173736" cy="173736"/>
          </a:xfrm>
          <a:prstGeom prst="rect">
            <a:avLst/>
          </a:prstGeom>
        </p:spPr>
      </p:pic>
      <p:sp>
        <p:nvSpPr>
          <p:cNvPr id="45" name="Shape 36"/>
          <p:cNvSpPr/>
          <p:nvPr/>
        </p:nvSpPr>
        <p:spPr>
          <a:xfrm>
            <a:off x="10272217" y="3255061"/>
            <a:ext cx="1334262" cy="246888"/>
          </a:xfrm>
          <a:prstGeom prst="roundRect">
            <a:avLst>
              <a:gd name="adj" fmla="val 50000"/>
            </a:avLst>
          </a:prstGeom>
          <a:solidFill>
            <a:srgbClr val="0D2019"/>
          </a:solidFill>
          <a:ln w="12700">
            <a:solidFill>
              <a:srgbClr val="34D399"/>
            </a:solidFill>
            <a:prstDash val="solid"/>
          </a:ln>
        </p:spPr>
      </p:sp>
      <p:sp>
        <p:nvSpPr>
          <p:cNvPr id="46" name="Text 37"/>
          <p:cNvSpPr txBox="1"/>
          <p:nvPr/>
        </p:nvSpPr>
        <p:spPr>
          <a:xfrm>
            <a:off x="10272217" y="3255061"/>
            <a:ext cx="1334262" cy="246888"/>
          </a:xfrm>
          <a:prstGeom prst="rect">
            <a:avLst/>
          </a:prstGeom>
          <a:noFill/>
          <a:ln/>
        </p:spPr>
        <p:txBody>
          <a:bodyPr wrap="square" lIns="0" tIns="0" rIns="0" bIns="0" rtlCol="0" anchor="ctr"/>
          <a:lstStyle/>
          <a:p>
            <a:pPr algn="ctr" indent="0" marL="0">
              <a:buNone/>
            </a:pPr>
            <a:r>
              <a:rPr lang="en-US" sz="900" b="1" spc="60" kern="0" dirty="0">
                <a:solidFill>
                  <a:srgbClr val="34D399"/>
                </a:solidFill>
                <a:latin typeface="Arial" pitchFamily="34" charset="0"/>
                <a:ea typeface="Arial" pitchFamily="34" charset="-122"/>
                <a:cs typeface="Arial" pitchFamily="34" charset="-120"/>
              </a:rPr>
              <a:t>IN THE PRODUCT</a:t>
            </a:r>
            <a:endParaRPr lang="en-US" sz="900" dirty="0"/>
          </a:p>
        </p:txBody>
      </p:sp>
      <p:sp>
        <p:nvSpPr>
          <p:cNvPr id="47" name="Text 38"/>
          <p:cNvSpPr txBox="1"/>
          <p:nvPr/>
        </p:nvSpPr>
        <p:spPr>
          <a:xfrm>
            <a:off x="8700821" y="3204769"/>
            <a:ext cx="1434236"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Always current</a:t>
            </a:r>
            <a:endParaRPr lang="en-US" sz="1300" dirty="0"/>
          </a:p>
        </p:txBody>
      </p:sp>
      <p:sp>
        <p:nvSpPr>
          <p:cNvPr id="48" name="Text 39"/>
          <p:cNvSpPr txBox="1"/>
          <p:nvPr/>
        </p:nvSpPr>
        <p:spPr>
          <a:xfrm>
            <a:off x="8261909" y="3616249"/>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Platform improvements and security updates arrive with every release, at no extra cost</a:t>
            </a:r>
            <a:endParaRPr lang="en-US" sz="1100" dirty="0"/>
          </a:p>
        </p:txBody>
      </p:sp>
      <p:sp>
        <p:nvSpPr>
          <p:cNvPr id="49" name="Shape 40"/>
          <p:cNvSpPr/>
          <p:nvPr/>
        </p:nvSpPr>
        <p:spPr>
          <a:xfrm>
            <a:off x="457200" y="4320438"/>
            <a:ext cx="3600602" cy="996798"/>
          </a:xfrm>
          <a:prstGeom prst="roundRect">
            <a:avLst>
              <a:gd name="adj" fmla="val 9173"/>
            </a:avLst>
          </a:prstGeom>
          <a:solidFill>
            <a:srgbClr val="171722"/>
          </a:solidFill>
          <a:ln w="9525">
            <a:solidFill>
              <a:srgbClr val="2C2C3E"/>
            </a:solidFill>
            <a:prstDash val="solid"/>
          </a:ln>
        </p:spPr>
      </p:sp>
      <p:sp>
        <p:nvSpPr>
          <p:cNvPr id="50" name="Shape 41"/>
          <p:cNvSpPr/>
          <p:nvPr/>
        </p:nvSpPr>
        <p:spPr>
          <a:xfrm>
            <a:off x="585216" y="4439310"/>
            <a:ext cx="347472" cy="347472"/>
          </a:xfrm>
          <a:prstGeom prst="ellipse">
            <a:avLst/>
          </a:prstGeom>
          <a:solidFill>
            <a:srgbClr val="1E1A10"/>
          </a:solidFill>
          <a:ln w="9525">
            <a:solidFill>
              <a:srgbClr val="5A4A22"/>
            </a:solidFill>
            <a:prstDash val="solid"/>
          </a:ln>
        </p:spPr>
      </p:sp>
      <p:pic>
        <p:nvPicPr>
          <p:cNvPr id="51" name="Image 6" descr="preencoded.png">    </p:cNvPr>
          <p:cNvPicPr>
            <a:picLocks noChangeAspect="1"/>
          </p:cNvPicPr>
          <p:nvPr/>
        </p:nvPicPr>
        <p:blipFill>
          <a:blip r:embed="rId8"/>
          <a:stretch>
            <a:fillRect/>
          </a:stretch>
        </p:blipFill>
        <p:spPr>
          <a:xfrm>
            <a:off x="672084" y="4526178"/>
            <a:ext cx="173736" cy="173736"/>
          </a:xfrm>
          <a:prstGeom prst="rect">
            <a:avLst/>
          </a:prstGeom>
        </p:spPr>
      </p:pic>
      <p:sp>
        <p:nvSpPr>
          <p:cNvPr id="52" name="Shape 42"/>
          <p:cNvSpPr/>
          <p:nvPr/>
        </p:nvSpPr>
        <p:spPr>
          <a:xfrm>
            <a:off x="2932085" y="4489602"/>
            <a:ext cx="997702" cy="246888"/>
          </a:xfrm>
          <a:prstGeom prst="roundRect">
            <a:avLst>
              <a:gd name="adj" fmla="val 50000"/>
            </a:avLst>
          </a:prstGeom>
          <a:solidFill>
            <a:srgbClr val="231A0B"/>
          </a:solidFill>
          <a:ln w="12700">
            <a:solidFill>
              <a:srgbClr val="F59E0B"/>
            </a:solidFill>
            <a:prstDash val="solid"/>
          </a:ln>
        </p:spPr>
      </p:sp>
      <p:sp>
        <p:nvSpPr>
          <p:cNvPr id="53" name="Text 43"/>
          <p:cNvSpPr txBox="1"/>
          <p:nvPr/>
        </p:nvSpPr>
        <p:spPr>
          <a:xfrm>
            <a:off x="2932085" y="4489602"/>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54" name="Text 44"/>
          <p:cNvSpPr txBox="1"/>
          <p:nvPr/>
        </p:nvSpPr>
        <p:spPr>
          <a:xfrm>
            <a:off x="1024128" y="4439310"/>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UAE hosting</a:t>
            </a:r>
            <a:endParaRPr lang="en-US" sz="1300" dirty="0"/>
          </a:p>
        </p:txBody>
      </p:sp>
      <p:sp>
        <p:nvSpPr>
          <p:cNvPr id="55" name="Text 45"/>
          <p:cNvSpPr txBox="1"/>
          <p:nvPr/>
        </p:nvSpPr>
        <p:spPr>
          <a:xfrm>
            <a:off x="585216" y="4850790"/>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Target: hosting in the UAE, with strict least-privilege access set up before launch</a:t>
            </a:r>
            <a:endParaRPr lang="en-US" sz="1100" dirty="0"/>
          </a:p>
        </p:txBody>
      </p:sp>
      <p:sp>
        <p:nvSpPr>
          <p:cNvPr id="56" name="Shape 46"/>
          <p:cNvSpPr/>
          <p:nvPr/>
        </p:nvSpPr>
        <p:spPr>
          <a:xfrm>
            <a:off x="4295546" y="4320438"/>
            <a:ext cx="3600602" cy="996798"/>
          </a:xfrm>
          <a:prstGeom prst="roundRect">
            <a:avLst>
              <a:gd name="adj" fmla="val 9173"/>
            </a:avLst>
          </a:prstGeom>
          <a:solidFill>
            <a:srgbClr val="171722"/>
          </a:solidFill>
          <a:ln w="9525">
            <a:solidFill>
              <a:srgbClr val="2C2C3E"/>
            </a:solidFill>
            <a:prstDash val="solid"/>
          </a:ln>
        </p:spPr>
      </p:sp>
      <p:sp>
        <p:nvSpPr>
          <p:cNvPr id="57" name="Shape 47"/>
          <p:cNvSpPr/>
          <p:nvPr/>
        </p:nvSpPr>
        <p:spPr>
          <a:xfrm>
            <a:off x="4423562" y="4439310"/>
            <a:ext cx="347472" cy="347472"/>
          </a:xfrm>
          <a:prstGeom prst="ellipse">
            <a:avLst/>
          </a:prstGeom>
          <a:solidFill>
            <a:srgbClr val="1E1A10"/>
          </a:solidFill>
          <a:ln w="9525">
            <a:solidFill>
              <a:srgbClr val="5A4A22"/>
            </a:solidFill>
            <a:prstDash val="solid"/>
          </a:ln>
        </p:spPr>
      </p:sp>
      <p:pic>
        <p:nvPicPr>
          <p:cNvPr id="58" name="Image 7" descr="preencoded.png">    </p:cNvPr>
          <p:cNvPicPr>
            <a:picLocks noChangeAspect="1"/>
          </p:cNvPicPr>
          <p:nvPr/>
        </p:nvPicPr>
        <p:blipFill>
          <a:blip r:embed="rId9"/>
          <a:stretch>
            <a:fillRect/>
          </a:stretch>
        </p:blipFill>
        <p:spPr>
          <a:xfrm>
            <a:off x="4510430" y="4526178"/>
            <a:ext cx="173736" cy="173736"/>
          </a:xfrm>
          <a:prstGeom prst="rect">
            <a:avLst/>
          </a:prstGeom>
        </p:spPr>
      </p:pic>
      <p:sp>
        <p:nvSpPr>
          <p:cNvPr id="59" name="Shape 48"/>
          <p:cNvSpPr/>
          <p:nvPr/>
        </p:nvSpPr>
        <p:spPr>
          <a:xfrm>
            <a:off x="6770431" y="4489602"/>
            <a:ext cx="997702" cy="246888"/>
          </a:xfrm>
          <a:prstGeom prst="roundRect">
            <a:avLst>
              <a:gd name="adj" fmla="val 50000"/>
            </a:avLst>
          </a:prstGeom>
          <a:solidFill>
            <a:srgbClr val="231A0B"/>
          </a:solidFill>
          <a:ln w="12700">
            <a:solidFill>
              <a:srgbClr val="F59E0B"/>
            </a:solidFill>
            <a:prstDash val="solid"/>
          </a:ln>
        </p:spPr>
      </p:sp>
      <p:sp>
        <p:nvSpPr>
          <p:cNvPr id="60" name="Text 49"/>
          <p:cNvSpPr txBox="1"/>
          <p:nvPr/>
        </p:nvSpPr>
        <p:spPr>
          <a:xfrm>
            <a:off x="6770431" y="4489602"/>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61" name="Text 50"/>
          <p:cNvSpPr txBox="1"/>
          <p:nvPr/>
        </p:nvSpPr>
        <p:spPr>
          <a:xfrm>
            <a:off x="4862474" y="4439310"/>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Private reports</a:t>
            </a:r>
            <a:endParaRPr lang="en-US" sz="1300" dirty="0"/>
          </a:p>
        </p:txBody>
      </p:sp>
      <p:sp>
        <p:nvSpPr>
          <p:cNvPr id="62" name="Text 51"/>
          <p:cNvSpPr txBox="1"/>
          <p:nvPr/>
        </p:nvSpPr>
        <p:spPr>
          <a:xfrm>
            <a:off x="4423562" y="4850790"/>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Learner grade files move from publicly reachable storage to private storage before launch</a:t>
            </a:r>
            <a:endParaRPr lang="en-US" sz="1100" dirty="0"/>
          </a:p>
        </p:txBody>
      </p:sp>
      <p:sp>
        <p:nvSpPr>
          <p:cNvPr id="63" name="Shape 52"/>
          <p:cNvSpPr/>
          <p:nvPr/>
        </p:nvSpPr>
        <p:spPr>
          <a:xfrm>
            <a:off x="8133893" y="4320438"/>
            <a:ext cx="3600602" cy="996798"/>
          </a:xfrm>
          <a:prstGeom prst="roundRect">
            <a:avLst>
              <a:gd name="adj" fmla="val 9173"/>
            </a:avLst>
          </a:prstGeom>
          <a:solidFill>
            <a:srgbClr val="171722"/>
          </a:solidFill>
          <a:ln w="9525">
            <a:solidFill>
              <a:srgbClr val="2C2C3E"/>
            </a:solidFill>
            <a:prstDash val="solid"/>
          </a:ln>
        </p:spPr>
      </p:sp>
      <p:sp>
        <p:nvSpPr>
          <p:cNvPr id="64" name="Shape 53"/>
          <p:cNvSpPr/>
          <p:nvPr/>
        </p:nvSpPr>
        <p:spPr>
          <a:xfrm>
            <a:off x="8261909" y="4439310"/>
            <a:ext cx="347472" cy="347472"/>
          </a:xfrm>
          <a:prstGeom prst="ellipse">
            <a:avLst/>
          </a:prstGeom>
          <a:solidFill>
            <a:srgbClr val="1E1A10"/>
          </a:solidFill>
          <a:ln w="9525">
            <a:solidFill>
              <a:srgbClr val="5A4A22"/>
            </a:solidFill>
            <a:prstDash val="solid"/>
          </a:ln>
        </p:spPr>
      </p:sp>
      <p:pic>
        <p:nvPicPr>
          <p:cNvPr id="65" name="Image 8" descr="preencoded.png">    </p:cNvPr>
          <p:cNvPicPr>
            <a:picLocks noChangeAspect="1"/>
          </p:cNvPicPr>
          <p:nvPr/>
        </p:nvPicPr>
        <p:blipFill>
          <a:blip r:embed="rId10"/>
          <a:stretch>
            <a:fillRect/>
          </a:stretch>
        </p:blipFill>
        <p:spPr>
          <a:xfrm>
            <a:off x="8348777" y="4526178"/>
            <a:ext cx="173736" cy="173736"/>
          </a:xfrm>
          <a:prstGeom prst="rect">
            <a:avLst/>
          </a:prstGeom>
        </p:spPr>
      </p:pic>
      <p:sp>
        <p:nvSpPr>
          <p:cNvPr id="66" name="Shape 54"/>
          <p:cNvSpPr/>
          <p:nvPr/>
        </p:nvSpPr>
        <p:spPr>
          <a:xfrm>
            <a:off x="10608777" y="4489602"/>
            <a:ext cx="997702" cy="246888"/>
          </a:xfrm>
          <a:prstGeom prst="roundRect">
            <a:avLst>
              <a:gd name="adj" fmla="val 50000"/>
            </a:avLst>
          </a:prstGeom>
          <a:solidFill>
            <a:srgbClr val="231A0B"/>
          </a:solidFill>
          <a:ln w="12700">
            <a:solidFill>
              <a:srgbClr val="F59E0B"/>
            </a:solidFill>
            <a:prstDash val="solid"/>
          </a:ln>
        </p:spPr>
      </p:sp>
      <p:sp>
        <p:nvSpPr>
          <p:cNvPr id="67" name="Text 55"/>
          <p:cNvSpPr txBox="1"/>
          <p:nvPr/>
        </p:nvSpPr>
        <p:spPr>
          <a:xfrm>
            <a:off x="10608777" y="4489602"/>
            <a:ext cx="997702" cy="246888"/>
          </a:xfrm>
          <a:prstGeom prst="rect">
            <a:avLst/>
          </a:prstGeom>
          <a:noFill/>
          <a:ln/>
        </p:spPr>
        <p:txBody>
          <a:bodyPr wrap="square" lIns="0" tIns="0" rIns="0" bIns="0" rtlCol="0" anchor="ctr"/>
          <a:lstStyle/>
          <a:p>
            <a:pPr algn="ctr" indent="0" marL="0">
              <a:buNone/>
            </a:pPr>
            <a:r>
              <a:rPr lang="en-US" sz="900" b="1" spc="60" kern="0" dirty="0">
                <a:solidFill>
                  <a:srgbClr val="F59E0B"/>
                </a:solidFill>
                <a:latin typeface="Arial" pitchFamily="34" charset="0"/>
                <a:ea typeface="Arial" pitchFamily="34" charset="-122"/>
                <a:cs typeface="Arial" pitchFamily="34" charset="-120"/>
              </a:rPr>
              <a:t>BY LAUNCH</a:t>
            </a:r>
            <a:endParaRPr lang="en-US" sz="900" dirty="0"/>
          </a:p>
        </p:txBody>
      </p:sp>
      <p:sp>
        <p:nvSpPr>
          <p:cNvPr id="68" name="Text 56"/>
          <p:cNvSpPr txBox="1"/>
          <p:nvPr/>
        </p:nvSpPr>
        <p:spPr>
          <a:xfrm>
            <a:off x="8700821" y="4439310"/>
            <a:ext cx="1770797"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Scoped AI tutor</a:t>
            </a:r>
            <a:endParaRPr lang="en-US" sz="1300" dirty="0"/>
          </a:p>
        </p:txBody>
      </p:sp>
      <p:sp>
        <p:nvSpPr>
          <p:cNvPr id="69" name="Text 57"/>
          <p:cNvSpPr txBox="1"/>
          <p:nvPr/>
        </p:nvSpPr>
        <p:spPr>
          <a:xfrm>
            <a:off x="8261909" y="4850790"/>
            <a:ext cx="3344570" cy="429870"/>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Answers cite sources, labelled a learning aid; per-partner scoping set up before launch</a:t>
            </a:r>
            <a:endParaRPr lang="en-US" sz="1100" dirty="0"/>
          </a:p>
        </p:txBody>
      </p:sp>
      <p:sp>
        <p:nvSpPr>
          <p:cNvPr id="70" name="Shape 58"/>
          <p:cNvSpPr/>
          <p:nvPr/>
        </p:nvSpPr>
        <p:spPr>
          <a:xfrm>
            <a:off x="457200" y="5591556"/>
            <a:ext cx="11277295" cy="736092"/>
          </a:xfrm>
          <a:prstGeom prst="roundRect">
            <a:avLst>
              <a:gd name="adj" fmla="val 12422"/>
            </a:avLst>
          </a:prstGeom>
          <a:solidFill>
            <a:srgbClr val="15151F"/>
          </a:solidFill>
          <a:ln w="9525">
            <a:solidFill>
              <a:srgbClr val="5A4A22"/>
            </a:solidFill>
            <a:prstDash val="solid"/>
          </a:ln>
        </p:spPr>
      </p:sp>
      <p:pic>
        <p:nvPicPr>
          <p:cNvPr id="71" name="Image 9" descr="preencoded.png">    </p:cNvPr>
          <p:cNvPicPr>
            <a:picLocks noChangeAspect="1"/>
          </p:cNvPicPr>
          <p:nvPr/>
        </p:nvPicPr>
        <p:blipFill>
          <a:blip r:embed="rId11"/>
          <a:stretch>
            <a:fillRect/>
          </a:stretch>
        </p:blipFill>
        <p:spPr>
          <a:xfrm>
            <a:off x="603504" y="5719572"/>
            <a:ext cx="201168" cy="201168"/>
          </a:xfrm>
          <a:prstGeom prst="rect">
            <a:avLst/>
          </a:prstGeom>
        </p:spPr>
      </p:pic>
      <p:sp>
        <p:nvSpPr>
          <p:cNvPr id="72" name="Text 59"/>
          <p:cNvSpPr txBox="1"/>
          <p:nvPr/>
        </p:nvSpPr>
        <p:spPr>
          <a:xfrm>
            <a:off x="914400" y="5710428"/>
            <a:ext cx="10710367" cy="553212"/>
          </a:xfrm>
          <a:prstGeom prst="rect">
            <a:avLst/>
          </a:prstGeom>
          <a:noFill/>
          <a:ln/>
        </p:spPr>
        <p:txBody>
          <a:bodyPr wrap="square" lIns="0" tIns="0" rIns="0" bIns="0" rtlCol="0" anchor="t"/>
          <a:lstStyle/>
          <a:p>
            <a:pPr indent="0" marL="0">
              <a:buNone/>
            </a:pPr>
            <a:r>
              <a:rPr lang="en-US" sz="1050" dirty="0">
                <a:solidFill>
                  <a:srgbClr val="E8E8F0"/>
                </a:solidFill>
                <a:latin typeface="Arial" pitchFamily="34" charset="0"/>
                <a:ea typeface="Arial" pitchFamily="34" charset="-122"/>
                <a:cs typeface="Arial" pitchFamily="34" charset="-120"/>
              </a:rPr>
              <a:t>We hold no security certifications today. Our own security review logged 37 issues (6 critical, 18 high, 13 medium): 8 fixed, 3 partly fixed, 26 open, including 5 of the 6 critical items (one is the report storage above); 22 of the 26 are scheduled in the launch preparation. Summary available on request.</a:t>
            </a:r>
            <a:endParaRPr lang="en-US" sz="1050" dirty="0"/>
          </a:p>
          <a:p>
            <a:pPr indent="0" marL="0">
              <a:buNone/>
            </a:pPr>
            <a:r>
              <a:rPr lang="en-US" sz="1050" dirty="0">
                <a:solidFill>
                  <a:srgbClr val="B4B4C8"/>
                </a:solidFill>
                <a:latin typeface="Arial" pitchFamily="34" charset="0"/>
                <a:ea typeface="Arial" pitchFamily="34" charset="-122"/>
                <a:cs typeface="Arial" pitchFamily="34" charset="-120"/>
              </a:rPr>
              <a:t>Every outside service (hosting, payments, AI; voice and avatar media only for consented twins) is listed in the data-processing terms.</a:t>
            </a:r>
            <a:endParaRPr lang="en-US" sz="1050" dirty="0"/>
          </a:p>
        </p:txBody>
      </p:sp>
      <p:sp>
        <p:nvSpPr>
          <p:cNvPr id="73" name="Text 6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74" name="Text 6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206360"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968616"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OBJECTIONS</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Questions buyers ask</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Short answers; details in the partner agreement, the pilot order or on request</a:t>
            </a:r>
            <a:endParaRPr lang="en-US" sz="1600" dirty="0"/>
          </a:p>
        </p:txBody>
      </p:sp>
      <p:sp>
        <p:nvSpPr>
          <p:cNvPr id="7" name="Shape 4"/>
          <p:cNvSpPr/>
          <p:nvPr/>
        </p:nvSpPr>
        <p:spPr>
          <a:xfrm>
            <a:off x="457200" y="1869643"/>
            <a:ext cx="3576218" cy="881329"/>
          </a:xfrm>
          <a:prstGeom prst="roundRect">
            <a:avLst>
              <a:gd name="adj" fmla="val 8300"/>
            </a:avLst>
          </a:prstGeom>
          <a:solidFill>
            <a:srgbClr val="171722"/>
          </a:solidFill>
          <a:ln w="9525">
            <a:solidFill>
              <a:srgbClr val="2C2C3E"/>
            </a:solidFill>
            <a:prstDash val="solid"/>
          </a:ln>
        </p:spPr>
      </p:sp>
      <p:sp>
        <p:nvSpPr>
          <p:cNvPr id="8" name="Text 5"/>
          <p:cNvSpPr txBox="1"/>
          <p:nvPr/>
        </p:nvSpPr>
        <p:spPr>
          <a:xfrm>
            <a:off x="594360"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Is it live?</a:t>
            </a:r>
            <a:endParaRPr lang="en-US" sz="1200" dirty="0"/>
          </a:p>
        </p:txBody>
      </p:sp>
      <p:sp>
        <p:nvSpPr>
          <p:cNvPr id="9" name="Text 6"/>
          <p:cNvSpPr txBox="1"/>
          <p:nvPr/>
        </p:nvSpPr>
        <p:spPr>
          <a:xfrm>
            <a:off x="594360"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Not yet: built, launch plan in place; join now as Founding Partner or pilot</a:t>
            </a:r>
            <a:endParaRPr lang="en-US" sz="1100" dirty="0"/>
          </a:p>
        </p:txBody>
      </p:sp>
      <p:sp>
        <p:nvSpPr>
          <p:cNvPr id="10" name="Shape 7"/>
          <p:cNvSpPr/>
          <p:nvPr/>
        </p:nvSpPr>
        <p:spPr>
          <a:xfrm>
            <a:off x="457200" y="3025292"/>
            <a:ext cx="3576218" cy="881329"/>
          </a:xfrm>
          <a:prstGeom prst="roundRect">
            <a:avLst>
              <a:gd name="adj" fmla="val 8300"/>
            </a:avLst>
          </a:prstGeom>
          <a:solidFill>
            <a:srgbClr val="171722"/>
          </a:solidFill>
          <a:ln w="9525">
            <a:solidFill>
              <a:srgbClr val="2C2C3E"/>
            </a:solidFill>
            <a:prstDash val="solid"/>
          </a:ln>
        </p:spPr>
      </p:sp>
      <p:sp>
        <p:nvSpPr>
          <p:cNvPr id="11" name="Text 8"/>
          <p:cNvSpPr txBox="1"/>
          <p:nvPr/>
        </p:nvSpPr>
        <p:spPr>
          <a:xfrm>
            <a:off x="594360"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What does it cost?</a:t>
            </a:r>
            <a:endParaRPr lang="en-US" sz="1200" dirty="0"/>
          </a:p>
        </p:txBody>
      </p:sp>
      <p:sp>
        <p:nvSpPr>
          <p:cNvPr id="12" name="Text 9"/>
          <p:cNvSpPr txBox="1"/>
          <p:nvPr/>
        </p:nvSpPr>
        <p:spPr>
          <a:xfrm>
            <a:off x="594360"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Academies $25K–$150K/yr; seats $1,500/yr ($125/month); 70/30 on course sales</a:t>
            </a:r>
            <a:endParaRPr lang="en-US" sz="1100" dirty="0"/>
          </a:p>
        </p:txBody>
      </p:sp>
      <p:sp>
        <p:nvSpPr>
          <p:cNvPr id="13" name="Shape 10"/>
          <p:cNvSpPr/>
          <p:nvPr/>
        </p:nvSpPr>
        <p:spPr>
          <a:xfrm>
            <a:off x="457200" y="4180942"/>
            <a:ext cx="3576218" cy="881329"/>
          </a:xfrm>
          <a:prstGeom prst="roundRect">
            <a:avLst>
              <a:gd name="adj" fmla="val 8300"/>
            </a:avLst>
          </a:prstGeom>
          <a:solidFill>
            <a:srgbClr val="171722"/>
          </a:solidFill>
          <a:ln w="9525">
            <a:solidFill>
              <a:srgbClr val="2C2C3E"/>
            </a:solidFill>
            <a:prstDash val="solid"/>
          </a:ln>
        </p:spPr>
      </p:sp>
      <p:sp>
        <p:nvSpPr>
          <p:cNvPr id="14" name="Text 11"/>
          <p:cNvSpPr txBox="1"/>
          <p:nvPr/>
        </p:nvSpPr>
        <p:spPr>
          <a:xfrm>
            <a:off x="594360"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Who owns the content, and is it exclusive?</a:t>
            </a:r>
            <a:endParaRPr lang="en-US" sz="1200" dirty="0"/>
          </a:p>
        </p:txBody>
      </p:sp>
      <p:sp>
        <p:nvSpPr>
          <p:cNvPr id="15" name="Text 12"/>
          <p:cNvSpPr txBox="1"/>
          <p:nvPr/>
        </p:nvSpPr>
        <p:spPr>
          <a:xfrm>
            <a:off x="594360"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Standard, exportable course content; rights and exclusivity in the partner agreement</a:t>
            </a:r>
            <a:endParaRPr lang="en-US" sz="1100" dirty="0"/>
          </a:p>
        </p:txBody>
      </p:sp>
      <p:sp>
        <p:nvSpPr>
          <p:cNvPr id="16" name="Shape 13"/>
          <p:cNvSpPr/>
          <p:nvPr/>
        </p:nvSpPr>
        <p:spPr>
          <a:xfrm>
            <a:off x="457200" y="5336591"/>
            <a:ext cx="3576218" cy="881329"/>
          </a:xfrm>
          <a:prstGeom prst="roundRect">
            <a:avLst>
              <a:gd name="adj" fmla="val 8300"/>
            </a:avLst>
          </a:prstGeom>
          <a:solidFill>
            <a:srgbClr val="171722"/>
          </a:solidFill>
          <a:ln w="9525">
            <a:solidFill>
              <a:srgbClr val="2C2C3E"/>
            </a:solidFill>
            <a:prstDash val="solid"/>
          </a:ln>
        </p:spPr>
      </p:sp>
      <p:sp>
        <p:nvSpPr>
          <p:cNvPr id="17" name="Text 14"/>
          <p:cNvSpPr txBox="1"/>
          <p:nvPr/>
        </p:nvSpPr>
        <p:spPr>
          <a:xfrm>
            <a:off x="594360"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we use our brand?</a:t>
            </a:r>
            <a:endParaRPr lang="en-US" sz="1200" dirty="0"/>
          </a:p>
        </p:txBody>
      </p:sp>
      <p:sp>
        <p:nvSpPr>
          <p:cNvPr id="18" name="Text 15"/>
          <p:cNvSpPr txBox="1"/>
          <p:nvPr/>
        </p:nvSpPr>
        <p:spPr>
          <a:xfrm>
            <a:off x="594360"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Name, pathways, jobs today; colours, logo, web address before go-live</a:t>
            </a:r>
            <a:endParaRPr lang="en-US" sz="1100" dirty="0"/>
          </a:p>
        </p:txBody>
      </p:sp>
      <p:sp>
        <p:nvSpPr>
          <p:cNvPr id="19" name="Shape 16"/>
          <p:cNvSpPr/>
          <p:nvPr/>
        </p:nvSpPr>
        <p:spPr>
          <a:xfrm>
            <a:off x="4307738" y="1869643"/>
            <a:ext cx="3576218" cy="881329"/>
          </a:xfrm>
          <a:prstGeom prst="roundRect">
            <a:avLst>
              <a:gd name="adj" fmla="val 8300"/>
            </a:avLst>
          </a:prstGeom>
          <a:solidFill>
            <a:srgbClr val="171722"/>
          </a:solidFill>
          <a:ln w="9525">
            <a:solidFill>
              <a:srgbClr val="2C2C3E"/>
            </a:solidFill>
            <a:prstDash val="solid"/>
          </a:ln>
        </p:spPr>
      </p:sp>
      <p:sp>
        <p:nvSpPr>
          <p:cNvPr id="20" name="Text 17"/>
          <p:cNvSpPr txBox="1"/>
          <p:nvPr/>
        </p:nvSpPr>
        <p:spPr>
          <a:xfrm>
            <a:off x="4444898"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Will a regulator accept the evidence?</a:t>
            </a:r>
            <a:endParaRPr lang="en-US" sz="1200" dirty="0"/>
          </a:p>
        </p:txBody>
      </p:sp>
      <p:sp>
        <p:nvSpPr>
          <p:cNvPr id="21" name="Text 18"/>
          <p:cNvSpPr txBox="1"/>
          <p:nvPr/>
        </p:nvSpPr>
        <p:spPr>
          <a:xfrm>
            <a:off x="4444898"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Grade reports and Open Badges records as evidence; no regulator recognition claimed</a:t>
            </a:r>
            <a:endParaRPr lang="en-US" sz="1100" dirty="0"/>
          </a:p>
        </p:txBody>
      </p:sp>
      <p:sp>
        <p:nvSpPr>
          <p:cNvPr id="22" name="Shape 19"/>
          <p:cNvSpPr/>
          <p:nvPr/>
        </p:nvSpPr>
        <p:spPr>
          <a:xfrm>
            <a:off x="4307738" y="3025292"/>
            <a:ext cx="3576218" cy="881329"/>
          </a:xfrm>
          <a:prstGeom prst="roundRect">
            <a:avLst>
              <a:gd name="adj" fmla="val 8300"/>
            </a:avLst>
          </a:prstGeom>
          <a:solidFill>
            <a:srgbClr val="171722"/>
          </a:solidFill>
          <a:ln w="9525">
            <a:solidFill>
              <a:srgbClr val="2C2C3E"/>
            </a:solidFill>
            <a:prstDash val="solid"/>
          </a:ln>
        </p:spPr>
      </p:sp>
      <p:sp>
        <p:nvSpPr>
          <p:cNvPr id="23" name="Text 20"/>
          <p:cNvSpPr txBox="1"/>
          <p:nvPr/>
        </p:nvSpPr>
        <p:spPr>
          <a:xfrm>
            <a:off x="4444898"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Can the partner see our staff's grades?</a:t>
            </a:r>
            <a:endParaRPr lang="en-US" sz="1200" dirty="0"/>
          </a:p>
        </p:txBody>
      </p:sp>
      <p:sp>
        <p:nvSpPr>
          <p:cNvPr id="24" name="Text 21"/>
          <p:cNvSpPr txBox="1"/>
          <p:nvPr/>
        </p:nvSpPr>
        <p:spPr>
          <a:xfrm>
            <a:off x="4444898"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Aggregates only; learner-level data needs consent (required before launch)</a:t>
            </a:r>
            <a:endParaRPr lang="en-US" sz="1100" dirty="0"/>
          </a:p>
        </p:txBody>
      </p:sp>
      <p:sp>
        <p:nvSpPr>
          <p:cNvPr id="25" name="Shape 22"/>
          <p:cNvSpPr/>
          <p:nvPr/>
        </p:nvSpPr>
        <p:spPr>
          <a:xfrm>
            <a:off x="4307738" y="4180942"/>
            <a:ext cx="3576218" cy="881329"/>
          </a:xfrm>
          <a:prstGeom prst="roundRect">
            <a:avLst>
              <a:gd name="adj" fmla="val 8300"/>
            </a:avLst>
          </a:prstGeom>
          <a:solidFill>
            <a:srgbClr val="171722"/>
          </a:solidFill>
          <a:ln w="9525">
            <a:solidFill>
              <a:srgbClr val="2C2C3E"/>
            </a:solidFill>
            <a:prstDash val="solid"/>
          </a:ln>
        </p:spPr>
      </p:sp>
      <p:sp>
        <p:nvSpPr>
          <p:cNvPr id="26" name="Text 23"/>
          <p:cNvSpPr txBox="1"/>
          <p:nvPr/>
        </p:nvSpPr>
        <p:spPr>
          <a:xfrm>
            <a:off x="4444898"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Learner data and contact?</a:t>
            </a:r>
            <a:endParaRPr lang="en-US" sz="1200" dirty="0"/>
          </a:p>
        </p:txBody>
      </p:sp>
      <p:sp>
        <p:nvSpPr>
          <p:cNvPr id="27" name="Text 24"/>
          <p:cNvSpPr txBox="1"/>
          <p:nvPr/>
        </p:nvSpPr>
        <p:spPr>
          <a:xfrm>
            <a:off x="4444898"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Consent + partner access model before launch; set in the agreement</a:t>
            </a:r>
            <a:endParaRPr lang="en-US" sz="1100" dirty="0"/>
          </a:p>
        </p:txBody>
      </p:sp>
      <p:sp>
        <p:nvSpPr>
          <p:cNvPr id="28" name="Shape 25"/>
          <p:cNvSpPr/>
          <p:nvPr/>
        </p:nvSpPr>
        <p:spPr>
          <a:xfrm>
            <a:off x="4307738" y="5336591"/>
            <a:ext cx="3576218" cy="881329"/>
          </a:xfrm>
          <a:prstGeom prst="roundRect">
            <a:avLst>
              <a:gd name="adj" fmla="val 8300"/>
            </a:avLst>
          </a:prstGeom>
          <a:solidFill>
            <a:srgbClr val="171722"/>
          </a:solidFill>
          <a:ln w="9525">
            <a:solidFill>
              <a:srgbClr val="2C2C3E"/>
            </a:solidFill>
            <a:prstDash val="solid"/>
          </a:ln>
        </p:spPr>
      </p:sp>
      <p:sp>
        <p:nvSpPr>
          <p:cNvPr id="29" name="Text 26"/>
          <p:cNvSpPr txBox="1"/>
          <p:nvPr/>
        </p:nvSpPr>
        <p:spPr>
          <a:xfrm>
            <a:off x="4444898" y="5446319"/>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Where does data live?</a:t>
            </a:r>
            <a:endParaRPr lang="en-US" sz="1200" dirty="0"/>
          </a:p>
        </p:txBody>
      </p:sp>
      <p:sp>
        <p:nvSpPr>
          <p:cNvPr id="30" name="Text 27"/>
          <p:cNvSpPr txBox="1"/>
          <p:nvPr/>
        </p:nvSpPr>
        <p:spPr>
          <a:xfrm>
            <a:off x="4444898"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Hosted in the UAE (target); data protection hardened before launch</a:t>
            </a:r>
            <a:endParaRPr lang="en-US" sz="1100" dirty="0"/>
          </a:p>
        </p:txBody>
      </p:sp>
      <p:sp>
        <p:nvSpPr>
          <p:cNvPr id="31" name="Shape 28"/>
          <p:cNvSpPr/>
          <p:nvPr/>
        </p:nvSpPr>
        <p:spPr>
          <a:xfrm>
            <a:off x="8158277" y="1869643"/>
            <a:ext cx="3576218" cy="881329"/>
          </a:xfrm>
          <a:prstGeom prst="roundRect">
            <a:avLst>
              <a:gd name="adj" fmla="val 8300"/>
            </a:avLst>
          </a:prstGeom>
          <a:solidFill>
            <a:srgbClr val="171722"/>
          </a:solidFill>
          <a:ln w="9525">
            <a:solidFill>
              <a:srgbClr val="2C2C3E"/>
            </a:solidFill>
            <a:prstDash val="solid"/>
          </a:ln>
        </p:spPr>
      </p:sp>
      <p:sp>
        <p:nvSpPr>
          <p:cNvPr id="32" name="Text 29"/>
          <p:cNvSpPr txBox="1"/>
          <p:nvPr/>
        </p:nvSpPr>
        <p:spPr>
          <a:xfrm>
            <a:off x="8295437" y="1979371"/>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Support, SLA, term and exit?</a:t>
            </a:r>
            <a:endParaRPr lang="en-US" sz="1200" dirty="0"/>
          </a:p>
        </p:txBody>
      </p:sp>
      <p:sp>
        <p:nvSpPr>
          <p:cNvPr id="33" name="Text 30"/>
          <p:cNvSpPr txBox="1"/>
          <p:nvPr/>
        </p:nvSpPr>
        <p:spPr>
          <a:xfrm>
            <a:off x="8295437" y="2198827"/>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Set in the pilot order / agreement; no SLA claimed; export + badge records on exit</a:t>
            </a:r>
            <a:endParaRPr lang="en-US" sz="1100" dirty="0"/>
          </a:p>
        </p:txBody>
      </p:sp>
      <p:sp>
        <p:nvSpPr>
          <p:cNvPr id="34" name="Shape 31"/>
          <p:cNvSpPr/>
          <p:nvPr/>
        </p:nvSpPr>
        <p:spPr>
          <a:xfrm>
            <a:off x="8158277" y="3025292"/>
            <a:ext cx="3576218" cy="881329"/>
          </a:xfrm>
          <a:prstGeom prst="roundRect">
            <a:avLst>
              <a:gd name="adj" fmla="val 8300"/>
            </a:avLst>
          </a:prstGeom>
          <a:solidFill>
            <a:srgbClr val="171722"/>
          </a:solidFill>
          <a:ln w="9525">
            <a:solidFill>
              <a:srgbClr val="2C2C3E"/>
            </a:solidFill>
            <a:prstDash val="solid"/>
          </a:ln>
        </p:spPr>
      </p:sp>
      <p:sp>
        <p:nvSpPr>
          <p:cNvPr id="35" name="Text 32"/>
          <p:cNvSpPr txBox="1"/>
          <p:nvPr/>
        </p:nvSpPr>
        <p:spPr>
          <a:xfrm>
            <a:off x="8295437" y="313502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Academic credit? Language?</a:t>
            </a:r>
            <a:endParaRPr lang="en-US" sz="1200" dirty="0"/>
          </a:p>
        </p:txBody>
      </p:sp>
      <p:sp>
        <p:nvSpPr>
          <p:cNvPr id="36" name="Text 33"/>
          <p:cNvSpPr txBox="1"/>
          <p:nvPr/>
        </p:nvSpPr>
        <p:spPr>
          <a:xfrm>
            <a:off x="8295437" y="335447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Granted by your institution, not the platform. English at launch; other languages on request</a:t>
            </a:r>
            <a:endParaRPr lang="en-US" sz="1100" dirty="0"/>
          </a:p>
        </p:txBody>
      </p:sp>
      <p:sp>
        <p:nvSpPr>
          <p:cNvPr id="37" name="Shape 34"/>
          <p:cNvSpPr/>
          <p:nvPr/>
        </p:nvSpPr>
        <p:spPr>
          <a:xfrm>
            <a:off x="8158277" y="4180942"/>
            <a:ext cx="3576218" cy="881329"/>
          </a:xfrm>
          <a:prstGeom prst="roundRect">
            <a:avLst>
              <a:gd name="adj" fmla="val 8300"/>
            </a:avLst>
          </a:prstGeom>
          <a:solidFill>
            <a:srgbClr val="171722"/>
          </a:solidFill>
          <a:ln w="9525">
            <a:solidFill>
              <a:srgbClr val="2C2C3E"/>
            </a:solidFill>
            <a:prstDash val="solid"/>
          </a:ln>
        </p:spPr>
      </p:sp>
      <p:sp>
        <p:nvSpPr>
          <p:cNvPr id="38" name="Text 35"/>
          <p:cNvSpPr txBox="1"/>
          <p:nvPr/>
        </p:nvSpPr>
        <p:spPr>
          <a:xfrm>
            <a:off x="8295437" y="4290670"/>
            <a:ext cx="3301898" cy="210312"/>
          </a:xfrm>
          <a:prstGeom prst="rect">
            <a:avLst/>
          </a:prstGeom>
          <a:noFill/>
          <a:ln/>
        </p:spPr>
        <p:txBody>
          <a:bodyPr wrap="square" lIns="0" tIns="0" rIns="0" bIns="0" rtlCol="0" anchor="t"/>
          <a:lstStyle/>
          <a:p>
            <a:pPr indent="0" marL="0">
              <a:buNone/>
            </a:pPr>
            <a:r>
              <a:rPr lang="en-US" sz="1200" b="1" dirty="0">
                <a:solidFill>
                  <a:srgbClr val="FFFFFF"/>
                </a:solidFill>
                <a:latin typeface="Arial" pitchFamily="34" charset="0"/>
                <a:ea typeface="Arial" pitchFamily="34" charset="-122"/>
                <a:cs typeface="Arial" pitchFamily="34" charset="-120"/>
              </a:rPr>
              <a:t>Research use of round tables?</a:t>
            </a:r>
            <a:endParaRPr lang="en-US" sz="1200" dirty="0"/>
          </a:p>
        </p:txBody>
      </p:sp>
      <p:sp>
        <p:nvSpPr>
          <p:cNvPr id="39" name="Text 36"/>
          <p:cNvSpPr txBox="1"/>
          <p:nvPr/>
        </p:nvSpPr>
        <p:spPr>
          <a:xfrm>
            <a:off x="8295437" y="4510126"/>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Publication and attribution in the agreement; no automatic anonymity today</a:t>
            </a:r>
            <a:endParaRPr lang="en-US" sz="1100" dirty="0"/>
          </a:p>
        </p:txBody>
      </p:sp>
      <p:sp>
        <p:nvSpPr>
          <p:cNvPr id="40" name="Shape 37"/>
          <p:cNvSpPr/>
          <p:nvPr/>
        </p:nvSpPr>
        <p:spPr>
          <a:xfrm>
            <a:off x="8158277" y="5336591"/>
            <a:ext cx="3576218" cy="881329"/>
          </a:xfrm>
          <a:prstGeom prst="roundRect">
            <a:avLst>
              <a:gd name="adj" fmla="val 8300"/>
            </a:avLst>
          </a:prstGeom>
          <a:solidFill>
            <a:srgbClr val="231E12"/>
          </a:solidFill>
          <a:ln w="9525">
            <a:solidFill>
              <a:srgbClr val="C9A84C"/>
            </a:solidFill>
            <a:prstDash val="solid"/>
          </a:ln>
        </p:spPr>
      </p:sp>
      <p:sp>
        <p:nvSpPr>
          <p:cNvPr id="41" name="Text 38"/>
          <p:cNvSpPr txBox="1"/>
          <p:nvPr/>
        </p:nvSpPr>
        <p:spPr>
          <a:xfrm>
            <a:off x="8295437" y="5446319"/>
            <a:ext cx="3301898" cy="210312"/>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Who else is in?</a:t>
            </a:r>
            <a:endParaRPr lang="en-US" sz="1200" dirty="0"/>
          </a:p>
        </p:txBody>
      </p:sp>
      <p:sp>
        <p:nvSpPr>
          <p:cNvPr id="42" name="Text 39"/>
          <p:cNvSpPr txBox="1"/>
          <p:nvPr/>
        </p:nvSpPr>
        <p:spPr>
          <a:xfrm>
            <a:off x="8295437" y="5665775"/>
            <a:ext cx="3301898" cy="371856"/>
          </a:xfrm>
          <a:prstGeom prst="rect">
            <a:avLst/>
          </a:prstGeom>
          <a:noFill/>
          <a:ln/>
        </p:spPr>
        <p:txBody>
          <a:bodyPr wrap="square" lIns="0" tIns="0" rIns="0" bIns="0" rtlCol="0" anchor="t"/>
          <a:lstStyle/>
          <a:p>
            <a:pPr indent="0" marL="0">
              <a:buNone/>
            </a:pPr>
            <a:r>
              <a:rPr lang="en-US" sz="1100" dirty="0">
                <a:solidFill>
                  <a:srgbClr val="B4B4C8"/>
                </a:solidFill>
                <a:latin typeface="Arial" pitchFamily="34" charset="0"/>
                <a:ea typeface="Arial" pitchFamily="34" charset="-122"/>
                <a:cs typeface="Arial" pitchFamily="34" charset="-120"/>
              </a:rPr>
              <a:t>DBCC is the confirmed anchor; no partner signed (slide 19); Tether screens are illustrative</a:t>
            </a:r>
            <a:endParaRPr lang="en-US" sz="1100" dirty="0"/>
          </a:p>
        </p:txBody>
      </p:sp>
      <p:sp>
        <p:nvSpPr>
          <p:cNvPr id="43"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4"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1083175" cy="256032"/>
          </a:xfrm>
          <a:prstGeom prst="roundRect">
            <a:avLst>
              <a:gd name="adj" fmla="val 50000"/>
            </a:avLst>
          </a:prstGeom>
          <a:solidFill>
            <a:srgbClr val="1E1A10"/>
          </a:solidFill>
          <a:ln w="9525">
            <a:solidFill>
              <a:srgbClr val="5A4A22"/>
            </a:solidFill>
            <a:prstDash val="solid"/>
          </a:ln>
        </p:spPr>
      </p:sp>
      <p:sp>
        <p:nvSpPr>
          <p:cNvPr id="4" name="Text 1"/>
          <p:cNvSpPr txBox="1"/>
          <p:nvPr/>
        </p:nvSpPr>
        <p:spPr>
          <a:xfrm>
            <a:off x="612648" y="384048"/>
            <a:ext cx="845431" cy="256032"/>
          </a:xfrm>
          <a:prstGeom prst="rect">
            <a:avLst/>
          </a:prstGeom>
          <a:noFill/>
          <a:ln/>
        </p:spPr>
        <p:txBody>
          <a:bodyPr wrap="square" lIns="0" tIns="0" rIns="0" bIns="0" rtlCol="0" anchor="ctr"/>
          <a:lstStyle/>
          <a:p>
            <a:pPr indent="0" marL="0">
              <a:buNone/>
            </a:pPr>
            <a:r>
              <a:rPr lang="en-US" sz="900" b="1" spc="120" kern="0" dirty="0">
                <a:solidFill>
                  <a:srgbClr val="F0C96B"/>
                </a:solidFill>
                <a:latin typeface="Arial" pitchFamily="34" charset="0"/>
                <a:ea typeface="Arial" pitchFamily="34" charset="-122"/>
                <a:cs typeface="Arial" pitchFamily="34" charset="-120"/>
              </a:rPr>
              <a:t>NEXT STEP</a:t>
            </a:r>
            <a:endParaRPr lang="en-US" sz="900" dirty="0"/>
          </a:p>
        </p:txBody>
      </p:sp>
      <p:sp>
        <p:nvSpPr>
          <p:cNvPr id="5" name="Text 2"/>
          <p:cNvSpPr txBox="1"/>
          <p:nvPr/>
        </p:nvSpPr>
        <p:spPr>
          <a:xfrm>
            <a:off x="457200" y="768096"/>
            <a:ext cx="11277295" cy="565099"/>
          </a:xfrm>
          <a:prstGeom prst="rect">
            <a:avLst/>
          </a:prstGeom>
          <a:noFill/>
          <a:ln/>
        </p:spPr>
        <p:txBody>
          <a:bodyPr wrap="square" lIns="0" tIns="0" rIns="0" bIns="0" rtlCol="0" anchor="t"/>
          <a:lstStyle/>
          <a:p>
            <a:pPr indent="0" marL="0">
              <a:lnSpc>
                <a:spcPct val="93000"/>
              </a:lnSpc>
              <a:buNone/>
            </a:pPr>
            <a:r>
              <a:rPr lang="en-US" sz="3600" b="1" dirty="0">
                <a:solidFill>
                  <a:srgbClr val="FFFFFF"/>
                </a:solidFill>
                <a:latin typeface="Arial" pitchFamily="34" charset="0"/>
                <a:ea typeface="Arial" pitchFamily="34" charset="-122"/>
                <a:cs typeface="Arial" pitchFamily="34" charset="-120"/>
              </a:rPr>
              <a:t>Two ways to start</a:t>
            </a:r>
            <a:endParaRPr lang="en-US" sz="3600" dirty="0"/>
          </a:p>
        </p:txBody>
      </p:sp>
      <p:sp>
        <p:nvSpPr>
          <p:cNvPr id="6" name="Text 3"/>
          <p:cNvSpPr txBox="1"/>
          <p:nvPr/>
        </p:nvSpPr>
        <p:spPr>
          <a:xfrm>
            <a:off x="457200" y="1369771"/>
            <a:ext cx="11277295" cy="271272"/>
          </a:xfrm>
          <a:prstGeom prst="rect">
            <a:avLst/>
          </a:prstGeom>
          <a:noFill/>
          <a:ln/>
        </p:spPr>
        <p:txBody>
          <a:bodyPr wrap="square" lIns="0" tIns="0" rIns="0" bIns="0" rtlCol="0" anchor="t"/>
          <a:lstStyle/>
          <a:p>
            <a:pPr indent="0" marL="0">
              <a:buNone/>
            </a:pPr>
            <a:r>
              <a:rPr lang="en-US" sz="1600" dirty="0">
                <a:solidFill>
                  <a:srgbClr val="B4B4C8"/>
                </a:solidFill>
                <a:latin typeface="Arial" pitchFamily="34" charset="0"/>
                <a:ea typeface="Arial" pitchFamily="34" charset="-122"/>
                <a:cs typeface="Arial" pitchFamily="34" charset="-120"/>
              </a:rPr>
              <a:t>Hosted by Dubai Blockchain Center: help build the place where the digital economy learns</a:t>
            </a:r>
            <a:endParaRPr lang="en-US" sz="1600" dirty="0"/>
          </a:p>
        </p:txBody>
      </p:sp>
      <p:sp>
        <p:nvSpPr>
          <p:cNvPr id="7" name="Shape 4"/>
          <p:cNvSpPr/>
          <p:nvPr/>
        </p:nvSpPr>
        <p:spPr>
          <a:xfrm>
            <a:off x="457200" y="1887931"/>
            <a:ext cx="5501488" cy="2638044"/>
          </a:xfrm>
          <a:prstGeom prst="roundRect">
            <a:avLst>
              <a:gd name="adj" fmla="val 4159"/>
            </a:avLst>
          </a:prstGeom>
          <a:solidFill>
            <a:srgbClr val="231E12"/>
          </a:solidFill>
          <a:ln w="15875">
            <a:solidFill>
              <a:srgbClr val="C9A84C"/>
            </a:solidFill>
            <a:prstDash val="solid"/>
          </a:ln>
        </p:spPr>
      </p:sp>
      <p:sp>
        <p:nvSpPr>
          <p:cNvPr id="8" name="Shape 5"/>
          <p:cNvSpPr/>
          <p:nvPr/>
        </p:nvSpPr>
        <p:spPr>
          <a:xfrm>
            <a:off x="694944" y="2107387"/>
            <a:ext cx="475488" cy="475488"/>
          </a:xfrm>
          <a:prstGeom prst="ellipse">
            <a:avLst/>
          </a:prstGeom>
          <a:solidFill>
            <a:srgbClr val="1E1A10"/>
          </a:solidFill>
          <a:ln w="9525">
            <a:solidFill>
              <a:srgbClr val="5A4A22"/>
            </a:solidFill>
            <a:prstDash val="solid"/>
          </a:ln>
        </p:spPr>
      </p:sp>
      <p:pic>
        <p:nvPicPr>
          <p:cNvPr id="9" name="Image 0" descr="preencoded.png">    </p:cNvPr>
          <p:cNvPicPr>
            <a:picLocks noChangeAspect="1"/>
          </p:cNvPicPr>
          <p:nvPr/>
        </p:nvPicPr>
        <p:blipFill>
          <a:blip r:embed="rId2"/>
          <a:stretch>
            <a:fillRect/>
          </a:stretch>
        </p:blipFill>
        <p:spPr>
          <a:xfrm>
            <a:off x="813816" y="2226259"/>
            <a:ext cx="237744" cy="237744"/>
          </a:xfrm>
          <a:prstGeom prst="rect">
            <a:avLst/>
          </a:prstGeom>
        </p:spPr>
      </p:pic>
      <p:sp>
        <p:nvSpPr>
          <p:cNvPr id="10" name="Text 6"/>
          <p:cNvSpPr txBox="1"/>
          <p:nvPr/>
        </p:nvSpPr>
        <p:spPr>
          <a:xfrm>
            <a:off x="1316736" y="2089099"/>
            <a:ext cx="4404208" cy="182880"/>
          </a:xfrm>
          <a:prstGeom prst="rect">
            <a:avLst/>
          </a:prstGeom>
          <a:noFill/>
          <a:ln/>
        </p:spPr>
        <p:txBody>
          <a:bodyPr wrap="square" lIns="0" tIns="0" rIns="0" bIns="0" rtlCol="0" anchor="t"/>
          <a:lstStyle/>
          <a:p>
            <a:pPr indent="0" marL="0">
              <a:buNone/>
            </a:pPr>
            <a:r>
              <a:rPr lang="en-US" sz="900" b="1" spc="120" kern="0" dirty="0">
                <a:solidFill>
                  <a:srgbClr val="F0C96B"/>
                </a:solidFill>
                <a:latin typeface="Arial" pitchFamily="34" charset="0"/>
                <a:ea typeface="Arial" pitchFamily="34" charset="-122"/>
                <a:cs typeface="Arial" pitchFamily="34" charset="-120"/>
              </a:rPr>
              <a:t>FOR KNOWLEDGE PARTNERS</a:t>
            </a:r>
            <a:endParaRPr lang="en-US" sz="900" dirty="0"/>
          </a:p>
        </p:txBody>
      </p:sp>
      <p:sp>
        <p:nvSpPr>
          <p:cNvPr id="11" name="Text 7"/>
          <p:cNvSpPr txBox="1"/>
          <p:nvPr/>
        </p:nvSpPr>
        <p:spPr>
          <a:xfrm>
            <a:off x="1316736"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Founding Partner workshop</a:t>
            </a:r>
            <a:endParaRPr lang="en-US" sz="2200" dirty="0"/>
          </a:p>
        </p:txBody>
      </p:sp>
      <p:sp>
        <p:nvSpPr>
          <p:cNvPr id="12" name="Text 8"/>
          <p:cNvSpPr txBox="1"/>
          <p:nvPr/>
        </p:nvSpPr>
        <p:spPr>
          <a:xfrm>
            <a:off x="694944" y="2784043"/>
            <a:ext cx="5026000" cy="7985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Half a day, terms on request: choose your districts, first track and pathway, badge criteria and first round-table topic, and leave with your 90-day plan. Institutions: the workshop also drafts the governance, IP and research terms for your committee</a:t>
            </a:r>
            <a:endParaRPr lang="en-US" sz="1250" dirty="0"/>
          </a:p>
        </p:txBody>
      </p:sp>
      <p:sp>
        <p:nvSpPr>
          <p:cNvPr id="13" name="Shape 9"/>
          <p:cNvSpPr/>
          <p:nvPr/>
        </p:nvSpPr>
        <p:spPr>
          <a:xfrm>
            <a:off x="694944" y="3710635"/>
            <a:ext cx="1487805" cy="237744"/>
          </a:xfrm>
          <a:prstGeom prst="roundRect">
            <a:avLst>
              <a:gd name="adj" fmla="val 50000"/>
            </a:avLst>
          </a:prstGeom>
          <a:solidFill>
            <a:srgbClr val="0A0A0F"/>
          </a:solidFill>
          <a:ln w="9525">
            <a:solidFill>
              <a:srgbClr val="5A4A22"/>
            </a:solidFill>
            <a:prstDash val="solid"/>
          </a:ln>
        </p:spPr>
      </p:sp>
      <p:sp>
        <p:nvSpPr>
          <p:cNvPr id="14" name="Text 10"/>
          <p:cNvSpPr txBox="1"/>
          <p:nvPr/>
        </p:nvSpPr>
        <p:spPr>
          <a:xfrm>
            <a:off x="694944" y="3710635"/>
            <a:ext cx="1487805"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Districts + first track</a:t>
            </a:r>
            <a:endParaRPr lang="en-US" sz="1000" dirty="0"/>
          </a:p>
        </p:txBody>
      </p:sp>
      <p:sp>
        <p:nvSpPr>
          <p:cNvPr id="15" name="Shape 11"/>
          <p:cNvSpPr/>
          <p:nvPr/>
        </p:nvSpPr>
        <p:spPr>
          <a:xfrm>
            <a:off x="2255901" y="3710635"/>
            <a:ext cx="1748917" cy="237744"/>
          </a:xfrm>
          <a:prstGeom prst="roundRect">
            <a:avLst>
              <a:gd name="adj" fmla="val 50000"/>
            </a:avLst>
          </a:prstGeom>
          <a:solidFill>
            <a:srgbClr val="0A0A0F"/>
          </a:solidFill>
          <a:ln w="9525">
            <a:solidFill>
              <a:srgbClr val="5A4A22"/>
            </a:solidFill>
            <a:prstDash val="solid"/>
          </a:ln>
        </p:spPr>
      </p:sp>
      <p:sp>
        <p:nvSpPr>
          <p:cNvPr id="16" name="Text 12"/>
          <p:cNvSpPr txBox="1"/>
          <p:nvPr/>
        </p:nvSpPr>
        <p:spPr>
          <a:xfrm>
            <a:off x="2255901" y="3710635"/>
            <a:ext cx="174891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Pathway + badge criteria</a:t>
            </a:r>
            <a:endParaRPr lang="en-US" sz="1000" dirty="0"/>
          </a:p>
        </p:txBody>
      </p:sp>
      <p:sp>
        <p:nvSpPr>
          <p:cNvPr id="17" name="Shape 13"/>
          <p:cNvSpPr/>
          <p:nvPr/>
        </p:nvSpPr>
        <p:spPr>
          <a:xfrm>
            <a:off x="4077970" y="3710635"/>
            <a:ext cx="1603578" cy="237744"/>
          </a:xfrm>
          <a:prstGeom prst="roundRect">
            <a:avLst>
              <a:gd name="adj" fmla="val 50000"/>
            </a:avLst>
          </a:prstGeom>
          <a:solidFill>
            <a:srgbClr val="0A0A0F"/>
          </a:solidFill>
          <a:ln w="9525">
            <a:solidFill>
              <a:srgbClr val="5A4A22"/>
            </a:solidFill>
            <a:prstDash val="solid"/>
          </a:ln>
        </p:spPr>
      </p:sp>
      <p:sp>
        <p:nvSpPr>
          <p:cNvPr id="18" name="Text 14"/>
          <p:cNvSpPr txBox="1"/>
          <p:nvPr/>
        </p:nvSpPr>
        <p:spPr>
          <a:xfrm>
            <a:off x="4077970" y="3710635"/>
            <a:ext cx="1603578"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First round-table topic</a:t>
            </a:r>
            <a:endParaRPr lang="en-US" sz="1000" dirty="0"/>
          </a:p>
        </p:txBody>
      </p:sp>
      <p:sp>
        <p:nvSpPr>
          <p:cNvPr id="19" name="Shape 15"/>
          <p:cNvSpPr/>
          <p:nvPr/>
        </p:nvSpPr>
        <p:spPr>
          <a:xfrm>
            <a:off x="694944" y="4003243"/>
            <a:ext cx="1279347" cy="237744"/>
          </a:xfrm>
          <a:prstGeom prst="roundRect">
            <a:avLst>
              <a:gd name="adj" fmla="val 50000"/>
            </a:avLst>
          </a:prstGeom>
          <a:solidFill>
            <a:srgbClr val="0A0A0F"/>
          </a:solidFill>
          <a:ln w="9525">
            <a:solidFill>
              <a:srgbClr val="5A4A22"/>
            </a:solidFill>
            <a:prstDash val="solid"/>
          </a:ln>
        </p:spPr>
      </p:sp>
      <p:sp>
        <p:nvSpPr>
          <p:cNvPr id="20" name="Text 16"/>
          <p:cNvSpPr txBox="1"/>
          <p:nvPr/>
        </p:nvSpPr>
        <p:spPr>
          <a:xfrm>
            <a:off x="694944" y="4003243"/>
            <a:ext cx="1279347"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Your 90-day plan</a:t>
            </a:r>
            <a:endParaRPr lang="en-US" sz="1000" dirty="0"/>
          </a:p>
        </p:txBody>
      </p:sp>
      <p:sp>
        <p:nvSpPr>
          <p:cNvPr id="21" name="Shape 17"/>
          <p:cNvSpPr/>
          <p:nvPr/>
        </p:nvSpPr>
        <p:spPr>
          <a:xfrm>
            <a:off x="2047443" y="4003243"/>
            <a:ext cx="3445993" cy="237744"/>
          </a:xfrm>
          <a:prstGeom prst="roundRect">
            <a:avLst>
              <a:gd name="adj" fmla="val 50000"/>
            </a:avLst>
          </a:prstGeom>
          <a:solidFill>
            <a:srgbClr val="0A0A0F"/>
          </a:solidFill>
          <a:ln w="9525">
            <a:solidFill>
              <a:srgbClr val="5A4A22"/>
            </a:solidFill>
            <a:prstDash val="solid"/>
          </a:ln>
        </p:spPr>
      </p:sp>
      <p:sp>
        <p:nvSpPr>
          <p:cNvPr id="22" name="Text 18"/>
          <p:cNvSpPr txBox="1"/>
          <p:nvPr/>
        </p:nvSpPr>
        <p:spPr>
          <a:xfrm>
            <a:off x="2047443" y="4003243"/>
            <a:ext cx="3445993" cy="237744"/>
          </a:xfrm>
          <a:prstGeom prst="rect">
            <a:avLst/>
          </a:prstGeom>
          <a:noFill/>
          <a:ln/>
        </p:spPr>
        <p:txBody>
          <a:bodyPr wrap="square" lIns="0" tIns="0" rIns="0" bIns="0" rtlCol="0" anchor="ctr"/>
          <a:lstStyle/>
          <a:p>
            <a:pPr algn="ctr" indent="0" marL="0">
              <a:buNone/>
            </a:pPr>
            <a:r>
              <a:rPr lang="en-US" sz="1000" b="1" dirty="0">
                <a:solidFill>
                  <a:srgbClr val="F0C96B"/>
                </a:solidFill>
                <a:latin typeface="Arial" pitchFamily="34" charset="0"/>
                <a:ea typeface="Arial" pitchFamily="34" charset="-122"/>
                <a:cs typeface="Arial" pitchFamily="34" charset="-120"/>
              </a:rPr>
              <a:t>Institutions: governance, IP and research terms draft</a:t>
            </a:r>
            <a:endParaRPr lang="en-US" sz="1000" dirty="0"/>
          </a:p>
        </p:txBody>
      </p:sp>
      <p:sp>
        <p:nvSpPr>
          <p:cNvPr id="23" name="Shape 19"/>
          <p:cNvSpPr/>
          <p:nvPr/>
        </p:nvSpPr>
        <p:spPr>
          <a:xfrm>
            <a:off x="6233008" y="1887931"/>
            <a:ext cx="5501488" cy="2638044"/>
          </a:xfrm>
          <a:prstGeom prst="roundRect">
            <a:avLst>
              <a:gd name="adj" fmla="val 4159"/>
            </a:avLst>
          </a:prstGeom>
          <a:solidFill>
            <a:srgbClr val="121B2C"/>
          </a:solidFill>
          <a:ln w="15875">
            <a:solidFill>
              <a:srgbClr val="60A5FA"/>
            </a:solidFill>
            <a:prstDash val="solid"/>
          </a:ln>
        </p:spPr>
      </p:sp>
      <p:sp>
        <p:nvSpPr>
          <p:cNvPr id="24" name="Shape 20"/>
          <p:cNvSpPr/>
          <p:nvPr/>
        </p:nvSpPr>
        <p:spPr>
          <a:xfrm>
            <a:off x="6470752" y="2107387"/>
            <a:ext cx="475488" cy="475488"/>
          </a:xfrm>
          <a:prstGeom prst="ellipse">
            <a:avLst/>
          </a:prstGeom>
          <a:solidFill>
            <a:srgbClr val="0F1829"/>
          </a:solidFill>
          <a:ln w="9525">
            <a:solidFill>
              <a:srgbClr val="27436E"/>
            </a:solidFill>
            <a:prstDash val="solid"/>
          </a:ln>
        </p:spPr>
      </p:sp>
      <p:pic>
        <p:nvPicPr>
          <p:cNvPr id="25" name="Image 1" descr="preencoded.png">    </p:cNvPr>
          <p:cNvPicPr>
            <a:picLocks noChangeAspect="1"/>
          </p:cNvPicPr>
          <p:nvPr/>
        </p:nvPicPr>
        <p:blipFill>
          <a:blip r:embed="rId3"/>
          <a:stretch>
            <a:fillRect/>
          </a:stretch>
        </p:blipFill>
        <p:spPr>
          <a:xfrm>
            <a:off x="6589624" y="2226259"/>
            <a:ext cx="237744" cy="237744"/>
          </a:xfrm>
          <a:prstGeom prst="rect">
            <a:avLst/>
          </a:prstGeom>
        </p:spPr>
      </p:pic>
      <p:sp>
        <p:nvSpPr>
          <p:cNvPr id="26" name="Text 21"/>
          <p:cNvSpPr txBox="1"/>
          <p:nvPr/>
        </p:nvSpPr>
        <p:spPr>
          <a:xfrm>
            <a:off x="7092544" y="2089099"/>
            <a:ext cx="4404208" cy="182880"/>
          </a:xfrm>
          <a:prstGeom prst="rect">
            <a:avLst/>
          </a:prstGeom>
          <a:noFill/>
          <a:ln/>
        </p:spPr>
        <p:txBody>
          <a:bodyPr wrap="square" lIns="0" tIns="0" rIns="0" bIns="0" rtlCol="0" anchor="t"/>
          <a:lstStyle/>
          <a:p>
            <a:pPr indent="0" marL="0">
              <a:buNone/>
            </a:pPr>
            <a:r>
              <a:rPr lang="en-US" sz="900" b="1" spc="120" kern="0" dirty="0">
                <a:solidFill>
                  <a:srgbClr val="60A5FA"/>
                </a:solidFill>
                <a:latin typeface="Arial" pitchFamily="34" charset="0"/>
                <a:ea typeface="Arial" pitchFamily="34" charset="-122"/>
                <a:cs typeface="Arial" pitchFamily="34" charset="-120"/>
              </a:rPr>
              <a:t>FOR ENTERPRISE TEAMS</a:t>
            </a:r>
            <a:endParaRPr lang="en-US" sz="900" dirty="0"/>
          </a:p>
        </p:txBody>
      </p:sp>
      <p:sp>
        <p:nvSpPr>
          <p:cNvPr id="27" name="Text 22"/>
          <p:cNvSpPr txBox="1"/>
          <p:nvPr/>
        </p:nvSpPr>
        <p:spPr>
          <a:xfrm>
            <a:off x="7092544" y="2271979"/>
            <a:ext cx="4404208"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Pilot for 25 seats</a:t>
            </a:r>
            <a:endParaRPr lang="en-US" sz="2200" dirty="0"/>
          </a:p>
        </p:txBody>
      </p:sp>
      <p:sp>
        <p:nvSpPr>
          <p:cNvPr id="28" name="Text 23"/>
          <p:cNvSpPr txBox="1"/>
          <p:nvPr/>
        </p:nvSpPr>
        <p:spPr>
          <a:xfrm>
            <a:off x="6470752" y="2784043"/>
            <a:ext cx="5026000" cy="608076"/>
          </a:xfrm>
          <a:prstGeom prst="rect">
            <a:avLst/>
          </a:prstGeom>
          <a:noFill/>
          <a:ln/>
        </p:spPr>
        <p:txBody>
          <a:bodyPr wrap="square" lIns="0" tIns="0" rIns="0" bIns="0" rtlCol="0" anchor="t"/>
          <a:lstStyle/>
          <a:p>
            <a:pPr indent="0" marL="0">
              <a:buNone/>
            </a:pPr>
            <a:r>
              <a:rPr lang="en-US" sz="1250" dirty="0">
                <a:solidFill>
                  <a:srgbClr val="E8E8F0"/>
                </a:solidFill>
                <a:latin typeface="Arial" pitchFamily="34" charset="0"/>
                <a:ea typeface="Arial" pitchFamily="34" charset="-122"/>
                <a:cs typeface="Arial" pitchFamily="34" charset="-120"/>
              </a:rPr>
              <a:t>Run one cohort on a pathway co-selected in the workshop from the courses available at pilot start, then review the first grade report together</a:t>
            </a:r>
            <a:endParaRPr lang="en-US" sz="1250" dirty="0"/>
          </a:p>
        </p:txBody>
      </p:sp>
      <p:sp>
        <p:nvSpPr>
          <p:cNvPr id="29" name="Shape 24"/>
          <p:cNvSpPr/>
          <p:nvPr/>
        </p:nvSpPr>
        <p:spPr>
          <a:xfrm>
            <a:off x="6470752" y="3520135"/>
            <a:ext cx="1992986" cy="237744"/>
          </a:xfrm>
          <a:prstGeom prst="roundRect">
            <a:avLst>
              <a:gd name="adj" fmla="val 50000"/>
            </a:avLst>
          </a:prstGeom>
          <a:solidFill>
            <a:srgbClr val="0A0A0F"/>
          </a:solidFill>
          <a:ln w="9525">
            <a:solidFill>
              <a:srgbClr val="27436E"/>
            </a:solidFill>
            <a:prstDash val="solid"/>
          </a:ln>
        </p:spPr>
      </p:sp>
      <p:sp>
        <p:nvSpPr>
          <p:cNvPr id="30" name="Text 25"/>
          <p:cNvSpPr txBox="1"/>
          <p:nvPr/>
        </p:nvSpPr>
        <p:spPr>
          <a:xfrm>
            <a:off x="6470752" y="3520135"/>
            <a:ext cx="1992986"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25 seats at $1,500/seat/yr list</a:t>
            </a:r>
            <a:endParaRPr lang="en-US" sz="1000" dirty="0"/>
          </a:p>
        </p:txBody>
      </p:sp>
      <p:sp>
        <p:nvSpPr>
          <p:cNvPr id="31" name="Shape 26"/>
          <p:cNvSpPr/>
          <p:nvPr/>
        </p:nvSpPr>
        <p:spPr>
          <a:xfrm>
            <a:off x="8536889" y="3520135"/>
            <a:ext cx="2492883" cy="237744"/>
          </a:xfrm>
          <a:prstGeom prst="roundRect">
            <a:avLst>
              <a:gd name="adj" fmla="val 50000"/>
            </a:avLst>
          </a:prstGeom>
          <a:solidFill>
            <a:srgbClr val="0A0A0F"/>
          </a:solidFill>
          <a:ln w="9525">
            <a:solidFill>
              <a:srgbClr val="27436E"/>
            </a:solidFill>
            <a:prstDash val="solid"/>
          </a:ln>
        </p:spPr>
      </p:sp>
      <p:sp>
        <p:nvSpPr>
          <p:cNvPr id="32" name="Text 27"/>
          <p:cNvSpPr txBox="1"/>
          <p:nvPr/>
        </p:nvSpPr>
        <p:spPr>
          <a:xfrm>
            <a:off x="8536889" y="3520135"/>
            <a:ext cx="2492883"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Term and catalogue in the pilot order</a:t>
            </a:r>
            <a:endParaRPr lang="en-US" sz="1000" dirty="0"/>
          </a:p>
        </p:txBody>
      </p:sp>
      <p:sp>
        <p:nvSpPr>
          <p:cNvPr id="33" name="Shape 28"/>
          <p:cNvSpPr/>
          <p:nvPr/>
        </p:nvSpPr>
        <p:spPr>
          <a:xfrm>
            <a:off x="6470752" y="3812743"/>
            <a:ext cx="1797888" cy="237744"/>
          </a:xfrm>
          <a:prstGeom prst="roundRect">
            <a:avLst>
              <a:gd name="adj" fmla="val 50000"/>
            </a:avLst>
          </a:prstGeom>
          <a:solidFill>
            <a:srgbClr val="0A0A0F"/>
          </a:solidFill>
          <a:ln w="9525">
            <a:solidFill>
              <a:srgbClr val="27436E"/>
            </a:solidFill>
            <a:prstDash val="solid"/>
          </a:ln>
        </p:spPr>
      </p:sp>
      <p:sp>
        <p:nvSpPr>
          <p:cNvPr id="34" name="Text 29"/>
          <p:cNvSpPr txBox="1"/>
          <p:nvPr/>
        </p:nvSpPr>
        <p:spPr>
          <a:xfrm>
            <a:off x="6470752" y="3812743"/>
            <a:ext cx="179788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Batch enrolment + cohort</a:t>
            </a:r>
            <a:endParaRPr lang="en-US" sz="1000" dirty="0"/>
          </a:p>
        </p:txBody>
      </p:sp>
      <p:sp>
        <p:nvSpPr>
          <p:cNvPr id="35" name="Shape 30"/>
          <p:cNvSpPr/>
          <p:nvPr/>
        </p:nvSpPr>
        <p:spPr>
          <a:xfrm>
            <a:off x="8341792" y="3812743"/>
            <a:ext cx="1660423" cy="237744"/>
          </a:xfrm>
          <a:prstGeom prst="roundRect">
            <a:avLst>
              <a:gd name="adj" fmla="val 50000"/>
            </a:avLst>
          </a:prstGeom>
          <a:solidFill>
            <a:srgbClr val="0A0A0F"/>
          </a:solidFill>
          <a:ln w="9525">
            <a:solidFill>
              <a:srgbClr val="27436E"/>
            </a:solidFill>
            <a:prstDash val="solid"/>
          </a:ln>
        </p:spPr>
      </p:sp>
      <p:sp>
        <p:nvSpPr>
          <p:cNvPr id="36" name="Text 31"/>
          <p:cNvSpPr txBox="1"/>
          <p:nvPr/>
        </p:nvSpPr>
        <p:spPr>
          <a:xfrm>
            <a:off x="8341792" y="3812743"/>
            <a:ext cx="1660423"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Standard grade reports</a:t>
            </a:r>
            <a:endParaRPr lang="en-US" sz="1000" dirty="0"/>
          </a:p>
        </p:txBody>
      </p:sp>
      <p:sp>
        <p:nvSpPr>
          <p:cNvPr id="37" name="Shape 32"/>
          <p:cNvSpPr/>
          <p:nvPr/>
        </p:nvSpPr>
        <p:spPr>
          <a:xfrm>
            <a:off x="6470752" y="4105351"/>
            <a:ext cx="2365908" cy="237744"/>
          </a:xfrm>
          <a:prstGeom prst="roundRect">
            <a:avLst>
              <a:gd name="adj" fmla="val 50000"/>
            </a:avLst>
          </a:prstGeom>
          <a:solidFill>
            <a:srgbClr val="0A0A0F"/>
          </a:solidFill>
          <a:ln w="9525">
            <a:solidFill>
              <a:srgbClr val="27436E"/>
            </a:solidFill>
            <a:prstDash val="solid"/>
          </a:ln>
        </p:spPr>
      </p:sp>
      <p:sp>
        <p:nvSpPr>
          <p:cNvPr id="38" name="Text 33"/>
          <p:cNvSpPr txBox="1"/>
          <p:nvPr/>
        </p:nvSpPr>
        <p:spPr>
          <a:xfrm>
            <a:off x="6470752" y="4105351"/>
            <a:ext cx="2365908" cy="237744"/>
          </a:xfrm>
          <a:prstGeom prst="rect">
            <a:avLst/>
          </a:prstGeom>
          <a:noFill/>
          <a:ln/>
        </p:spPr>
        <p:txBody>
          <a:bodyPr wrap="square" lIns="0" tIns="0" rIns="0" bIns="0" rtlCol="0" anchor="ctr"/>
          <a:lstStyle/>
          <a:p>
            <a:pPr algn="ctr" indent="0" marL="0">
              <a:buNone/>
            </a:pPr>
            <a:r>
              <a:rPr lang="en-US" sz="1000" b="1" dirty="0">
                <a:solidFill>
                  <a:srgbClr val="60A5FA"/>
                </a:solidFill>
                <a:latin typeface="Arial" pitchFamily="34" charset="0"/>
                <a:ea typeface="Arial" pitchFamily="34" charset="-122"/>
                <a:cs typeface="Arial" pitchFamily="34" charset="-120"/>
              </a:rPr>
              <a:t>Co-design the team-admin console</a:t>
            </a:r>
            <a:endParaRPr lang="en-US" sz="1000" dirty="0"/>
          </a:p>
        </p:txBody>
      </p:sp>
      <p:sp>
        <p:nvSpPr>
          <p:cNvPr id="39" name="Shape 34"/>
          <p:cNvSpPr/>
          <p:nvPr/>
        </p:nvSpPr>
        <p:spPr>
          <a:xfrm>
            <a:off x="457200" y="4800295"/>
            <a:ext cx="11277295" cy="475488"/>
          </a:xfrm>
          <a:prstGeom prst="roundRect">
            <a:avLst>
              <a:gd name="adj" fmla="val 23077"/>
            </a:avLst>
          </a:prstGeom>
          <a:solidFill>
            <a:srgbClr val="231E12"/>
          </a:solidFill>
          <a:ln w="9525">
            <a:solidFill>
              <a:srgbClr val="C9A84C"/>
            </a:solidFill>
            <a:prstDash val="solid"/>
          </a:ln>
        </p:spPr>
      </p:sp>
      <p:sp>
        <p:nvSpPr>
          <p:cNvPr id="40" name="Shape 35"/>
          <p:cNvSpPr/>
          <p:nvPr/>
        </p:nvSpPr>
        <p:spPr>
          <a:xfrm>
            <a:off x="603504" y="4864303"/>
            <a:ext cx="347472" cy="347472"/>
          </a:xfrm>
          <a:prstGeom prst="ellipse">
            <a:avLst/>
          </a:prstGeom>
          <a:solidFill>
            <a:srgbClr val="C9A84C"/>
          </a:solidFill>
          <a:ln w="9525">
            <a:solidFill>
              <a:srgbClr val="C9A84C"/>
            </a:solidFill>
            <a:prstDash val="solid"/>
          </a:ln>
        </p:spPr>
      </p:sp>
      <p:pic>
        <p:nvPicPr>
          <p:cNvPr id="41" name="Image 2" descr="preencoded.png">    </p:cNvPr>
          <p:cNvPicPr>
            <a:picLocks noChangeAspect="1"/>
          </p:cNvPicPr>
          <p:nvPr/>
        </p:nvPicPr>
        <p:blipFill>
          <a:blip r:embed="rId4"/>
          <a:stretch>
            <a:fillRect/>
          </a:stretch>
        </p:blipFill>
        <p:spPr>
          <a:xfrm>
            <a:off x="690372" y="4951171"/>
            <a:ext cx="173736" cy="173736"/>
          </a:xfrm>
          <a:prstGeom prst="rect">
            <a:avLst/>
          </a:prstGeom>
        </p:spPr>
      </p:pic>
      <p:sp>
        <p:nvSpPr>
          <p:cNvPr id="42" name="Text 36"/>
          <p:cNvSpPr txBox="1"/>
          <p:nvPr/>
        </p:nvSpPr>
        <p:spPr>
          <a:xfrm>
            <a:off x="1133856" y="4800295"/>
            <a:ext cx="10454335" cy="475488"/>
          </a:xfrm>
          <a:prstGeom prst="rect">
            <a:avLst/>
          </a:prstGeom>
          <a:noFill/>
          <a:ln/>
        </p:spPr>
        <p:txBody>
          <a:bodyPr wrap="square" lIns="0" tIns="0" rIns="0" bIns="0" rtlCol="0" anchor="ctr"/>
          <a:lstStyle/>
          <a:p>
            <a:pPr indent="0" marL="0">
              <a:buNone/>
            </a:pPr>
            <a:r>
              <a:rPr lang="en-US" sz="1600" b="1" dirty="0">
                <a:solidFill>
                  <a:srgbClr val="F0C96B"/>
                </a:solidFill>
                <a:latin typeface="Arial" pitchFamily="34" charset="0"/>
                <a:ea typeface="Arial" pitchFamily="34" charset="-122"/>
                <a:cs typeface="Arial" pitchFamily="34" charset="-120"/>
              </a:rPr>
              <a:t>Next step: </a:t>
            </a:r>
            <a:r>
              <a:rPr lang="en-US" sz="1600" dirty="0">
                <a:solidFill>
                  <a:srgbClr val="FFFFFF"/>
                </a:solidFill>
                <a:latin typeface="Arial" pitchFamily="34" charset="0"/>
                <a:ea typeface="Arial" pitchFamily="34" charset="-122"/>
                <a:cs typeface="Arial" pitchFamily="34" charset="-120"/>
              </a:rPr>
              <a:t>agree a workshop or pilot date, and name your sponsor and academy admin, or your team admin</a:t>
            </a:r>
            <a:endParaRPr lang="en-US" sz="1600" dirty="0"/>
          </a:p>
        </p:txBody>
      </p:sp>
      <p:sp>
        <p:nvSpPr>
          <p:cNvPr id="43" name="Shape 37"/>
          <p:cNvSpPr/>
          <p:nvPr/>
        </p:nvSpPr>
        <p:spPr>
          <a:xfrm>
            <a:off x="457200" y="5550103"/>
            <a:ext cx="5669280" cy="658368"/>
          </a:xfrm>
          <a:prstGeom prst="roundRect">
            <a:avLst>
              <a:gd name="adj" fmla="val 11111"/>
            </a:avLst>
          </a:prstGeom>
          <a:solidFill>
            <a:srgbClr val="1E1A10"/>
          </a:solidFill>
          <a:ln w="12700">
            <a:solidFill>
              <a:srgbClr val="5A4A22"/>
            </a:solidFill>
            <a:prstDash val="solid"/>
          </a:ln>
        </p:spPr>
      </p:sp>
      <p:pic>
        <p:nvPicPr>
          <p:cNvPr id="44" name="Image 3" descr="preencoded.png">    </p:cNvPr>
          <p:cNvPicPr>
            <a:picLocks noChangeAspect="1"/>
          </p:cNvPicPr>
          <p:nvPr/>
        </p:nvPicPr>
        <p:blipFill>
          <a:blip r:embed="rId5"/>
          <a:stretch>
            <a:fillRect/>
          </a:stretch>
        </p:blipFill>
        <p:spPr>
          <a:xfrm>
            <a:off x="603504" y="5696407"/>
            <a:ext cx="237744" cy="237744"/>
          </a:xfrm>
          <a:prstGeom prst="rect">
            <a:avLst/>
          </a:prstGeom>
        </p:spPr>
      </p:pic>
      <p:sp>
        <p:nvSpPr>
          <p:cNvPr id="45" name="Text 38"/>
          <p:cNvSpPr txBox="1"/>
          <p:nvPr/>
        </p:nvSpPr>
        <p:spPr>
          <a:xfrm>
            <a:off x="969264" y="5687263"/>
            <a:ext cx="5010912" cy="402336"/>
          </a:xfrm>
          <a:prstGeom prst="rect">
            <a:avLst/>
          </a:prstGeom>
          <a:noFill/>
          <a:ln/>
        </p:spPr>
        <p:txBody>
          <a:bodyPr wrap="square" lIns="0" tIns="0" rIns="0" bIns="0" rtlCol="0" anchor="t"/>
          <a:lstStyle/>
          <a:p>
            <a:pPr indent="0" marL="0">
              <a:buNone/>
            </a:pPr>
            <a:r>
              <a:rPr lang="en-US" sz="1200" b="1" dirty="0">
                <a:solidFill>
                  <a:srgbClr val="F0C96B"/>
                </a:solidFill>
                <a:latin typeface="Arial" pitchFamily="34" charset="0"/>
                <a:ea typeface="Arial" pitchFamily="34" charset="-122"/>
                <a:cs typeface="Arial" pitchFamily="34" charset="-120"/>
              </a:rPr>
              <a:t>Contact: </a:t>
            </a:r>
            <a:r>
              <a:rPr lang="en-US" sz="1200" dirty="0">
                <a:solidFill>
                  <a:srgbClr val="E8E8F0"/>
                </a:solidFill>
                <a:latin typeface="Arial" pitchFamily="34" charset="0"/>
                <a:ea typeface="Arial" pitchFamily="34" charset="-122"/>
                <a:cs typeface="Arial" pitchFamily="34" charset="-120"/>
              </a:rPr>
              <a:t>partners@chronopoli.io · chronopoli.io/partners</a:t>
            </a:r>
            <a:endParaRPr lang="en-US" sz="1200" dirty="0"/>
          </a:p>
          <a:p>
            <a:pPr indent="0" marL="0">
              <a:buNone/>
            </a:pPr>
            <a:r>
              <a:rPr lang="en-US" sz="1200" dirty="0">
                <a:solidFill>
                  <a:srgbClr val="E8E8F0"/>
                </a:solidFill>
                <a:latin typeface="Arial" pitchFamily="34" charset="0"/>
                <a:ea typeface="Arial" pitchFamily="34" charset="-122"/>
                <a:cs typeface="Arial" pitchFamily="34" charset="-120"/>
              </a:rPr>
              <a:t>Your account lead is named in the cover e-mail</a:t>
            </a:r>
            <a:endParaRPr lang="en-US" sz="1200" dirty="0"/>
          </a:p>
        </p:txBody>
      </p:sp>
      <p:sp>
        <p:nvSpPr>
          <p:cNvPr id="46" name="Text 39"/>
          <p:cNvSpPr txBox="1"/>
          <p:nvPr/>
        </p:nvSpPr>
        <p:spPr>
          <a:xfrm>
            <a:off x="6400800" y="5550103"/>
            <a:ext cx="5333695" cy="658368"/>
          </a:xfrm>
          <a:prstGeom prst="rect">
            <a:avLst/>
          </a:prstGeom>
          <a:noFill/>
          <a:ln/>
        </p:spPr>
        <p:txBody>
          <a:bodyPr wrap="square" lIns="0" tIns="0" rIns="0" bIns="0" rtlCol="0" anchor="ctr"/>
          <a:lstStyle/>
          <a:p>
            <a:pPr algn="ctr" indent="0" marL="0">
              <a:buNone/>
            </a:pPr>
            <a:r>
              <a:rPr lang="en-US" sz="1100" dirty="0">
                <a:solidFill>
                  <a:srgbClr val="8E8EA2"/>
                </a:solidFill>
                <a:latin typeface="Arial" pitchFamily="34" charset="0"/>
                <a:ea typeface="Arial" pitchFamily="34" charset="-122"/>
                <a:cs typeface="Arial" pitchFamily="34" charset="-120"/>
              </a:rPr>
              <a:t>Pre-launch · no go-live date committed · terms in the agreement or pilot order</a:t>
            </a:r>
            <a:endParaRPr lang="en-US" sz="1100" dirty="0"/>
          </a:p>
        </p:txBody>
      </p:sp>
      <p:sp>
        <p:nvSpPr>
          <p:cNvPr id="47" name="Text 40"/>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48" name="Text 41"/>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2">
            <a:alphaModFix amt="45000"/>
          </a:blip>
          <a:stretch>
            <a:fillRect/>
          </a:stretch>
        </p:blipFill>
        <p:spPr>
          <a:xfrm>
            <a:off x="9464040" y="1005840"/>
            <a:ext cx="2194560" cy="2194560"/>
          </a:xfrm>
          <a:prstGeom prst="rect">
            <a:avLst/>
          </a:prstGeom>
        </p:spPr>
      </p:pic>
      <p:sp>
        <p:nvSpPr>
          <p:cNvPr id="4" name="Text 0"/>
          <p:cNvSpPr txBox="1"/>
          <p:nvPr/>
        </p:nvSpPr>
        <p:spPr>
          <a:xfrm>
            <a:off x="457200" y="914400"/>
            <a:ext cx="8503920" cy="1091184"/>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Chronopoli is not a better Coursera.</a:t>
            </a:r>
            <a:endParaRPr lang="en-US" sz="3400" dirty="0"/>
          </a:p>
          <a:p>
            <a:pPr indent="0" marL="0">
              <a:buNone/>
            </a:pPr>
            <a:r>
              <a:rPr lang="en-US" sz="3400" b="1" dirty="0">
                <a:solidFill>
                  <a:srgbClr val="FFFFFF"/>
                </a:solidFill>
                <a:latin typeface="Arial" pitchFamily="34" charset="0"/>
                <a:ea typeface="Arial" pitchFamily="34" charset="-122"/>
                <a:cs typeface="Arial" pitchFamily="34" charset="-120"/>
              </a:rPr>
              <a:t>Not a smarter university.</a:t>
            </a:r>
            <a:endParaRPr lang="en-US" sz="3400" dirty="0"/>
          </a:p>
        </p:txBody>
      </p:sp>
      <p:sp>
        <p:nvSpPr>
          <p:cNvPr id="5" name="Text 1"/>
          <p:cNvSpPr txBox="1"/>
          <p:nvPr/>
        </p:nvSpPr>
        <p:spPr>
          <a:xfrm>
            <a:off x="457200" y="2225040"/>
            <a:ext cx="8503920" cy="384048"/>
          </a:xfrm>
          <a:prstGeom prst="rect">
            <a:avLst/>
          </a:prstGeom>
          <a:noFill/>
          <a:ln/>
        </p:spPr>
        <p:txBody>
          <a:bodyPr wrap="square" lIns="0" tIns="0" rIns="0" bIns="0" rtlCol="0" anchor="t"/>
          <a:lstStyle/>
          <a:p>
            <a:pPr indent="0" marL="0">
              <a:buNone/>
            </a:pPr>
            <a:r>
              <a:rPr lang="en-US" sz="2200" b="1" dirty="0">
                <a:solidFill>
                  <a:srgbClr val="F0C96B"/>
                </a:solidFill>
                <a:latin typeface="Arial" pitchFamily="34" charset="0"/>
                <a:ea typeface="Arial" pitchFamily="34" charset="-122"/>
                <a:cs typeface="Arial" pitchFamily="34" charset="-120"/>
              </a:rPr>
              <a:t>It is a completely new architecture</a:t>
            </a:r>
            <a:endParaRPr lang="en-US" sz="2200" dirty="0"/>
          </a:p>
        </p:txBody>
      </p:sp>
      <p:sp>
        <p:nvSpPr>
          <p:cNvPr id="6" name="Text 2"/>
          <p:cNvSpPr txBox="1"/>
          <p:nvPr/>
        </p:nvSpPr>
        <p:spPr>
          <a:xfrm>
            <a:off x="457200" y="2682240"/>
            <a:ext cx="8503920" cy="859536"/>
          </a:xfrm>
          <a:prstGeom prst="rect">
            <a:avLst/>
          </a:prstGeom>
          <a:noFill/>
          <a:ln/>
        </p:spPr>
        <p:txBody>
          <a:bodyPr wrap="square" lIns="0" tIns="0" rIns="0" bIns="0" rtlCol="0" anchor="t"/>
          <a:lstStyle/>
          <a:p>
            <a:pPr indent="0" marL="0">
              <a:buNone/>
            </a:pPr>
            <a:r>
              <a:rPr lang="en-US" sz="1800" dirty="0">
                <a:solidFill>
                  <a:srgbClr val="B4B4C8"/>
                </a:solidFill>
                <a:latin typeface="Arial" pitchFamily="34" charset="0"/>
                <a:ea typeface="Arial" pitchFamily="34" charset="-122"/>
                <a:cs typeface="Arial" pitchFamily="34" charset="-120"/>
              </a:rPr>
              <a:t>where credentials are verifiable, content is AI-generated and regulation-linked, companies fund learning instead of students, and the degree is replaced by a dynamic professional record that follows you for life.</a:t>
            </a:r>
            <a:endParaRPr lang="en-US" sz="1800" dirty="0"/>
          </a:p>
        </p:txBody>
      </p:sp>
      <p:sp>
        <p:nvSpPr>
          <p:cNvPr id="7" name="Shape 3"/>
          <p:cNvSpPr/>
          <p:nvPr/>
        </p:nvSpPr>
        <p:spPr>
          <a:xfrm>
            <a:off x="457200" y="4416552"/>
            <a:ext cx="11277295" cy="0"/>
          </a:xfrm>
          <a:prstGeom prst="line">
            <a:avLst/>
          </a:prstGeom>
          <a:noFill/>
          <a:ln w="9525">
            <a:solidFill>
              <a:srgbClr val="5A4A22"/>
            </a:solidFill>
            <a:prstDash val="solid"/>
          </a:ln>
        </p:spPr>
      </p:sp>
      <p:sp>
        <p:nvSpPr>
          <p:cNvPr id="8" name="Text 4"/>
          <p:cNvSpPr txBox="1"/>
          <p:nvPr/>
        </p:nvSpPr>
        <p:spPr>
          <a:xfrm>
            <a:off x="457200"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EMAIL</a:t>
            </a:r>
            <a:endParaRPr lang="en-US" sz="850" dirty="0"/>
          </a:p>
        </p:txBody>
      </p:sp>
      <p:sp>
        <p:nvSpPr>
          <p:cNvPr id="9" name="Text 5"/>
          <p:cNvSpPr txBox="1"/>
          <p:nvPr/>
        </p:nvSpPr>
        <p:spPr>
          <a:xfrm>
            <a:off x="457200"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partners@chronopoli.io</a:t>
            </a:r>
            <a:endParaRPr lang="en-US" sz="1400" dirty="0"/>
          </a:p>
        </p:txBody>
      </p:sp>
      <p:sp>
        <p:nvSpPr>
          <p:cNvPr id="10" name="Text 6"/>
          <p:cNvSpPr txBox="1"/>
          <p:nvPr/>
        </p:nvSpPr>
        <p:spPr>
          <a:xfrm>
            <a:off x="3276524"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PLATFORM</a:t>
            </a:r>
            <a:endParaRPr lang="en-US" sz="850" dirty="0"/>
          </a:p>
        </p:txBody>
      </p:sp>
      <p:sp>
        <p:nvSpPr>
          <p:cNvPr id="11" name="Text 7"/>
          <p:cNvSpPr txBox="1"/>
          <p:nvPr/>
        </p:nvSpPr>
        <p:spPr>
          <a:xfrm>
            <a:off x="3276524"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learn.chronopoli.io (at go-live)</a:t>
            </a:r>
            <a:endParaRPr lang="en-US" sz="1400" dirty="0"/>
          </a:p>
        </p:txBody>
      </p:sp>
      <p:sp>
        <p:nvSpPr>
          <p:cNvPr id="12" name="Text 8"/>
          <p:cNvSpPr txBox="1"/>
          <p:nvPr/>
        </p:nvSpPr>
        <p:spPr>
          <a:xfrm>
            <a:off x="6095848"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HOSTED</a:t>
            </a:r>
            <a:endParaRPr lang="en-US" sz="850" dirty="0"/>
          </a:p>
        </p:txBody>
      </p:sp>
      <p:sp>
        <p:nvSpPr>
          <p:cNvPr id="13" name="Text 9"/>
          <p:cNvSpPr txBox="1"/>
          <p:nvPr/>
        </p:nvSpPr>
        <p:spPr>
          <a:xfrm>
            <a:off x="6095848"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In the UAE</a:t>
            </a:r>
            <a:endParaRPr lang="en-US" sz="1400" dirty="0"/>
          </a:p>
        </p:txBody>
      </p:sp>
      <p:sp>
        <p:nvSpPr>
          <p:cNvPr id="14" name="Text 10"/>
          <p:cNvSpPr txBox="1"/>
          <p:nvPr/>
        </p:nvSpPr>
        <p:spPr>
          <a:xfrm>
            <a:off x="8915171" y="4617720"/>
            <a:ext cx="2636444" cy="182880"/>
          </a:xfrm>
          <a:prstGeom prst="rect">
            <a:avLst/>
          </a:prstGeom>
          <a:noFill/>
          <a:ln/>
        </p:spPr>
        <p:txBody>
          <a:bodyPr wrap="square" lIns="0" tIns="0" rIns="0" bIns="0" rtlCol="0" anchor="t"/>
          <a:lstStyle/>
          <a:p>
            <a:pPr indent="0" marL="0">
              <a:buNone/>
            </a:pPr>
            <a:r>
              <a:rPr lang="en-US" sz="850" b="1" spc="100" kern="0" dirty="0">
                <a:solidFill>
                  <a:srgbClr val="8E8EA2"/>
                </a:solidFill>
                <a:latin typeface="Arial" pitchFamily="34" charset="0"/>
                <a:ea typeface="Arial" pitchFamily="34" charset="-122"/>
                <a:cs typeface="Arial" pitchFamily="34" charset="-120"/>
              </a:rPr>
              <a:t>ANCHOR</a:t>
            </a:r>
            <a:endParaRPr lang="en-US" sz="850" dirty="0"/>
          </a:p>
        </p:txBody>
      </p:sp>
      <p:sp>
        <p:nvSpPr>
          <p:cNvPr id="15" name="Text 11"/>
          <p:cNvSpPr txBox="1"/>
          <p:nvPr/>
        </p:nvSpPr>
        <p:spPr>
          <a:xfrm>
            <a:off x="8915171" y="4855464"/>
            <a:ext cx="2636444" cy="274320"/>
          </a:xfrm>
          <a:prstGeom prst="rect">
            <a:avLst/>
          </a:prstGeom>
          <a:noFill/>
          <a:ln/>
        </p:spPr>
        <p:txBody>
          <a:bodyPr wrap="square" lIns="0" tIns="0" rIns="0" bIns="0" rtlCol="0" anchor="t"/>
          <a:lstStyle/>
          <a:p>
            <a:pPr indent="0" marL="0">
              <a:buNone/>
            </a:pPr>
            <a:r>
              <a:rPr lang="en-US" sz="1400" b="1" dirty="0">
                <a:solidFill>
                  <a:srgbClr val="F0C96B"/>
                </a:solidFill>
                <a:latin typeface="Arial" pitchFamily="34" charset="0"/>
                <a:ea typeface="Arial" pitchFamily="34" charset="-122"/>
                <a:cs typeface="Arial" pitchFamily="34" charset="-120"/>
              </a:rPr>
              <a:t>Dubai Blockchain Center</a:t>
            </a:r>
            <a:endParaRPr lang="en-US" sz="1400" dirty="0"/>
          </a:p>
        </p:txBody>
      </p:sp>
      <p:sp>
        <p:nvSpPr>
          <p:cNvPr id="16" name="Text 12"/>
          <p:cNvSpPr txBox="1"/>
          <p:nvPr/>
        </p:nvSpPr>
        <p:spPr>
          <a:xfrm>
            <a:off x="457200" y="5394960"/>
            <a:ext cx="11277295" cy="201168"/>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Pre-launch · September 2026 · © Chronopoli / Dubai Blockchain Center</a:t>
            </a:r>
            <a:endParaRPr lang="en-US" sz="1000" dirty="0"/>
          </a:p>
        </p:txBody>
      </p:sp>
      <p:sp>
        <p:nvSpPr>
          <p:cNvPr id="17" name="Text 13"/>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457200" y="384048"/>
            <a:ext cx="4174366" cy="256032"/>
          </a:xfrm>
          <a:prstGeom prst="roundRect">
            <a:avLst>
              <a:gd name="adj" fmla="val 50000"/>
            </a:avLst>
          </a:prstGeom>
          <a:solidFill>
            <a:srgbClr val="1B1B27"/>
          </a:solidFill>
          <a:ln w="9525">
            <a:solidFill>
              <a:srgbClr val="3A3A50"/>
            </a:solidFill>
            <a:prstDash val="solid"/>
          </a:ln>
        </p:spPr>
      </p:sp>
      <p:sp>
        <p:nvSpPr>
          <p:cNvPr id="4" name="Text 1"/>
          <p:cNvSpPr txBox="1"/>
          <p:nvPr/>
        </p:nvSpPr>
        <p:spPr>
          <a:xfrm>
            <a:off x="612648" y="384048"/>
            <a:ext cx="3936622" cy="256032"/>
          </a:xfrm>
          <a:prstGeom prst="rect">
            <a:avLst/>
          </a:prstGeom>
          <a:noFill/>
          <a:ln/>
        </p:spPr>
        <p:txBody>
          <a:bodyPr wrap="square" lIns="0" tIns="0" rIns="0" bIns="0" rtlCol="0" anchor="ctr"/>
          <a:lstStyle/>
          <a:p>
            <a:pPr indent="0" marL="0">
              <a:buNone/>
            </a:pPr>
            <a:r>
              <a:rPr lang="en-US" sz="900" b="1" spc="120" kern="0" dirty="0">
                <a:solidFill>
                  <a:srgbClr val="D6D6E4"/>
                </a:solidFill>
                <a:latin typeface="Arial" pitchFamily="34" charset="0"/>
                <a:ea typeface="Arial" pitchFamily="34" charset="-122"/>
                <a:cs typeface="Arial" pitchFamily="34" charset="-120"/>
              </a:rPr>
              <a:t>APPENDIX · LAST ROADMAP MILESTONE · ON REQUEST</a:t>
            </a:r>
            <a:endParaRPr lang="en-US" sz="900" dirty="0"/>
          </a:p>
        </p:txBody>
      </p:sp>
      <p:sp>
        <p:nvSpPr>
          <p:cNvPr id="5" name="Shape 2"/>
          <p:cNvSpPr/>
          <p:nvPr/>
        </p:nvSpPr>
        <p:spPr>
          <a:xfrm>
            <a:off x="4796158" y="384048"/>
            <a:ext cx="2491610" cy="256032"/>
          </a:xfrm>
          <a:prstGeom prst="roundRect">
            <a:avLst>
              <a:gd name="adj" fmla="val 50000"/>
            </a:avLst>
          </a:prstGeom>
          <a:solidFill>
            <a:srgbClr val="1B1B27"/>
          </a:solidFill>
          <a:ln w="9525">
            <a:solidFill>
              <a:srgbClr val="3A3A50"/>
            </a:solidFill>
            <a:prstDash val="solid"/>
          </a:ln>
        </p:spPr>
      </p:sp>
      <p:sp>
        <p:nvSpPr>
          <p:cNvPr id="6" name="Text 3"/>
          <p:cNvSpPr txBox="1"/>
          <p:nvPr/>
        </p:nvSpPr>
        <p:spPr>
          <a:xfrm>
            <a:off x="4951606" y="384048"/>
            <a:ext cx="2253866" cy="256032"/>
          </a:xfrm>
          <a:prstGeom prst="rect">
            <a:avLst/>
          </a:prstGeom>
          <a:noFill/>
          <a:ln/>
        </p:spPr>
        <p:txBody>
          <a:bodyPr wrap="square" lIns="0" tIns="0" rIns="0" bIns="0" rtlCol="0" anchor="ctr"/>
          <a:lstStyle/>
          <a:p>
            <a:pPr indent="0" marL="0">
              <a:buNone/>
            </a:pPr>
            <a:r>
              <a:rPr lang="en-US" sz="900" b="1" spc="120" kern="0" dirty="0">
                <a:solidFill>
                  <a:srgbClr val="FFFFFF"/>
                </a:solidFill>
                <a:latin typeface="Arial" pitchFamily="34" charset="0"/>
                <a:ea typeface="Arial" pitchFamily="34" charset="-122"/>
                <a:cs typeface="Arial" pitchFamily="34" charset="-120"/>
              </a:rPr>
              <a:t>PILLAR 03 · OPEN KNOWLEDGE</a:t>
            </a:r>
            <a:endParaRPr lang="en-US" sz="900" dirty="0"/>
          </a:p>
        </p:txBody>
      </p:sp>
      <p:sp>
        <p:nvSpPr>
          <p:cNvPr id="7" name="Text 4"/>
          <p:cNvSpPr txBox="1"/>
          <p:nvPr/>
        </p:nvSpPr>
        <p:spPr>
          <a:xfrm>
            <a:off x="457200" y="768096"/>
            <a:ext cx="6858000" cy="1018642"/>
          </a:xfrm>
          <a:prstGeom prst="rect">
            <a:avLst/>
          </a:prstGeom>
          <a:noFill/>
          <a:ln/>
        </p:spPr>
        <p:txBody>
          <a:bodyPr wrap="square" lIns="0" tIns="0" rIns="0" bIns="0" rtlCol="0" anchor="t"/>
          <a:lstStyle/>
          <a:p>
            <a:pPr indent="0" marL="0">
              <a:lnSpc>
                <a:spcPct val="93000"/>
              </a:lnSpc>
              <a:buNone/>
            </a:pPr>
            <a:r>
              <a:rPr lang="en-US" sz="3400" b="1" dirty="0">
                <a:solidFill>
                  <a:srgbClr val="FFFFFF"/>
                </a:solidFill>
                <a:latin typeface="Arial" pitchFamily="34" charset="0"/>
                <a:ea typeface="Arial" pitchFamily="34" charset="-122"/>
                <a:cs typeface="Arial" pitchFamily="34" charset="-120"/>
              </a:rPr>
              <a:t>Scale your best expert with a digital-twin masterclass</a:t>
            </a:r>
            <a:endParaRPr lang="en-US" sz="3400" dirty="0"/>
          </a:p>
        </p:txBody>
      </p:sp>
      <p:sp>
        <p:nvSpPr>
          <p:cNvPr id="8" name="Text 5"/>
          <p:cNvSpPr txBox="1"/>
          <p:nvPr/>
        </p:nvSpPr>
        <p:spPr>
          <a:xfrm>
            <a:off x="7635240" y="1055218"/>
            <a:ext cx="4099255" cy="667512"/>
          </a:xfrm>
          <a:prstGeom prst="rect">
            <a:avLst/>
          </a:prstGeom>
          <a:noFill/>
          <a:ln/>
        </p:spPr>
        <p:txBody>
          <a:bodyPr wrap="square" lIns="0" tIns="0" rIns="0" bIns="0" rtlCol="0" anchor="b"/>
          <a:lstStyle/>
          <a:p>
            <a:pPr indent="0" marL="0">
              <a:buNone/>
            </a:pPr>
            <a:r>
              <a:rPr lang="en-US" sz="1400" dirty="0">
                <a:solidFill>
                  <a:srgbClr val="B4B4C8"/>
                </a:solidFill>
                <a:latin typeface="Arial" pitchFamily="34" charset="0"/>
                <a:ea typeface="Arial" pitchFamily="34" charset="-122"/>
                <a:cs typeface="Arial" pitchFamily="34" charset="-120"/>
              </a:rPr>
              <a:t>Your expert's publications become an interview-style masterclass, only with the expert's written consent</a:t>
            </a:r>
            <a:endParaRPr lang="en-US" sz="1400" dirty="0"/>
          </a:p>
        </p:txBody>
      </p:sp>
      <p:pic>
        <p:nvPicPr>
          <p:cNvPr id="9" name="Image 0" descr="/tmp/claude-0/-home-user-Chronopoli/d7458f57-86b2-5920-914e-8615357fee63/scratchpad/sales-master/framed_v5/twin4.png">    </p:cNvPr>
          <p:cNvPicPr>
            <a:picLocks noChangeAspect="1"/>
          </p:cNvPicPr>
          <p:nvPr/>
        </p:nvPicPr>
        <p:blipFill>
          <a:blip r:embed="rId2"/>
          <a:stretch>
            <a:fillRect/>
          </a:stretch>
        </p:blipFill>
        <p:spPr>
          <a:xfrm>
            <a:off x="457200" y="1797150"/>
            <a:ext cx="6562856" cy="3417587"/>
          </a:xfrm>
          <a:prstGeom prst="rect">
            <a:avLst/>
          </a:prstGeom>
        </p:spPr>
      </p:pic>
      <p:sp>
        <p:nvSpPr>
          <p:cNvPr id="10" name="Shape 6"/>
          <p:cNvSpPr/>
          <p:nvPr/>
        </p:nvSpPr>
        <p:spPr>
          <a:xfrm>
            <a:off x="629668" y="5179429"/>
            <a:ext cx="2719349" cy="237744"/>
          </a:xfrm>
          <a:prstGeom prst="roundRect">
            <a:avLst>
              <a:gd name="adj" fmla="val 50000"/>
            </a:avLst>
          </a:prstGeom>
          <a:solidFill>
            <a:srgbClr val="1B1B27"/>
          </a:solidFill>
          <a:ln w="9525">
            <a:solidFill>
              <a:srgbClr val="3A3A50"/>
            </a:solidFill>
            <a:prstDash val="solid"/>
          </a:ln>
        </p:spPr>
      </p:sp>
      <p:sp>
        <p:nvSpPr>
          <p:cNvPr id="11" name="Shape 7"/>
          <p:cNvSpPr/>
          <p:nvPr/>
        </p:nvSpPr>
        <p:spPr>
          <a:xfrm>
            <a:off x="721108" y="5261725"/>
            <a:ext cx="73152" cy="73152"/>
          </a:xfrm>
          <a:prstGeom prst="ellipse">
            <a:avLst/>
          </a:prstGeom>
          <a:solidFill>
            <a:srgbClr val="A9A9C6"/>
          </a:solidFill>
          <a:ln/>
        </p:spPr>
      </p:sp>
      <p:sp>
        <p:nvSpPr>
          <p:cNvPr id="12" name="Text 8"/>
          <p:cNvSpPr txBox="1"/>
          <p:nvPr/>
        </p:nvSpPr>
        <p:spPr>
          <a:xfrm>
            <a:off x="849124" y="5179429"/>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13" name="Text 9"/>
          <p:cNvSpPr txBox="1"/>
          <p:nvPr/>
        </p:nvSpPr>
        <p:spPr>
          <a:xfrm>
            <a:off x="3458745" y="5211433"/>
            <a:ext cx="3388843"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Left: first 2 of 20 interview questions drafted for Prof. Daniel Weiss's twin, awaiting expert review</a:t>
            </a:r>
            <a:endParaRPr lang="en-US" sz="1000" dirty="0"/>
          </a:p>
        </p:txBody>
      </p:sp>
      <p:sp>
        <p:nvSpPr>
          <p:cNvPr id="14" name="Text 10"/>
          <p:cNvSpPr txBox="1"/>
          <p:nvPr/>
        </p:nvSpPr>
        <p:spPr>
          <a:xfrm>
            <a:off x="629668" y="5621389"/>
            <a:ext cx="6217920" cy="179832"/>
          </a:xfrm>
          <a:prstGeom prst="rect">
            <a:avLst/>
          </a:prstGeom>
          <a:noFill/>
          <a:ln/>
        </p:spPr>
        <p:txBody>
          <a:bodyPr wrap="square" lIns="0" tIns="0" rIns="0" bIns="0" rtlCol="0" anchor="t"/>
          <a:lstStyle/>
          <a:p>
            <a:pPr indent="0" marL="0">
              <a:buNone/>
            </a:pPr>
            <a:r>
              <a:rPr lang="en-US" sz="1000" dirty="0">
                <a:solidFill>
                  <a:srgbClr val="8E8EA2"/>
                </a:solidFill>
                <a:latin typeface="Arial" pitchFamily="34" charset="0"/>
                <a:ea typeface="Arial" pitchFamily="34" charset="-122"/>
                <a:cs typeface="Arial" pitchFamily="34" charset="-120"/>
              </a:rPr>
              <a:t>The expert is fictitious</a:t>
            </a:r>
            <a:endParaRPr lang="en-US" sz="1000" dirty="0"/>
          </a:p>
        </p:txBody>
      </p:sp>
      <p:pic>
        <p:nvPicPr>
          <p:cNvPr id="15" name="Image 1" descr="/tmp/claude-0/-home-user-Chronopoli/d7458f57-86b2-5920-914e-8615357fee63/scratchpad/sales-master/framed_v5/masterclass3.png">    </p:cNvPr>
          <p:cNvPicPr>
            <a:picLocks noChangeAspect="1"/>
          </p:cNvPicPr>
          <p:nvPr/>
        </p:nvPicPr>
        <p:blipFill>
          <a:blip r:embed="rId3"/>
          <a:stretch>
            <a:fillRect/>
          </a:stretch>
        </p:blipFill>
        <p:spPr>
          <a:xfrm>
            <a:off x="7385816" y="1895082"/>
            <a:ext cx="2800832" cy="1873433"/>
          </a:xfrm>
          <a:prstGeom prst="rect">
            <a:avLst/>
          </a:prstGeom>
        </p:spPr>
      </p:pic>
      <p:sp>
        <p:nvSpPr>
          <p:cNvPr id="16" name="Shape 11"/>
          <p:cNvSpPr/>
          <p:nvPr/>
        </p:nvSpPr>
        <p:spPr>
          <a:xfrm>
            <a:off x="7460352" y="3831138"/>
            <a:ext cx="2719349" cy="237744"/>
          </a:xfrm>
          <a:prstGeom prst="roundRect">
            <a:avLst>
              <a:gd name="adj" fmla="val 50000"/>
            </a:avLst>
          </a:prstGeom>
          <a:solidFill>
            <a:srgbClr val="1B1B27"/>
          </a:solidFill>
          <a:ln w="9525">
            <a:solidFill>
              <a:srgbClr val="3A3A50"/>
            </a:solidFill>
            <a:prstDash val="solid"/>
          </a:ln>
        </p:spPr>
      </p:sp>
      <p:sp>
        <p:nvSpPr>
          <p:cNvPr id="17" name="Shape 12"/>
          <p:cNvSpPr/>
          <p:nvPr/>
        </p:nvSpPr>
        <p:spPr>
          <a:xfrm>
            <a:off x="7551792" y="3913434"/>
            <a:ext cx="73152" cy="73152"/>
          </a:xfrm>
          <a:prstGeom prst="ellipse">
            <a:avLst/>
          </a:prstGeom>
          <a:solidFill>
            <a:srgbClr val="A9A9C6"/>
          </a:solidFill>
          <a:ln/>
        </p:spPr>
      </p:sp>
      <p:sp>
        <p:nvSpPr>
          <p:cNvPr id="18" name="Text 13"/>
          <p:cNvSpPr txBox="1"/>
          <p:nvPr/>
        </p:nvSpPr>
        <p:spPr>
          <a:xfrm>
            <a:off x="7679808" y="3831138"/>
            <a:ext cx="2463317" cy="237744"/>
          </a:xfrm>
          <a:prstGeom prst="rect">
            <a:avLst/>
          </a:prstGeom>
          <a:noFill/>
          <a:ln/>
        </p:spPr>
        <p:txBody>
          <a:bodyPr wrap="square" lIns="0" tIns="0" rIns="0" bIns="0" rtlCol="0" anchor="ctr"/>
          <a:lstStyle/>
          <a:p>
            <a:pPr indent="0" marL="0">
              <a:buNone/>
            </a:pPr>
            <a:r>
              <a:rPr lang="en-US" sz="900" b="1" spc="60" kern="0" dirty="0">
                <a:solidFill>
                  <a:srgbClr val="D6D6E4"/>
                </a:solidFill>
                <a:latin typeface="Arial" pitchFamily="34" charset="0"/>
                <a:ea typeface="Arial" pitchFamily="34" charset="-122"/>
                <a:cs typeface="Arial" pitchFamily="34" charset="-120"/>
              </a:rPr>
              <a:t>DESIGN PROTOTYPE (NOT YET BUILT)</a:t>
            </a:r>
            <a:endParaRPr lang="en-US" sz="900" dirty="0"/>
          </a:p>
        </p:txBody>
      </p:sp>
      <p:sp>
        <p:nvSpPr>
          <p:cNvPr id="19" name="Text 14"/>
          <p:cNvSpPr txBox="1"/>
          <p:nvPr/>
        </p:nvSpPr>
        <p:spPr>
          <a:xfrm>
            <a:off x="10289429" y="3863142"/>
            <a:ext cx="1445066" cy="332232"/>
          </a:xfrm>
          <a:prstGeom prst="rect">
            <a:avLst/>
          </a:prstGeom>
          <a:noFill/>
          <a:ln/>
        </p:spPr>
        <p:txBody>
          <a:bodyPr wrap="square" lIns="0" tIns="0" rIns="0" bIns="0" rtlCol="0" anchor="t"/>
          <a:lstStyle/>
          <a:p>
            <a:pPr indent="0" marL="0">
              <a:buNone/>
            </a:pPr>
            <a:r>
              <a:rPr lang="en-US" sz="1000" dirty="0">
                <a:solidFill>
                  <a:srgbClr val="B4B4C8"/>
                </a:solidFill>
                <a:latin typeface="Arial" pitchFamily="34" charset="0"/>
                <a:ea typeface="Arial" pitchFamily="34" charset="-122"/>
                <a:cs typeface="Arial" pitchFamily="34" charset="-120"/>
              </a:rPr>
              <a:t>Right: live masterclass session design</a:t>
            </a:r>
            <a:endParaRPr lang="en-US" sz="1000" dirty="0"/>
          </a:p>
        </p:txBody>
      </p:sp>
      <p:sp>
        <p:nvSpPr>
          <p:cNvPr id="20" name="Text 15"/>
          <p:cNvSpPr txBox="1"/>
          <p:nvPr/>
        </p:nvSpPr>
        <p:spPr>
          <a:xfrm>
            <a:off x="7385816" y="4382826"/>
            <a:ext cx="4348679" cy="1644904"/>
          </a:xfrm>
          <a:prstGeom prst="rect">
            <a:avLst/>
          </a:prstGeom>
          <a:noFill/>
          <a:ln/>
        </p:spPr>
        <p:txBody>
          <a:bodyPr wrap="square" lIns="0" tIns="0" rIns="0" bIns="0" rtlCol="0" anchor="t"/>
          <a:lstStyle/>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Publications are analysed by AI, which drafts interview questions at four levels: foundation, deep dive, confrontational, audience</a:t>
            </a:r>
            <a:endParaRPr lang="en-US" sz="1200" dirty="0"/>
          </a:p>
          <a:p>
            <a:pPr marL="165100" indent="-165100">
              <a:spcAft>
                <a:spcPts val="500"/>
              </a:spcAft>
              <a:buClr>
                <a:srgbClr val="C9A84C"/>
              </a:buClr>
              <a:buSzPct val="80000"/>
              <a:buChar char="●"/>
            </a:pPr>
            <a:r>
              <a:rPr lang="en-US" sz="1200" dirty="0">
                <a:solidFill>
                  <a:srgbClr val="E8E8F0"/>
                </a:solidFill>
                <a:latin typeface="Arial" pitchFamily="34" charset="0"/>
                <a:ea typeface="Arial" pitchFamily="34" charset="-122"/>
                <a:cs typeface="Arial" pitchFamily="34" charset="-120"/>
              </a:rPr>
              <a:t>The expert reviews and approves the questions and suggested answers, and sets what's in and out of scope</a:t>
            </a:r>
            <a:endParaRPr lang="en-US" sz="1200" dirty="0"/>
          </a:p>
          <a:p>
            <a:pPr marL="165100" indent="-165100">
              <a:buClr>
                <a:srgbClr val="C9A84C"/>
              </a:buClr>
              <a:buSzPct val="80000"/>
              <a:buChar char="●"/>
            </a:pPr>
            <a:r>
              <a:rPr lang="en-US" sz="1200" dirty="0">
                <a:solidFill>
                  <a:srgbClr val="E8E8F0"/>
                </a:solidFill>
                <a:latin typeface="Arial" pitchFamily="34" charset="0"/>
                <a:ea typeface="Arial" pitchFamily="34" charset="-122"/>
                <a:cs typeface="Arial" pitchFamily="34" charset="-120"/>
              </a:rPr>
              <a:t>AI voice and avatar only with written consent; consent, review and withdrawal are required before launch and not yet built; live sessions are designed</a:t>
            </a:r>
            <a:endParaRPr lang="en-US" sz="1200" dirty="0"/>
          </a:p>
        </p:txBody>
      </p:sp>
      <p:sp>
        <p:nvSpPr>
          <p:cNvPr id="21" name="Text 16"/>
          <p:cNvSpPr txBox="1"/>
          <p:nvPr/>
        </p:nvSpPr>
        <p:spPr>
          <a:xfrm>
            <a:off x="457200" y="6510528"/>
            <a:ext cx="8686800" cy="182880"/>
          </a:xfrm>
          <a:prstGeom prst="rect">
            <a:avLst/>
          </a:prstGeom>
          <a:noFill/>
          <a:ln/>
        </p:spPr>
        <p:txBody>
          <a:bodyPr wrap="square" lIns="0" tIns="0" rIns="0" bIns="0" rtlCol="0" anchor="t"/>
          <a:lstStyle/>
          <a:p>
            <a:pPr indent="0" marL="0">
              <a:buNone/>
            </a:pPr>
            <a:r>
              <a:rPr lang="en-US" sz="900" dirty="0">
                <a:solidFill>
                  <a:srgbClr val="8E8EA2"/>
                </a:solidFill>
                <a:latin typeface="Arial" pitchFamily="34" charset="0"/>
                <a:ea typeface="Arial" pitchFamily="34" charset="-122"/>
                <a:cs typeface="Arial" pitchFamily="34" charset="-120"/>
              </a:rPr>
              <a:t>Illustrative mock data · Tether is a partner-roadmap target only; no agreement implied · all other organisations and people are fictitious</a:t>
            </a:r>
            <a:endParaRPr lang="en-US" sz="900" dirty="0"/>
          </a:p>
        </p:txBody>
      </p:sp>
      <p:sp>
        <p:nvSpPr>
          <p:cNvPr id="22" name="Text 17"/>
          <p:cNvSpPr txBox="1"/>
          <p:nvPr/>
        </p:nvSpPr>
        <p:spPr>
          <a:xfrm>
            <a:off x="11185855" y="6510528"/>
            <a:ext cx="548640" cy="182880"/>
          </a:xfrm>
          <a:prstGeom prst="rect">
            <a:avLst/>
          </a:prstGeom>
          <a:noFill/>
          <a:ln/>
        </p:spPr>
        <p:txBody>
          <a:bodyPr wrap="square" lIns="0" tIns="0" rIns="0" bIns="0" rtlCol="0" anchor="t"/>
          <a:lstStyle/>
          <a:p>
            <a:pPr algn="r" indent="0" marL="0">
              <a:buNone/>
            </a:pPr>
            <a:r>
              <a:rPr lang="en-US" sz="900" b="1" dirty="0">
                <a:solidFill>
                  <a:srgbClr val="74748A"/>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Chronopoli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Chronopoli Sales Deck v5</dc:title>
  <dc:subject>Knowledge Partners and Enterprise Teams</dc:subject>
  <dc:creator>Chronopoli</dc:creator>
  <cp:lastModifiedBy>Chronopoli</cp:lastModifiedBy>
  <cp:revision>1</cp:revision>
  <dcterms:created xsi:type="dcterms:W3CDTF">2026-09-30T12:49:09Z</dcterms:created>
  <dcterms:modified xsi:type="dcterms:W3CDTF">2026-09-30T12:49:09Z</dcterms:modified>
</cp:coreProperties>
</file>