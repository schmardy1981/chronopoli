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8E8F0"/>
                </a:solidFill>
                <a:latin typeface="Arial"/>
              </a:defRPr>
            </a:pPr>
            <a:r>
              <a:rPr sz="1300" b="0" i="0" u="none" strike="noStrike">
                <a:solidFill>
                  <a:srgbClr val="E8E8F0"/>
                </a:solidFill>
                <a:latin typeface="Arial"/>
              </a:rPr>
              <a:t>Gross individual sales by course, Q3 2026 (USD, illustrative)</a:t>
            </a:r>
          </a:p>
        </c:rich>
      </c:tx>
      <c:layout/>
      <c:overlay val="0"/>
    </c:title>
    <c:autoTitleDeleted val="0"/>
    <c:plotArea>
      <c:layout>
        <c:manualLayout>
          <c:layoutTarget val="inner"/>
          <c:xMode val="edge"/>
          <c:yMode val="edge"/>
          <c:x val="0.18"/>
          <c:y val="0.19"/>
          <c:w val="0.78"/>
          <c:h val="0.79"/>
        </c:manualLayout>
      </c:layout>
      <c:barChart>
        <c:barDir val="bar"/>
        <c:grouping val="stacked"/>
        <c:varyColors val="0"/>
        <c:ser>
          <c:idx val="0"/>
          <c:order val="0"/>
          <c:tx>
            <c:strRef>
              <c:f>Sheet1!$B$1</c:f>
              <c:strCache>
                <c:ptCount val="1"/>
                <c:pt idx="0">
                  <c:v>Partner 70%</c:v>
                </c:pt>
              </c:strCache>
            </c:strRef>
          </c:tx>
          <c:spPr>
            <a:solidFill>
              <a:srgbClr val="C9A84C"/>
            </a:solidFill>
            <a:effectLst/>
          </c:spPr>
          <c:invertIfNegative val="0"/>
          <c:dLbls>
            <c:numFmt formatCode="[&gt;=20000]$#,##0,&quot;k&quot;;&quot;&quot;" sourceLinked="0"/>
            <c:txPr>
              <a:bodyPr/>
              <a:lstStyle/>
              <a:p>
                <a:pPr>
                  <a:defRPr b="0" i="0" strike="noStrike" sz="900" u="none">
                    <a:solidFill>
                      <a:srgbClr val="0A0A0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USDT-101 · L1</c:v>
                  </c:pt>
                  <c:pt idx="1">
                    <c:v>USDT-102 · L1</c:v>
                  </c:pt>
                  <c:pt idx="2">
                    <c:v>USDT-201 · L2</c:v>
                  </c:pt>
                  <c:pt idx="3">
                    <c:v>USDT-202 · L2</c:v>
                  </c:pt>
                  <c:pt idx="4">
                    <c:v>USDT-203 · L2</c:v>
                  </c:pt>
                  <c:pt idx="5">
                    <c:v>USDT-301 · L3</c:v>
                  </c:pt>
                  <c:pt idx="6">
                    <c:v>USDT-302 · L3</c:v>
                  </c:pt>
                  <c:pt idx="7">
                    <c:v>USDT-401 · L4</c:v>
                  </c:pt>
                </c:lvl>
              </c:multiLvlStrCache>
            </c:multiLvlStrRef>
          </c:cat>
          <c:val>
            <c:numRef>
              <c:f>Sheet1!$B$2:$B$9</c:f>
              <c:numCache>
                <c:formatCode>General</c:formatCode>
                <c:ptCount val="8"/>
                <c:pt idx="0">
                  <c:v>0</c:v>
                </c:pt>
                <c:pt idx="1">
                  <c:v>39634</c:v>
                </c:pt>
                <c:pt idx="2">
                  <c:v>218036</c:v>
                </c:pt>
                <c:pt idx="3">
                  <c:v>72618</c:v>
                </c:pt>
                <c:pt idx="4">
                  <c:v>59381</c:v>
                </c:pt>
                <c:pt idx="5">
                  <c:v>146902</c:v>
                </c:pt>
                <c:pt idx="6">
                  <c:v>81837</c:v>
                </c:pt>
                <c:pt idx="7">
                  <c:v>157500</c:v>
                </c:pt>
              </c:numCache>
            </c:numRef>
          </c:val>
        </c:ser>
        <c:ser>
          <c:idx val="1"/>
          <c:order val="1"/>
          <c:tx>
            <c:strRef>
              <c:f>Sheet1!$C$1</c:f>
              <c:strCache>
                <c:ptCount val="1"/>
                <c:pt idx="0">
                  <c:v>Chronopoli 30%</c:v>
                </c:pt>
              </c:strCache>
            </c:strRef>
          </c:tx>
          <c:spPr>
            <a:solidFill>
              <a:srgbClr val="8A8AA0"/>
            </a:solidFill>
            <a:effectLst/>
          </c:spPr>
          <c:invertIfNegative val="0"/>
          <c:dLbls>
            <c:numFmt formatCode="[&gt;=20000]$#,##0,&quot;k&quot;;&quot;&quot;" sourceLinked="0"/>
            <c:txPr>
              <a:bodyPr/>
              <a:lstStyle/>
              <a:p>
                <a:pPr>
                  <a:defRPr b="0" i="0" strike="noStrike" sz="900" u="none">
                    <a:solidFill>
                      <a:srgbClr val="0A0A0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USDT-101 · L1</c:v>
                  </c:pt>
                  <c:pt idx="1">
                    <c:v>USDT-102 · L1</c:v>
                  </c:pt>
                  <c:pt idx="2">
                    <c:v>USDT-201 · L2</c:v>
                  </c:pt>
                  <c:pt idx="3">
                    <c:v>USDT-202 · L2</c:v>
                  </c:pt>
                  <c:pt idx="4">
                    <c:v>USDT-203 · L2</c:v>
                  </c:pt>
                  <c:pt idx="5">
                    <c:v>USDT-301 · L3</c:v>
                  </c:pt>
                  <c:pt idx="6">
                    <c:v>USDT-302 · L3</c:v>
                  </c:pt>
                  <c:pt idx="7">
                    <c:v>USDT-401 · L4</c:v>
                  </c:pt>
                </c:lvl>
              </c:multiLvlStrCache>
            </c:multiLvlStrRef>
          </c:cat>
          <c:val>
            <c:numRef>
              <c:f>Sheet1!$C$2:$C$9</c:f>
              <c:numCache>
                <c:formatCode>General</c:formatCode>
                <c:ptCount val="8"/>
                <c:pt idx="0">
                  <c:v>0</c:v>
                </c:pt>
                <c:pt idx="1">
                  <c:v>16986</c:v>
                </c:pt>
                <c:pt idx="2">
                  <c:v>93444</c:v>
                </c:pt>
                <c:pt idx="3">
                  <c:v>31122</c:v>
                </c:pt>
                <c:pt idx="4">
                  <c:v>25449</c:v>
                </c:pt>
                <c:pt idx="5">
                  <c:v>62958</c:v>
                </c:pt>
                <c:pt idx="6">
                  <c:v>35073</c:v>
                </c:pt>
                <c:pt idx="7">
                  <c:v>67500</c:v>
                </c:pt>
              </c:numCache>
            </c:numRef>
          </c:val>
        </c:ser>
        <c:dLbls>
          <c:numFmt formatCode="[&gt;=20000]$#,##0,&quot;k&quot;;&quot;&quot;" sourceLinked="0"/>
          <c:txPr>
            <a:bodyPr/>
            <a:lstStyle/>
            <a:p>
              <a:pPr>
                <a:defRPr b="0" i="0" strike="noStrike" sz="900" u="none">
                  <a:solidFill>
                    <a:srgbClr val="0A0A0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D6D6E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B4B4C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Chronopoli is one platform where regulators, financial intelligence units, banks, exchanges, enterprises, founders and students learn the digital economy, hosted by Dubai Blockchain Center. Every screen in this deck is either real software or a clearly labelled prototype. The running example, a Tether academy, is fictitious demo data: Tether is a roadmap target, not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qualitative; we don't quote market sizes. Use one concrete picture: an exchange's MLRO whose team must understand the Travel Rule, sanctions freezes and stablecoin reserves within weeks, and who today pieces that together from webinars and PDFs. Each of the four problems has an answer later in the tour: districts and layers, badges linked to jobs, round tables with a publishing pipeline, and the partner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Chronopoli isn't a course catalogue; it's a city map. A district is where a topic lives, and a layer is how deep you go. Every district is an Open edX organisation, so the structure sits in the LMS itself, not just in marketing. The same grid organises the community forums on slide 13. Internal, not for the audience: the repo's preview page still says six districts, shows a '50+ Partners' stat and a 'Trusted by' strip naming roadmap partners. This capture uses corrected copy, and the page must be fixed before anything goes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follow one person, Layla, through every function, and then the partner behind her course. Three fictitious people carry the story: Layla the learner, Nadia who runs the partner academy, and Dr. Amira Haddad who moderates round tables. Four labels tell you what each screen is. A real Open edX screen came from a running Tutor 22 install. A Chronopoli template render is our repo code rendered in a test harness. A design prototype is a page still to be built. Opencast and Discourse screens are real extension systems. Her course runs from 1 September 2026, and her badge is issued on 18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stock Open edX with Chronopoli settings: we didn't build a catalogue, we got one. These real Open edX screens still use the default theme with the Chronopoli name and a demo wordmark, not yet the dark/gold theme. The district filter was switched off in the demo because the stock catalogue shows raw org codes; the district still appears on every card. The frame shows the first two rows; the zoom is the USDT-301 card image from the same screen, and the list on the right gives all eight demo tracks: USDT-101 is free (L1), USDT-301 costs $1,499 (L3).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recommendation isn't mocked: Layla's answers went through the repo's real routing function. Call it onboarding, not AI: today the routing is deterministic rules, which also makes it easy to explain. The AI comes in on slide 10, where the tutor reuses this profile. Because the home district follows the learner's own focus choice, an FIU investigator who picks financial-crime investigation lands in Investigation, and a ministry adviser who picks governance lands in Governance. Before go-live, these templates must render through Open edX's Mako engine (R-9), and answers must be checked against the allowed options (R-33).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 admin, Nadia Karim (fictitious), sets this up in the Django admin: partner record, subdomain, pathways, badges and jobs. Two honest caveats. The template doesn't yet apply the partner's brand colour or logo. And the subdomain middleware isn't registered in the Tutor plugin yet (R-23, sprint 6); the test harness switched it on. The frame shows the top of the academy page; the open roles follow further down the same page, and slide 12 shows the job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page and price are live Open edX: USDT-201, L2 Professional, $599, and Chronopoli never sees card details because Stripe hosts the checkout. The confirmation page is a prototype because its template is missing (R-10). The checkout routing bug is fixed (R-11). Still open for the Commerce sprint: making Open edX itself enforce payment through paid course modes (R-12), and handling refunds and webhook edge cases (R-14).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worked through the course in a real browser session; these aren't mock-ups. This is the no-fork advantage in practice: world-class courseware, grading and progress tracking that Open edX maintains for us. Our engineering goes into what sits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widget, the Chronopoli header and the chat view that streams the answer are real repo code, and that view built a system prompt personalised to Layla. The two Bedrock calls were stubbed in the harness, so the answer text is scripted demo copy, not live model output; say so if asked. This is our platform moat (milestone M6): tutoring grounded in partner courses and round-table papers. The review fixed the history bug that broke the tutor after about six questions (R-15) and the knowledge-base IAM permissions (R-16). Still open for sprint 5: the knowledge-base index and access policy (R-18) and per-user quotas (R-32). Check on staging that the widget appears inside the new Learning MFE. The dark/gold look is the target Chronopoli theme; the real Open edX screens on slide 9 still use the stock theme, and both show the same Module 3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answered one capstone question wrong on purpose, so the 85% is a grade Open edX computed from her submitted answers. The pathway spans Digital Assets, Compliance, Risk &amp; Trust and Governance. That's the city idea: one credential built from several districts. In the harness the grades call is a stub; in production it reads the Open edX grades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pitch to partners: you don't just educate the market, you hire from it. The badge was awarded with the repo's own award function. Two fixes are needed before this is automatic and compliant: the auto-badge trigger on certificate creation (R-22), and explicit opt-in before learners are auto-applied to jobs (R-37, UAE data-protection risk, sprint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systems ran for real in Docker for these captures, with seeded content. The thread starts from the Module 4 worked example in the lecture, where both VASPs already apply the Travel Rule, and asks about the harder sunrise case, so course, video and community connect. Presenton couldn't be captured because its image download was blocked in the capture environment, so we don't show a screen for it. Keeping the SSO secret in sync between Tutor and Discourse is still open (R-28).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switch personas here: Nadia Karim runs the partner academy, and Dr. Amira Haddad moderates round tables. Both are fictitious. From now on, the question is what a partner gets for its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Partners already know this kind of tool, and Open edX runs it at global scale. All eight demo courses were built and imported through this toolchain, so onboarding a partner's content means importing a course, not starting a software project. Pathways, badges and job postings are then set up in the academy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counts on the right come from 811 bulk-created demo accounts plus Layla, sized to match the scenario. If asked about the other 292: in the demo they are audit (unpaid) enrolments, and the scenario counts only verified enrolments as sales. The review added the weekly-report task (R-7, fixed), though Tutor still needs a scheduler process. Before go-live: a proper partner-user access model (R-26), reports scoped to each partner (R-25, partly fixed), the dashboard template itself (R-10), and the completion-rate calculation, which the analytics code doesn't fill in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commercial differentiator (milestone M4). Putting an issuer, a central bank, an exchange and a regulator-facing moderator in one room is something no MOOC can sell. The round-table templates print times in UTC, so the agenda is written in UTC too: 12:00 UTC is 16:00 in Dubai. Open for the Pipeline sprint: the IVS recording configuration and the pipeline start (R-24).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these output texts are mock copy written for the demo and shown in the real templates. The pipeline hasn't processed a real session yet. The transcript-polling bug is fixed (R-3). Open for the Pipeline sprint: mapping the IVS event and producing an MP4 (R-4), the approval hand-off (R-5), and a container Lambda for the PDF paper (R-20). Don't promise anonymity yet. Today the analysis prompt extracts named quotes and the paper template prints them with a participant list, so Chatham House anonymisation must be built in before the first real session. One 90-minute session becomes a paper, social content and a sponsor report. The approval queue prints UTC: 14:03 UTC is 18:03 in Dubai, about half an hour after the 16:00-17:30 GST session ends. (The harness copy of the approval template adds the UTC label that the detail page already prints; the same one-word fix belongs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and service integrations are in the code, including expert approval of each question. The pages are prototypes because the masterclass templates are missing (R-10). Consent is a design rule, not yet code: before any voice is cloned we need a recorded written consent, and a publish check so that no twin goes live without the expert's approval (R-30, sprint 5, together with a real upload view and asynchronous Textract for multi-page PDFs). The expert must be able to withdraw the twin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revenue lines, and the mechanics for the first three are in the e-commerce code. The price ladder puts a whole academy on one screen, from a free USDT-101 to a $4,500 live cohort in Dubai. Tier fees aren't set yet, so don't quote any. The model's strength is that partners bring content and audience, and Chronopoli takes 30% of every partner sale without producing the course. Internal: the L1 price label in the code still reads $49-$149 and must be aligned to the $0-149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sell. Individuals buy course by course, and the prices on the left are live Open edX configuration, not a mock-up. Employers buy seats: Gulf Digital Exchange licenses 25 seats and has assigned 18. The licence page is a prototype: its template is one of the missing templates (review finding R-10). Two things to resolve in the Commerce sprint: the subscription code bills yearly while the price list is monthly, and seat assignment is only a counter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in the checkout code: each Stripe Checkout Session carries a transfer of 70 percent to the partner's Connect account, and the webhook writes a payout record. The gross counts individual purchases only; team-licence revenue comes on top. Still open for the Commerce sprint: payout status is never set to 'paid' yet (R-13, partly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this is a model of one academy, not reported revenue. Three things to take from it. First, the free USDT-101 is the funnel, with 2,140 enrolments or 44% of the total. Second, 50 live-cohort seats bring $225,000, about 72% of what 520 buyers of the flagship L2 course bring. Third, the platform keeps $332,532 without producing a single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no-fork decision matters to an investor: we maintain only our plugin, apps and theme, and Open edX security fixes and features arrive through “tutor upgrade”. The real Open edX screens in this deck ran on a stock Tutor 22.0.2 install built from prebuilt images. Hosting in the UAE region keeps regulated learners' data close to home. Costs start small and scale with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this than have you find it in due diligence. Five critical items are open: packaging (R-1), routing (R-2), IVS event mapping (R-4), the approval hand-off (R-5), and a public media bucket that also holds learner grade files (R-6). One critical item (R-3) is fixed. Four open items still need a sprint: the auto-badge trigger (R-22), the Discourse SSO secret sync (R-28), onboarding answer validation (R-33) and the configure-tutor script (R-34). Three urgent upgrades are done: the retired Claude model is replaced, MySQL moved from 8.0 to 8.4 to avoid extended-support fees, and the plugin's cap on an end-of-life Tutor release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shows the order of work, not dates, because sprint length isn't fixed yet. Sprint 1 unlocks everything else: once the apps load inside Open edX, every template render in this deck becomes a live page. After M1, features roll out as milestones: e-commerce, round tables, company academies, the AI tutor, then digital twins with the partner dashboard. Two upgrades are held back to sprint 6 on purpose: AWS provider 6.x, which needs a reviewed terraform plan, and Claude Sonnet 5.5, which needs Lambda changes and a check that it is available in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founding partners come first, because they shape the curricula and co-host the first round tables. Strategic academies like the Tether example follow once company academies are live (milestone M5). Content and AI partners deepen individual districts. Institutions give the credentials weight with regulators and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not on features. The product exists as code and as the screens you've seen; what's missing is go-live engineering and the first founding partners. There's deliberately no funding figure on the slide; give the amount verbally, and only once DBCC has confirmed it. Offer the user guide and technical review booklet as the leave-behind.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23-image-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566928"/>
            <a:ext cx="2993326"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566928"/>
            <a:ext cx="2755582"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INVESTOR &amp; PARTNER PRESENTATION</a:t>
            </a:r>
            <a:endParaRPr lang="en-US" sz="900" dirty="0"/>
          </a:p>
        </p:txBody>
      </p:sp>
      <p:sp>
        <p:nvSpPr>
          <p:cNvPr id="5" name="Text 2"/>
          <p:cNvSpPr txBox="1"/>
          <p:nvPr/>
        </p:nvSpPr>
        <p:spPr>
          <a:xfrm>
            <a:off x="457200" y="1481328"/>
            <a:ext cx="6400800" cy="1097280"/>
          </a:xfrm>
          <a:prstGeom prst="rect">
            <a:avLst/>
          </a:prstGeom>
          <a:noFill/>
          <a:ln/>
        </p:spPr>
        <p:txBody>
          <a:bodyPr wrap="square" lIns="0" tIns="0" rIns="0" bIns="0" rtlCol="0" anchor="t"/>
          <a:lstStyle/>
          <a:p>
            <a:pPr indent="0" marL="0">
              <a:buNone/>
            </a:pPr>
            <a:r>
              <a:rPr lang="en-US" sz="7200" b="1" dirty="0">
                <a:solidFill>
                  <a:srgbClr val="F0C96B"/>
                </a:solidFill>
                <a:latin typeface="Arial" pitchFamily="34" charset="0"/>
                <a:ea typeface="Arial" pitchFamily="34" charset="-122"/>
                <a:cs typeface="Arial" pitchFamily="34" charset="-120"/>
              </a:rPr>
              <a:t>Chronopoli</a:t>
            </a:r>
            <a:endParaRPr lang="en-US" sz="7200" dirty="0"/>
          </a:p>
        </p:txBody>
      </p:sp>
      <p:sp>
        <p:nvSpPr>
          <p:cNvPr id="6" name="Text 3"/>
          <p:cNvSpPr txBox="1"/>
          <p:nvPr/>
        </p:nvSpPr>
        <p:spPr>
          <a:xfrm>
            <a:off x="457200" y="2670048"/>
            <a:ext cx="6126480" cy="646176"/>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The Global Knowledge City for the digital economy,</a:t>
            </a:r>
            <a:endParaRPr lang="en-US" sz="2000" dirty="0"/>
          </a:p>
          <a:p>
            <a:pPr indent="0" marL="0">
              <a:buNone/>
            </a:pPr>
            <a:r>
              <a:rPr lang="en-US" sz="2000" dirty="0">
                <a:solidFill>
                  <a:srgbClr val="FFFFFF"/>
                </a:solidFill>
                <a:latin typeface="Arial" pitchFamily="34" charset="0"/>
                <a:ea typeface="Arial" pitchFamily="34" charset="-122"/>
                <a:cs typeface="Arial" pitchFamily="34" charset="-120"/>
              </a:rPr>
              <a:t>hosted by Dubai Blockchain Center</a:t>
            </a:r>
            <a:endParaRPr lang="en-US" sz="2000" dirty="0"/>
          </a:p>
        </p:txBody>
      </p:sp>
      <p:sp>
        <p:nvSpPr>
          <p:cNvPr id="7" name="Text 4"/>
          <p:cNvSpPr txBox="1"/>
          <p:nvPr/>
        </p:nvSpPr>
        <p:spPr>
          <a:xfrm>
            <a:off x="457200" y="3553968"/>
            <a:ext cx="6126480" cy="454152"/>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AI · Digital assets · Governance · Compliance ·</a:t>
            </a:r>
            <a:endParaRPr lang="en-US" sz="1400" dirty="0"/>
          </a:p>
          <a:p>
            <a:pPr indent="0" marL="0">
              <a:buNone/>
            </a:pPr>
            <a:r>
              <a:rPr lang="en-US" sz="1400" dirty="0">
                <a:solidFill>
                  <a:srgbClr val="B4B4C8"/>
                </a:solidFill>
                <a:latin typeface="Arial" pitchFamily="34" charset="0"/>
                <a:ea typeface="Arial" pitchFamily="34" charset="-122"/>
                <a:cs typeface="Arial" pitchFamily="34" charset="-120"/>
              </a:rPr>
              <a:t>Financial-crime investigation · Risk &amp; trust · Emerging tech</a:t>
            </a:r>
            <a:endParaRPr lang="en-US" sz="1400" dirty="0"/>
          </a:p>
        </p:txBody>
      </p:sp>
      <p:sp>
        <p:nvSpPr>
          <p:cNvPr id="8" name="Text 5"/>
          <p:cNvSpPr txBox="1"/>
          <p:nvPr/>
        </p:nvSpPr>
        <p:spPr>
          <a:xfrm>
            <a:off x="457200" y="4108704"/>
            <a:ext cx="6126480" cy="240792"/>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Built on Open edX (Tutor 22), designed for AWS · September 2026</a:t>
            </a:r>
            <a:endParaRPr lang="en-US" sz="1400" dirty="0"/>
          </a:p>
        </p:txBody>
      </p:sp>
      <p:sp>
        <p:nvSpPr>
          <p:cNvPr id="9" name="Shape 6"/>
          <p:cNvSpPr/>
          <p:nvPr/>
        </p:nvSpPr>
        <p:spPr>
          <a:xfrm>
            <a:off x="457200" y="4632960"/>
            <a:ext cx="6126480" cy="603504"/>
          </a:xfrm>
          <a:prstGeom prst="roundRect">
            <a:avLst>
              <a:gd name="adj" fmla="val 15152"/>
            </a:avLst>
          </a:prstGeom>
          <a:solidFill>
            <a:srgbClr val="15151F"/>
          </a:solidFill>
          <a:ln w="9525">
            <a:solidFill>
              <a:srgbClr val="5A4A22"/>
            </a:solidFill>
            <a:prstDash val="solid"/>
          </a:ln>
        </p:spPr>
      </p:sp>
      <p:pic>
        <p:nvPicPr>
          <p:cNvPr id="10" name="Image 0" descr="preencoded.png">    </p:cNvPr>
          <p:cNvPicPr>
            <a:picLocks noChangeAspect="1"/>
          </p:cNvPicPr>
          <p:nvPr/>
        </p:nvPicPr>
        <p:blipFill>
          <a:blip r:embed="rId2"/>
          <a:stretch>
            <a:fillRect/>
          </a:stretch>
        </p:blipFill>
        <p:spPr>
          <a:xfrm>
            <a:off x="621792" y="4806696"/>
            <a:ext cx="256032" cy="256032"/>
          </a:xfrm>
          <a:prstGeom prst="rect">
            <a:avLst/>
          </a:prstGeom>
        </p:spPr>
      </p:pic>
      <p:sp>
        <p:nvSpPr>
          <p:cNvPr id="11" name="Text 7"/>
          <p:cNvSpPr txBox="1"/>
          <p:nvPr/>
        </p:nvSpPr>
        <p:spPr>
          <a:xfrm>
            <a:off x="1005840" y="4632960"/>
            <a:ext cx="5440680" cy="603504"/>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The product tour uses an illustrative Tether (USDT) academy: fictitious mock data, no partnership implied</a:t>
            </a:r>
            <a:endParaRPr lang="en-US" sz="1200" dirty="0"/>
          </a:p>
        </p:txBody>
      </p:sp>
      <p:pic>
        <p:nvPicPr>
          <p:cNvPr id="12" name="Image 1" descr="/tmp/claude-0/-home-user-Chronopoli/d7458f57-86b2-5920-914e-8615357fee63/scratchpad/deck/framed/landing_hero.png">    </p:cNvPr>
          <p:cNvPicPr>
            <a:picLocks noChangeAspect="1"/>
          </p:cNvPicPr>
          <p:nvPr/>
        </p:nvPicPr>
        <p:blipFill>
          <a:blip r:embed="rId3"/>
          <a:stretch>
            <a:fillRect/>
          </a:stretch>
        </p:blipFill>
        <p:spPr>
          <a:xfrm>
            <a:off x="6862854" y="1844689"/>
            <a:ext cx="5003948" cy="2812006"/>
          </a:xfrm>
          <a:prstGeom prst="rect">
            <a:avLst/>
          </a:prstGeom>
        </p:spPr>
      </p:pic>
      <p:sp>
        <p:nvSpPr>
          <p:cNvPr id="13" name="Shape 8"/>
          <p:cNvSpPr/>
          <p:nvPr/>
        </p:nvSpPr>
        <p:spPr>
          <a:xfrm>
            <a:off x="6995160" y="4661548"/>
            <a:ext cx="1495471" cy="219456"/>
          </a:xfrm>
          <a:prstGeom prst="roundRect">
            <a:avLst>
              <a:gd name="adj" fmla="val 50000"/>
            </a:avLst>
          </a:prstGeom>
          <a:solidFill>
            <a:srgbClr val="1B1B27"/>
          </a:solidFill>
          <a:ln w="9525">
            <a:solidFill>
              <a:srgbClr val="3A3A50"/>
            </a:solidFill>
            <a:prstDash val="solid"/>
          </a:ln>
        </p:spPr>
      </p:sp>
      <p:sp>
        <p:nvSpPr>
          <p:cNvPr id="14" name="Shape 9"/>
          <p:cNvSpPr/>
          <p:nvPr/>
        </p:nvSpPr>
        <p:spPr>
          <a:xfrm>
            <a:off x="7086600" y="4734700"/>
            <a:ext cx="73152" cy="73152"/>
          </a:xfrm>
          <a:prstGeom prst="ellipse">
            <a:avLst/>
          </a:prstGeom>
          <a:solidFill>
            <a:srgbClr val="A9A9C6"/>
          </a:solidFill>
          <a:ln/>
        </p:spPr>
      </p:sp>
      <p:sp>
        <p:nvSpPr>
          <p:cNvPr id="15" name="Text 10"/>
          <p:cNvSpPr txBox="1"/>
          <p:nvPr/>
        </p:nvSpPr>
        <p:spPr>
          <a:xfrm>
            <a:off x="7214616" y="4661548"/>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6" name="Text 11"/>
          <p:cNvSpPr txBox="1"/>
          <p:nvPr/>
        </p:nvSpPr>
        <p:spPr>
          <a:xfrm>
            <a:off x="8600359" y="4693552"/>
            <a:ext cx="3134136"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Landing-page preview (not yet deployed)</a:t>
            </a:r>
            <a:endParaRPr lang="en-US" sz="1000" dirty="0"/>
          </a:p>
        </p:txBody>
      </p:sp>
      <p:sp>
        <p:nvSpPr>
          <p:cNvPr id="17" name="Text 12"/>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18" name="Text 13"/>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310389"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072645"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THE PROBLEM</a:t>
            </a:r>
            <a:endParaRPr lang="en-US" sz="900" dirty="0"/>
          </a:p>
        </p:txBody>
      </p:sp>
      <p:sp>
        <p:nvSpPr>
          <p:cNvPr id="5" name="Text 2"/>
          <p:cNvSpPr txBox="1"/>
          <p:nvPr/>
        </p:nvSpPr>
        <p:spPr>
          <a:xfrm>
            <a:off x="457200" y="768096"/>
            <a:ext cx="11277295" cy="1075334"/>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The people who police, regulate and build the digital economy learn it in fragments</a:t>
            </a:r>
            <a:endParaRPr lang="en-US" sz="3600" dirty="0"/>
          </a:p>
        </p:txBody>
      </p:sp>
      <p:sp>
        <p:nvSpPr>
          <p:cNvPr id="6" name="Text 3"/>
          <p:cNvSpPr txBox="1"/>
          <p:nvPr/>
        </p:nvSpPr>
        <p:spPr>
          <a:xfrm>
            <a:off x="457200" y="1880006"/>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Regulators, FIUs, banks, VASPs, founders and students face the same topics, with no shared place to learn them</a:t>
            </a:r>
            <a:endParaRPr lang="en-US" sz="1600" dirty="0"/>
          </a:p>
        </p:txBody>
      </p:sp>
      <p:sp>
        <p:nvSpPr>
          <p:cNvPr id="7" name="Shape 4"/>
          <p:cNvSpPr/>
          <p:nvPr/>
        </p:nvSpPr>
        <p:spPr>
          <a:xfrm>
            <a:off x="457200" y="2471318"/>
            <a:ext cx="2613584" cy="3746602"/>
          </a:xfrm>
          <a:prstGeom prst="roundRect">
            <a:avLst>
              <a:gd name="adj" fmla="val 4198"/>
            </a:avLst>
          </a:prstGeom>
          <a:solidFill>
            <a:srgbClr val="171722"/>
          </a:solidFill>
          <a:ln w="9525">
            <a:solidFill>
              <a:srgbClr val="2C2C3E"/>
            </a:solidFill>
            <a:prstDash val="solid"/>
          </a:ln>
        </p:spPr>
      </p:sp>
      <p:sp>
        <p:nvSpPr>
          <p:cNvPr id="8" name="Shape 5"/>
          <p:cNvSpPr/>
          <p:nvPr/>
        </p:nvSpPr>
        <p:spPr>
          <a:xfrm>
            <a:off x="676656" y="2690774"/>
            <a:ext cx="457200" cy="457200"/>
          </a:xfrm>
          <a:prstGeom prst="ellipse">
            <a:avLst/>
          </a:prstGeom>
          <a:solidFill>
            <a:srgbClr val="1E1A10"/>
          </a:solidFill>
          <a:ln w="9525">
            <a:solidFill>
              <a:srgbClr val="5A4A22"/>
            </a:solidFill>
            <a:prstDash val="solid"/>
          </a:ln>
        </p:spPr>
      </p:sp>
      <p:pic>
        <p:nvPicPr>
          <p:cNvPr id="9" name="Image 0" descr="preencoded.png">    </p:cNvPr>
          <p:cNvPicPr>
            <a:picLocks noChangeAspect="1"/>
          </p:cNvPicPr>
          <p:nvPr/>
        </p:nvPicPr>
        <p:blipFill>
          <a:blip r:embed="rId2"/>
          <a:stretch>
            <a:fillRect/>
          </a:stretch>
        </p:blipFill>
        <p:spPr>
          <a:xfrm>
            <a:off x="790956" y="2805074"/>
            <a:ext cx="228600" cy="228600"/>
          </a:xfrm>
          <a:prstGeom prst="rect">
            <a:avLst/>
          </a:prstGeom>
        </p:spPr>
      </p:pic>
      <p:sp>
        <p:nvSpPr>
          <p:cNvPr id="10" name="Text 6"/>
          <p:cNvSpPr txBox="1"/>
          <p:nvPr/>
        </p:nvSpPr>
        <p:spPr>
          <a:xfrm>
            <a:off x="1261872" y="2690774"/>
            <a:ext cx="1589456"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Scattered and one-size</a:t>
            </a:r>
            <a:endParaRPr lang="en-US" sz="1600" dirty="0"/>
          </a:p>
        </p:txBody>
      </p:sp>
      <p:sp>
        <p:nvSpPr>
          <p:cNvPr id="11" name="Text 7"/>
          <p:cNvSpPr txBox="1"/>
          <p:nvPr/>
        </p:nvSpPr>
        <p:spPr>
          <a:xfrm>
            <a:off x="676656" y="3330854"/>
            <a:ext cx="2174672" cy="1316736"/>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Vendor webinars, generic MOOCs and conferences, and nothing routes a minister, an MLRO or an investigator to the depth their role needs</a:t>
            </a:r>
            <a:endParaRPr lang="en-US" sz="1400" dirty="0"/>
          </a:p>
        </p:txBody>
      </p:sp>
      <p:sp>
        <p:nvSpPr>
          <p:cNvPr id="12" name="Shape 8"/>
          <p:cNvSpPr/>
          <p:nvPr/>
        </p:nvSpPr>
        <p:spPr>
          <a:xfrm>
            <a:off x="676656" y="4968240"/>
            <a:ext cx="2174672" cy="0"/>
          </a:xfrm>
          <a:prstGeom prst="line">
            <a:avLst/>
          </a:prstGeom>
          <a:noFill/>
          <a:ln w="9525">
            <a:solidFill>
              <a:srgbClr val="2C2C3E"/>
            </a:solidFill>
            <a:prstDash val="solid"/>
          </a:ln>
        </p:spPr>
      </p:sp>
      <p:sp>
        <p:nvSpPr>
          <p:cNvPr id="13" name="Text 9"/>
          <p:cNvSpPr txBox="1"/>
          <p:nvPr/>
        </p:nvSpPr>
        <p:spPr>
          <a:xfrm>
            <a:off x="676656" y="5114544"/>
            <a:ext cx="2174672" cy="182880"/>
          </a:xfrm>
          <a:prstGeom prst="rect">
            <a:avLst/>
          </a:prstGeom>
          <a:noFill/>
          <a:ln/>
        </p:spPr>
        <p:txBody>
          <a:bodyPr wrap="square" lIns="0" tIns="0" rIns="0" bIns="0" rtlCol="0" anchor="t"/>
          <a:lstStyle/>
          <a:p>
            <a:pPr indent="0" marL="0">
              <a:buNone/>
            </a:pPr>
            <a:r>
              <a:rPr lang="en-US" sz="850" b="1" spc="120" kern="0" dirty="0">
                <a:solidFill>
                  <a:srgbClr val="8E8EA2"/>
                </a:solidFill>
                <a:latin typeface="Arial" pitchFamily="34" charset="0"/>
                <a:ea typeface="Arial" pitchFamily="34" charset="-122"/>
                <a:cs typeface="Arial" pitchFamily="34" charset="-120"/>
              </a:rPr>
              <a:t>OUR ANSWER</a:t>
            </a:r>
            <a:endParaRPr lang="en-US" sz="850" dirty="0"/>
          </a:p>
        </p:txBody>
      </p:sp>
      <p:sp>
        <p:nvSpPr>
          <p:cNvPr id="14" name="Text 10"/>
          <p:cNvSpPr txBox="1"/>
          <p:nvPr/>
        </p:nvSpPr>
        <p:spPr>
          <a:xfrm>
            <a:off x="676656" y="5352288"/>
            <a:ext cx="2174672" cy="463296"/>
          </a:xfrm>
          <a:prstGeom prst="rect">
            <a:avLst/>
          </a:prstGeom>
          <a:noFill/>
          <a:ln/>
        </p:spPr>
        <p:txBody>
          <a:bodyPr wrap="square" lIns="0" tIns="0" rIns="0" bIns="0" rtlCol="0" anchor="t"/>
          <a:lstStyle/>
          <a:p>
            <a:pPr indent="0" marL="0">
              <a:buNone/>
            </a:pPr>
            <a:r>
              <a:rPr lang="en-US" sz="1400" b="1" dirty="0">
                <a:solidFill>
                  <a:srgbClr val="F0C96B"/>
                </a:solidFill>
                <a:latin typeface="Arial" pitchFamily="34" charset="0"/>
                <a:ea typeface="Arial" pitchFamily="34" charset="-122"/>
                <a:cs typeface="Arial" pitchFamily="34" charset="-120"/>
              </a:rPr>
              <a:t>Districts, layers and onboarding</a:t>
            </a:r>
            <a:endParaRPr lang="en-US" sz="1400" dirty="0"/>
          </a:p>
        </p:txBody>
      </p:sp>
      <p:sp>
        <p:nvSpPr>
          <p:cNvPr id="15" name="Text 11"/>
          <p:cNvSpPr txBox="1"/>
          <p:nvPr/>
        </p:nvSpPr>
        <p:spPr>
          <a:xfrm>
            <a:off x="676656" y="5815584"/>
            <a:ext cx="2174672" cy="182880"/>
          </a:xfrm>
          <a:prstGeom prst="rect">
            <a:avLst/>
          </a:prstGeom>
          <a:noFill/>
          <a:ln/>
        </p:spPr>
        <p:txBody>
          <a:bodyPr wrap="square" lIns="0" tIns="0" rIns="0" bIns="0" rtlCol="0" anchor="t"/>
          <a:lstStyle/>
          <a:p>
            <a:pPr indent="0" marL="0">
              <a:buNone/>
            </a:pPr>
            <a:r>
              <a:rPr lang="en-US" sz="1000" dirty="0">
                <a:solidFill>
                  <a:srgbClr val="8E8EA2"/>
                </a:solidFill>
                <a:latin typeface="Arial" pitchFamily="34" charset="0"/>
                <a:ea typeface="Arial" pitchFamily="34" charset="-122"/>
                <a:cs typeface="Arial" pitchFamily="34" charset="-120"/>
              </a:rPr>
              <a:t>Slides 3, 6</a:t>
            </a:r>
            <a:endParaRPr lang="en-US" sz="1000" dirty="0"/>
          </a:p>
        </p:txBody>
      </p:sp>
      <p:sp>
        <p:nvSpPr>
          <p:cNvPr id="16" name="Shape 12"/>
          <p:cNvSpPr/>
          <p:nvPr/>
        </p:nvSpPr>
        <p:spPr>
          <a:xfrm>
            <a:off x="3345104" y="2471318"/>
            <a:ext cx="2613584" cy="3746602"/>
          </a:xfrm>
          <a:prstGeom prst="roundRect">
            <a:avLst>
              <a:gd name="adj" fmla="val 4198"/>
            </a:avLst>
          </a:prstGeom>
          <a:solidFill>
            <a:srgbClr val="171722"/>
          </a:solidFill>
          <a:ln w="9525">
            <a:solidFill>
              <a:srgbClr val="2C2C3E"/>
            </a:solidFill>
            <a:prstDash val="solid"/>
          </a:ln>
        </p:spPr>
      </p:sp>
      <p:sp>
        <p:nvSpPr>
          <p:cNvPr id="17" name="Shape 13"/>
          <p:cNvSpPr/>
          <p:nvPr/>
        </p:nvSpPr>
        <p:spPr>
          <a:xfrm>
            <a:off x="3564560" y="2690774"/>
            <a:ext cx="457200" cy="457200"/>
          </a:xfrm>
          <a:prstGeom prst="ellipse">
            <a:avLst/>
          </a:prstGeom>
          <a:solidFill>
            <a:srgbClr val="1E1A10"/>
          </a:solidFill>
          <a:ln w="9525">
            <a:solidFill>
              <a:srgbClr val="5A4A22"/>
            </a:solidFill>
            <a:prstDash val="solid"/>
          </a:ln>
        </p:spPr>
      </p:sp>
      <p:pic>
        <p:nvPicPr>
          <p:cNvPr id="18" name="Image 1" descr="preencoded.png">    </p:cNvPr>
          <p:cNvPicPr>
            <a:picLocks noChangeAspect="1"/>
          </p:cNvPicPr>
          <p:nvPr/>
        </p:nvPicPr>
        <p:blipFill>
          <a:blip r:embed="rId3"/>
          <a:stretch>
            <a:fillRect/>
          </a:stretch>
        </p:blipFill>
        <p:spPr>
          <a:xfrm>
            <a:off x="3678860" y="2805074"/>
            <a:ext cx="228600" cy="228600"/>
          </a:xfrm>
          <a:prstGeom prst="rect">
            <a:avLst/>
          </a:prstGeom>
        </p:spPr>
      </p:pic>
      <p:sp>
        <p:nvSpPr>
          <p:cNvPr id="19" name="Text 14"/>
          <p:cNvSpPr txBox="1"/>
          <p:nvPr/>
        </p:nvSpPr>
        <p:spPr>
          <a:xfrm>
            <a:off x="4149776" y="2690774"/>
            <a:ext cx="1589456"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Weak credentials</a:t>
            </a:r>
            <a:endParaRPr lang="en-US" sz="1600" dirty="0"/>
          </a:p>
        </p:txBody>
      </p:sp>
      <p:sp>
        <p:nvSpPr>
          <p:cNvPr id="20" name="Text 15"/>
          <p:cNvSpPr txBox="1"/>
          <p:nvPr/>
        </p:nvSpPr>
        <p:spPr>
          <a:xfrm>
            <a:off x="3564560" y="3330854"/>
            <a:ext cx="2174672" cy="1103376"/>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A certificate tells an employer or supervisor little about what someone can do, and rarely leads to a job</a:t>
            </a:r>
            <a:endParaRPr lang="en-US" sz="1400" dirty="0"/>
          </a:p>
        </p:txBody>
      </p:sp>
      <p:sp>
        <p:nvSpPr>
          <p:cNvPr id="21" name="Shape 16"/>
          <p:cNvSpPr/>
          <p:nvPr/>
        </p:nvSpPr>
        <p:spPr>
          <a:xfrm>
            <a:off x="3564560" y="4968240"/>
            <a:ext cx="2174672" cy="0"/>
          </a:xfrm>
          <a:prstGeom prst="line">
            <a:avLst/>
          </a:prstGeom>
          <a:noFill/>
          <a:ln w="9525">
            <a:solidFill>
              <a:srgbClr val="2C2C3E"/>
            </a:solidFill>
            <a:prstDash val="solid"/>
          </a:ln>
        </p:spPr>
      </p:sp>
      <p:sp>
        <p:nvSpPr>
          <p:cNvPr id="22" name="Text 17"/>
          <p:cNvSpPr txBox="1"/>
          <p:nvPr/>
        </p:nvSpPr>
        <p:spPr>
          <a:xfrm>
            <a:off x="3564560" y="5114544"/>
            <a:ext cx="2174672" cy="182880"/>
          </a:xfrm>
          <a:prstGeom prst="rect">
            <a:avLst/>
          </a:prstGeom>
          <a:noFill/>
          <a:ln/>
        </p:spPr>
        <p:txBody>
          <a:bodyPr wrap="square" lIns="0" tIns="0" rIns="0" bIns="0" rtlCol="0" anchor="t"/>
          <a:lstStyle/>
          <a:p>
            <a:pPr indent="0" marL="0">
              <a:buNone/>
            </a:pPr>
            <a:r>
              <a:rPr lang="en-US" sz="850" b="1" spc="120" kern="0" dirty="0">
                <a:solidFill>
                  <a:srgbClr val="8E8EA2"/>
                </a:solidFill>
                <a:latin typeface="Arial" pitchFamily="34" charset="0"/>
                <a:ea typeface="Arial" pitchFamily="34" charset="-122"/>
                <a:cs typeface="Arial" pitchFamily="34" charset="-120"/>
              </a:rPr>
              <a:t>OUR ANSWER</a:t>
            </a:r>
            <a:endParaRPr lang="en-US" sz="850" dirty="0"/>
          </a:p>
        </p:txBody>
      </p:sp>
      <p:sp>
        <p:nvSpPr>
          <p:cNvPr id="23" name="Text 18"/>
          <p:cNvSpPr txBox="1"/>
          <p:nvPr/>
        </p:nvSpPr>
        <p:spPr>
          <a:xfrm>
            <a:off x="3564560" y="5352288"/>
            <a:ext cx="2174672" cy="463296"/>
          </a:xfrm>
          <a:prstGeom prst="rect">
            <a:avLst/>
          </a:prstGeom>
          <a:noFill/>
          <a:ln/>
        </p:spPr>
        <p:txBody>
          <a:bodyPr wrap="square" lIns="0" tIns="0" rIns="0" bIns="0" rtlCol="0" anchor="t"/>
          <a:lstStyle/>
          <a:p>
            <a:pPr indent="0" marL="0">
              <a:buNone/>
            </a:pPr>
            <a:r>
              <a:rPr lang="en-US" sz="1400" b="1" dirty="0">
                <a:solidFill>
                  <a:srgbClr val="F0C96B"/>
                </a:solidFill>
                <a:latin typeface="Arial" pitchFamily="34" charset="0"/>
                <a:ea typeface="Arial" pitchFamily="34" charset="-122"/>
                <a:cs typeface="Arial" pitchFamily="34" charset="-120"/>
              </a:rPr>
              <a:t>Open Badges linked to partner roles</a:t>
            </a:r>
            <a:endParaRPr lang="en-US" sz="1400" dirty="0"/>
          </a:p>
        </p:txBody>
      </p:sp>
      <p:sp>
        <p:nvSpPr>
          <p:cNvPr id="24" name="Text 19"/>
          <p:cNvSpPr txBox="1"/>
          <p:nvPr/>
        </p:nvSpPr>
        <p:spPr>
          <a:xfrm>
            <a:off x="3564560" y="5815584"/>
            <a:ext cx="2174672" cy="182880"/>
          </a:xfrm>
          <a:prstGeom prst="rect">
            <a:avLst/>
          </a:prstGeom>
          <a:noFill/>
          <a:ln/>
        </p:spPr>
        <p:txBody>
          <a:bodyPr wrap="square" lIns="0" tIns="0" rIns="0" bIns="0" rtlCol="0" anchor="t"/>
          <a:lstStyle/>
          <a:p>
            <a:pPr indent="0" marL="0">
              <a:buNone/>
            </a:pPr>
            <a:r>
              <a:rPr lang="en-US" sz="1000" dirty="0">
                <a:solidFill>
                  <a:srgbClr val="8E8EA2"/>
                </a:solidFill>
                <a:latin typeface="Arial" pitchFamily="34" charset="0"/>
                <a:ea typeface="Arial" pitchFamily="34" charset="-122"/>
                <a:cs typeface="Arial" pitchFamily="34" charset="-120"/>
              </a:rPr>
              <a:t>Slide 12</a:t>
            </a:r>
            <a:endParaRPr lang="en-US" sz="1000" dirty="0"/>
          </a:p>
        </p:txBody>
      </p:sp>
      <p:sp>
        <p:nvSpPr>
          <p:cNvPr id="25" name="Shape 20"/>
          <p:cNvSpPr/>
          <p:nvPr/>
        </p:nvSpPr>
        <p:spPr>
          <a:xfrm>
            <a:off x="6233008" y="2471318"/>
            <a:ext cx="2613584" cy="3746602"/>
          </a:xfrm>
          <a:prstGeom prst="roundRect">
            <a:avLst>
              <a:gd name="adj" fmla="val 4198"/>
            </a:avLst>
          </a:prstGeom>
          <a:solidFill>
            <a:srgbClr val="171722"/>
          </a:solidFill>
          <a:ln w="9525">
            <a:solidFill>
              <a:srgbClr val="2C2C3E"/>
            </a:solidFill>
            <a:prstDash val="solid"/>
          </a:ln>
        </p:spPr>
      </p:sp>
      <p:sp>
        <p:nvSpPr>
          <p:cNvPr id="26" name="Shape 21"/>
          <p:cNvSpPr/>
          <p:nvPr/>
        </p:nvSpPr>
        <p:spPr>
          <a:xfrm>
            <a:off x="6452464" y="2690774"/>
            <a:ext cx="457200" cy="457200"/>
          </a:xfrm>
          <a:prstGeom prst="ellipse">
            <a:avLst/>
          </a:prstGeom>
          <a:solidFill>
            <a:srgbClr val="1E1A10"/>
          </a:solidFill>
          <a:ln w="9525">
            <a:solidFill>
              <a:srgbClr val="5A4A22"/>
            </a:solidFill>
            <a:prstDash val="solid"/>
          </a:ln>
        </p:spPr>
      </p:sp>
      <p:pic>
        <p:nvPicPr>
          <p:cNvPr id="27" name="Image 2" descr="preencoded.png">    </p:cNvPr>
          <p:cNvPicPr>
            <a:picLocks noChangeAspect="1"/>
          </p:cNvPicPr>
          <p:nvPr/>
        </p:nvPicPr>
        <p:blipFill>
          <a:blip r:embed="rId4"/>
          <a:stretch>
            <a:fillRect/>
          </a:stretch>
        </p:blipFill>
        <p:spPr>
          <a:xfrm>
            <a:off x="6566764" y="2805074"/>
            <a:ext cx="228600" cy="228600"/>
          </a:xfrm>
          <a:prstGeom prst="rect">
            <a:avLst/>
          </a:prstGeom>
        </p:spPr>
      </p:pic>
      <p:sp>
        <p:nvSpPr>
          <p:cNvPr id="28" name="Text 22"/>
          <p:cNvSpPr txBox="1"/>
          <p:nvPr/>
        </p:nvSpPr>
        <p:spPr>
          <a:xfrm>
            <a:off x="7037680" y="2690774"/>
            <a:ext cx="1589456"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Lost insight</a:t>
            </a:r>
            <a:endParaRPr lang="en-US" sz="1600" dirty="0"/>
          </a:p>
        </p:txBody>
      </p:sp>
      <p:sp>
        <p:nvSpPr>
          <p:cNvPr id="29" name="Text 23"/>
          <p:cNvSpPr txBox="1"/>
          <p:nvPr/>
        </p:nvSpPr>
        <p:spPr>
          <a:xfrm>
            <a:off x="6452464" y="3330854"/>
            <a:ext cx="2174672" cy="890016"/>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Closed-door policy dialogue is seldom captured, published or reused</a:t>
            </a:r>
            <a:endParaRPr lang="en-US" sz="1400" dirty="0"/>
          </a:p>
        </p:txBody>
      </p:sp>
      <p:sp>
        <p:nvSpPr>
          <p:cNvPr id="30" name="Shape 24"/>
          <p:cNvSpPr/>
          <p:nvPr/>
        </p:nvSpPr>
        <p:spPr>
          <a:xfrm>
            <a:off x="6452464" y="4968240"/>
            <a:ext cx="2174672" cy="0"/>
          </a:xfrm>
          <a:prstGeom prst="line">
            <a:avLst/>
          </a:prstGeom>
          <a:noFill/>
          <a:ln w="9525">
            <a:solidFill>
              <a:srgbClr val="2C2C3E"/>
            </a:solidFill>
            <a:prstDash val="solid"/>
          </a:ln>
        </p:spPr>
      </p:sp>
      <p:sp>
        <p:nvSpPr>
          <p:cNvPr id="31" name="Text 25"/>
          <p:cNvSpPr txBox="1"/>
          <p:nvPr/>
        </p:nvSpPr>
        <p:spPr>
          <a:xfrm>
            <a:off x="6452464" y="5114544"/>
            <a:ext cx="2174672" cy="182880"/>
          </a:xfrm>
          <a:prstGeom prst="rect">
            <a:avLst/>
          </a:prstGeom>
          <a:noFill/>
          <a:ln/>
        </p:spPr>
        <p:txBody>
          <a:bodyPr wrap="square" lIns="0" tIns="0" rIns="0" bIns="0" rtlCol="0" anchor="t"/>
          <a:lstStyle/>
          <a:p>
            <a:pPr indent="0" marL="0">
              <a:buNone/>
            </a:pPr>
            <a:r>
              <a:rPr lang="en-US" sz="850" b="1" spc="120" kern="0" dirty="0">
                <a:solidFill>
                  <a:srgbClr val="8E8EA2"/>
                </a:solidFill>
                <a:latin typeface="Arial" pitchFamily="34" charset="0"/>
                <a:ea typeface="Arial" pitchFamily="34" charset="-122"/>
                <a:cs typeface="Arial" pitchFamily="34" charset="-120"/>
              </a:rPr>
              <a:t>OUR ANSWER</a:t>
            </a:r>
            <a:endParaRPr lang="en-US" sz="850" dirty="0"/>
          </a:p>
        </p:txBody>
      </p:sp>
      <p:sp>
        <p:nvSpPr>
          <p:cNvPr id="32" name="Text 26"/>
          <p:cNvSpPr txBox="1"/>
          <p:nvPr/>
        </p:nvSpPr>
        <p:spPr>
          <a:xfrm>
            <a:off x="6452464" y="5352288"/>
            <a:ext cx="2174672" cy="463296"/>
          </a:xfrm>
          <a:prstGeom prst="rect">
            <a:avLst/>
          </a:prstGeom>
          <a:noFill/>
          <a:ln/>
        </p:spPr>
        <p:txBody>
          <a:bodyPr wrap="square" lIns="0" tIns="0" rIns="0" bIns="0" rtlCol="0" anchor="t"/>
          <a:lstStyle/>
          <a:p>
            <a:pPr indent="0" marL="0">
              <a:buNone/>
            </a:pPr>
            <a:r>
              <a:rPr lang="en-US" sz="1400" b="1" dirty="0">
                <a:solidFill>
                  <a:srgbClr val="F0C96B"/>
                </a:solidFill>
                <a:latin typeface="Arial" pitchFamily="34" charset="0"/>
                <a:ea typeface="Arial" pitchFamily="34" charset="-122"/>
                <a:cs typeface="Arial" pitchFamily="34" charset="-120"/>
              </a:rPr>
              <a:t>Round tables and the content pipeline</a:t>
            </a:r>
            <a:endParaRPr lang="en-US" sz="1400" dirty="0"/>
          </a:p>
        </p:txBody>
      </p:sp>
      <p:sp>
        <p:nvSpPr>
          <p:cNvPr id="33" name="Text 27"/>
          <p:cNvSpPr txBox="1"/>
          <p:nvPr/>
        </p:nvSpPr>
        <p:spPr>
          <a:xfrm>
            <a:off x="6452464" y="5815584"/>
            <a:ext cx="2174672" cy="182880"/>
          </a:xfrm>
          <a:prstGeom prst="rect">
            <a:avLst/>
          </a:prstGeom>
          <a:noFill/>
          <a:ln/>
        </p:spPr>
        <p:txBody>
          <a:bodyPr wrap="square" lIns="0" tIns="0" rIns="0" bIns="0" rtlCol="0" anchor="t"/>
          <a:lstStyle/>
          <a:p>
            <a:pPr indent="0" marL="0">
              <a:buNone/>
            </a:pPr>
            <a:r>
              <a:rPr lang="en-US" sz="1000" dirty="0">
                <a:solidFill>
                  <a:srgbClr val="8E8EA2"/>
                </a:solidFill>
                <a:latin typeface="Arial" pitchFamily="34" charset="0"/>
                <a:ea typeface="Arial" pitchFamily="34" charset="-122"/>
                <a:cs typeface="Arial" pitchFamily="34" charset="-120"/>
              </a:rPr>
              <a:t>Slides 17, 18</a:t>
            </a:r>
            <a:endParaRPr lang="en-US" sz="1000" dirty="0"/>
          </a:p>
        </p:txBody>
      </p:sp>
      <p:sp>
        <p:nvSpPr>
          <p:cNvPr id="34" name="Shape 28"/>
          <p:cNvSpPr/>
          <p:nvPr/>
        </p:nvSpPr>
        <p:spPr>
          <a:xfrm>
            <a:off x="9120911" y="2471318"/>
            <a:ext cx="2613584" cy="3746602"/>
          </a:xfrm>
          <a:prstGeom prst="roundRect">
            <a:avLst>
              <a:gd name="adj" fmla="val 4198"/>
            </a:avLst>
          </a:prstGeom>
          <a:solidFill>
            <a:srgbClr val="171722"/>
          </a:solidFill>
          <a:ln w="9525">
            <a:solidFill>
              <a:srgbClr val="2C2C3E"/>
            </a:solidFill>
            <a:prstDash val="solid"/>
          </a:ln>
        </p:spPr>
      </p:sp>
      <p:sp>
        <p:nvSpPr>
          <p:cNvPr id="35" name="Shape 29"/>
          <p:cNvSpPr/>
          <p:nvPr/>
        </p:nvSpPr>
        <p:spPr>
          <a:xfrm>
            <a:off x="9340367" y="2690774"/>
            <a:ext cx="457200" cy="457200"/>
          </a:xfrm>
          <a:prstGeom prst="ellipse">
            <a:avLst/>
          </a:prstGeom>
          <a:solidFill>
            <a:srgbClr val="1E1A10"/>
          </a:solidFill>
          <a:ln w="9525">
            <a:solidFill>
              <a:srgbClr val="5A4A22"/>
            </a:solidFill>
            <a:prstDash val="solid"/>
          </a:ln>
        </p:spPr>
      </p:sp>
      <p:pic>
        <p:nvPicPr>
          <p:cNvPr id="36" name="Image 3" descr="preencoded.png">    </p:cNvPr>
          <p:cNvPicPr>
            <a:picLocks noChangeAspect="1"/>
          </p:cNvPicPr>
          <p:nvPr/>
        </p:nvPicPr>
        <p:blipFill>
          <a:blip r:embed="rId5"/>
          <a:stretch>
            <a:fillRect/>
          </a:stretch>
        </p:blipFill>
        <p:spPr>
          <a:xfrm>
            <a:off x="9454667" y="2805074"/>
            <a:ext cx="228600" cy="228600"/>
          </a:xfrm>
          <a:prstGeom prst="rect">
            <a:avLst/>
          </a:prstGeom>
        </p:spPr>
      </p:pic>
      <p:sp>
        <p:nvSpPr>
          <p:cNvPr id="37" name="Text 30"/>
          <p:cNvSpPr txBox="1"/>
          <p:nvPr/>
        </p:nvSpPr>
        <p:spPr>
          <a:xfrm>
            <a:off x="9925583" y="2690774"/>
            <a:ext cx="1589456"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No measurement</a:t>
            </a:r>
            <a:endParaRPr lang="en-US" sz="1600" dirty="0"/>
          </a:p>
        </p:txBody>
      </p:sp>
      <p:sp>
        <p:nvSpPr>
          <p:cNvPr id="38" name="Text 31"/>
          <p:cNvSpPr txBox="1"/>
          <p:nvPr/>
        </p:nvSpPr>
        <p:spPr>
          <a:xfrm>
            <a:off x="9340367" y="3330854"/>
            <a:ext cx="2174672" cy="890016"/>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Protocols and vendors fund education without knowing who learned what</a:t>
            </a:r>
            <a:endParaRPr lang="en-US" sz="1400" dirty="0"/>
          </a:p>
        </p:txBody>
      </p:sp>
      <p:sp>
        <p:nvSpPr>
          <p:cNvPr id="39" name="Shape 32"/>
          <p:cNvSpPr/>
          <p:nvPr/>
        </p:nvSpPr>
        <p:spPr>
          <a:xfrm>
            <a:off x="9340367" y="4968240"/>
            <a:ext cx="2174672" cy="0"/>
          </a:xfrm>
          <a:prstGeom prst="line">
            <a:avLst/>
          </a:prstGeom>
          <a:noFill/>
          <a:ln w="9525">
            <a:solidFill>
              <a:srgbClr val="2C2C3E"/>
            </a:solidFill>
            <a:prstDash val="solid"/>
          </a:ln>
        </p:spPr>
      </p:sp>
      <p:sp>
        <p:nvSpPr>
          <p:cNvPr id="40" name="Text 33"/>
          <p:cNvSpPr txBox="1"/>
          <p:nvPr/>
        </p:nvSpPr>
        <p:spPr>
          <a:xfrm>
            <a:off x="9340367" y="5114544"/>
            <a:ext cx="2174672" cy="182880"/>
          </a:xfrm>
          <a:prstGeom prst="rect">
            <a:avLst/>
          </a:prstGeom>
          <a:noFill/>
          <a:ln/>
        </p:spPr>
        <p:txBody>
          <a:bodyPr wrap="square" lIns="0" tIns="0" rIns="0" bIns="0" rtlCol="0" anchor="t"/>
          <a:lstStyle/>
          <a:p>
            <a:pPr indent="0" marL="0">
              <a:buNone/>
            </a:pPr>
            <a:r>
              <a:rPr lang="en-US" sz="850" b="1" spc="120" kern="0" dirty="0">
                <a:solidFill>
                  <a:srgbClr val="8E8EA2"/>
                </a:solidFill>
                <a:latin typeface="Arial" pitchFamily="34" charset="0"/>
                <a:ea typeface="Arial" pitchFamily="34" charset="-122"/>
                <a:cs typeface="Arial" pitchFamily="34" charset="-120"/>
              </a:rPr>
              <a:t>OUR ANSWER</a:t>
            </a:r>
            <a:endParaRPr lang="en-US" sz="850" dirty="0"/>
          </a:p>
        </p:txBody>
      </p:sp>
      <p:sp>
        <p:nvSpPr>
          <p:cNvPr id="41" name="Text 34"/>
          <p:cNvSpPr txBox="1"/>
          <p:nvPr/>
        </p:nvSpPr>
        <p:spPr>
          <a:xfrm>
            <a:off x="9340367" y="5352288"/>
            <a:ext cx="2174672" cy="249936"/>
          </a:xfrm>
          <a:prstGeom prst="rect">
            <a:avLst/>
          </a:prstGeom>
          <a:noFill/>
          <a:ln/>
        </p:spPr>
        <p:txBody>
          <a:bodyPr wrap="square" lIns="0" tIns="0" rIns="0" bIns="0" rtlCol="0" anchor="t"/>
          <a:lstStyle/>
          <a:p>
            <a:pPr indent="0" marL="0">
              <a:buNone/>
            </a:pPr>
            <a:r>
              <a:rPr lang="en-US" sz="1400" b="1" dirty="0">
                <a:solidFill>
                  <a:srgbClr val="F0C96B"/>
                </a:solidFill>
                <a:latin typeface="Arial" pitchFamily="34" charset="0"/>
                <a:ea typeface="Arial" pitchFamily="34" charset="-122"/>
                <a:cs typeface="Arial" pitchFamily="34" charset="-120"/>
              </a:rPr>
              <a:t>Partner dashboard</a:t>
            </a:r>
            <a:endParaRPr lang="en-US" sz="1400" dirty="0"/>
          </a:p>
        </p:txBody>
      </p:sp>
      <p:sp>
        <p:nvSpPr>
          <p:cNvPr id="42" name="Text 35"/>
          <p:cNvSpPr txBox="1"/>
          <p:nvPr/>
        </p:nvSpPr>
        <p:spPr>
          <a:xfrm>
            <a:off x="9340367" y="5815584"/>
            <a:ext cx="2174672" cy="182880"/>
          </a:xfrm>
          <a:prstGeom prst="rect">
            <a:avLst/>
          </a:prstGeom>
          <a:noFill/>
          <a:ln/>
        </p:spPr>
        <p:txBody>
          <a:bodyPr wrap="square" lIns="0" tIns="0" rIns="0" bIns="0" rtlCol="0" anchor="t"/>
          <a:lstStyle/>
          <a:p>
            <a:pPr indent="0" marL="0">
              <a:buNone/>
            </a:pPr>
            <a:r>
              <a:rPr lang="en-US" sz="1000" dirty="0">
                <a:solidFill>
                  <a:srgbClr val="8E8EA2"/>
                </a:solidFill>
                <a:latin typeface="Arial" pitchFamily="34" charset="0"/>
                <a:ea typeface="Arial" pitchFamily="34" charset="-122"/>
                <a:cs typeface="Arial" pitchFamily="34" charset="-120"/>
              </a:rPr>
              <a:t>Slide 16</a:t>
            </a:r>
            <a:endParaRPr lang="en-US" sz="1000" dirty="0"/>
          </a:p>
        </p:txBody>
      </p:sp>
      <p:sp>
        <p:nvSpPr>
          <p:cNvPr id="43" name="Text 36"/>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953521"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715777"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THE CITY</a:t>
            </a:r>
            <a:endParaRPr lang="en-US" sz="900" dirty="0"/>
          </a:p>
        </p:txBody>
      </p:sp>
      <p:sp>
        <p:nvSpPr>
          <p:cNvPr id="5" name="Text 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One city, seven districts, four layers</a:t>
            </a:r>
            <a:endParaRPr lang="en-US" sz="3600" dirty="0"/>
          </a:p>
        </p:txBody>
      </p:sp>
      <p:sp>
        <p:nvSpPr>
          <p:cNvPr id="6" name="Text 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Every course sits in a Knowledge District and a learning layer, so every learner and partner knows where they belong</a:t>
            </a:r>
            <a:endParaRPr lang="en-US" sz="1600" dirty="0"/>
          </a:p>
        </p:txBody>
      </p:sp>
      <p:pic>
        <p:nvPicPr>
          <p:cNvPr id="7" name="Image 0" descr="/tmp/claude-0/-home-user-Chronopoli/d7458f57-86b2-5920-914e-8615357fee63/scratchpad/deck/framed/districts.png">    </p:cNvPr>
          <p:cNvPicPr>
            <a:picLocks noChangeAspect="1"/>
          </p:cNvPicPr>
          <p:nvPr/>
        </p:nvPicPr>
        <p:blipFill>
          <a:blip r:embed="rId2"/>
          <a:stretch>
            <a:fillRect/>
          </a:stretch>
        </p:blipFill>
        <p:spPr>
          <a:xfrm>
            <a:off x="5248999" y="1711795"/>
            <a:ext cx="6661633" cy="4314025"/>
          </a:xfrm>
          <a:prstGeom prst="rect">
            <a:avLst/>
          </a:prstGeom>
        </p:spPr>
      </p:pic>
      <p:sp>
        <p:nvSpPr>
          <p:cNvPr id="8" name="Shape 4"/>
          <p:cNvSpPr/>
          <p:nvPr/>
        </p:nvSpPr>
        <p:spPr>
          <a:xfrm>
            <a:off x="5425135" y="5986844"/>
            <a:ext cx="1495471" cy="219456"/>
          </a:xfrm>
          <a:prstGeom prst="roundRect">
            <a:avLst>
              <a:gd name="adj" fmla="val 50000"/>
            </a:avLst>
          </a:prstGeom>
          <a:solidFill>
            <a:srgbClr val="1B1B27"/>
          </a:solidFill>
          <a:ln w="9525">
            <a:solidFill>
              <a:srgbClr val="3A3A50"/>
            </a:solidFill>
            <a:prstDash val="solid"/>
          </a:ln>
        </p:spPr>
      </p:sp>
      <p:sp>
        <p:nvSpPr>
          <p:cNvPr id="9" name="Shape 5"/>
          <p:cNvSpPr/>
          <p:nvPr/>
        </p:nvSpPr>
        <p:spPr>
          <a:xfrm>
            <a:off x="5516575" y="6059996"/>
            <a:ext cx="73152" cy="73152"/>
          </a:xfrm>
          <a:prstGeom prst="ellipse">
            <a:avLst/>
          </a:prstGeom>
          <a:solidFill>
            <a:srgbClr val="A9A9C6"/>
          </a:solidFill>
          <a:ln/>
        </p:spPr>
      </p:sp>
      <p:sp>
        <p:nvSpPr>
          <p:cNvPr id="10" name="Text 6"/>
          <p:cNvSpPr txBox="1"/>
          <p:nvPr/>
        </p:nvSpPr>
        <p:spPr>
          <a:xfrm>
            <a:off x="5644591" y="5986844"/>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1" name="Text 7"/>
          <p:cNvSpPr txBox="1"/>
          <p:nvPr/>
        </p:nvSpPr>
        <p:spPr>
          <a:xfrm>
            <a:off x="7030334" y="6018848"/>
            <a:ext cx="4704161"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Landing-page preview of the seven districts (not yet deployed)</a:t>
            </a:r>
            <a:endParaRPr lang="en-US" sz="1000" dirty="0"/>
          </a:p>
        </p:txBody>
      </p:sp>
      <p:sp>
        <p:nvSpPr>
          <p:cNvPr id="12" name="Text 8"/>
          <p:cNvSpPr txBox="1"/>
          <p:nvPr/>
        </p:nvSpPr>
        <p:spPr>
          <a:xfrm>
            <a:off x="457200" y="1933651"/>
            <a:ext cx="4510735" cy="1891284"/>
          </a:xfrm>
          <a:prstGeom prst="rect">
            <a:avLst/>
          </a:prstGeom>
          <a:noFill/>
          <a:ln/>
        </p:spPr>
        <p:txBody>
          <a:bodyPr wrap="square" lIns="0" tIns="0" rIns="0" bIns="0" rtlCol="0" anchor="t"/>
          <a:lstStyle/>
          <a:p>
            <a:pPr marL="165100" indent="-165100">
              <a:spcAft>
                <a:spcPts val="900"/>
              </a:spcAft>
              <a:buClr>
                <a:srgbClr val="C9A84C"/>
              </a:buClr>
              <a:buSzPct val="80000"/>
              <a:buChar char="●"/>
            </a:pPr>
            <a:r>
              <a:rPr lang="en-US" sz="1400" dirty="0">
                <a:solidFill>
                  <a:srgbClr val="E8E8F0"/>
                </a:solidFill>
                <a:latin typeface="Arial" pitchFamily="34" charset="0"/>
                <a:ea typeface="Arial" pitchFamily="34" charset="-122"/>
                <a:cs typeface="Arial" pitchFamily="34" charset="-120"/>
              </a:rPr>
              <a:t>7 Knowledge Districts = 7 Open edX organisations: AI, Digital Assets, Governance, Compliance, Investigation, Risk &amp; Trust, Emerging Tech</a:t>
            </a:r>
            <a:endParaRPr lang="en-US" sz="1400" dirty="0"/>
          </a:p>
          <a:p>
            <a:pPr marL="165100" indent="-165100">
              <a:spcAft>
                <a:spcPts val="900"/>
              </a:spcAft>
              <a:buClr>
                <a:srgbClr val="C9A84C"/>
              </a:buClr>
              <a:buSzPct val="80000"/>
              <a:buChar char="●"/>
            </a:pPr>
            <a:r>
              <a:rPr lang="en-US" sz="1400" dirty="0">
                <a:solidFill>
                  <a:srgbClr val="E8E8F0"/>
                </a:solidFill>
                <a:latin typeface="Arial" pitchFamily="34" charset="0"/>
                <a:ea typeface="Arial" pitchFamily="34" charset="-122"/>
                <a:cs typeface="Arial" pitchFamily="34" charset="-120"/>
              </a:rPr>
              <a:t>4 learning layers set depth and price (below)</a:t>
            </a:r>
            <a:endParaRPr lang="en-US" sz="1400" dirty="0"/>
          </a:p>
          <a:p>
            <a:pPr marL="165100" indent="-165100">
              <a:spcAft>
                <a:spcPts val="900"/>
              </a:spcAft>
              <a:buClr>
                <a:srgbClr val="C9A84C"/>
              </a:buClr>
              <a:buSzPct val="80000"/>
              <a:buChar char="●"/>
            </a:pPr>
            <a:r>
              <a:rPr lang="en-US" sz="1400" dirty="0">
                <a:solidFill>
                  <a:srgbClr val="E8E8F0"/>
                </a:solidFill>
                <a:latin typeface="Arial" pitchFamily="34" charset="0"/>
                <a:ea typeface="Arial" pitchFamily="34" charset="-122"/>
                <a:cs typeface="Arial" pitchFamily="34" charset="-120"/>
              </a:rPr>
              <a:t>Partners publish tracks into several districts and can run their own academy on a partner subdomain</a:t>
            </a:r>
            <a:endParaRPr lang="en-US" sz="1400" dirty="0"/>
          </a:p>
          <a:p>
            <a:pPr marL="165100" indent="-165100">
              <a:buClr>
                <a:srgbClr val="C9A84C"/>
              </a:buClr>
              <a:buSzPct val="80000"/>
              <a:buChar char="●"/>
            </a:pPr>
            <a:r>
              <a:rPr lang="en-US" sz="1400" dirty="0">
                <a:solidFill>
                  <a:srgbClr val="E8E8F0"/>
                </a:solidFill>
                <a:latin typeface="Arial" pitchFamily="34" charset="0"/>
                <a:ea typeface="Arial" pitchFamily="34" charset="-122"/>
                <a:cs typeface="Arial" pitchFamily="34" charset="-120"/>
              </a:rPr>
              <a:t>One account for courses and community</a:t>
            </a:r>
            <a:endParaRPr lang="en-US" sz="1400" dirty="0"/>
          </a:p>
        </p:txBody>
      </p:sp>
      <p:sp>
        <p:nvSpPr>
          <p:cNvPr id="13" name="Shape 9"/>
          <p:cNvSpPr/>
          <p:nvPr/>
        </p:nvSpPr>
        <p:spPr>
          <a:xfrm>
            <a:off x="457200" y="5394960"/>
            <a:ext cx="1059104" cy="822960"/>
          </a:xfrm>
          <a:prstGeom prst="roundRect">
            <a:avLst>
              <a:gd name="adj" fmla="val 6667"/>
            </a:avLst>
          </a:prstGeom>
          <a:solidFill>
            <a:srgbClr val="1B1812"/>
          </a:solidFill>
          <a:ln w="9525">
            <a:solidFill>
              <a:srgbClr val="5A4A22"/>
            </a:solidFill>
            <a:prstDash val="solid"/>
          </a:ln>
        </p:spPr>
      </p:sp>
      <p:sp>
        <p:nvSpPr>
          <p:cNvPr id="14" name="Text 10"/>
          <p:cNvSpPr txBox="1"/>
          <p:nvPr/>
        </p:nvSpPr>
        <p:spPr>
          <a:xfrm>
            <a:off x="548640" y="5468112"/>
            <a:ext cx="921944"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L1</a:t>
            </a:r>
            <a:endParaRPr lang="en-US" sz="1100" dirty="0"/>
          </a:p>
        </p:txBody>
      </p:sp>
      <p:sp>
        <p:nvSpPr>
          <p:cNvPr id="15" name="Text 11"/>
          <p:cNvSpPr txBox="1"/>
          <p:nvPr/>
        </p:nvSpPr>
        <p:spPr>
          <a:xfrm>
            <a:off x="548640" y="5650992"/>
            <a:ext cx="921944" cy="182880"/>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Entry</a:t>
            </a:r>
            <a:endParaRPr lang="en-US" sz="1000" dirty="0"/>
          </a:p>
        </p:txBody>
      </p:sp>
      <p:sp>
        <p:nvSpPr>
          <p:cNvPr id="16" name="Text 12"/>
          <p:cNvSpPr txBox="1"/>
          <p:nvPr/>
        </p:nvSpPr>
        <p:spPr>
          <a:xfrm>
            <a:off x="548640" y="5824728"/>
            <a:ext cx="921944" cy="182880"/>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$0–$149</a:t>
            </a:r>
            <a:endParaRPr lang="en-US" sz="1000" dirty="0"/>
          </a:p>
        </p:txBody>
      </p:sp>
      <p:sp>
        <p:nvSpPr>
          <p:cNvPr id="17" name="Shape 13"/>
          <p:cNvSpPr/>
          <p:nvPr/>
        </p:nvSpPr>
        <p:spPr>
          <a:xfrm>
            <a:off x="1607744" y="5257800"/>
            <a:ext cx="1059104" cy="960120"/>
          </a:xfrm>
          <a:prstGeom prst="roundRect">
            <a:avLst>
              <a:gd name="adj" fmla="val 5714"/>
            </a:avLst>
          </a:prstGeom>
          <a:solidFill>
            <a:srgbClr val="2A2415"/>
          </a:solidFill>
          <a:ln w="9525">
            <a:solidFill>
              <a:srgbClr val="5A4A22"/>
            </a:solidFill>
            <a:prstDash val="solid"/>
          </a:ln>
        </p:spPr>
      </p:sp>
      <p:sp>
        <p:nvSpPr>
          <p:cNvPr id="18" name="Text 14"/>
          <p:cNvSpPr txBox="1"/>
          <p:nvPr/>
        </p:nvSpPr>
        <p:spPr>
          <a:xfrm>
            <a:off x="1699184" y="5330952"/>
            <a:ext cx="921944"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L2</a:t>
            </a:r>
            <a:endParaRPr lang="en-US" sz="1100" dirty="0"/>
          </a:p>
        </p:txBody>
      </p:sp>
      <p:sp>
        <p:nvSpPr>
          <p:cNvPr id="19" name="Text 15"/>
          <p:cNvSpPr txBox="1"/>
          <p:nvPr/>
        </p:nvSpPr>
        <p:spPr>
          <a:xfrm>
            <a:off x="1699184" y="5513832"/>
            <a:ext cx="921944" cy="182880"/>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Professional</a:t>
            </a:r>
            <a:endParaRPr lang="en-US" sz="1000" dirty="0"/>
          </a:p>
        </p:txBody>
      </p:sp>
      <p:sp>
        <p:nvSpPr>
          <p:cNvPr id="20" name="Text 16"/>
          <p:cNvSpPr txBox="1"/>
          <p:nvPr/>
        </p:nvSpPr>
        <p:spPr>
          <a:xfrm>
            <a:off x="1699184" y="5687568"/>
            <a:ext cx="921944" cy="182880"/>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$299–$799</a:t>
            </a:r>
            <a:endParaRPr lang="en-US" sz="1000" dirty="0"/>
          </a:p>
        </p:txBody>
      </p:sp>
      <p:sp>
        <p:nvSpPr>
          <p:cNvPr id="21" name="Shape 17"/>
          <p:cNvSpPr/>
          <p:nvPr/>
        </p:nvSpPr>
        <p:spPr>
          <a:xfrm>
            <a:off x="2758288" y="5120640"/>
            <a:ext cx="1059104" cy="1097280"/>
          </a:xfrm>
          <a:prstGeom prst="roundRect">
            <a:avLst>
              <a:gd name="adj" fmla="val 5180"/>
            </a:avLst>
          </a:prstGeom>
          <a:solidFill>
            <a:srgbClr val="3C321A"/>
          </a:solidFill>
          <a:ln w="9525">
            <a:solidFill>
              <a:srgbClr val="5A4A22"/>
            </a:solidFill>
            <a:prstDash val="solid"/>
          </a:ln>
        </p:spPr>
      </p:sp>
      <p:sp>
        <p:nvSpPr>
          <p:cNvPr id="22" name="Text 18"/>
          <p:cNvSpPr txBox="1"/>
          <p:nvPr/>
        </p:nvSpPr>
        <p:spPr>
          <a:xfrm>
            <a:off x="2849728" y="5193792"/>
            <a:ext cx="921944"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L3</a:t>
            </a:r>
            <a:endParaRPr lang="en-US" sz="1100" dirty="0"/>
          </a:p>
        </p:txBody>
      </p:sp>
      <p:sp>
        <p:nvSpPr>
          <p:cNvPr id="23" name="Text 19"/>
          <p:cNvSpPr txBox="1"/>
          <p:nvPr/>
        </p:nvSpPr>
        <p:spPr>
          <a:xfrm>
            <a:off x="2849728" y="5376672"/>
            <a:ext cx="921944" cy="182880"/>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Institutional</a:t>
            </a:r>
            <a:endParaRPr lang="en-US" sz="1000" dirty="0"/>
          </a:p>
        </p:txBody>
      </p:sp>
      <p:sp>
        <p:nvSpPr>
          <p:cNvPr id="24" name="Text 20"/>
          <p:cNvSpPr txBox="1"/>
          <p:nvPr/>
        </p:nvSpPr>
        <p:spPr>
          <a:xfrm>
            <a:off x="2849728" y="5550408"/>
            <a:ext cx="921944" cy="182880"/>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$999–$2,499</a:t>
            </a:r>
            <a:endParaRPr lang="en-US" sz="1000" dirty="0"/>
          </a:p>
        </p:txBody>
      </p:sp>
      <p:sp>
        <p:nvSpPr>
          <p:cNvPr id="25" name="Shape 21"/>
          <p:cNvSpPr/>
          <p:nvPr/>
        </p:nvSpPr>
        <p:spPr>
          <a:xfrm>
            <a:off x="3908831" y="4983480"/>
            <a:ext cx="1059104" cy="1234440"/>
          </a:xfrm>
          <a:prstGeom prst="roundRect">
            <a:avLst>
              <a:gd name="adj" fmla="val 5180"/>
            </a:avLst>
          </a:prstGeom>
          <a:solidFill>
            <a:srgbClr val="54441F"/>
          </a:solidFill>
          <a:ln w="9525">
            <a:solidFill>
              <a:srgbClr val="5A4A22"/>
            </a:solidFill>
            <a:prstDash val="solid"/>
          </a:ln>
        </p:spPr>
      </p:sp>
      <p:sp>
        <p:nvSpPr>
          <p:cNvPr id="26" name="Text 22"/>
          <p:cNvSpPr txBox="1"/>
          <p:nvPr/>
        </p:nvSpPr>
        <p:spPr>
          <a:xfrm>
            <a:off x="4000271" y="5056632"/>
            <a:ext cx="921944"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L4</a:t>
            </a:r>
            <a:endParaRPr lang="en-US" sz="1100" dirty="0"/>
          </a:p>
        </p:txBody>
      </p:sp>
      <p:sp>
        <p:nvSpPr>
          <p:cNvPr id="27" name="Text 23"/>
          <p:cNvSpPr txBox="1"/>
          <p:nvPr/>
        </p:nvSpPr>
        <p:spPr>
          <a:xfrm>
            <a:off x="4000271" y="5239512"/>
            <a:ext cx="921944" cy="182880"/>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Influence</a:t>
            </a:r>
            <a:endParaRPr lang="en-US" sz="1000" dirty="0"/>
          </a:p>
        </p:txBody>
      </p:sp>
      <p:sp>
        <p:nvSpPr>
          <p:cNvPr id="28" name="Text 24"/>
          <p:cNvSpPr txBox="1"/>
          <p:nvPr/>
        </p:nvSpPr>
        <p:spPr>
          <a:xfrm>
            <a:off x="4000271" y="5413248"/>
            <a:ext cx="921944" cy="182880"/>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$3,000–$8,000</a:t>
            </a:r>
            <a:endParaRPr lang="en-US" sz="1000" dirty="0"/>
          </a:p>
        </p:txBody>
      </p:sp>
      <p:sp>
        <p:nvSpPr>
          <p:cNvPr id="29" name="Text 25"/>
          <p:cNvSpPr txBox="1"/>
          <p:nvPr/>
        </p:nvSpPr>
        <p:spPr>
          <a:xfrm>
            <a:off x="457200" y="4489704"/>
            <a:ext cx="4510735"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LEARNING LAYERS: DEPTH AND PRICE RISE TOGETHER</a:t>
            </a:r>
            <a:endParaRPr lang="en-US" sz="850" dirty="0"/>
          </a:p>
        </p:txBody>
      </p:sp>
      <p:sp>
        <p:nvSpPr>
          <p:cNvPr id="30" name="Text 26"/>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41448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17674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a:t>
            </a:r>
            <a:endParaRPr lang="en-US" sz="900" dirty="0"/>
          </a:p>
        </p:txBody>
      </p:sp>
      <p:sp>
        <p:nvSpPr>
          <p:cNvPr id="5" name="Text 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Product tour: one learner, end to end</a:t>
            </a:r>
            <a:endParaRPr lang="en-US" sz="3600" dirty="0"/>
          </a:p>
        </p:txBody>
      </p:sp>
      <p:sp>
        <p:nvSpPr>
          <p:cNvPr id="6" name="Text 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Layla Al-Mansoori, MLRO at Gulf Digital Exchange (fictitious VASP), earns a stablecoin compliance credential</a:t>
            </a:r>
            <a:endParaRPr lang="en-US" sz="1600" dirty="0"/>
          </a:p>
        </p:txBody>
      </p:sp>
      <p:sp>
        <p:nvSpPr>
          <p:cNvPr id="7" name="Shape 4"/>
          <p:cNvSpPr/>
          <p:nvPr/>
        </p:nvSpPr>
        <p:spPr>
          <a:xfrm>
            <a:off x="1083716" y="2189683"/>
            <a:ext cx="10024262" cy="0"/>
          </a:xfrm>
          <a:prstGeom prst="line">
            <a:avLst/>
          </a:prstGeom>
          <a:noFill/>
          <a:ln w="15875">
            <a:solidFill>
              <a:srgbClr val="9B7A2E"/>
            </a:solidFill>
            <a:prstDash val="solid"/>
          </a:ln>
        </p:spPr>
      </p:sp>
      <p:sp>
        <p:nvSpPr>
          <p:cNvPr id="8" name="Shape 5"/>
          <p:cNvSpPr/>
          <p:nvPr/>
        </p:nvSpPr>
        <p:spPr>
          <a:xfrm>
            <a:off x="855116" y="1961083"/>
            <a:ext cx="457200" cy="457200"/>
          </a:xfrm>
          <a:prstGeom prst="ellipse">
            <a:avLst/>
          </a:prstGeom>
          <a:solidFill>
            <a:srgbClr val="1E1A10"/>
          </a:solidFill>
          <a:ln w="15875">
            <a:solidFill>
              <a:srgbClr val="C9A84C"/>
            </a:solidFill>
            <a:prstDash val="solid"/>
          </a:ln>
        </p:spPr>
      </p:sp>
      <p:sp>
        <p:nvSpPr>
          <p:cNvPr id="9" name="Text 6"/>
          <p:cNvSpPr txBox="1"/>
          <p:nvPr/>
        </p:nvSpPr>
        <p:spPr>
          <a:xfrm>
            <a:off x="855116"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484632"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Discover</a:t>
            </a:r>
            <a:endParaRPr lang="en-US" sz="1200" dirty="0"/>
          </a:p>
        </p:txBody>
      </p:sp>
      <p:sp>
        <p:nvSpPr>
          <p:cNvPr id="11" name="Text 8"/>
          <p:cNvSpPr txBox="1"/>
          <p:nvPr/>
        </p:nvSpPr>
        <p:spPr>
          <a:xfrm>
            <a:off x="502920"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One catalogue, one sign-up</a:t>
            </a:r>
            <a:endParaRPr lang="en-US" sz="1050" dirty="0"/>
          </a:p>
        </p:txBody>
      </p:sp>
      <p:sp>
        <p:nvSpPr>
          <p:cNvPr id="12" name="Text 9"/>
          <p:cNvSpPr txBox="1"/>
          <p:nvPr/>
        </p:nvSpPr>
        <p:spPr>
          <a:xfrm>
            <a:off x="457200"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5</a:t>
            </a:r>
            <a:endParaRPr lang="en-US" sz="900" dirty="0"/>
          </a:p>
        </p:txBody>
      </p:sp>
      <p:sp>
        <p:nvSpPr>
          <p:cNvPr id="13" name="Shape 10"/>
          <p:cNvSpPr/>
          <p:nvPr/>
        </p:nvSpPr>
        <p:spPr>
          <a:xfrm>
            <a:off x="2108149" y="1961083"/>
            <a:ext cx="457200" cy="457200"/>
          </a:xfrm>
          <a:prstGeom prst="ellipse">
            <a:avLst/>
          </a:prstGeom>
          <a:solidFill>
            <a:srgbClr val="1E1A10"/>
          </a:solidFill>
          <a:ln w="15875">
            <a:solidFill>
              <a:srgbClr val="C9A84C"/>
            </a:solidFill>
            <a:prstDash val="solid"/>
          </a:ln>
        </p:spPr>
      </p:sp>
      <p:sp>
        <p:nvSpPr>
          <p:cNvPr id="14" name="Text 11"/>
          <p:cNvSpPr txBox="1"/>
          <p:nvPr/>
        </p:nvSpPr>
        <p:spPr>
          <a:xfrm>
            <a:off x="2108149"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2</a:t>
            </a:r>
            <a:endParaRPr lang="en-US" sz="1500" dirty="0"/>
          </a:p>
        </p:txBody>
      </p:sp>
      <p:sp>
        <p:nvSpPr>
          <p:cNvPr id="15" name="Text 12"/>
          <p:cNvSpPr txBox="1"/>
          <p:nvPr/>
        </p:nvSpPr>
        <p:spPr>
          <a:xfrm>
            <a:off x="1737665"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Onboarding</a:t>
            </a:r>
            <a:endParaRPr lang="en-US" sz="1200" dirty="0"/>
          </a:p>
        </p:txBody>
      </p:sp>
      <p:sp>
        <p:nvSpPr>
          <p:cNvPr id="16" name="Text 13"/>
          <p:cNvSpPr txBox="1"/>
          <p:nvPr/>
        </p:nvSpPr>
        <p:spPr>
          <a:xfrm>
            <a:off x="1755953"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Routed in 5 questions</a:t>
            </a:r>
            <a:endParaRPr lang="en-US" sz="1050" dirty="0"/>
          </a:p>
        </p:txBody>
      </p:sp>
      <p:sp>
        <p:nvSpPr>
          <p:cNvPr id="17" name="Text 14"/>
          <p:cNvSpPr txBox="1"/>
          <p:nvPr/>
        </p:nvSpPr>
        <p:spPr>
          <a:xfrm>
            <a:off x="1710233"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6</a:t>
            </a:r>
            <a:endParaRPr lang="en-US" sz="900" dirty="0"/>
          </a:p>
        </p:txBody>
      </p:sp>
      <p:sp>
        <p:nvSpPr>
          <p:cNvPr id="18" name="Shape 15"/>
          <p:cNvSpPr/>
          <p:nvPr/>
        </p:nvSpPr>
        <p:spPr>
          <a:xfrm>
            <a:off x="3361182" y="1961083"/>
            <a:ext cx="457200" cy="457200"/>
          </a:xfrm>
          <a:prstGeom prst="ellipse">
            <a:avLst/>
          </a:prstGeom>
          <a:solidFill>
            <a:srgbClr val="1E1A10"/>
          </a:solidFill>
          <a:ln w="15875">
            <a:solidFill>
              <a:srgbClr val="C9A84C"/>
            </a:solidFill>
            <a:prstDash val="solid"/>
          </a:ln>
        </p:spPr>
      </p:sp>
      <p:sp>
        <p:nvSpPr>
          <p:cNvPr id="19" name="Text 16"/>
          <p:cNvSpPr txBox="1"/>
          <p:nvPr/>
        </p:nvSpPr>
        <p:spPr>
          <a:xfrm>
            <a:off x="3361182"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2990698"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Partner academy</a:t>
            </a:r>
            <a:endParaRPr lang="en-US" sz="1200" dirty="0"/>
          </a:p>
        </p:txBody>
      </p:sp>
      <p:sp>
        <p:nvSpPr>
          <p:cNvPr id="21" name="Text 18"/>
          <p:cNvSpPr txBox="1"/>
          <p:nvPr/>
        </p:nvSpPr>
        <p:spPr>
          <a:xfrm>
            <a:off x="3008986"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Pick a pathway</a:t>
            </a:r>
            <a:endParaRPr lang="en-US" sz="1050" dirty="0"/>
          </a:p>
        </p:txBody>
      </p:sp>
      <p:sp>
        <p:nvSpPr>
          <p:cNvPr id="22" name="Text 19"/>
          <p:cNvSpPr txBox="1"/>
          <p:nvPr/>
        </p:nvSpPr>
        <p:spPr>
          <a:xfrm>
            <a:off x="2963266"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7</a:t>
            </a:r>
            <a:endParaRPr lang="en-US" sz="900" dirty="0"/>
          </a:p>
        </p:txBody>
      </p:sp>
      <p:sp>
        <p:nvSpPr>
          <p:cNvPr id="23" name="Shape 20"/>
          <p:cNvSpPr/>
          <p:nvPr/>
        </p:nvSpPr>
        <p:spPr>
          <a:xfrm>
            <a:off x="4614215" y="1961083"/>
            <a:ext cx="457200" cy="457200"/>
          </a:xfrm>
          <a:prstGeom prst="ellipse">
            <a:avLst/>
          </a:prstGeom>
          <a:solidFill>
            <a:srgbClr val="1E1A10"/>
          </a:solidFill>
          <a:ln w="15875">
            <a:solidFill>
              <a:srgbClr val="C9A84C"/>
            </a:solidFill>
            <a:prstDash val="solid"/>
          </a:ln>
        </p:spPr>
      </p:sp>
      <p:sp>
        <p:nvSpPr>
          <p:cNvPr id="24" name="Text 21"/>
          <p:cNvSpPr txBox="1"/>
          <p:nvPr/>
        </p:nvSpPr>
        <p:spPr>
          <a:xfrm>
            <a:off x="4614215"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4</a:t>
            </a:r>
            <a:endParaRPr lang="en-US" sz="1500" dirty="0"/>
          </a:p>
        </p:txBody>
      </p:sp>
      <p:sp>
        <p:nvSpPr>
          <p:cNvPr id="25" name="Text 22"/>
          <p:cNvSpPr txBox="1"/>
          <p:nvPr/>
        </p:nvSpPr>
        <p:spPr>
          <a:xfrm>
            <a:off x="4243730"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Enrol &amp; pay</a:t>
            </a:r>
            <a:endParaRPr lang="en-US" sz="1200" dirty="0"/>
          </a:p>
        </p:txBody>
      </p:sp>
      <p:sp>
        <p:nvSpPr>
          <p:cNvPr id="26" name="Text 23"/>
          <p:cNvSpPr txBox="1"/>
          <p:nvPr/>
        </p:nvSpPr>
        <p:spPr>
          <a:xfrm>
            <a:off x="4262018"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Stripe Checkout</a:t>
            </a:r>
            <a:endParaRPr lang="en-US" sz="1050" dirty="0"/>
          </a:p>
        </p:txBody>
      </p:sp>
      <p:sp>
        <p:nvSpPr>
          <p:cNvPr id="27" name="Text 24"/>
          <p:cNvSpPr txBox="1"/>
          <p:nvPr/>
        </p:nvSpPr>
        <p:spPr>
          <a:xfrm>
            <a:off x="4216298"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8</a:t>
            </a:r>
            <a:endParaRPr lang="en-US" sz="900" dirty="0"/>
          </a:p>
        </p:txBody>
      </p:sp>
      <p:sp>
        <p:nvSpPr>
          <p:cNvPr id="28" name="Shape 25"/>
          <p:cNvSpPr/>
          <p:nvPr/>
        </p:nvSpPr>
        <p:spPr>
          <a:xfrm>
            <a:off x="5867248" y="1961083"/>
            <a:ext cx="457200" cy="457200"/>
          </a:xfrm>
          <a:prstGeom prst="ellipse">
            <a:avLst/>
          </a:prstGeom>
          <a:solidFill>
            <a:srgbClr val="1E1A10"/>
          </a:solidFill>
          <a:ln w="15875">
            <a:solidFill>
              <a:srgbClr val="C9A84C"/>
            </a:solidFill>
            <a:prstDash val="solid"/>
          </a:ln>
        </p:spPr>
      </p:sp>
      <p:sp>
        <p:nvSpPr>
          <p:cNvPr id="29" name="Text 26"/>
          <p:cNvSpPr txBox="1"/>
          <p:nvPr/>
        </p:nvSpPr>
        <p:spPr>
          <a:xfrm>
            <a:off x="5867248"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5</a:t>
            </a:r>
            <a:endParaRPr lang="en-US" sz="1500" dirty="0"/>
          </a:p>
        </p:txBody>
      </p:sp>
      <p:sp>
        <p:nvSpPr>
          <p:cNvPr id="30" name="Text 27"/>
          <p:cNvSpPr txBox="1"/>
          <p:nvPr/>
        </p:nvSpPr>
        <p:spPr>
          <a:xfrm>
            <a:off x="5496763"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Learn</a:t>
            </a:r>
            <a:endParaRPr lang="en-US" sz="1200" dirty="0"/>
          </a:p>
        </p:txBody>
      </p:sp>
      <p:sp>
        <p:nvSpPr>
          <p:cNvPr id="31" name="Text 28"/>
          <p:cNvSpPr txBox="1"/>
          <p:nvPr/>
        </p:nvSpPr>
        <p:spPr>
          <a:xfrm>
            <a:off x="5515051"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Lessons and graded checks</a:t>
            </a:r>
            <a:endParaRPr lang="en-US" sz="1050" dirty="0"/>
          </a:p>
        </p:txBody>
      </p:sp>
      <p:sp>
        <p:nvSpPr>
          <p:cNvPr id="32" name="Text 29"/>
          <p:cNvSpPr txBox="1"/>
          <p:nvPr/>
        </p:nvSpPr>
        <p:spPr>
          <a:xfrm>
            <a:off x="5469331"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9</a:t>
            </a:r>
            <a:endParaRPr lang="en-US" sz="900" dirty="0"/>
          </a:p>
        </p:txBody>
      </p:sp>
      <p:sp>
        <p:nvSpPr>
          <p:cNvPr id="33" name="Shape 30"/>
          <p:cNvSpPr/>
          <p:nvPr/>
        </p:nvSpPr>
        <p:spPr>
          <a:xfrm>
            <a:off x="7120280" y="1961083"/>
            <a:ext cx="457200" cy="457200"/>
          </a:xfrm>
          <a:prstGeom prst="ellipse">
            <a:avLst/>
          </a:prstGeom>
          <a:solidFill>
            <a:srgbClr val="1E1A10"/>
          </a:solidFill>
          <a:ln w="15875">
            <a:solidFill>
              <a:srgbClr val="C9A84C"/>
            </a:solidFill>
            <a:prstDash val="solid"/>
          </a:ln>
        </p:spPr>
      </p:sp>
      <p:sp>
        <p:nvSpPr>
          <p:cNvPr id="34" name="Text 31"/>
          <p:cNvSpPr txBox="1"/>
          <p:nvPr/>
        </p:nvSpPr>
        <p:spPr>
          <a:xfrm>
            <a:off x="7120280"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6</a:t>
            </a:r>
            <a:endParaRPr lang="en-US" sz="1500" dirty="0"/>
          </a:p>
        </p:txBody>
      </p:sp>
      <p:sp>
        <p:nvSpPr>
          <p:cNvPr id="35" name="Text 32"/>
          <p:cNvSpPr txBox="1"/>
          <p:nvPr/>
        </p:nvSpPr>
        <p:spPr>
          <a:xfrm>
            <a:off x="6749796"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AI tutor</a:t>
            </a:r>
            <a:endParaRPr lang="en-US" sz="1200" dirty="0"/>
          </a:p>
        </p:txBody>
      </p:sp>
      <p:sp>
        <p:nvSpPr>
          <p:cNvPr id="36" name="Text 33"/>
          <p:cNvSpPr txBox="1"/>
          <p:nvPr/>
        </p:nvSpPr>
        <p:spPr>
          <a:xfrm>
            <a:off x="6768084"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Cited answers inside the lesson</a:t>
            </a:r>
            <a:endParaRPr lang="en-US" sz="1050" dirty="0"/>
          </a:p>
        </p:txBody>
      </p:sp>
      <p:sp>
        <p:nvSpPr>
          <p:cNvPr id="37" name="Text 34"/>
          <p:cNvSpPr txBox="1"/>
          <p:nvPr/>
        </p:nvSpPr>
        <p:spPr>
          <a:xfrm>
            <a:off x="6722364"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10</a:t>
            </a:r>
            <a:endParaRPr lang="en-US" sz="900" dirty="0"/>
          </a:p>
        </p:txBody>
      </p:sp>
      <p:sp>
        <p:nvSpPr>
          <p:cNvPr id="38" name="Shape 35"/>
          <p:cNvSpPr/>
          <p:nvPr/>
        </p:nvSpPr>
        <p:spPr>
          <a:xfrm>
            <a:off x="8373313" y="1961083"/>
            <a:ext cx="457200" cy="457200"/>
          </a:xfrm>
          <a:prstGeom prst="ellipse">
            <a:avLst/>
          </a:prstGeom>
          <a:solidFill>
            <a:srgbClr val="1E1A10"/>
          </a:solidFill>
          <a:ln w="15875">
            <a:solidFill>
              <a:srgbClr val="C9A84C"/>
            </a:solidFill>
            <a:prstDash val="solid"/>
          </a:ln>
        </p:spPr>
      </p:sp>
      <p:sp>
        <p:nvSpPr>
          <p:cNvPr id="39" name="Text 36"/>
          <p:cNvSpPr txBox="1"/>
          <p:nvPr/>
        </p:nvSpPr>
        <p:spPr>
          <a:xfrm>
            <a:off x="8373313"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7</a:t>
            </a:r>
            <a:endParaRPr lang="en-US" sz="1500" dirty="0"/>
          </a:p>
        </p:txBody>
      </p:sp>
      <p:sp>
        <p:nvSpPr>
          <p:cNvPr id="40" name="Text 37"/>
          <p:cNvSpPr txBox="1"/>
          <p:nvPr/>
        </p:nvSpPr>
        <p:spPr>
          <a:xfrm>
            <a:off x="8002829"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Pass &amp; pathway</a:t>
            </a:r>
            <a:endParaRPr lang="en-US" sz="1200" dirty="0"/>
          </a:p>
        </p:txBody>
      </p:sp>
      <p:sp>
        <p:nvSpPr>
          <p:cNvPr id="41" name="Text 38"/>
          <p:cNvSpPr txBox="1"/>
          <p:nvPr/>
        </p:nvSpPr>
        <p:spPr>
          <a:xfrm>
            <a:off x="8021117"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Grades roll up to the pathway</a:t>
            </a:r>
            <a:endParaRPr lang="en-US" sz="1050" dirty="0"/>
          </a:p>
        </p:txBody>
      </p:sp>
      <p:sp>
        <p:nvSpPr>
          <p:cNvPr id="42" name="Text 39"/>
          <p:cNvSpPr txBox="1"/>
          <p:nvPr/>
        </p:nvSpPr>
        <p:spPr>
          <a:xfrm>
            <a:off x="7975397"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11</a:t>
            </a:r>
            <a:endParaRPr lang="en-US" sz="900" dirty="0"/>
          </a:p>
        </p:txBody>
      </p:sp>
      <p:sp>
        <p:nvSpPr>
          <p:cNvPr id="43" name="Shape 40"/>
          <p:cNvSpPr/>
          <p:nvPr/>
        </p:nvSpPr>
        <p:spPr>
          <a:xfrm>
            <a:off x="9626346" y="1961083"/>
            <a:ext cx="457200" cy="457200"/>
          </a:xfrm>
          <a:prstGeom prst="ellipse">
            <a:avLst/>
          </a:prstGeom>
          <a:solidFill>
            <a:srgbClr val="1E1A10"/>
          </a:solidFill>
          <a:ln w="15875">
            <a:solidFill>
              <a:srgbClr val="C9A84C"/>
            </a:solidFill>
            <a:prstDash val="solid"/>
          </a:ln>
        </p:spPr>
      </p:sp>
      <p:sp>
        <p:nvSpPr>
          <p:cNvPr id="44" name="Text 41"/>
          <p:cNvSpPr txBox="1"/>
          <p:nvPr/>
        </p:nvSpPr>
        <p:spPr>
          <a:xfrm>
            <a:off x="9626346"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8</a:t>
            </a:r>
            <a:endParaRPr lang="en-US" sz="1500" dirty="0"/>
          </a:p>
        </p:txBody>
      </p:sp>
      <p:sp>
        <p:nvSpPr>
          <p:cNvPr id="45" name="Text 42"/>
          <p:cNvSpPr txBox="1"/>
          <p:nvPr/>
        </p:nvSpPr>
        <p:spPr>
          <a:xfrm>
            <a:off x="9255862"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Badge to job</a:t>
            </a:r>
            <a:endParaRPr lang="en-US" sz="1200" dirty="0"/>
          </a:p>
        </p:txBody>
      </p:sp>
      <p:sp>
        <p:nvSpPr>
          <p:cNvPr id="46" name="Text 43"/>
          <p:cNvSpPr txBox="1"/>
          <p:nvPr/>
        </p:nvSpPr>
        <p:spPr>
          <a:xfrm>
            <a:off x="9274150"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Open Badge, matched to a job</a:t>
            </a:r>
            <a:endParaRPr lang="en-US" sz="1050" dirty="0"/>
          </a:p>
        </p:txBody>
      </p:sp>
      <p:sp>
        <p:nvSpPr>
          <p:cNvPr id="47" name="Text 44"/>
          <p:cNvSpPr txBox="1"/>
          <p:nvPr/>
        </p:nvSpPr>
        <p:spPr>
          <a:xfrm>
            <a:off x="9228430"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12</a:t>
            </a:r>
            <a:endParaRPr lang="en-US" sz="900" dirty="0"/>
          </a:p>
        </p:txBody>
      </p:sp>
      <p:sp>
        <p:nvSpPr>
          <p:cNvPr id="48" name="Shape 45"/>
          <p:cNvSpPr/>
          <p:nvPr/>
        </p:nvSpPr>
        <p:spPr>
          <a:xfrm>
            <a:off x="10879379" y="1961083"/>
            <a:ext cx="457200" cy="457200"/>
          </a:xfrm>
          <a:prstGeom prst="ellipse">
            <a:avLst/>
          </a:prstGeom>
          <a:solidFill>
            <a:srgbClr val="1E1A10"/>
          </a:solidFill>
          <a:ln w="15875">
            <a:solidFill>
              <a:srgbClr val="C9A84C"/>
            </a:solidFill>
            <a:prstDash val="solid"/>
          </a:ln>
        </p:spPr>
      </p:sp>
      <p:sp>
        <p:nvSpPr>
          <p:cNvPr id="49" name="Text 46"/>
          <p:cNvSpPr txBox="1"/>
          <p:nvPr/>
        </p:nvSpPr>
        <p:spPr>
          <a:xfrm>
            <a:off x="10879379" y="1961083"/>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9</a:t>
            </a:r>
            <a:endParaRPr lang="en-US" sz="1500" dirty="0"/>
          </a:p>
        </p:txBody>
      </p:sp>
      <p:sp>
        <p:nvSpPr>
          <p:cNvPr id="50" name="Text 47"/>
          <p:cNvSpPr txBox="1"/>
          <p:nvPr/>
        </p:nvSpPr>
        <p:spPr>
          <a:xfrm>
            <a:off x="10508894" y="2528011"/>
            <a:ext cx="1198169" cy="384048"/>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Community &amp; video</a:t>
            </a:r>
            <a:endParaRPr lang="en-US" sz="1200" dirty="0"/>
          </a:p>
        </p:txBody>
      </p:sp>
      <p:sp>
        <p:nvSpPr>
          <p:cNvPr id="51" name="Text 48"/>
          <p:cNvSpPr txBox="1"/>
          <p:nvPr/>
        </p:nvSpPr>
        <p:spPr>
          <a:xfrm>
            <a:off x="10527182" y="2948635"/>
            <a:ext cx="1161593" cy="457200"/>
          </a:xfrm>
          <a:prstGeom prst="rect">
            <a:avLst/>
          </a:prstGeom>
          <a:noFill/>
          <a:ln/>
        </p:spPr>
        <p:txBody>
          <a:bodyPr wrap="square" lIns="0" tIns="0" rIns="0" bIns="0" rtlCol="0" anchor="t"/>
          <a:lstStyle/>
          <a:p>
            <a:pPr algn="ctr" indent="0" marL="0">
              <a:buNone/>
            </a:pPr>
            <a:r>
              <a:rPr lang="en-US" sz="1050" dirty="0">
                <a:solidFill>
                  <a:srgbClr val="B4B4C8"/>
                </a:solidFill>
                <a:latin typeface="Arial" pitchFamily="34" charset="0"/>
                <a:ea typeface="Arial" pitchFamily="34" charset="-122"/>
                <a:cs typeface="Arial" pitchFamily="34" charset="-120"/>
              </a:rPr>
              <a:t>Discourse forums, Opencast video</a:t>
            </a:r>
            <a:endParaRPr lang="en-US" sz="1050" dirty="0"/>
          </a:p>
        </p:txBody>
      </p:sp>
      <p:sp>
        <p:nvSpPr>
          <p:cNvPr id="52" name="Text 49"/>
          <p:cNvSpPr txBox="1"/>
          <p:nvPr/>
        </p:nvSpPr>
        <p:spPr>
          <a:xfrm>
            <a:off x="10481462" y="3424123"/>
            <a:ext cx="1253033" cy="182880"/>
          </a:xfrm>
          <a:prstGeom prst="rect">
            <a:avLst/>
          </a:prstGeom>
          <a:noFill/>
          <a:ln/>
        </p:spPr>
        <p:txBody>
          <a:bodyPr wrap="square" lIns="0" tIns="0" rIns="0" bIns="0" rtlCol="0" anchor="t"/>
          <a:lstStyle/>
          <a:p>
            <a:pPr algn="ctr" indent="0" marL="0">
              <a:buNone/>
            </a:pPr>
            <a:r>
              <a:rPr lang="en-US" sz="900" dirty="0">
                <a:solidFill>
                  <a:srgbClr val="C9A84C"/>
                </a:solidFill>
                <a:latin typeface="Arial" pitchFamily="34" charset="0"/>
                <a:ea typeface="Arial" pitchFamily="34" charset="-122"/>
                <a:cs typeface="Arial" pitchFamily="34" charset="-120"/>
              </a:rPr>
              <a:t>Slide 13</a:t>
            </a:r>
            <a:endParaRPr lang="en-US" sz="900" dirty="0"/>
          </a:p>
        </p:txBody>
      </p:sp>
      <p:sp>
        <p:nvSpPr>
          <p:cNvPr id="53" name="Shape 50"/>
          <p:cNvSpPr/>
          <p:nvPr/>
        </p:nvSpPr>
        <p:spPr>
          <a:xfrm>
            <a:off x="457200" y="3771595"/>
            <a:ext cx="11277295" cy="475488"/>
          </a:xfrm>
          <a:prstGeom prst="roundRect">
            <a:avLst>
              <a:gd name="adj" fmla="val 19231"/>
            </a:avLst>
          </a:prstGeom>
          <a:solidFill>
            <a:srgbClr val="171722"/>
          </a:solidFill>
          <a:ln w="9525">
            <a:solidFill>
              <a:srgbClr val="2C2C3E"/>
            </a:solidFill>
            <a:prstDash val="solid"/>
          </a:ln>
        </p:spPr>
      </p:sp>
      <p:sp>
        <p:nvSpPr>
          <p:cNvPr id="54" name="Text 51"/>
          <p:cNvSpPr txBox="1"/>
          <p:nvPr/>
        </p:nvSpPr>
        <p:spPr>
          <a:xfrm>
            <a:off x="640080" y="3771595"/>
            <a:ext cx="3108960" cy="4754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Then the partner side (slides 15-23)</a:t>
            </a:r>
            <a:endParaRPr lang="en-US" sz="1200" dirty="0"/>
          </a:p>
        </p:txBody>
      </p:sp>
      <p:sp>
        <p:nvSpPr>
          <p:cNvPr id="55" name="Shape 52"/>
          <p:cNvSpPr/>
          <p:nvPr/>
        </p:nvSpPr>
        <p:spPr>
          <a:xfrm>
            <a:off x="3472099" y="3881323"/>
            <a:ext cx="980501" cy="256032"/>
          </a:xfrm>
          <a:prstGeom prst="roundRect">
            <a:avLst>
              <a:gd name="adj" fmla="val 50000"/>
            </a:avLst>
          </a:prstGeom>
          <a:solidFill>
            <a:srgbClr val="1E1A10"/>
          </a:solidFill>
          <a:ln w="9525">
            <a:solidFill>
              <a:srgbClr val="5A4A22"/>
            </a:solidFill>
            <a:prstDash val="solid"/>
          </a:ln>
        </p:spPr>
      </p:sp>
      <p:sp>
        <p:nvSpPr>
          <p:cNvPr id="56" name="Text 53"/>
          <p:cNvSpPr txBox="1"/>
          <p:nvPr/>
        </p:nvSpPr>
        <p:spPr>
          <a:xfrm>
            <a:off x="3609259" y="3881323"/>
            <a:ext cx="797621"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Author</a:t>
            </a:r>
            <a:r>
              <a:rPr lang="en-US" sz="1000" dirty="0">
                <a:solidFill>
                  <a:srgbClr val="8E8EA2"/>
                </a:solidFill>
                <a:latin typeface="Arial" pitchFamily="34" charset="0"/>
                <a:ea typeface="Arial" pitchFamily="34" charset="-122"/>
                <a:cs typeface="Arial" pitchFamily="34" charset="-120"/>
              </a:rPr>
              <a:t>  15</a:t>
            </a:r>
            <a:endParaRPr lang="en-US" sz="1100" dirty="0"/>
          </a:p>
        </p:txBody>
      </p:sp>
      <p:sp>
        <p:nvSpPr>
          <p:cNvPr id="57" name="Text 54"/>
          <p:cNvSpPr txBox="1"/>
          <p:nvPr/>
        </p:nvSpPr>
        <p:spPr>
          <a:xfrm>
            <a:off x="4452600" y="3863035"/>
            <a:ext cx="201168" cy="274320"/>
          </a:xfrm>
          <a:prstGeom prst="rect">
            <a:avLst/>
          </a:prstGeom>
          <a:noFill/>
          <a:ln/>
        </p:spPr>
        <p:txBody>
          <a:bodyPr wrap="square" lIns="0" tIns="0" rIns="0" bIns="0" rtlCol="0" anchor="ctr"/>
          <a:lstStyle/>
          <a:p>
            <a:pPr algn="ctr" indent="0" marL="0">
              <a:buNone/>
            </a:pPr>
            <a:r>
              <a:rPr lang="en-US" sz="1400" dirty="0">
                <a:solidFill>
                  <a:srgbClr val="9B7A2E"/>
                </a:solidFill>
                <a:latin typeface="Arial" pitchFamily="34" charset="0"/>
                <a:ea typeface="Arial" pitchFamily="34" charset="-122"/>
                <a:cs typeface="Arial" pitchFamily="34" charset="-120"/>
              </a:rPr>
              <a:t>›</a:t>
            </a:r>
            <a:endParaRPr lang="en-US" sz="1400" dirty="0"/>
          </a:p>
        </p:txBody>
      </p:sp>
      <p:sp>
        <p:nvSpPr>
          <p:cNvPr id="58" name="Shape 55"/>
          <p:cNvSpPr/>
          <p:nvPr/>
        </p:nvSpPr>
        <p:spPr>
          <a:xfrm>
            <a:off x="4653768" y="3881323"/>
            <a:ext cx="1089607" cy="256032"/>
          </a:xfrm>
          <a:prstGeom prst="roundRect">
            <a:avLst>
              <a:gd name="adj" fmla="val 50000"/>
            </a:avLst>
          </a:prstGeom>
          <a:solidFill>
            <a:srgbClr val="1E1A10"/>
          </a:solidFill>
          <a:ln w="9525">
            <a:solidFill>
              <a:srgbClr val="5A4A22"/>
            </a:solidFill>
            <a:prstDash val="solid"/>
          </a:ln>
        </p:spPr>
      </p:sp>
      <p:sp>
        <p:nvSpPr>
          <p:cNvPr id="59" name="Text 56"/>
          <p:cNvSpPr txBox="1"/>
          <p:nvPr/>
        </p:nvSpPr>
        <p:spPr>
          <a:xfrm>
            <a:off x="4790928" y="3881323"/>
            <a:ext cx="906727"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Measure</a:t>
            </a:r>
            <a:r>
              <a:rPr lang="en-US" sz="1000" dirty="0">
                <a:solidFill>
                  <a:srgbClr val="8E8EA2"/>
                </a:solidFill>
                <a:latin typeface="Arial" pitchFamily="34" charset="0"/>
                <a:ea typeface="Arial" pitchFamily="34" charset="-122"/>
                <a:cs typeface="Arial" pitchFamily="34" charset="-120"/>
              </a:rPr>
              <a:t>  16</a:t>
            </a:r>
            <a:endParaRPr lang="en-US" sz="1100" dirty="0"/>
          </a:p>
        </p:txBody>
      </p:sp>
      <p:sp>
        <p:nvSpPr>
          <p:cNvPr id="60" name="Text 57"/>
          <p:cNvSpPr txBox="1"/>
          <p:nvPr/>
        </p:nvSpPr>
        <p:spPr>
          <a:xfrm>
            <a:off x="5743374" y="3863035"/>
            <a:ext cx="201168" cy="274320"/>
          </a:xfrm>
          <a:prstGeom prst="rect">
            <a:avLst/>
          </a:prstGeom>
          <a:noFill/>
          <a:ln/>
        </p:spPr>
        <p:txBody>
          <a:bodyPr wrap="square" lIns="0" tIns="0" rIns="0" bIns="0" rtlCol="0" anchor="ctr"/>
          <a:lstStyle/>
          <a:p>
            <a:pPr algn="ctr" indent="0" marL="0">
              <a:buNone/>
            </a:pPr>
            <a:r>
              <a:rPr lang="en-US" sz="1400" dirty="0">
                <a:solidFill>
                  <a:srgbClr val="9B7A2E"/>
                </a:solidFill>
                <a:latin typeface="Arial" pitchFamily="34" charset="0"/>
                <a:ea typeface="Arial" pitchFamily="34" charset="-122"/>
                <a:cs typeface="Arial" pitchFamily="34" charset="-120"/>
              </a:rPr>
              <a:t>›</a:t>
            </a:r>
            <a:endParaRPr lang="en-US" sz="1400" dirty="0"/>
          </a:p>
        </p:txBody>
      </p:sp>
      <p:sp>
        <p:nvSpPr>
          <p:cNvPr id="61" name="Shape 58"/>
          <p:cNvSpPr/>
          <p:nvPr/>
        </p:nvSpPr>
        <p:spPr>
          <a:xfrm>
            <a:off x="5944542" y="3881323"/>
            <a:ext cx="1112713" cy="256032"/>
          </a:xfrm>
          <a:prstGeom prst="roundRect">
            <a:avLst>
              <a:gd name="adj" fmla="val 50000"/>
            </a:avLst>
          </a:prstGeom>
          <a:solidFill>
            <a:srgbClr val="1E1A10"/>
          </a:solidFill>
          <a:ln w="9525">
            <a:solidFill>
              <a:srgbClr val="5A4A22"/>
            </a:solidFill>
            <a:prstDash val="solid"/>
          </a:ln>
        </p:spPr>
      </p:sp>
      <p:sp>
        <p:nvSpPr>
          <p:cNvPr id="62" name="Text 59"/>
          <p:cNvSpPr txBox="1"/>
          <p:nvPr/>
        </p:nvSpPr>
        <p:spPr>
          <a:xfrm>
            <a:off x="6081702" y="3881323"/>
            <a:ext cx="929833"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Convene</a:t>
            </a:r>
            <a:r>
              <a:rPr lang="en-US" sz="1000" dirty="0">
                <a:solidFill>
                  <a:srgbClr val="8E8EA2"/>
                </a:solidFill>
                <a:latin typeface="Arial" pitchFamily="34" charset="0"/>
                <a:ea typeface="Arial" pitchFamily="34" charset="-122"/>
                <a:cs typeface="Arial" pitchFamily="34" charset="-120"/>
              </a:rPr>
              <a:t>  17</a:t>
            </a:r>
            <a:endParaRPr lang="en-US" sz="1100" dirty="0"/>
          </a:p>
        </p:txBody>
      </p:sp>
      <p:sp>
        <p:nvSpPr>
          <p:cNvPr id="63" name="Text 60"/>
          <p:cNvSpPr txBox="1"/>
          <p:nvPr/>
        </p:nvSpPr>
        <p:spPr>
          <a:xfrm>
            <a:off x="7057255" y="3863035"/>
            <a:ext cx="201168" cy="274320"/>
          </a:xfrm>
          <a:prstGeom prst="rect">
            <a:avLst/>
          </a:prstGeom>
          <a:noFill/>
          <a:ln/>
        </p:spPr>
        <p:txBody>
          <a:bodyPr wrap="square" lIns="0" tIns="0" rIns="0" bIns="0" rtlCol="0" anchor="ctr"/>
          <a:lstStyle/>
          <a:p>
            <a:pPr algn="ctr" indent="0" marL="0">
              <a:buNone/>
            </a:pPr>
            <a:r>
              <a:rPr lang="en-US" sz="1400" dirty="0">
                <a:solidFill>
                  <a:srgbClr val="9B7A2E"/>
                </a:solidFill>
                <a:latin typeface="Arial" pitchFamily="34" charset="0"/>
                <a:ea typeface="Arial" pitchFamily="34" charset="-122"/>
                <a:cs typeface="Arial" pitchFamily="34" charset="-120"/>
              </a:rPr>
              <a:t>›</a:t>
            </a:r>
            <a:endParaRPr lang="en-US" sz="1400" dirty="0"/>
          </a:p>
        </p:txBody>
      </p:sp>
      <p:sp>
        <p:nvSpPr>
          <p:cNvPr id="64" name="Shape 61"/>
          <p:cNvSpPr/>
          <p:nvPr/>
        </p:nvSpPr>
        <p:spPr>
          <a:xfrm>
            <a:off x="7258423" y="3881323"/>
            <a:ext cx="1027217" cy="256032"/>
          </a:xfrm>
          <a:prstGeom prst="roundRect">
            <a:avLst>
              <a:gd name="adj" fmla="val 50000"/>
            </a:avLst>
          </a:prstGeom>
          <a:solidFill>
            <a:srgbClr val="1E1A10"/>
          </a:solidFill>
          <a:ln w="9525">
            <a:solidFill>
              <a:srgbClr val="5A4A22"/>
            </a:solidFill>
            <a:prstDash val="solid"/>
          </a:ln>
        </p:spPr>
      </p:sp>
      <p:sp>
        <p:nvSpPr>
          <p:cNvPr id="65" name="Text 62"/>
          <p:cNvSpPr txBox="1"/>
          <p:nvPr/>
        </p:nvSpPr>
        <p:spPr>
          <a:xfrm>
            <a:off x="7395583" y="3881323"/>
            <a:ext cx="844337"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Publish</a:t>
            </a:r>
            <a:r>
              <a:rPr lang="en-US" sz="1000" dirty="0">
                <a:solidFill>
                  <a:srgbClr val="8E8EA2"/>
                </a:solidFill>
                <a:latin typeface="Arial" pitchFamily="34" charset="0"/>
                <a:ea typeface="Arial" pitchFamily="34" charset="-122"/>
                <a:cs typeface="Arial" pitchFamily="34" charset="-120"/>
              </a:rPr>
              <a:t>  18</a:t>
            </a:r>
            <a:endParaRPr lang="en-US" sz="1100" dirty="0"/>
          </a:p>
        </p:txBody>
      </p:sp>
      <p:sp>
        <p:nvSpPr>
          <p:cNvPr id="66" name="Text 63"/>
          <p:cNvSpPr txBox="1"/>
          <p:nvPr/>
        </p:nvSpPr>
        <p:spPr>
          <a:xfrm>
            <a:off x="8285640" y="3863035"/>
            <a:ext cx="201168" cy="274320"/>
          </a:xfrm>
          <a:prstGeom prst="rect">
            <a:avLst/>
          </a:prstGeom>
          <a:noFill/>
          <a:ln/>
        </p:spPr>
        <p:txBody>
          <a:bodyPr wrap="square" lIns="0" tIns="0" rIns="0" bIns="0" rtlCol="0" anchor="ctr"/>
          <a:lstStyle/>
          <a:p>
            <a:pPr algn="ctr" indent="0" marL="0">
              <a:buNone/>
            </a:pPr>
            <a:r>
              <a:rPr lang="en-US" sz="1400" dirty="0">
                <a:solidFill>
                  <a:srgbClr val="9B7A2E"/>
                </a:solidFill>
                <a:latin typeface="Arial" pitchFamily="34" charset="0"/>
                <a:ea typeface="Arial" pitchFamily="34" charset="-122"/>
                <a:cs typeface="Arial" pitchFamily="34" charset="-120"/>
              </a:rPr>
              <a:t>›</a:t>
            </a:r>
            <a:endParaRPr lang="en-US" sz="1400" dirty="0"/>
          </a:p>
        </p:txBody>
      </p:sp>
      <p:sp>
        <p:nvSpPr>
          <p:cNvPr id="67" name="Shape 64"/>
          <p:cNvSpPr/>
          <p:nvPr/>
        </p:nvSpPr>
        <p:spPr>
          <a:xfrm>
            <a:off x="8486808" y="3881323"/>
            <a:ext cx="1322710" cy="256032"/>
          </a:xfrm>
          <a:prstGeom prst="roundRect">
            <a:avLst>
              <a:gd name="adj" fmla="val 50000"/>
            </a:avLst>
          </a:prstGeom>
          <a:solidFill>
            <a:srgbClr val="1E1A10"/>
          </a:solidFill>
          <a:ln w="9525">
            <a:solidFill>
              <a:srgbClr val="5A4A22"/>
            </a:solidFill>
            <a:prstDash val="solid"/>
          </a:ln>
        </p:spPr>
      </p:sp>
      <p:sp>
        <p:nvSpPr>
          <p:cNvPr id="68" name="Text 65"/>
          <p:cNvSpPr txBox="1"/>
          <p:nvPr/>
        </p:nvSpPr>
        <p:spPr>
          <a:xfrm>
            <a:off x="8623968" y="3881323"/>
            <a:ext cx="1139830"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Masterclass</a:t>
            </a:r>
            <a:r>
              <a:rPr lang="en-US" sz="1000" dirty="0">
                <a:solidFill>
                  <a:srgbClr val="8E8EA2"/>
                </a:solidFill>
                <a:latin typeface="Arial" pitchFamily="34" charset="0"/>
                <a:ea typeface="Arial" pitchFamily="34" charset="-122"/>
                <a:cs typeface="Arial" pitchFamily="34" charset="-120"/>
              </a:rPr>
              <a:t>  19</a:t>
            </a:r>
            <a:endParaRPr lang="en-US" sz="1100" dirty="0"/>
          </a:p>
        </p:txBody>
      </p:sp>
      <p:sp>
        <p:nvSpPr>
          <p:cNvPr id="69" name="Text 66"/>
          <p:cNvSpPr txBox="1"/>
          <p:nvPr/>
        </p:nvSpPr>
        <p:spPr>
          <a:xfrm>
            <a:off x="9809518" y="3863035"/>
            <a:ext cx="201168" cy="274320"/>
          </a:xfrm>
          <a:prstGeom prst="rect">
            <a:avLst/>
          </a:prstGeom>
          <a:noFill/>
          <a:ln/>
        </p:spPr>
        <p:txBody>
          <a:bodyPr wrap="square" lIns="0" tIns="0" rIns="0" bIns="0" rtlCol="0" anchor="ctr"/>
          <a:lstStyle/>
          <a:p>
            <a:pPr algn="ctr" indent="0" marL="0">
              <a:buNone/>
            </a:pPr>
            <a:r>
              <a:rPr lang="en-US" sz="1400" dirty="0">
                <a:solidFill>
                  <a:srgbClr val="9B7A2E"/>
                </a:solidFill>
                <a:latin typeface="Arial" pitchFamily="34" charset="0"/>
                <a:ea typeface="Arial" pitchFamily="34" charset="-122"/>
                <a:cs typeface="Arial" pitchFamily="34" charset="-120"/>
              </a:rPr>
              <a:t>›</a:t>
            </a:r>
            <a:endParaRPr lang="en-US" sz="1400" dirty="0"/>
          </a:p>
        </p:txBody>
      </p:sp>
      <p:sp>
        <p:nvSpPr>
          <p:cNvPr id="70" name="Shape 67"/>
          <p:cNvSpPr/>
          <p:nvPr/>
        </p:nvSpPr>
        <p:spPr>
          <a:xfrm>
            <a:off x="10010686" y="3881323"/>
            <a:ext cx="1016879" cy="256032"/>
          </a:xfrm>
          <a:prstGeom prst="roundRect">
            <a:avLst>
              <a:gd name="adj" fmla="val 50000"/>
            </a:avLst>
          </a:prstGeom>
          <a:solidFill>
            <a:srgbClr val="1E1A10"/>
          </a:solidFill>
          <a:ln w="9525">
            <a:solidFill>
              <a:srgbClr val="5A4A22"/>
            </a:solidFill>
            <a:prstDash val="solid"/>
          </a:ln>
        </p:spPr>
      </p:sp>
      <p:sp>
        <p:nvSpPr>
          <p:cNvPr id="71" name="Text 68"/>
          <p:cNvSpPr txBox="1"/>
          <p:nvPr/>
        </p:nvSpPr>
        <p:spPr>
          <a:xfrm>
            <a:off x="10147846" y="3881323"/>
            <a:ext cx="833999" cy="256032"/>
          </a:xfrm>
          <a:prstGeom prst="rect">
            <a:avLst/>
          </a:prstGeom>
          <a:noFill/>
          <a:ln/>
        </p:spPr>
        <p:txBody>
          <a:bodyPr wrap="square" lIns="0" tIns="0" rIns="0" bIns="0" rtlCol="0" anchor="ctr"/>
          <a:lstStyle/>
          <a:p>
            <a:pPr indent="0" marL="0">
              <a:buNone/>
            </a:pPr>
            <a:r>
              <a:rPr lang="en-US" sz="1100" b="1" dirty="0">
                <a:solidFill>
                  <a:srgbClr val="F0C96B"/>
                </a:solidFill>
                <a:latin typeface="Arial" pitchFamily="34" charset="0"/>
                <a:ea typeface="Arial" pitchFamily="34" charset="-122"/>
                <a:cs typeface="Arial" pitchFamily="34" charset="-120"/>
              </a:rPr>
              <a:t>Earn</a:t>
            </a:r>
            <a:r>
              <a:rPr lang="en-US" sz="1000" dirty="0">
                <a:solidFill>
                  <a:srgbClr val="8E8EA2"/>
                </a:solidFill>
                <a:latin typeface="Arial" pitchFamily="34" charset="0"/>
                <a:ea typeface="Arial" pitchFamily="34" charset="-122"/>
                <a:cs typeface="Arial" pitchFamily="34" charset="-120"/>
              </a:rPr>
              <a:t>  20-23</a:t>
            </a:r>
            <a:endParaRPr lang="en-US" sz="1100" dirty="0"/>
          </a:p>
        </p:txBody>
      </p:sp>
      <p:sp>
        <p:nvSpPr>
          <p:cNvPr id="72" name="Text 69"/>
          <p:cNvSpPr txBox="1"/>
          <p:nvPr/>
        </p:nvSpPr>
        <p:spPr>
          <a:xfrm>
            <a:off x="457200" y="4484827"/>
            <a:ext cx="5029200" cy="201168"/>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THE CAST (ALL FICTITIOUS)</a:t>
            </a:r>
            <a:endParaRPr lang="en-US" sz="900" dirty="0"/>
          </a:p>
        </p:txBody>
      </p:sp>
      <p:sp>
        <p:nvSpPr>
          <p:cNvPr id="73" name="Text 70"/>
          <p:cNvSpPr txBox="1"/>
          <p:nvPr/>
        </p:nvSpPr>
        <p:spPr>
          <a:xfrm>
            <a:off x="6172200" y="4484827"/>
            <a:ext cx="5029200" cy="201168"/>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WHAT EACH SCREEN IS</a:t>
            </a:r>
            <a:endParaRPr lang="en-US" sz="900" dirty="0"/>
          </a:p>
        </p:txBody>
      </p:sp>
      <p:sp>
        <p:nvSpPr>
          <p:cNvPr id="74" name="Shape 71"/>
          <p:cNvSpPr/>
          <p:nvPr/>
        </p:nvSpPr>
        <p:spPr>
          <a:xfrm>
            <a:off x="457200" y="4850587"/>
            <a:ext cx="329184" cy="329184"/>
          </a:xfrm>
          <a:prstGeom prst="ellipse">
            <a:avLst/>
          </a:prstGeom>
          <a:solidFill>
            <a:srgbClr val="C9A84C"/>
          </a:solidFill>
          <a:ln/>
        </p:spPr>
      </p:sp>
      <p:sp>
        <p:nvSpPr>
          <p:cNvPr id="75" name="Text 72"/>
          <p:cNvSpPr txBox="1"/>
          <p:nvPr/>
        </p:nvSpPr>
        <p:spPr>
          <a:xfrm>
            <a:off x="457200" y="4850587"/>
            <a:ext cx="329184" cy="329184"/>
          </a:xfrm>
          <a:prstGeom prst="rect">
            <a:avLst/>
          </a:prstGeom>
          <a:noFill/>
          <a:ln/>
        </p:spPr>
        <p:txBody>
          <a:bodyPr wrap="square" lIns="0" tIns="0" rIns="0" bIns="0" rtlCol="0" anchor="ctr"/>
          <a:lstStyle/>
          <a:p>
            <a:pPr algn="ctr" indent="0" marL="0">
              <a:buNone/>
            </a:pPr>
            <a:r>
              <a:rPr lang="en-US" sz="1000" b="1" dirty="0">
                <a:solidFill>
                  <a:srgbClr val="0A0A0F"/>
                </a:solidFill>
                <a:latin typeface="Arial" pitchFamily="34" charset="0"/>
                <a:ea typeface="Arial" pitchFamily="34" charset="-122"/>
                <a:cs typeface="Arial" pitchFamily="34" charset="-120"/>
              </a:rPr>
              <a:t>LA</a:t>
            </a:r>
            <a:endParaRPr lang="en-US" sz="1000" dirty="0"/>
          </a:p>
        </p:txBody>
      </p:sp>
      <p:sp>
        <p:nvSpPr>
          <p:cNvPr id="76" name="Text 73"/>
          <p:cNvSpPr txBox="1"/>
          <p:nvPr/>
        </p:nvSpPr>
        <p:spPr>
          <a:xfrm>
            <a:off x="950976" y="4795723"/>
            <a:ext cx="5175504" cy="237744"/>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Layla Al-Mansoori</a:t>
            </a:r>
            <a:r>
              <a:rPr lang="en-US" sz="1000" dirty="0">
                <a:solidFill>
                  <a:srgbClr val="C9A84C"/>
                </a:solidFill>
                <a:latin typeface="Arial" pitchFamily="34" charset="0"/>
                <a:ea typeface="Arial" pitchFamily="34" charset="-122"/>
                <a:cs typeface="Arial" pitchFamily="34" charset="-120"/>
              </a:rPr>
              <a:t>   slides 6-13, 17, 19-21</a:t>
            </a:r>
            <a:endParaRPr lang="en-US" sz="1300" dirty="0"/>
          </a:p>
        </p:txBody>
      </p:sp>
      <p:sp>
        <p:nvSpPr>
          <p:cNvPr id="77" name="Text 74"/>
          <p:cNvSpPr txBox="1"/>
          <p:nvPr/>
        </p:nvSpPr>
        <p:spPr>
          <a:xfrm>
            <a:off x="950976" y="5024323"/>
            <a:ext cx="4992624" cy="219456"/>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MLRO, Gulf Digital Exchange (fictitious VASP)</a:t>
            </a:r>
            <a:endParaRPr lang="en-US" sz="1100" dirty="0"/>
          </a:p>
        </p:txBody>
      </p:sp>
      <p:sp>
        <p:nvSpPr>
          <p:cNvPr id="78" name="Shape 75"/>
          <p:cNvSpPr/>
          <p:nvPr/>
        </p:nvSpPr>
        <p:spPr>
          <a:xfrm>
            <a:off x="457200" y="5324653"/>
            <a:ext cx="329184" cy="329184"/>
          </a:xfrm>
          <a:prstGeom prst="ellipse">
            <a:avLst/>
          </a:prstGeom>
          <a:solidFill>
            <a:srgbClr val="3B82F6"/>
          </a:solidFill>
          <a:ln/>
        </p:spPr>
      </p:sp>
      <p:sp>
        <p:nvSpPr>
          <p:cNvPr id="79" name="Text 76"/>
          <p:cNvSpPr txBox="1"/>
          <p:nvPr/>
        </p:nvSpPr>
        <p:spPr>
          <a:xfrm>
            <a:off x="457200" y="5324653"/>
            <a:ext cx="329184" cy="329184"/>
          </a:xfrm>
          <a:prstGeom prst="rect">
            <a:avLst/>
          </a:prstGeom>
          <a:noFill/>
          <a:ln/>
        </p:spPr>
        <p:txBody>
          <a:bodyPr wrap="square" lIns="0" tIns="0" rIns="0" bIns="0" rtlCol="0" anchor="ctr"/>
          <a:lstStyle/>
          <a:p>
            <a:pPr algn="ctr" indent="0" marL="0">
              <a:buNone/>
            </a:pPr>
            <a:r>
              <a:rPr lang="en-US" sz="1000" b="1" dirty="0">
                <a:solidFill>
                  <a:srgbClr val="0A0A0F"/>
                </a:solidFill>
                <a:latin typeface="Arial" pitchFamily="34" charset="0"/>
                <a:ea typeface="Arial" pitchFamily="34" charset="-122"/>
                <a:cs typeface="Arial" pitchFamily="34" charset="-120"/>
              </a:rPr>
              <a:t>NK</a:t>
            </a:r>
            <a:endParaRPr lang="en-US" sz="1000" dirty="0"/>
          </a:p>
        </p:txBody>
      </p:sp>
      <p:sp>
        <p:nvSpPr>
          <p:cNvPr id="80" name="Text 77"/>
          <p:cNvSpPr txBox="1"/>
          <p:nvPr/>
        </p:nvSpPr>
        <p:spPr>
          <a:xfrm>
            <a:off x="950976" y="5269789"/>
            <a:ext cx="5175504" cy="237744"/>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Nadia Karim</a:t>
            </a:r>
            <a:r>
              <a:rPr lang="en-US" sz="1000" dirty="0">
                <a:solidFill>
                  <a:srgbClr val="C9A84C"/>
                </a:solidFill>
                <a:latin typeface="Arial" pitchFamily="34" charset="0"/>
                <a:ea typeface="Arial" pitchFamily="34" charset="-122"/>
                <a:cs typeface="Arial" pitchFamily="34" charset="-120"/>
              </a:rPr>
              <a:t>   slides 16, 21-22</a:t>
            </a:r>
            <a:endParaRPr lang="en-US" sz="1300" dirty="0"/>
          </a:p>
        </p:txBody>
      </p:sp>
      <p:sp>
        <p:nvSpPr>
          <p:cNvPr id="81" name="Text 78"/>
          <p:cNvSpPr txBox="1"/>
          <p:nvPr/>
        </p:nvSpPr>
        <p:spPr>
          <a:xfrm>
            <a:off x="950976" y="5498389"/>
            <a:ext cx="4992624" cy="219456"/>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Academy administrator, partner side (fictitious)</a:t>
            </a:r>
            <a:endParaRPr lang="en-US" sz="1100" dirty="0"/>
          </a:p>
        </p:txBody>
      </p:sp>
      <p:sp>
        <p:nvSpPr>
          <p:cNvPr id="82" name="Shape 79"/>
          <p:cNvSpPr/>
          <p:nvPr/>
        </p:nvSpPr>
        <p:spPr>
          <a:xfrm>
            <a:off x="457200" y="5798718"/>
            <a:ext cx="329184" cy="329184"/>
          </a:xfrm>
          <a:prstGeom prst="ellipse">
            <a:avLst/>
          </a:prstGeom>
          <a:solidFill>
            <a:srgbClr val="10B981"/>
          </a:solidFill>
          <a:ln/>
        </p:spPr>
      </p:sp>
      <p:sp>
        <p:nvSpPr>
          <p:cNvPr id="83" name="Text 80"/>
          <p:cNvSpPr txBox="1"/>
          <p:nvPr/>
        </p:nvSpPr>
        <p:spPr>
          <a:xfrm>
            <a:off x="457200" y="5798718"/>
            <a:ext cx="329184" cy="329184"/>
          </a:xfrm>
          <a:prstGeom prst="rect">
            <a:avLst/>
          </a:prstGeom>
          <a:noFill/>
          <a:ln/>
        </p:spPr>
        <p:txBody>
          <a:bodyPr wrap="square" lIns="0" tIns="0" rIns="0" bIns="0" rtlCol="0" anchor="ctr"/>
          <a:lstStyle/>
          <a:p>
            <a:pPr algn="ctr" indent="0" marL="0">
              <a:buNone/>
            </a:pPr>
            <a:r>
              <a:rPr lang="en-US" sz="1000" b="1" dirty="0">
                <a:solidFill>
                  <a:srgbClr val="0A0A0F"/>
                </a:solidFill>
                <a:latin typeface="Arial" pitchFamily="34" charset="0"/>
                <a:ea typeface="Arial" pitchFamily="34" charset="-122"/>
                <a:cs typeface="Arial" pitchFamily="34" charset="-120"/>
              </a:rPr>
              <a:t>AH</a:t>
            </a:r>
            <a:endParaRPr lang="en-US" sz="1000" dirty="0"/>
          </a:p>
        </p:txBody>
      </p:sp>
      <p:sp>
        <p:nvSpPr>
          <p:cNvPr id="84" name="Text 81"/>
          <p:cNvSpPr txBox="1"/>
          <p:nvPr/>
        </p:nvSpPr>
        <p:spPr>
          <a:xfrm>
            <a:off x="950976" y="5743854"/>
            <a:ext cx="5175504" cy="237744"/>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Dr. Amira Haddad</a:t>
            </a:r>
            <a:r>
              <a:rPr lang="en-US" sz="1000" dirty="0">
                <a:solidFill>
                  <a:srgbClr val="C9A84C"/>
                </a:solidFill>
                <a:latin typeface="Arial" pitchFamily="34" charset="0"/>
                <a:ea typeface="Arial" pitchFamily="34" charset="-122"/>
                <a:cs typeface="Arial" pitchFamily="34" charset="-120"/>
              </a:rPr>
              <a:t>   slides 17-19</a:t>
            </a:r>
            <a:endParaRPr lang="en-US" sz="1300" dirty="0"/>
          </a:p>
        </p:txBody>
      </p:sp>
      <p:sp>
        <p:nvSpPr>
          <p:cNvPr id="85" name="Text 82"/>
          <p:cNvSpPr txBox="1"/>
          <p:nvPr/>
        </p:nvSpPr>
        <p:spPr>
          <a:xfrm>
            <a:off x="950976" y="5972454"/>
            <a:ext cx="4992624" cy="219456"/>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Round-table moderator, Governance District (fictitious)</a:t>
            </a:r>
            <a:endParaRPr lang="en-US" sz="1100" dirty="0"/>
          </a:p>
        </p:txBody>
      </p:sp>
      <p:sp>
        <p:nvSpPr>
          <p:cNvPr id="86" name="Shape 83"/>
          <p:cNvSpPr/>
          <p:nvPr/>
        </p:nvSpPr>
        <p:spPr>
          <a:xfrm>
            <a:off x="6172200" y="4814011"/>
            <a:ext cx="1763105" cy="219456"/>
          </a:xfrm>
          <a:prstGeom prst="roundRect">
            <a:avLst>
              <a:gd name="adj" fmla="val 50000"/>
            </a:avLst>
          </a:prstGeom>
          <a:solidFill>
            <a:srgbClr val="1B1B27"/>
          </a:solidFill>
          <a:ln w="9525">
            <a:solidFill>
              <a:srgbClr val="3A3A50"/>
            </a:solidFill>
            <a:prstDash val="solid"/>
          </a:ln>
        </p:spPr>
      </p:sp>
      <p:sp>
        <p:nvSpPr>
          <p:cNvPr id="87" name="Shape 84"/>
          <p:cNvSpPr/>
          <p:nvPr/>
        </p:nvSpPr>
        <p:spPr>
          <a:xfrm>
            <a:off x="6263640" y="4887163"/>
            <a:ext cx="73152" cy="73152"/>
          </a:xfrm>
          <a:prstGeom prst="ellipse">
            <a:avLst/>
          </a:prstGeom>
          <a:solidFill>
            <a:srgbClr val="34D399"/>
          </a:solidFill>
          <a:ln/>
        </p:spPr>
      </p:sp>
      <p:sp>
        <p:nvSpPr>
          <p:cNvPr id="88" name="Text 85"/>
          <p:cNvSpPr txBox="1"/>
          <p:nvPr/>
        </p:nvSpPr>
        <p:spPr>
          <a:xfrm>
            <a:off x="6391656" y="4814011"/>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89" name="Text 86"/>
          <p:cNvSpPr txBox="1"/>
          <p:nvPr/>
        </p:nvSpPr>
        <p:spPr>
          <a:xfrm>
            <a:off x="8045033" y="4814011"/>
            <a:ext cx="3689462" cy="219456"/>
          </a:xfrm>
          <a:prstGeom prst="rect">
            <a:avLst/>
          </a:prstGeom>
          <a:noFill/>
          <a:ln/>
        </p:spPr>
        <p:txBody>
          <a:bodyPr wrap="square" lIns="0" tIns="0" rIns="0" bIns="0" rtlCol="0" anchor="ctr"/>
          <a:lstStyle/>
          <a:p>
            <a:pPr indent="0" marL="0">
              <a:buNone/>
            </a:pPr>
            <a:r>
              <a:rPr lang="en-US" sz="1100" dirty="0">
                <a:solidFill>
                  <a:srgbClr val="B4B4C8"/>
                </a:solidFill>
                <a:latin typeface="Arial" pitchFamily="34" charset="0"/>
                <a:ea typeface="Arial" pitchFamily="34" charset="-122"/>
                <a:cs typeface="Arial" pitchFamily="34" charset="-120"/>
              </a:rPr>
              <a:t>Captured from a running stock Tutor 22.0.2 install</a:t>
            </a:r>
            <a:endParaRPr lang="en-US" sz="1100" dirty="0"/>
          </a:p>
        </p:txBody>
      </p:sp>
      <p:sp>
        <p:nvSpPr>
          <p:cNvPr id="90" name="Shape 87"/>
          <p:cNvSpPr/>
          <p:nvPr/>
        </p:nvSpPr>
        <p:spPr>
          <a:xfrm>
            <a:off x="6172200" y="5169560"/>
            <a:ext cx="2591796" cy="219456"/>
          </a:xfrm>
          <a:prstGeom prst="roundRect">
            <a:avLst>
              <a:gd name="adj" fmla="val 50000"/>
            </a:avLst>
          </a:prstGeom>
          <a:solidFill>
            <a:srgbClr val="1B1B27"/>
          </a:solidFill>
          <a:ln w="9525">
            <a:solidFill>
              <a:srgbClr val="3A3A50"/>
            </a:solidFill>
            <a:prstDash val="solid"/>
          </a:ln>
        </p:spPr>
      </p:sp>
      <p:sp>
        <p:nvSpPr>
          <p:cNvPr id="91" name="Shape 88"/>
          <p:cNvSpPr/>
          <p:nvPr/>
        </p:nvSpPr>
        <p:spPr>
          <a:xfrm>
            <a:off x="6263640" y="5242712"/>
            <a:ext cx="73152" cy="73152"/>
          </a:xfrm>
          <a:prstGeom prst="ellipse">
            <a:avLst/>
          </a:prstGeom>
          <a:solidFill>
            <a:srgbClr val="F0C96B"/>
          </a:solidFill>
          <a:ln/>
        </p:spPr>
      </p:sp>
      <p:sp>
        <p:nvSpPr>
          <p:cNvPr id="92" name="Text 89"/>
          <p:cNvSpPr txBox="1"/>
          <p:nvPr/>
        </p:nvSpPr>
        <p:spPr>
          <a:xfrm>
            <a:off x="6391656" y="5169560"/>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93" name="Text 90"/>
          <p:cNvSpPr txBox="1"/>
          <p:nvPr/>
        </p:nvSpPr>
        <p:spPr>
          <a:xfrm>
            <a:off x="8873724" y="5169560"/>
            <a:ext cx="2860772" cy="219456"/>
          </a:xfrm>
          <a:prstGeom prst="rect">
            <a:avLst/>
          </a:prstGeom>
          <a:noFill/>
          <a:ln/>
        </p:spPr>
        <p:txBody>
          <a:bodyPr wrap="square" lIns="0" tIns="0" rIns="0" bIns="0" rtlCol="0" anchor="ctr"/>
          <a:lstStyle/>
          <a:p>
            <a:pPr indent="0" marL="0">
              <a:buNone/>
            </a:pPr>
            <a:r>
              <a:rPr lang="en-US" sz="1100" dirty="0">
                <a:solidFill>
                  <a:srgbClr val="B4B4C8"/>
                </a:solidFill>
                <a:latin typeface="Arial" pitchFamily="34" charset="0"/>
                <a:ea typeface="Arial" pitchFamily="34" charset="-122"/>
                <a:cs typeface="Arial" pitchFamily="34" charset="-120"/>
              </a:rPr>
              <a:t>Our repo code, rendered in a test harness</a:t>
            </a:r>
            <a:endParaRPr lang="en-US" sz="1100" dirty="0"/>
          </a:p>
        </p:txBody>
      </p:sp>
      <p:sp>
        <p:nvSpPr>
          <p:cNvPr id="94" name="Shape 91"/>
          <p:cNvSpPr/>
          <p:nvPr/>
        </p:nvSpPr>
        <p:spPr>
          <a:xfrm>
            <a:off x="6172200" y="5525110"/>
            <a:ext cx="1495471" cy="219456"/>
          </a:xfrm>
          <a:prstGeom prst="roundRect">
            <a:avLst>
              <a:gd name="adj" fmla="val 50000"/>
            </a:avLst>
          </a:prstGeom>
          <a:solidFill>
            <a:srgbClr val="1B1B27"/>
          </a:solidFill>
          <a:ln w="9525">
            <a:solidFill>
              <a:srgbClr val="3A3A50"/>
            </a:solidFill>
            <a:prstDash val="solid"/>
          </a:ln>
        </p:spPr>
      </p:sp>
      <p:sp>
        <p:nvSpPr>
          <p:cNvPr id="95" name="Shape 92"/>
          <p:cNvSpPr/>
          <p:nvPr/>
        </p:nvSpPr>
        <p:spPr>
          <a:xfrm>
            <a:off x="6263640" y="5598262"/>
            <a:ext cx="73152" cy="73152"/>
          </a:xfrm>
          <a:prstGeom prst="ellipse">
            <a:avLst/>
          </a:prstGeom>
          <a:solidFill>
            <a:srgbClr val="A9A9C6"/>
          </a:solidFill>
          <a:ln/>
        </p:spPr>
      </p:sp>
      <p:sp>
        <p:nvSpPr>
          <p:cNvPr id="96" name="Text 93"/>
          <p:cNvSpPr txBox="1"/>
          <p:nvPr/>
        </p:nvSpPr>
        <p:spPr>
          <a:xfrm>
            <a:off x="6391656" y="5525110"/>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97" name="Text 94"/>
          <p:cNvSpPr txBox="1"/>
          <p:nvPr/>
        </p:nvSpPr>
        <p:spPr>
          <a:xfrm>
            <a:off x="7777399" y="5525110"/>
            <a:ext cx="3957096" cy="219456"/>
          </a:xfrm>
          <a:prstGeom prst="rect">
            <a:avLst/>
          </a:prstGeom>
          <a:noFill/>
          <a:ln/>
        </p:spPr>
        <p:txBody>
          <a:bodyPr wrap="square" lIns="0" tIns="0" rIns="0" bIns="0" rtlCol="0" anchor="ctr"/>
          <a:lstStyle/>
          <a:p>
            <a:pPr indent="0" marL="0">
              <a:buNone/>
            </a:pPr>
            <a:r>
              <a:rPr lang="en-US" sz="1100" dirty="0">
                <a:solidFill>
                  <a:srgbClr val="B4B4C8"/>
                </a:solidFill>
                <a:latin typeface="Arial" pitchFamily="34" charset="0"/>
                <a:ea typeface="Arial" pitchFamily="34" charset="-122"/>
                <a:cs typeface="Arial" pitchFamily="34" charset="-120"/>
              </a:rPr>
              <a:t>A page that is still to be built</a:t>
            </a:r>
            <a:endParaRPr lang="en-US" sz="1100" dirty="0"/>
          </a:p>
        </p:txBody>
      </p:sp>
      <p:sp>
        <p:nvSpPr>
          <p:cNvPr id="98" name="Shape 95"/>
          <p:cNvSpPr/>
          <p:nvPr/>
        </p:nvSpPr>
        <p:spPr>
          <a:xfrm>
            <a:off x="6172200" y="5880659"/>
            <a:ext cx="1327790" cy="219456"/>
          </a:xfrm>
          <a:prstGeom prst="roundRect">
            <a:avLst>
              <a:gd name="adj" fmla="val 50000"/>
            </a:avLst>
          </a:prstGeom>
          <a:solidFill>
            <a:srgbClr val="1B1B27"/>
          </a:solidFill>
          <a:ln w="9525">
            <a:solidFill>
              <a:srgbClr val="3A3A50"/>
            </a:solidFill>
            <a:prstDash val="solid"/>
          </a:ln>
        </p:spPr>
      </p:sp>
      <p:sp>
        <p:nvSpPr>
          <p:cNvPr id="99" name="Shape 96"/>
          <p:cNvSpPr/>
          <p:nvPr/>
        </p:nvSpPr>
        <p:spPr>
          <a:xfrm>
            <a:off x="6263640" y="5953811"/>
            <a:ext cx="73152" cy="73152"/>
          </a:xfrm>
          <a:prstGeom prst="ellipse">
            <a:avLst/>
          </a:prstGeom>
          <a:solidFill>
            <a:srgbClr val="60A5FA"/>
          </a:solidFill>
          <a:ln/>
        </p:spPr>
      </p:sp>
      <p:sp>
        <p:nvSpPr>
          <p:cNvPr id="100" name="Text 97"/>
          <p:cNvSpPr txBox="1"/>
          <p:nvPr/>
        </p:nvSpPr>
        <p:spPr>
          <a:xfrm>
            <a:off x="6391656" y="5880659"/>
            <a:ext cx="1071758"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EXTENSION</a:t>
            </a:r>
            <a:endParaRPr lang="en-US" sz="800" dirty="0"/>
          </a:p>
        </p:txBody>
      </p:sp>
      <p:sp>
        <p:nvSpPr>
          <p:cNvPr id="101" name="Text 98"/>
          <p:cNvSpPr txBox="1"/>
          <p:nvPr/>
        </p:nvSpPr>
        <p:spPr>
          <a:xfrm>
            <a:off x="7609718" y="5880659"/>
            <a:ext cx="4124777" cy="219456"/>
          </a:xfrm>
          <a:prstGeom prst="rect">
            <a:avLst/>
          </a:prstGeom>
          <a:noFill/>
          <a:ln/>
        </p:spPr>
        <p:txBody>
          <a:bodyPr wrap="square" lIns="0" tIns="0" rIns="0" bIns="0" rtlCol="0" anchor="ctr"/>
          <a:lstStyle/>
          <a:p>
            <a:pPr indent="0" marL="0">
              <a:buNone/>
            </a:pPr>
            <a:r>
              <a:rPr lang="en-US" sz="1100" dirty="0">
                <a:solidFill>
                  <a:srgbClr val="B4B4C8"/>
                </a:solidFill>
                <a:latin typeface="Arial" pitchFamily="34" charset="0"/>
                <a:ea typeface="Arial" pitchFamily="34" charset="-122"/>
                <a:cs typeface="Arial" pitchFamily="34" charset="-120"/>
              </a:rPr>
              <a:t>Opencast 20.4 and Discourse 3.5, running for real</a:t>
            </a:r>
            <a:endParaRPr lang="en-US" sz="1100" dirty="0"/>
          </a:p>
        </p:txBody>
      </p:sp>
      <p:sp>
        <p:nvSpPr>
          <p:cNvPr id="102" name="Text 99"/>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103" name="Text 100"/>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275282"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037538"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1 OF 9 · DISCOVER</a:t>
            </a:r>
            <a:endParaRPr lang="en-US" sz="900" dirty="0"/>
          </a:p>
        </p:txBody>
      </p:sp>
      <p:sp>
        <p:nvSpPr>
          <p:cNvPr id="5" name="Shape 2"/>
          <p:cNvSpPr/>
          <p:nvPr/>
        </p:nvSpPr>
        <p:spPr>
          <a:xfrm>
            <a:off x="3897074" y="470916"/>
            <a:ext cx="82296" cy="82296"/>
          </a:xfrm>
          <a:prstGeom prst="ellipse">
            <a:avLst/>
          </a:prstGeom>
          <a:solidFill>
            <a:srgbClr val="F0C96B"/>
          </a:solidFill>
          <a:ln/>
        </p:spPr>
      </p:sp>
      <p:sp>
        <p:nvSpPr>
          <p:cNvPr id="6" name="Shape 3"/>
          <p:cNvSpPr/>
          <p:nvPr/>
        </p:nvSpPr>
        <p:spPr>
          <a:xfrm>
            <a:off x="4038806" y="470916"/>
            <a:ext cx="82296" cy="82296"/>
          </a:xfrm>
          <a:prstGeom prst="ellipse">
            <a:avLst/>
          </a:prstGeom>
          <a:solidFill>
            <a:srgbClr val="34344A"/>
          </a:solidFill>
          <a:ln/>
        </p:spPr>
      </p:sp>
      <p:sp>
        <p:nvSpPr>
          <p:cNvPr id="7" name="Shape 4"/>
          <p:cNvSpPr/>
          <p:nvPr/>
        </p:nvSpPr>
        <p:spPr>
          <a:xfrm>
            <a:off x="4180538" y="470916"/>
            <a:ext cx="82296" cy="82296"/>
          </a:xfrm>
          <a:prstGeom prst="ellipse">
            <a:avLst/>
          </a:prstGeom>
          <a:solidFill>
            <a:srgbClr val="34344A"/>
          </a:solidFill>
          <a:ln/>
        </p:spPr>
      </p:sp>
      <p:sp>
        <p:nvSpPr>
          <p:cNvPr id="8" name="Shape 5"/>
          <p:cNvSpPr/>
          <p:nvPr/>
        </p:nvSpPr>
        <p:spPr>
          <a:xfrm>
            <a:off x="4322270" y="470916"/>
            <a:ext cx="82296" cy="82296"/>
          </a:xfrm>
          <a:prstGeom prst="ellipse">
            <a:avLst/>
          </a:prstGeom>
          <a:solidFill>
            <a:srgbClr val="34344A"/>
          </a:solidFill>
          <a:ln/>
        </p:spPr>
      </p:sp>
      <p:sp>
        <p:nvSpPr>
          <p:cNvPr id="9" name="Shape 6"/>
          <p:cNvSpPr/>
          <p:nvPr/>
        </p:nvSpPr>
        <p:spPr>
          <a:xfrm>
            <a:off x="4464002" y="470916"/>
            <a:ext cx="82296" cy="82296"/>
          </a:xfrm>
          <a:prstGeom prst="ellipse">
            <a:avLst/>
          </a:prstGeom>
          <a:solidFill>
            <a:srgbClr val="34344A"/>
          </a:solidFill>
          <a:ln/>
        </p:spPr>
      </p:sp>
      <p:sp>
        <p:nvSpPr>
          <p:cNvPr id="10" name="Shape 7"/>
          <p:cNvSpPr/>
          <p:nvPr/>
        </p:nvSpPr>
        <p:spPr>
          <a:xfrm>
            <a:off x="4605734" y="470916"/>
            <a:ext cx="82296" cy="82296"/>
          </a:xfrm>
          <a:prstGeom prst="ellipse">
            <a:avLst/>
          </a:prstGeom>
          <a:solidFill>
            <a:srgbClr val="34344A"/>
          </a:solidFill>
          <a:ln/>
        </p:spPr>
      </p:sp>
      <p:sp>
        <p:nvSpPr>
          <p:cNvPr id="11" name="Shape 8"/>
          <p:cNvSpPr/>
          <p:nvPr/>
        </p:nvSpPr>
        <p:spPr>
          <a:xfrm>
            <a:off x="4747466" y="470916"/>
            <a:ext cx="82296" cy="82296"/>
          </a:xfrm>
          <a:prstGeom prst="ellipse">
            <a:avLst/>
          </a:prstGeom>
          <a:solidFill>
            <a:srgbClr val="34344A"/>
          </a:solidFill>
          <a:ln/>
        </p:spPr>
      </p:sp>
      <p:sp>
        <p:nvSpPr>
          <p:cNvPr id="12" name="Shape 9"/>
          <p:cNvSpPr/>
          <p:nvPr/>
        </p:nvSpPr>
        <p:spPr>
          <a:xfrm>
            <a:off x="4889198" y="470916"/>
            <a:ext cx="82296" cy="82296"/>
          </a:xfrm>
          <a:prstGeom prst="ellipse">
            <a:avLst/>
          </a:prstGeom>
          <a:solidFill>
            <a:srgbClr val="34344A"/>
          </a:solidFill>
          <a:ln/>
        </p:spPr>
      </p:sp>
      <p:sp>
        <p:nvSpPr>
          <p:cNvPr id="13" name="Shape 10"/>
          <p:cNvSpPr/>
          <p:nvPr/>
        </p:nvSpPr>
        <p:spPr>
          <a:xfrm>
            <a:off x="5030930" y="470916"/>
            <a:ext cx="82296" cy="82296"/>
          </a:xfrm>
          <a:prstGeom prst="ellipse">
            <a:avLst/>
          </a:prstGeom>
          <a:solidFill>
            <a:srgbClr val="34344A"/>
          </a:solidFill>
          <a:ln/>
        </p:spPr>
      </p:sp>
      <p:sp>
        <p:nvSpPr>
          <p:cNvPr id="14" name="Text 11"/>
          <p:cNvSpPr txBox="1"/>
          <p:nvPr/>
        </p:nvSpPr>
        <p:spPr>
          <a:xfrm>
            <a:off x="5446982" y="384048"/>
            <a:ext cx="6287513"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a visitor before sign-up</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Discover: one catalogue across every district</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Search and filter every track; each card shows district, layer, effort and price</a:t>
            </a:r>
            <a:endParaRPr lang="en-US" sz="1600" dirty="0"/>
          </a:p>
        </p:txBody>
      </p:sp>
      <p:pic>
        <p:nvPicPr>
          <p:cNvPr id="17" name="Image 0" descr="/tmp/claude-0/-home-user-Chronopoli/d7458f57-86b2-5920-914e-8615357fee63/scratchpad/deck/framed/catalog.png">    </p:cNvPr>
          <p:cNvPicPr>
            <a:picLocks noChangeAspect="1"/>
          </p:cNvPicPr>
          <p:nvPr/>
        </p:nvPicPr>
        <p:blipFill>
          <a:blip r:embed="rId2"/>
          <a:stretch>
            <a:fillRect/>
          </a:stretch>
        </p:blipFill>
        <p:spPr>
          <a:xfrm>
            <a:off x="303315" y="1752334"/>
            <a:ext cx="5820084" cy="4262856"/>
          </a:xfrm>
          <a:prstGeom prst="rect">
            <a:avLst/>
          </a:prstGeom>
        </p:spPr>
      </p:pic>
      <p:sp>
        <p:nvSpPr>
          <p:cNvPr id="18" name="Shape 14"/>
          <p:cNvSpPr/>
          <p:nvPr/>
        </p:nvSpPr>
        <p:spPr>
          <a:xfrm>
            <a:off x="457200" y="5998464"/>
            <a:ext cx="1763105"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548640" y="6071616"/>
            <a:ext cx="73152" cy="73152"/>
          </a:xfrm>
          <a:prstGeom prst="ellipse">
            <a:avLst/>
          </a:prstGeom>
          <a:solidFill>
            <a:srgbClr val="34D399"/>
          </a:solidFill>
          <a:ln/>
        </p:spPr>
      </p:sp>
      <p:sp>
        <p:nvSpPr>
          <p:cNvPr id="20" name="Text 16"/>
          <p:cNvSpPr txBox="1"/>
          <p:nvPr/>
        </p:nvSpPr>
        <p:spPr>
          <a:xfrm>
            <a:off x="676656" y="5998464"/>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1" name="Text 17"/>
          <p:cNvSpPr txBox="1"/>
          <p:nvPr/>
        </p:nvSpPr>
        <p:spPr>
          <a:xfrm>
            <a:off x="2330033" y="6030468"/>
            <a:ext cx="363948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Catalogue, Tutor 22.0.2 · first 6 of 8 demo courses</a:t>
            </a:r>
            <a:endParaRPr lang="en-US" sz="1000" dirty="0"/>
          </a:p>
        </p:txBody>
      </p:sp>
      <p:sp>
        <p:nvSpPr>
          <p:cNvPr id="22" name="Text 18"/>
          <p:cNvSpPr txBox="1"/>
          <p:nvPr/>
        </p:nvSpPr>
        <p:spPr>
          <a:xfrm>
            <a:off x="6380993" y="1937766"/>
            <a:ext cx="5353502" cy="1022604"/>
          </a:xfrm>
          <a:prstGeom prst="rect">
            <a:avLst/>
          </a:prstGeom>
          <a:noFill/>
          <a:ln/>
        </p:spPr>
        <p:txBody>
          <a:bodyPr wrap="square" lIns="0" tIns="0" rIns="0" bIns="0" rtlCol="0" anchor="t"/>
          <a:lstStyle/>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Search and filters:</a:t>
            </a:r>
            <a:r>
              <a:rPr lang="en-US" sz="1400" dirty="0">
                <a:solidFill>
                  <a:srgbClr val="E8E8F0"/>
                </a:solidFill>
                <a:latin typeface="Arial" pitchFamily="34" charset="0"/>
                <a:ea typeface="Arial" pitchFamily="34" charset="-122"/>
                <a:cs typeface="Arial" pitchFamily="34" charset="-120"/>
              </a:rPr>
              <a:t> full-text search on a real Open edX catalogue</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Sign up once:</a:t>
            </a:r>
            <a:r>
              <a:rPr lang="en-US" sz="1400" dirty="0">
                <a:solidFill>
                  <a:srgbClr val="E8E8F0"/>
                </a:solidFill>
                <a:latin typeface="Arial" pitchFamily="34" charset="0"/>
                <a:ea typeface="Arial" pitchFamily="34" charset="-122"/>
                <a:cs typeface="Arial" pitchFamily="34" charset="-120"/>
              </a:rPr>
              <a:t> one account also signs in to the district forums (Discourse SSO)</a:t>
            </a:r>
            <a:endParaRPr lang="en-US" sz="1400" dirty="0"/>
          </a:p>
        </p:txBody>
      </p:sp>
      <p:sp>
        <p:nvSpPr>
          <p:cNvPr id="23" name="Text 19"/>
          <p:cNvSpPr txBox="1"/>
          <p:nvPr/>
        </p:nvSpPr>
        <p:spPr>
          <a:xfrm>
            <a:off x="6380993" y="3143250"/>
            <a:ext cx="5353502"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ZOOM ON THE SAME SCREEN: ONE CARD IMAGE</a:t>
            </a:r>
            <a:endParaRPr lang="en-US" sz="850" dirty="0"/>
          </a:p>
        </p:txBody>
      </p:sp>
      <p:pic>
        <p:nvPicPr>
          <p:cNvPr id="24" name="Image 1" descr="/tmp/claude-0/-home-user-Chronopoli/d7458f57-86b2-5920-914e-8615357fee63/scratchpad/deck/framed/catalog_card301.png">    </p:cNvPr>
          <p:cNvPicPr>
            <a:picLocks noChangeAspect="1"/>
          </p:cNvPicPr>
          <p:nvPr/>
        </p:nvPicPr>
        <p:blipFill>
          <a:blip r:embed="rId3"/>
          <a:stretch>
            <a:fillRect/>
          </a:stretch>
        </p:blipFill>
        <p:spPr>
          <a:xfrm>
            <a:off x="6293211" y="3302356"/>
            <a:ext cx="3101645" cy="1536192"/>
          </a:xfrm>
          <a:prstGeom prst="rect">
            <a:avLst/>
          </a:prstGeom>
        </p:spPr>
      </p:pic>
      <p:sp>
        <p:nvSpPr>
          <p:cNvPr id="25" name="Text 20"/>
          <p:cNvSpPr txBox="1"/>
          <p:nvPr/>
        </p:nvSpPr>
        <p:spPr>
          <a:xfrm>
            <a:off x="9535673" y="3773272"/>
            <a:ext cx="2198822" cy="630936"/>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On every card image: </a:t>
            </a:r>
            <a:r>
              <a:rPr lang="en-US" sz="1300" dirty="0">
                <a:solidFill>
                  <a:srgbClr val="E8E8F0"/>
                </a:solidFill>
                <a:latin typeface="Arial" pitchFamily="34" charset="0"/>
                <a:ea typeface="Arial" pitchFamily="34" charset="-122"/>
                <a:cs typeface="Arial" pitchFamily="34" charset="-120"/>
              </a:rPr>
              <a:t>district, layer, effort and price</a:t>
            </a:r>
            <a:endParaRPr lang="en-US" sz="1300" dirty="0"/>
          </a:p>
        </p:txBody>
      </p:sp>
      <p:sp>
        <p:nvSpPr>
          <p:cNvPr id="26" name="Text 21"/>
          <p:cNvSpPr txBox="1"/>
          <p:nvPr/>
        </p:nvSpPr>
        <p:spPr>
          <a:xfrm>
            <a:off x="6380993" y="4988509"/>
            <a:ext cx="5353502"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ALL EIGHT DEMO TRACKS (ILLUSTRATIVE)</a:t>
            </a:r>
            <a:endParaRPr lang="en-US" sz="850" dirty="0"/>
          </a:p>
        </p:txBody>
      </p:sp>
      <p:sp>
        <p:nvSpPr>
          <p:cNvPr id="27" name="Shape 22"/>
          <p:cNvSpPr/>
          <p:nvPr/>
        </p:nvSpPr>
        <p:spPr>
          <a:xfrm>
            <a:off x="6380993" y="5235397"/>
            <a:ext cx="1256079" cy="438912"/>
          </a:xfrm>
          <a:prstGeom prst="roundRect">
            <a:avLst>
              <a:gd name="adj" fmla="val 16667"/>
            </a:avLst>
          </a:prstGeom>
          <a:solidFill>
            <a:srgbClr val="171722"/>
          </a:solidFill>
          <a:ln w="9525">
            <a:solidFill>
              <a:srgbClr val="2C2C3E"/>
            </a:solidFill>
            <a:prstDash val="solid"/>
          </a:ln>
        </p:spPr>
      </p:sp>
      <p:sp>
        <p:nvSpPr>
          <p:cNvPr id="28" name="Shape 23"/>
          <p:cNvSpPr/>
          <p:nvPr/>
        </p:nvSpPr>
        <p:spPr>
          <a:xfrm>
            <a:off x="6490721" y="5354269"/>
            <a:ext cx="73152" cy="73152"/>
          </a:xfrm>
          <a:prstGeom prst="ellipse">
            <a:avLst/>
          </a:prstGeom>
          <a:solidFill>
            <a:srgbClr val="F59E0B"/>
          </a:solidFill>
          <a:ln/>
        </p:spPr>
      </p:sp>
      <p:sp>
        <p:nvSpPr>
          <p:cNvPr id="29" name="Text 24"/>
          <p:cNvSpPr txBox="1"/>
          <p:nvPr/>
        </p:nvSpPr>
        <p:spPr>
          <a:xfrm>
            <a:off x="6618737" y="5281117"/>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USDT-101</a:t>
            </a:r>
            <a:endParaRPr lang="en-US" sz="1100" dirty="0"/>
          </a:p>
        </p:txBody>
      </p:sp>
      <p:sp>
        <p:nvSpPr>
          <p:cNvPr id="30" name="Text 25"/>
          <p:cNvSpPr txBox="1"/>
          <p:nvPr/>
        </p:nvSpPr>
        <p:spPr>
          <a:xfrm>
            <a:off x="6618737" y="5473141"/>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L1</a:t>
            </a:r>
            <a:r>
              <a:rPr lang="en-US" sz="1100" dirty="0">
                <a:solidFill>
                  <a:srgbClr val="B4B4C8"/>
                </a:solidFill>
                <a:latin typeface="Arial" pitchFamily="34" charset="0"/>
                <a:ea typeface="Arial" pitchFamily="34" charset="-122"/>
                <a:cs typeface="Arial" pitchFamily="34" charset="-120"/>
              </a:rPr>
              <a:t>  Free</a:t>
            </a:r>
            <a:endParaRPr lang="en-US" sz="1100" dirty="0"/>
          </a:p>
        </p:txBody>
      </p:sp>
      <p:sp>
        <p:nvSpPr>
          <p:cNvPr id="31" name="Shape 26"/>
          <p:cNvSpPr/>
          <p:nvPr/>
        </p:nvSpPr>
        <p:spPr>
          <a:xfrm>
            <a:off x="7746801" y="5235397"/>
            <a:ext cx="1256079" cy="438912"/>
          </a:xfrm>
          <a:prstGeom prst="roundRect">
            <a:avLst>
              <a:gd name="adj" fmla="val 16667"/>
            </a:avLst>
          </a:prstGeom>
          <a:solidFill>
            <a:srgbClr val="171722"/>
          </a:solidFill>
          <a:ln w="9525">
            <a:solidFill>
              <a:srgbClr val="2C2C3E"/>
            </a:solidFill>
            <a:prstDash val="solid"/>
          </a:ln>
        </p:spPr>
      </p:sp>
      <p:sp>
        <p:nvSpPr>
          <p:cNvPr id="32" name="Shape 27"/>
          <p:cNvSpPr/>
          <p:nvPr/>
        </p:nvSpPr>
        <p:spPr>
          <a:xfrm>
            <a:off x="7856529" y="5354269"/>
            <a:ext cx="73152" cy="73152"/>
          </a:xfrm>
          <a:prstGeom prst="ellipse">
            <a:avLst/>
          </a:prstGeom>
          <a:solidFill>
            <a:srgbClr val="F59E0B"/>
          </a:solidFill>
          <a:ln/>
        </p:spPr>
      </p:sp>
      <p:sp>
        <p:nvSpPr>
          <p:cNvPr id="33" name="Text 28"/>
          <p:cNvSpPr txBox="1"/>
          <p:nvPr/>
        </p:nvSpPr>
        <p:spPr>
          <a:xfrm>
            <a:off x="7984545" y="5281117"/>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USDT-102</a:t>
            </a:r>
            <a:endParaRPr lang="en-US" sz="1100" dirty="0"/>
          </a:p>
        </p:txBody>
      </p:sp>
      <p:sp>
        <p:nvSpPr>
          <p:cNvPr id="34" name="Text 29"/>
          <p:cNvSpPr txBox="1"/>
          <p:nvPr/>
        </p:nvSpPr>
        <p:spPr>
          <a:xfrm>
            <a:off x="7984545" y="5473141"/>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L1</a:t>
            </a:r>
            <a:r>
              <a:rPr lang="en-US" sz="1100" dirty="0">
                <a:solidFill>
                  <a:srgbClr val="B4B4C8"/>
                </a:solidFill>
                <a:latin typeface="Arial" pitchFamily="34" charset="0"/>
                <a:ea typeface="Arial" pitchFamily="34" charset="-122"/>
                <a:cs typeface="Arial" pitchFamily="34" charset="-120"/>
              </a:rPr>
              <a:t>  $149</a:t>
            </a:r>
            <a:endParaRPr lang="en-US" sz="1100" dirty="0"/>
          </a:p>
        </p:txBody>
      </p:sp>
      <p:sp>
        <p:nvSpPr>
          <p:cNvPr id="35" name="Shape 30"/>
          <p:cNvSpPr/>
          <p:nvPr/>
        </p:nvSpPr>
        <p:spPr>
          <a:xfrm>
            <a:off x="9112608" y="5235397"/>
            <a:ext cx="1256079" cy="438912"/>
          </a:xfrm>
          <a:prstGeom prst="roundRect">
            <a:avLst>
              <a:gd name="adj" fmla="val 16667"/>
            </a:avLst>
          </a:prstGeom>
          <a:solidFill>
            <a:srgbClr val="171722"/>
          </a:solidFill>
          <a:ln w="9525">
            <a:solidFill>
              <a:srgbClr val="2C2C3E"/>
            </a:solidFill>
            <a:prstDash val="solid"/>
          </a:ln>
        </p:spPr>
      </p:sp>
      <p:sp>
        <p:nvSpPr>
          <p:cNvPr id="36" name="Shape 31"/>
          <p:cNvSpPr/>
          <p:nvPr/>
        </p:nvSpPr>
        <p:spPr>
          <a:xfrm>
            <a:off x="9222336" y="5354269"/>
            <a:ext cx="73152" cy="73152"/>
          </a:xfrm>
          <a:prstGeom prst="ellipse">
            <a:avLst/>
          </a:prstGeom>
          <a:solidFill>
            <a:srgbClr val="3B82F6"/>
          </a:solidFill>
          <a:ln/>
        </p:spPr>
      </p:sp>
      <p:sp>
        <p:nvSpPr>
          <p:cNvPr id="37" name="Text 32"/>
          <p:cNvSpPr txBox="1"/>
          <p:nvPr/>
        </p:nvSpPr>
        <p:spPr>
          <a:xfrm>
            <a:off x="9350352" y="5281117"/>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USDT-201</a:t>
            </a:r>
            <a:endParaRPr lang="en-US" sz="1100" dirty="0"/>
          </a:p>
        </p:txBody>
      </p:sp>
      <p:sp>
        <p:nvSpPr>
          <p:cNvPr id="38" name="Text 33"/>
          <p:cNvSpPr txBox="1"/>
          <p:nvPr/>
        </p:nvSpPr>
        <p:spPr>
          <a:xfrm>
            <a:off x="9350352" y="5473141"/>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L2</a:t>
            </a:r>
            <a:r>
              <a:rPr lang="en-US" sz="1100" dirty="0">
                <a:solidFill>
                  <a:srgbClr val="B4B4C8"/>
                </a:solidFill>
                <a:latin typeface="Arial" pitchFamily="34" charset="0"/>
                <a:ea typeface="Arial" pitchFamily="34" charset="-122"/>
                <a:cs typeface="Arial" pitchFamily="34" charset="-120"/>
              </a:rPr>
              <a:t>  $599</a:t>
            </a:r>
            <a:endParaRPr lang="en-US" sz="1100" dirty="0"/>
          </a:p>
        </p:txBody>
      </p:sp>
      <p:sp>
        <p:nvSpPr>
          <p:cNvPr id="39" name="Shape 34"/>
          <p:cNvSpPr/>
          <p:nvPr/>
        </p:nvSpPr>
        <p:spPr>
          <a:xfrm>
            <a:off x="10478416" y="5235397"/>
            <a:ext cx="1256079" cy="438912"/>
          </a:xfrm>
          <a:prstGeom prst="roundRect">
            <a:avLst>
              <a:gd name="adj" fmla="val 16667"/>
            </a:avLst>
          </a:prstGeom>
          <a:solidFill>
            <a:srgbClr val="171722"/>
          </a:solidFill>
          <a:ln w="9525">
            <a:solidFill>
              <a:srgbClr val="2C2C3E"/>
            </a:solidFill>
            <a:prstDash val="solid"/>
          </a:ln>
        </p:spPr>
      </p:sp>
      <p:sp>
        <p:nvSpPr>
          <p:cNvPr id="40" name="Shape 35"/>
          <p:cNvSpPr/>
          <p:nvPr/>
        </p:nvSpPr>
        <p:spPr>
          <a:xfrm>
            <a:off x="10588144" y="5354269"/>
            <a:ext cx="73152" cy="73152"/>
          </a:xfrm>
          <a:prstGeom prst="ellipse">
            <a:avLst/>
          </a:prstGeom>
          <a:solidFill>
            <a:srgbClr val="8B5CF6"/>
          </a:solidFill>
          <a:ln/>
        </p:spPr>
      </p:sp>
      <p:sp>
        <p:nvSpPr>
          <p:cNvPr id="41" name="Text 36"/>
          <p:cNvSpPr txBox="1"/>
          <p:nvPr/>
        </p:nvSpPr>
        <p:spPr>
          <a:xfrm>
            <a:off x="10716160" y="5281117"/>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USDT-202</a:t>
            </a:r>
            <a:endParaRPr lang="en-US" sz="1100" dirty="0"/>
          </a:p>
        </p:txBody>
      </p:sp>
      <p:sp>
        <p:nvSpPr>
          <p:cNvPr id="42" name="Text 37"/>
          <p:cNvSpPr txBox="1"/>
          <p:nvPr/>
        </p:nvSpPr>
        <p:spPr>
          <a:xfrm>
            <a:off x="10716160" y="5473141"/>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L2</a:t>
            </a:r>
            <a:r>
              <a:rPr lang="en-US" sz="1100" dirty="0">
                <a:solidFill>
                  <a:srgbClr val="B4B4C8"/>
                </a:solidFill>
                <a:latin typeface="Arial" pitchFamily="34" charset="0"/>
                <a:ea typeface="Arial" pitchFamily="34" charset="-122"/>
                <a:cs typeface="Arial" pitchFamily="34" charset="-120"/>
              </a:rPr>
              <a:t>  $399</a:t>
            </a:r>
            <a:endParaRPr lang="en-US" sz="1100" dirty="0"/>
          </a:p>
        </p:txBody>
      </p:sp>
      <p:sp>
        <p:nvSpPr>
          <p:cNvPr id="43" name="Shape 38"/>
          <p:cNvSpPr/>
          <p:nvPr/>
        </p:nvSpPr>
        <p:spPr>
          <a:xfrm>
            <a:off x="6380993" y="5747461"/>
            <a:ext cx="1256079" cy="438912"/>
          </a:xfrm>
          <a:prstGeom prst="roundRect">
            <a:avLst>
              <a:gd name="adj" fmla="val 16667"/>
            </a:avLst>
          </a:prstGeom>
          <a:solidFill>
            <a:srgbClr val="171722"/>
          </a:solidFill>
          <a:ln w="9525">
            <a:solidFill>
              <a:srgbClr val="2C2C3E"/>
            </a:solidFill>
            <a:prstDash val="solid"/>
          </a:ln>
        </p:spPr>
      </p:sp>
      <p:sp>
        <p:nvSpPr>
          <p:cNvPr id="44" name="Shape 39"/>
          <p:cNvSpPr/>
          <p:nvPr/>
        </p:nvSpPr>
        <p:spPr>
          <a:xfrm>
            <a:off x="6490721" y="5866333"/>
            <a:ext cx="73152" cy="73152"/>
          </a:xfrm>
          <a:prstGeom prst="ellipse">
            <a:avLst/>
          </a:prstGeom>
          <a:solidFill>
            <a:srgbClr val="F59E0B"/>
          </a:solidFill>
          <a:ln/>
        </p:spPr>
      </p:sp>
      <p:sp>
        <p:nvSpPr>
          <p:cNvPr id="45" name="Text 40"/>
          <p:cNvSpPr txBox="1"/>
          <p:nvPr/>
        </p:nvSpPr>
        <p:spPr>
          <a:xfrm>
            <a:off x="6618737" y="5793181"/>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USDT-203</a:t>
            </a:r>
            <a:endParaRPr lang="en-US" sz="1100" dirty="0"/>
          </a:p>
        </p:txBody>
      </p:sp>
      <p:sp>
        <p:nvSpPr>
          <p:cNvPr id="46" name="Text 41"/>
          <p:cNvSpPr txBox="1"/>
          <p:nvPr/>
        </p:nvSpPr>
        <p:spPr>
          <a:xfrm>
            <a:off x="6618737" y="5985205"/>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L2</a:t>
            </a:r>
            <a:r>
              <a:rPr lang="en-US" sz="1100" dirty="0">
                <a:solidFill>
                  <a:srgbClr val="B4B4C8"/>
                </a:solidFill>
                <a:latin typeface="Arial" pitchFamily="34" charset="0"/>
                <a:ea typeface="Arial" pitchFamily="34" charset="-122"/>
                <a:cs typeface="Arial" pitchFamily="34" charset="-120"/>
              </a:rPr>
              <a:t>  $499</a:t>
            </a:r>
            <a:endParaRPr lang="en-US" sz="1100" dirty="0"/>
          </a:p>
        </p:txBody>
      </p:sp>
      <p:sp>
        <p:nvSpPr>
          <p:cNvPr id="47" name="Shape 42"/>
          <p:cNvSpPr/>
          <p:nvPr/>
        </p:nvSpPr>
        <p:spPr>
          <a:xfrm>
            <a:off x="7746801" y="5747461"/>
            <a:ext cx="1256079" cy="438912"/>
          </a:xfrm>
          <a:prstGeom prst="roundRect">
            <a:avLst>
              <a:gd name="adj" fmla="val 16667"/>
            </a:avLst>
          </a:prstGeom>
          <a:solidFill>
            <a:srgbClr val="171722"/>
          </a:solidFill>
          <a:ln w="9525">
            <a:solidFill>
              <a:srgbClr val="2C2C3E"/>
            </a:solidFill>
            <a:prstDash val="solid"/>
          </a:ln>
        </p:spPr>
      </p:sp>
      <p:sp>
        <p:nvSpPr>
          <p:cNvPr id="48" name="Shape 43"/>
          <p:cNvSpPr/>
          <p:nvPr/>
        </p:nvSpPr>
        <p:spPr>
          <a:xfrm>
            <a:off x="7856529" y="5866333"/>
            <a:ext cx="73152" cy="73152"/>
          </a:xfrm>
          <a:prstGeom prst="ellipse">
            <a:avLst/>
          </a:prstGeom>
          <a:solidFill>
            <a:srgbClr val="EF4444"/>
          </a:solidFill>
          <a:ln/>
        </p:spPr>
      </p:sp>
      <p:sp>
        <p:nvSpPr>
          <p:cNvPr id="49" name="Text 44"/>
          <p:cNvSpPr txBox="1"/>
          <p:nvPr/>
        </p:nvSpPr>
        <p:spPr>
          <a:xfrm>
            <a:off x="7984545" y="5793181"/>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USDT-301</a:t>
            </a:r>
            <a:endParaRPr lang="en-US" sz="1100" dirty="0"/>
          </a:p>
        </p:txBody>
      </p:sp>
      <p:sp>
        <p:nvSpPr>
          <p:cNvPr id="50" name="Text 45"/>
          <p:cNvSpPr txBox="1"/>
          <p:nvPr/>
        </p:nvSpPr>
        <p:spPr>
          <a:xfrm>
            <a:off x="7984545" y="5985205"/>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L3</a:t>
            </a:r>
            <a:r>
              <a:rPr lang="en-US" sz="1100" dirty="0">
                <a:solidFill>
                  <a:srgbClr val="B4B4C8"/>
                </a:solidFill>
                <a:latin typeface="Arial" pitchFamily="34" charset="0"/>
                <a:ea typeface="Arial" pitchFamily="34" charset="-122"/>
                <a:cs typeface="Arial" pitchFamily="34" charset="-120"/>
              </a:rPr>
              <a:t>  $1,499</a:t>
            </a:r>
            <a:endParaRPr lang="en-US" sz="1100" dirty="0"/>
          </a:p>
        </p:txBody>
      </p:sp>
      <p:sp>
        <p:nvSpPr>
          <p:cNvPr id="51" name="Shape 46"/>
          <p:cNvSpPr/>
          <p:nvPr/>
        </p:nvSpPr>
        <p:spPr>
          <a:xfrm>
            <a:off x="9112608" y="5747461"/>
            <a:ext cx="1256079" cy="438912"/>
          </a:xfrm>
          <a:prstGeom prst="roundRect">
            <a:avLst>
              <a:gd name="adj" fmla="val 16667"/>
            </a:avLst>
          </a:prstGeom>
          <a:solidFill>
            <a:srgbClr val="171722"/>
          </a:solidFill>
          <a:ln w="9525">
            <a:solidFill>
              <a:srgbClr val="2C2C3E"/>
            </a:solidFill>
            <a:prstDash val="solid"/>
          </a:ln>
        </p:spPr>
      </p:sp>
      <p:sp>
        <p:nvSpPr>
          <p:cNvPr id="52" name="Shape 47"/>
          <p:cNvSpPr/>
          <p:nvPr/>
        </p:nvSpPr>
        <p:spPr>
          <a:xfrm>
            <a:off x="9222336" y="5866333"/>
            <a:ext cx="73152" cy="73152"/>
          </a:xfrm>
          <a:prstGeom prst="ellipse">
            <a:avLst/>
          </a:prstGeom>
          <a:solidFill>
            <a:srgbClr val="10B981"/>
          </a:solidFill>
          <a:ln/>
        </p:spPr>
      </p:sp>
      <p:sp>
        <p:nvSpPr>
          <p:cNvPr id="53" name="Text 48"/>
          <p:cNvSpPr txBox="1"/>
          <p:nvPr/>
        </p:nvSpPr>
        <p:spPr>
          <a:xfrm>
            <a:off x="9350352" y="5793181"/>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USDT-302</a:t>
            </a:r>
            <a:endParaRPr lang="en-US" sz="1100" dirty="0"/>
          </a:p>
        </p:txBody>
      </p:sp>
      <p:sp>
        <p:nvSpPr>
          <p:cNvPr id="54" name="Text 49"/>
          <p:cNvSpPr txBox="1"/>
          <p:nvPr/>
        </p:nvSpPr>
        <p:spPr>
          <a:xfrm>
            <a:off x="9350352" y="5985205"/>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L3</a:t>
            </a:r>
            <a:r>
              <a:rPr lang="en-US" sz="1100" dirty="0">
                <a:solidFill>
                  <a:srgbClr val="B4B4C8"/>
                </a:solidFill>
                <a:latin typeface="Arial" pitchFamily="34" charset="0"/>
                <a:ea typeface="Arial" pitchFamily="34" charset="-122"/>
                <a:cs typeface="Arial" pitchFamily="34" charset="-120"/>
              </a:rPr>
              <a:t>  $1,299</a:t>
            </a:r>
            <a:endParaRPr lang="en-US" sz="1100" dirty="0"/>
          </a:p>
        </p:txBody>
      </p:sp>
      <p:sp>
        <p:nvSpPr>
          <p:cNvPr id="55" name="Shape 50"/>
          <p:cNvSpPr/>
          <p:nvPr/>
        </p:nvSpPr>
        <p:spPr>
          <a:xfrm>
            <a:off x="10478416" y="5747461"/>
            <a:ext cx="1256079" cy="438912"/>
          </a:xfrm>
          <a:prstGeom prst="roundRect">
            <a:avLst>
              <a:gd name="adj" fmla="val 16667"/>
            </a:avLst>
          </a:prstGeom>
          <a:solidFill>
            <a:srgbClr val="171722"/>
          </a:solidFill>
          <a:ln w="9525">
            <a:solidFill>
              <a:srgbClr val="2C2C3E"/>
            </a:solidFill>
            <a:prstDash val="solid"/>
          </a:ln>
        </p:spPr>
      </p:sp>
      <p:sp>
        <p:nvSpPr>
          <p:cNvPr id="56" name="Shape 51"/>
          <p:cNvSpPr/>
          <p:nvPr/>
        </p:nvSpPr>
        <p:spPr>
          <a:xfrm>
            <a:off x="10588144" y="5866333"/>
            <a:ext cx="73152" cy="73152"/>
          </a:xfrm>
          <a:prstGeom prst="ellipse">
            <a:avLst/>
          </a:prstGeom>
          <a:solidFill>
            <a:srgbClr val="F59E0B"/>
          </a:solidFill>
          <a:ln/>
        </p:spPr>
      </p:sp>
      <p:sp>
        <p:nvSpPr>
          <p:cNvPr id="57" name="Text 52"/>
          <p:cNvSpPr txBox="1"/>
          <p:nvPr/>
        </p:nvSpPr>
        <p:spPr>
          <a:xfrm>
            <a:off x="10716160" y="5793181"/>
            <a:ext cx="981759" cy="18288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USDT-401</a:t>
            </a:r>
            <a:endParaRPr lang="en-US" sz="1100" dirty="0"/>
          </a:p>
        </p:txBody>
      </p:sp>
      <p:sp>
        <p:nvSpPr>
          <p:cNvPr id="58" name="Text 53"/>
          <p:cNvSpPr txBox="1"/>
          <p:nvPr/>
        </p:nvSpPr>
        <p:spPr>
          <a:xfrm>
            <a:off x="10716160" y="5985205"/>
            <a:ext cx="981759" cy="182880"/>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L4</a:t>
            </a:r>
            <a:r>
              <a:rPr lang="en-US" sz="1100" dirty="0">
                <a:solidFill>
                  <a:srgbClr val="B4B4C8"/>
                </a:solidFill>
                <a:latin typeface="Arial" pitchFamily="34" charset="0"/>
                <a:ea typeface="Arial" pitchFamily="34" charset="-122"/>
                <a:cs typeface="Arial" pitchFamily="34" charset="-120"/>
              </a:rPr>
              <a:t>  $4,500</a:t>
            </a:r>
            <a:endParaRPr lang="en-US" sz="1100" dirty="0"/>
          </a:p>
        </p:txBody>
      </p:sp>
      <p:sp>
        <p:nvSpPr>
          <p:cNvPr id="59" name="Text 5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60" name="Text 5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50249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26475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2 OF 9 · ONBOARDING</a:t>
            </a:r>
            <a:endParaRPr lang="en-US" sz="900" dirty="0"/>
          </a:p>
        </p:txBody>
      </p:sp>
      <p:sp>
        <p:nvSpPr>
          <p:cNvPr id="5" name="Shape 2"/>
          <p:cNvSpPr/>
          <p:nvPr/>
        </p:nvSpPr>
        <p:spPr>
          <a:xfrm>
            <a:off x="4124287" y="470916"/>
            <a:ext cx="82296" cy="82296"/>
          </a:xfrm>
          <a:prstGeom prst="ellipse">
            <a:avLst/>
          </a:prstGeom>
          <a:solidFill>
            <a:srgbClr val="9B7A2E"/>
          </a:solidFill>
          <a:ln/>
        </p:spPr>
      </p:sp>
      <p:sp>
        <p:nvSpPr>
          <p:cNvPr id="6" name="Shape 3"/>
          <p:cNvSpPr/>
          <p:nvPr/>
        </p:nvSpPr>
        <p:spPr>
          <a:xfrm>
            <a:off x="4266019" y="470916"/>
            <a:ext cx="82296" cy="82296"/>
          </a:xfrm>
          <a:prstGeom prst="ellipse">
            <a:avLst/>
          </a:prstGeom>
          <a:solidFill>
            <a:srgbClr val="F0C96B"/>
          </a:solidFill>
          <a:ln/>
        </p:spPr>
      </p:sp>
      <p:sp>
        <p:nvSpPr>
          <p:cNvPr id="7" name="Shape 4"/>
          <p:cNvSpPr/>
          <p:nvPr/>
        </p:nvSpPr>
        <p:spPr>
          <a:xfrm>
            <a:off x="4407751" y="470916"/>
            <a:ext cx="82296" cy="82296"/>
          </a:xfrm>
          <a:prstGeom prst="ellipse">
            <a:avLst/>
          </a:prstGeom>
          <a:solidFill>
            <a:srgbClr val="34344A"/>
          </a:solidFill>
          <a:ln/>
        </p:spPr>
      </p:sp>
      <p:sp>
        <p:nvSpPr>
          <p:cNvPr id="8" name="Shape 5"/>
          <p:cNvSpPr/>
          <p:nvPr/>
        </p:nvSpPr>
        <p:spPr>
          <a:xfrm>
            <a:off x="4549483" y="470916"/>
            <a:ext cx="82296" cy="82296"/>
          </a:xfrm>
          <a:prstGeom prst="ellipse">
            <a:avLst/>
          </a:prstGeom>
          <a:solidFill>
            <a:srgbClr val="34344A"/>
          </a:solidFill>
          <a:ln/>
        </p:spPr>
      </p:sp>
      <p:sp>
        <p:nvSpPr>
          <p:cNvPr id="9" name="Shape 6"/>
          <p:cNvSpPr/>
          <p:nvPr/>
        </p:nvSpPr>
        <p:spPr>
          <a:xfrm>
            <a:off x="4691215" y="470916"/>
            <a:ext cx="82296" cy="82296"/>
          </a:xfrm>
          <a:prstGeom prst="ellipse">
            <a:avLst/>
          </a:prstGeom>
          <a:solidFill>
            <a:srgbClr val="34344A"/>
          </a:solidFill>
          <a:ln/>
        </p:spPr>
      </p:sp>
      <p:sp>
        <p:nvSpPr>
          <p:cNvPr id="10" name="Shape 7"/>
          <p:cNvSpPr/>
          <p:nvPr/>
        </p:nvSpPr>
        <p:spPr>
          <a:xfrm>
            <a:off x="4832947" y="470916"/>
            <a:ext cx="82296" cy="82296"/>
          </a:xfrm>
          <a:prstGeom prst="ellipse">
            <a:avLst/>
          </a:prstGeom>
          <a:solidFill>
            <a:srgbClr val="34344A"/>
          </a:solidFill>
          <a:ln/>
        </p:spPr>
      </p:sp>
      <p:sp>
        <p:nvSpPr>
          <p:cNvPr id="11" name="Shape 8"/>
          <p:cNvSpPr/>
          <p:nvPr/>
        </p:nvSpPr>
        <p:spPr>
          <a:xfrm>
            <a:off x="4974679" y="470916"/>
            <a:ext cx="82296" cy="82296"/>
          </a:xfrm>
          <a:prstGeom prst="ellipse">
            <a:avLst/>
          </a:prstGeom>
          <a:solidFill>
            <a:srgbClr val="34344A"/>
          </a:solidFill>
          <a:ln/>
        </p:spPr>
      </p:sp>
      <p:sp>
        <p:nvSpPr>
          <p:cNvPr id="12" name="Shape 9"/>
          <p:cNvSpPr/>
          <p:nvPr/>
        </p:nvSpPr>
        <p:spPr>
          <a:xfrm>
            <a:off x="5116411" y="470916"/>
            <a:ext cx="82296" cy="82296"/>
          </a:xfrm>
          <a:prstGeom prst="ellipse">
            <a:avLst/>
          </a:prstGeom>
          <a:solidFill>
            <a:srgbClr val="34344A"/>
          </a:solidFill>
          <a:ln/>
        </p:spPr>
      </p:sp>
      <p:sp>
        <p:nvSpPr>
          <p:cNvPr id="13" name="Shape 10"/>
          <p:cNvSpPr/>
          <p:nvPr/>
        </p:nvSpPr>
        <p:spPr>
          <a:xfrm>
            <a:off x="5258143" y="470916"/>
            <a:ext cx="82296" cy="82296"/>
          </a:xfrm>
          <a:prstGeom prst="ellipse">
            <a:avLst/>
          </a:prstGeom>
          <a:solidFill>
            <a:srgbClr val="34344A"/>
          </a:solidFill>
          <a:ln/>
        </p:spPr>
      </p:sp>
      <p:sp>
        <p:nvSpPr>
          <p:cNvPr id="14" name="Text 11"/>
          <p:cNvSpPr txBox="1"/>
          <p:nvPr/>
        </p:nvSpPr>
        <p:spPr>
          <a:xfrm>
            <a:off x="5674195" y="384048"/>
            <a:ext cx="6060300"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Al-Mansoori, MLRO (fictitious)</a:t>
            </a:r>
            <a:endParaRPr lang="en-US" sz="1050" dirty="0"/>
          </a:p>
        </p:txBody>
      </p:sp>
      <p:sp>
        <p:nvSpPr>
          <p:cNvPr id="15" name="Text 12"/>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Onboarding: five questions, a personal map of the city</a:t>
            </a:r>
            <a:endParaRPr lang="en-US" sz="3300" dirty="0"/>
          </a:p>
        </p:txBody>
      </p:sp>
      <p:sp>
        <p:nvSpPr>
          <p:cNvPr id="16" name="Text 13"/>
          <p:cNvSpPr txBox="1"/>
          <p:nvPr/>
        </p:nvSpPr>
        <p:spPr>
          <a:xfrm>
            <a:off x="8275320" y="999439"/>
            <a:ext cx="3459175" cy="7132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Focus picks the home district and its two neighbours; role and experience set the starting layer</a:t>
            </a:r>
            <a:endParaRPr lang="en-US" sz="1500" dirty="0"/>
          </a:p>
        </p:txBody>
      </p:sp>
      <p:pic>
        <p:nvPicPr>
          <p:cNvPr id="17" name="Image 0" descr="/tmp/claude-0/-home-user-Chronopoli/d7458f57-86b2-5920-914e-8615357fee63/scratchpad/deck/framed/onb_start.png">    </p:cNvPr>
          <p:cNvPicPr>
            <a:picLocks noChangeAspect="1"/>
          </p:cNvPicPr>
          <p:nvPr/>
        </p:nvPicPr>
        <p:blipFill>
          <a:blip r:embed="rId2"/>
          <a:stretch>
            <a:fillRect/>
          </a:stretch>
        </p:blipFill>
        <p:spPr>
          <a:xfrm>
            <a:off x="346731" y="1886671"/>
            <a:ext cx="4119837" cy="4084097"/>
          </a:xfrm>
          <a:prstGeom prst="rect">
            <a:avLst/>
          </a:prstGeom>
        </p:spPr>
      </p:pic>
      <p:sp>
        <p:nvSpPr>
          <p:cNvPr id="18" name="Shape 14"/>
          <p:cNvSpPr/>
          <p:nvPr/>
        </p:nvSpPr>
        <p:spPr>
          <a:xfrm>
            <a:off x="457200" y="5997459"/>
            <a:ext cx="2591796"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548640" y="6070611"/>
            <a:ext cx="73152" cy="73152"/>
          </a:xfrm>
          <a:prstGeom prst="ellipse">
            <a:avLst/>
          </a:prstGeom>
          <a:solidFill>
            <a:srgbClr val="F0C96B"/>
          </a:solidFill>
          <a:ln/>
        </p:spPr>
      </p:sp>
      <p:sp>
        <p:nvSpPr>
          <p:cNvPr id="20" name="Text 16"/>
          <p:cNvSpPr txBox="1"/>
          <p:nvPr/>
        </p:nvSpPr>
        <p:spPr>
          <a:xfrm>
            <a:off x="676656" y="5997459"/>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1" name="Text 17"/>
          <p:cNvSpPr txBox="1"/>
          <p:nvPr/>
        </p:nvSpPr>
        <p:spPr>
          <a:xfrm>
            <a:off x="3158724" y="6029463"/>
            <a:ext cx="1197376"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Question 2 of 5</a:t>
            </a:r>
            <a:endParaRPr lang="en-US" sz="1000" dirty="0"/>
          </a:p>
        </p:txBody>
      </p:sp>
      <p:pic>
        <p:nvPicPr>
          <p:cNvPr id="22" name="Image 1" descr="/tmp/claude-0/-home-user-Chronopoli/d7458f57-86b2-5920-914e-8615357fee63/scratchpad/deck/framed/onb_results.png">    </p:cNvPr>
          <p:cNvPicPr>
            <a:picLocks noChangeAspect="1"/>
          </p:cNvPicPr>
          <p:nvPr/>
        </p:nvPicPr>
        <p:blipFill>
          <a:blip r:embed="rId3"/>
          <a:stretch>
            <a:fillRect/>
          </a:stretch>
        </p:blipFill>
        <p:spPr>
          <a:xfrm>
            <a:off x="4621950" y="1897231"/>
            <a:ext cx="3786306" cy="4062978"/>
          </a:xfrm>
          <a:prstGeom prst="rect">
            <a:avLst/>
          </a:prstGeom>
        </p:spPr>
      </p:pic>
      <p:sp>
        <p:nvSpPr>
          <p:cNvPr id="23" name="Shape 18"/>
          <p:cNvSpPr/>
          <p:nvPr/>
        </p:nvSpPr>
        <p:spPr>
          <a:xfrm>
            <a:off x="4721859" y="5997459"/>
            <a:ext cx="2591796" cy="219456"/>
          </a:xfrm>
          <a:prstGeom prst="roundRect">
            <a:avLst>
              <a:gd name="adj" fmla="val 50000"/>
            </a:avLst>
          </a:prstGeom>
          <a:solidFill>
            <a:srgbClr val="1B1B27"/>
          </a:solidFill>
          <a:ln w="9525">
            <a:solidFill>
              <a:srgbClr val="3A3A50"/>
            </a:solidFill>
            <a:prstDash val="solid"/>
          </a:ln>
        </p:spPr>
      </p:sp>
      <p:sp>
        <p:nvSpPr>
          <p:cNvPr id="24" name="Shape 19"/>
          <p:cNvSpPr/>
          <p:nvPr/>
        </p:nvSpPr>
        <p:spPr>
          <a:xfrm>
            <a:off x="4813299" y="6070611"/>
            <a:ext cx="73152" cy="73152"/>
          </a:xfrm>
          <a:prstGeom prst="ellipse">
            <a:avLst/>
          </a:prstGeom>
          <a:solidFill>
            <a:srgbClr val="F0C96B"/>
          </a:solidFill>
          <a:ln/>
        </p:spPr>
      </p:sp>
      <p:sp>
        <p:nvSpPr>
          <p:cNvPr id="25" name="Text 20"/>
          <p:cNvSpPr txBox="1"/>
          <p:nvPr/>
        </p:nvSpPr>
        <p:spPr>
          <a:xfrm>
            <a:off x="4941315" y="5997459"/>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6" name="Text 21"/>
          <p:cNvSpPr txBox="1"/>
          <p:nvPr/>
        </p:nvSpPr>
        <p:spPr>
          <a:xfrm>
            <a:off x="7423383" y="6029463"/>
            <a:ext cx="884964"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Routing result</a:t>
            </a:r>
            <a:endParaRPr lang="en-US" sz="1000" dirty="0"/>
          </a:p>
        </p:txBody>
      </p:sp>
      <p:sp>
        <p:nvSpPr>
          <p:cNvPr id="27" name="Text 22"/>
          <p:cNvSpPr txBox="1"/>
          <p:nvPr/>
        </p:nvSpPr>
        <p:spPr>
          <a:xfrm>
            <a:off x="8719827" y="2263750"/>
            <a:ext cx="3014669" cy="3384804"/>
          </a:xfrm>
          <a:prstGeom prst="rect">
            <a:avLst/>
          </a:prstGeom>
          <a:noFill/>
          <a:ln/>
        </p:spPr>
        <p:txBody>
          <a:bodyPr wrap="square" lIns="0" tIns="0" rIns="0" bIns="0" rtlCol="0" anchor="t"/>
          <a:lstStyle/>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Layla answers:</a:t>
            </a:r>
            <a:r>
              <a:rPr lang="en-US" sz="1400" dirty="0">
                <a:solidFill>
                  <a:srgbClr val="E8E8F0"/>
                </a:solidFill>
                <a:latin typeface="Arial" pitchFamily="34" charset="0"/>
                <a:ea typeface="Arial" pitchFamily="34" charset="-122"/>
                <a:cs typeface="Arial" pitchFamily="34" charset="-120"/>
              </a:rPr>
              <a:t> crypto exchange · Compliance &amp; AML · experienced · certificate · within weeks</a:t>
            </a:r>
            <a:endParaRPr lang="en-US" sz="1400" dirty="0"/>
          </a:p>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Result:</a:t>
            </a:r>
            <a:r>
              <a:rPr lang="en-US" sz="1400" dirty="0">
                <a:solidFill>
                  <a:srgbClr val="E8E8F0"/>
                </a:solidFill>
                <a:latin typeface="Arial" pitchFamily="34" charset="0"/>
                <a:ea typeface="Arial" pitchFamily="34" charset="-122"/>
                <a:cs typeface="Arial" pitchFamily="34" charset="-120"/>
              </a:rPr>
              <a:t> Compliance District at L2 Professional, with Investigation and Digital Assets as neighbours</a:t>
            </a:r>
            <a:endParaRPr lang="en-US" sz="1400" dirty="0"/>
          </a:p>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Rule-based and explainable:</a:t>
            </a:r>
            <a:r>
              <a:rPr lang="en-US" sz="1400" dirty="0">
                <a:solidFill>
                  <a:srgbClr val="E8E8F0"/>
                </a:solidFill>
                <a:latin typeface="Arial" pitchFamily="34" charset="0"/>
                <a:ea typeface="Arial" pitchFamily="34" charset="-122"/>
                <a:cs typeface="Arial" pitchFamily="34" charset="-120"/>
              </a:rPr>
              <a:t> the home district follows her own focus choice; role and experience set the layer</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Reused by the AI tutor:</a:t>
            </a:r>
            <a:r>
              <a:rPr lang="en-US" sz="1400" dirty="0">
                <a:solidFill>
                  <a:srgbClr val="E8E8F0"/>
                </a:solidFill>
                <a:latin typeface="Arial" pitchFamily="34" charset="0"/>
                <a:ea typeface="Arial" pitchFamily="34" charset="-122"/>
                <a:cs typeface="Arial" pitchFamily="34" charset="-120"/>
              </a:rPr>
              <a:t> stored in her profile to set depth and examples</a:t>
            </a:r>
            <a:endParaRPr lang="en-US" sz="1400" dirty="0"/>
          </a:p>
        </p:txBody>
      </p:sp>
      <p:sp>
        <p:nvSpPr>
          <p:cNvPr id="28" name="Text 23"/>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9" name="Text 24"/>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947061"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709317"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3 OF 9 · PARTNER ACADEMY</a:t>
            </a:r>
            <a:endParaRPr lang="en-US" sz="900" dirty="0"/>
          </a:p>
        </p:txBody>
      </p:sp>
      <p:sp>
        <p:nvSpPr>
          <p:cNvPr id="5" name="Shape 2"/>
          <p:cNvSpPr/>
          <p:nvPr/>
        </p:nvSpPr>
        <p:spPr>
          <a:xfrm>
            <a:off x="4568853" y="470916"/>
            <a:ext cx="82296" cy="82296"/>
          </a:xfrm>
          <a:prstGeom prst="ellipse">
            <a:avLst/>
          </a:prstGeom>
          <a:solidFill>
            <a:srgbClr val="9B7A2E"/>
          </a:solidFill>
          <a:ln/>
        </p:spPr>
      </p:sp>
      <p:sp>
        <p:nvSpPr>
          <p:cNvPr id="6" name="Shape 3"/>
          <p:cNvSpPr/>
          <p:nvPr/>
        </p:nvSpPr>
        <p:spPr>
          <a:xfrm>
            <a:off x="4710585" y="470916"/>
            <a:ext cx="82296" cy="82296"/>
          </a:xfrm>
          <a:prstGeom prst="ellipse">
            <a:avLst/>
          </a:prstGeom>
          <a:solidFill>
            <a:srgbClr val="9B7A2E"/>
          </a:solidFill>
          <a:ln/>
        </p:spPr>
      </p:sp>
      <p:sp>
        <p:nvSpPr>
          <p:cNvPr id="7" name="Shape 4"/>
          <p:cNvSpPr/>
          <p:nvPr/>
        </p:nvSpPr>
        <p:spPr>
          <a:xfrm>
            <a:off x="4852317" y="470916"/>
            <a:ext cx="82296" cy="82296"/>
          </a:xfrm>
          <a:prstGeom prst="ellipse">
            <a:avLst/>
          </a:prstGeom>
          <a:solidFill>
            <a:srgbClr val="F0C96B"/>
          </a:solidFill>
          <a:ln/>
        </p:spPr>
      </p:sp>
      <p:sp>
        <p:nvSpPr>
          <p:cNvPr id="8" name="Shape 5"/>
          <p:cNvSpPr/>
          <p:nvPr/>
        </p:nvSpPr>
        <p:spPr>
          <a:xfrm>
            <a:off x="4994049" y="470916"/>
            <a:ext cx="82296" cy="82296"/>
          </a:xfrm>
          <a:prstGeom prst="ellipse">
            <a:avLst/>
          </a:prstGeom>
          <a:solidFill>
            <a:srgbClr val="34344A"/>
          </a:solidFill>
          <a:ln/>
        </p:spPr>
      </p:sp>
      <p:sp>
        <p:nvSpPr>
          <p:cNvPr id="9" name="Shape 6"/>
          <p:cNvSpPr/>
          <p:nvPr/>
        </p:nvSpPr>
        <p:spPr>
          <a:xfrm>
            <a:off x="5135781" y="470916"/>
            <a:ext cx="82296" cy="82296"/>
          </a:xfrm>
          <a:prstGeom prst="ellipse">
            <a:avLst/>
          </a:prstGeom>
          <a:solidFill>
            <a:srgbClr val="34344A"/>
          </a:solidFill>
          <a:ln/>
        </p:spPr>
      </p:sp>
      <p:sp>
        <p:nvSpPr>
          <p:cNvPr id="10" name="Shape 7"/>
          <p:cNvSpPr/>
          <p:nvPr/>
        </p:nvSpPr>
        <p:spPr>
          <a:xfrm>
            <a:off x="5277513" y="470916"/>
            <a:ext cx="82296" cy="82296"/>
          </a:xfrm>
          <a:prstGeom prst="ellipse">
            <a:avLst/>
          </a:prstGeom>
          <a:solidFill>
            <a:srgbClr val="34344A"/>
          </a:solidFill>
          <a:ln/>
        </p:spPr>
      </p:sp>
      <p:sp>
        <p:nvSpPr>
          <p:cNvPr id="11" name="Shape 8"/>
          <p:cNvSpPr/>
          <p:nvPr/>
        </p:nvSpPr>
        <p:spPr>
          <a:xfrm>
            <a:off x="5419245" y="470916"/>
            <a:ext cx="82296" cy="82296"/>
          </a:xfrm>
          <a:prstGeom prst="ellipse">
            <a:avLst/>
          </a:prstGeom>
          <a:solidFill>
            <a:srgbClr val="34344A"/>
          </a:solidFill>
          <a:ln/>
        </p:spPr>
      </p:sp>
      <p:sp>
        <p:nvSpPr>
          <p:cNvPr id="12" name="Shape 9"/>
          <p:cNvSpPr/>
          <p:nvPr/>
        </p:nvSpPr>
        <p:spPr>
          <a:xfrm>
            <a:off x="5560977" y="470916"/>
            <a:ext cx="82296" cy="82296"/>
          </a:xfrm>
          <a:prstGeom prst="ellipse">
            <a:avLst/>
          </a:prstGeom>
          <a:solidFill>
            <a:srgbClr val="34344A"/>
          </a:solidFill>
          <a:ln/>
        </p:spPr>
      </p:sp>
      <p:sp>
        <p:nvSpPr>
          <p:cNvPr id="13" name="Shape 10"/>
          <p:cNvSpPr/>
          <p:nvPr/>
        </p:nvSpPr>
        <p:spPr>
          <a:xfrm>
            <a:off x="5702709" y="470916"/>
            <a:ext cx="82296" cy="82296"/>
          </a:xfrm>
          <a:prstGeom prst="ellipse">
            <a:avLst/>
          </a:prstGeom>
          <a:solidFill>
            <a:srgbClr val="34344A"/>
          </a:solidFill>
          <a:ln/>
        </p:spPr>
      </p:sp>
      <p:sp>
        <p:nvSpPr>
          <p:cNvPr id="14" name="Text 11"/>
          <p:cNvSpPr txBox="1"/>
          <p:nvPr/>
        </p:nvSpPr>
        <p:spPr>
          <a:xfrm>
            <a:off x="6118761" y="384048"/>
            <a:ext cx="5615734"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browsing</a:t>
            </a:r>
            <a:endParaRPr lang="en-US" sz="1050" dirty="0"/>
          </a:p>
        </p:txBody>
      </p:sp>
      <p:sp>
        <p:nvSpPr>
          <p:cNvPr id="15" name="Text 12"/>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Partner academy: a partner's own school inside the city</a:t>
            </a:r>
            <a:endParaRPr lang="en-US" sz="3300" dirty="0"/>
          </a:p>
        </p:txBody>
      </p:sp>
      <p:sp>
        <p:nvSpPr>
          <p:cNvPr id="16" name="Text 13"/>
          <p:cNvSpPr txBox="1"/>
          <p:nvPr/>
        </p:nvSpPr>
        <p:spPr>
          <a:xfrm>
            <a:off x="8275320" y="999439"/>
            <a:ext cx="3459175" cy="7132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Pathways that end in a co-branded badge, next to the partner's open roles, on the partner's own subdomain</a:t>
            </a:r>
            <a:endParaRPr lang="en-US" sz="1500" dirty="0"/>
          </a:p>
        </p:txBody>
      </p:sp>
      <p:pic>
        <p:nvPicPr>
          <p:cNvPr id="17" name="Image 0" descr="/tmp/claude-0/-home-user-Chronopoli/d7458f57-86b2-5920-914e-8615357fee63/scratchpad/deck/framed/academy_home.png">    </p:cNvPr>
          <p:cNvPicPr>
            <a:picLocks noChangeAspect="1"/>
          </p:cNvPicPr>
          <p:nvPr/>
        </p:nvPicPr>
        <p:blipFill>
          <a:blip r:embed="rId2"/>
          <a:stretch>
            <a:fillRect/>
          </a:stretch>
        </p:blipFill>
        <p:spPr>
          <a:xfrm>
            <a:off x="4215409" y="1792249"/>
            <a:ext cx="7722973" cy="3994322"/>
          </a:xfrm>
          <a:prstGeom prst="rect">
            <a:avLst/>
          </a:prstGeom>
        </p:spPr>
      </p:pic>
      <p:sp>
        <p:nvSpPr>
          <p:cNvPr id="18" name="Shape 14"/>
          <p:cNvSpPr/>
          <p:nvPr/>
        </p:nvSpPr>
        <p:spPr>
          <a:xfrm>
            <a:off x="4419295" y="5719844"/>
            <a:ext cx="2591796"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4510735" y="5792996"/>
            <a:ext cx="73152" cy="73152"/>
          </a:xfrm>
          <a:prstGeom prst="ellipse">
            <a:avLst/>
          </a:prstGeom>
          <a:solidFill>
            <a:srgbClr val="F0C96B"/>
          </a:solidFill>
          <a:ln/>
        </p:spPr>
      </p:sp>
      <p:sp>
        <p:nvSpPr>
          <p:cNvPr id="20" name="Text 16"/>
          <p:cNvSpPr txBox="1"/>
          <p:nvPr/>
        </p:nvSpPr>
        <p:spPr>
          <a:xfrm>
            <a:off x="4638751" y="5719844"/>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1" name="Text 17"/>
          <p:cNvSpPr txBox="1"/>
          <p:nvPr/>
        </p:nvSpPr>
        <p:spPr>
          <a:xfrm>
            <a:off x="7120819" y="5751848"/>
            <a:ext cx="4613676"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Academy home, top of the page (partner colour and logo not yet applied)</a:t>
            </a:r>
            <a:endParaRPr lang="en-US" sz="1000" dirty="0"/>
          </a:p>
        </p:txBody>
      </p:sp>
      <p:sp>
        <p:nvSpPr>
          <p:cNvPr id="22" name="Text 18"/>
          <p:cNvSpPr txBox="1"/>
          <p:nvPr/>
        </p:nvSpPr>
        <p:spPr>
          <a:xfrm>
            <a:off x="457200" y="2570210"/>
            <a:ext cx="3504895" cy="2493264"/>
          </a:xfrm>
          <a:prstGeom prst="rect">
            <a:avLst/>
          </a:prstGeom>
          <a:noFill/>
          <a:ln/>
        </p:spPr>
        <p:txBody>
          <a:bodyPr wrap="square" lIns="0" tIns="0" rIns="0" bIns="0" rtlCol="0" anchor="t"/>
          <a:lstStyle/>
          <a:p>
            <a:pPr marL="165100" indent="-165100">
              <a:spcAft>
                <a:spcPts val="12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3 pathways:</a:t>
            </a:r>
            <a:r>
              <a:rPr lang="en-US" sz="1400" dirty="0">
                <a:solidFill>
                  <a:srgbClr val="E8E8F0"/>
                </a:solidFill>
                <a:latin typeface="Arial" pitchFamily="34" charset="0"/>
                <a:ea typeface="Arial" pitchFamily="34" charset="-122"/>
                <a:cs typeface="Arial" pitchFamily="34" charset="-120"/>
              </a:rPr>
              <a:t> Stablecoin Compliance Specialist (4 courses, 44 h), Foundations (2 courses, 10 h), Investigator (2 courses, 32 h)</a:t>
            </a:r>
            <a:endParaRPr lang="en-US" sz="1400" dirty="0"/>
          </a:p>
          <a:p>
            <a:pPr marL="165100" indent="-165100">
              <a:spcAft>
                <a:spcPts val="12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District catalogues:</a:t>
            </a:r>
            <a:r>
              <a:rPr lang="en-US" sz="1400" dirty="0">
                <a:solidFill>
                  <a:srgbClr val="E8E8F0"/>
                </a:solidFill>
                <a:latin typeface="Arial" pitchFamily="34" charset="0"/>
                <a:ea typeface="Arial" pitchFamily="34" charset="-122"/>
                <a:cs typeface="Arial" pitchFamily="34" charset="-120"/>
              </a:rPr>
              <a:t> courses stay in their districts, so a partner track also shows up there</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Talent pipeline:</a:t>
            </a:r>
            <a:r>
              <a:rPr lang="en-US" sz="1400" dirty="0">
                <a:solidFill>
                  <a:srgbClr val="E8E8F0"/>
                </a:solidFill>
                <a:latin typeface="Arial" pitchFamily="34" charset="0"/>
                <a:ea typeface="Arial" pitchFamily="34" charset="-122"/>
                <a:cs typeface="Arial" pitchFamily="34" charset="-120"/>
              </a:rPr>
              <a:t> the partner's open roles sit on the same page, below the pathways (slide 12)</a:t>
            </a:r>
            <a:endParaRPr lang="en-US" sz="1400" dirty="0"/>
          </a:p>
        </p:txBody>
      </p:sp>
      <p:sp>
        <p:nvSpPr>
          <p:cNvPr id="23" name="Text 19"/>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4" name="Text 20"/>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505116"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267372"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4 OF 9 · ENROL &amp; PAY</a:t>
            </a:r>
            <a:endParaRPr lang="en-US" sz="900" dirty="0"/>
          </a:p>
        </p:txBody>
      </p:sp>
      <p:sp>
        <p:nvSpPr>
          <p:cNvPr id="5" name="Shape 2"/>
          <p:cNvSpPr/>
          <p:nvPr/>
        </p:nvSpPr>
        <p:spPr>
          <a:xfrm>
            <a:off x="4126908" y="470916"/>
            <a:ext cx="82296" cy="82296"/>
          </a:xfrm>
          <a:prstGeom prst="ellipse">
            <a:avLst/>
          </a:prstGeom>
          <a:solidFill>
            <a:srgbClr val="9B7A2E"/>
          </a:solidFill>
          <a:ln/>
        </p:spPr>
      </p:sp>
      <p:sp>
        <p:nvSpPr>
          <p:cNvPr id="6" name="Shape 3"/>
          <p:cNvSpPr/>
          <p:nvPr/>
        </p:nvSpPr>
        <p:spPr>
          <a:xfrm>
            <a:off x="4268640" y="470916"/>
            <a:ext cx="82296" cy="82296"/>
          </a:xfrm>
          <a:prstGeom prst="ellipse">
            <a:avLst/>
          </a:prstGeom>
          <a:solidFill>
            <a:srgbClr val="9B7A2E"/>
          </a:solidFill>
          <a:ln/>
        </p:spPr>
      </p:sp>
      <p:sp>
        <p:nvSpPr>
          <p:cNvPr id="7" name="Shape 4"/>
          <p:cNvSpPr/>
          <p:nvPr/>
        </p:nvSpPr>
        <p:spPr>
          <a:xfrm>
            <a:off x="4410372" y="470916"/>
            <a:ext cx="82296" cy="82296"/>
          </a:xfrm>
          <a:prstGeom prst="ellipse">
            <a:avLst/>
          </a:prstGeom>
          <a:solidFill>
            <a:srgbClr val="9B7A2E"/>
          </a:solidFill>
          <a:ln/>
        </p:spPr>
      </p:sp>
      <p:sp>
        <p:nvSpPr>
          <p:cNvPr id="8" name="Shape 5"/>
          <p:cNvSpPr/>
          <p:nvPr/>
        </p:nvSpPr>
        <p:spPr>
          <a:xfrm>
            <a:off x="4552104" y="470916"/>
            <a:ext cx="82296" cy="82296"/>
          </a:xfrm>
          <a:prstGeom prst="ellipse">
            <a:avLst/>
          </a:prstGeom>
          <a:solidFill>
            <a:srgbClr val="F0C96B"/>
          </a:solidFill>
          <a:ln/>
        </p:spPr>
      </p:sp>
      <p:sp>
        <p:nvSpPr>
          <p:cNvPr id="9" name="Shape 6"/>
          <p:cNvSpPr/>
          <p:nvPr/>
        </p:nvSpPr>
        <p:spPr>
          <a:xfrm>
            <a:off x="4693836" y="470916"/>
            <a:ext cx="82296" cy="82296"/>
          </a:xfrm>
          <a:prstGeom prst="ellipse">
            <a:avLst/>
          </a:prstGeom>
          <a:solidFill>
            <a:srgbClr val="34344A"/>
          </a:solidFill>
          <a:ln/>
        </p:spPr>
      </p:sp>
      <p:sp>
        <p:nvSpPr>
          <p:cNvPr id="10" name="Shape 7"/>
          <p:cNvSpPr/>
          <p:nvPr/>
        </p:nvSpPr>
        <p:spPr>
          <a:xfrm>
            <a:off x="4835568" y="470916"/>
            <a:ext cx="82296" cy="82296"/>
          </a:xfrm>
          <a:prstGeom prst="ellipse">
            <a:avLst/>
          </a:prstGeom>
          <a:solidFill>
            <a:srgbClr val="34344A"/>
          </a:solidFill>
          <a:ln/>
        </p:spPr>
      </p:sp>
      <p:sp>
        <p:nvSpPr>
          <p:cNvPr id="11" name="Shape 8"/>
          <p:cNvSpPr/>
          <p:nvPr/>
        </p:nvSpPr>
        <p:spPr>
          <a:xfrm>
            <a:off x="4977300" y="470916"/>
            <a:ext cx="82296" cy="82296"/>
          </a:xfrm>
          <a:prstGeom prst="ellipse">
            <a:avLst/>
          </a:prstGeom>
          <a:solidFill>
            <a:srgbClr val="34344A"/>
          </a:solidFill>
          <a:ln/>
        </p:spPr>
      </p:sp>
      <p:sp>
        <p:nvSpPr>
          <p:cNvPr id="12" name="Shape 9"/>
          <p:cNvSpPr/>
          <p:nvPr/>
        </p:nvSpPr>
        <p:spPr>
          <a:xfrm>
            <a:off x="5119032" y="470916"/>
            <a:ext cx="82296" cy="82296"/>
          </a:xfrm>
          <a:prstGeom prst="ellipse">
            <a:avLst/>
          </a:prstGeom>
          <a:solidFill>
            <a:srgbClr val="34344A"/>
          </a:solidFill>
          <a:ln/>
        </p:spPr>
      </p:sp>
      <p:sp>
        <p:nvSpPr>
          <p:cNvPr id="13" name="Shape 10"/>
          <p:cNvSpPr/>
          <p:nvPr/>
        </p:nvSpPr>
        <p:spPr>
          <a:xfrm>
            <a:off x="5260764" y="470916"/>
            <a:ext cx="82296" cy="82296"/>
          </a:xfrm>
          <a:prstGeom prst="ellipse">
            <a:avLst/>
          </a:prstGeom>
          <a:solidFill>
            <a:srgbClr val="34344A"/>
          </a:solidFill>
          <a:ln/>
        </p:spPr>
      </p:sp>
      <p:sp>
        <p:nvSpPr>
          <p:cNvPr id="14" name="Text 11"/>
          <p:cNvSpPr txBox="1"/>
          <p:nvPr/>
        </p:nvSpPr>
        <p:spPr>
          <a:xfrm>
            <a:off x="5676816" y="384048"/>
            <a:ext cx="6057679"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 Illustrative mock data</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Enrol and pay in one checkout</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The learning layer sets the price, Stripe Checkout takes the payment, and a signed webhook enrols the learner</a:t>
            </a:r>
            <a:endParaRPr lang="en-US" sz="1600" dirty="0"/>
          </a:p>
        </p:txBody>
      </p:sp>
      <p:pic>
        <p:nvPicPr>
          <p:cNvPr id="17" name="Image 0" descr="/tmp/claude-0/-home-user-Chronopoli/d7458f57-86b2-5920-914e-8615357fee63/scratchpad/deck/framed/course_about.png">    </p:cNvPr>
          <p:cNvPicPr>
            <a:picLocks noChangeAspect="1"/>
          </p:cNvPicPr>
          <p:nvPr/>
        </p:nvPicPr>
        <p:blipFill>
          <a:blip r:embed="rId2"/>
          <a:stretch>
            <a:fillRect/>
          </a:stretch>
        </p:blipFill>
        <p:spPr>
          <a:xfrm>
            <a:off x="468681" y="1754787"/>
            <a:ext cx="5761665" cy="3553860"/>
          </a:xfrm>
          <a:prstGeom prst="rect">
            <a:avLst/>
          </a:prstGeom>
        </p:spPr>
      </p:pic>
      <p:sp>
        <p:nvSpPr>
          <p:cNvPr id="18" name="Shape 14"/>
          <p:cNvSpPr/>
          <p:nvPr/>
        </p:nvSpPr>
        <p:spPr>
          <a:xfrm>
            <a:off x="621021" y="5293467"/>
            <a:ext cx="1763105"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712461" y="5366619"/>
            <a:ext cx="73152" cy="73152"/>
          </a:xfrm>
          <a:prstGeom prst="ellipse">
            <a:avLst/>
          </a:prstGeom>
          <a:solidFill>
            <a:srgbClr val="34D399"/>
          </a:solidFill>
          <a:ln/>
        </p:spPr>
      </p:sp>
      <p:sp>
        <p:nvSpPr>
          <p:cNvPr id="20" name="Text 16"/>
          <p:cNvSpPr txBox="1"/>
          <p:nvPr/>
        </p:nvSpPr>
        <p:spPr>
          <a:xfrm>
            <a:off x="840477" y="5293467"/>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1" name="Text 17"/>
          <p:cNvSpPr txBox="1"/>
          <p:nvPr/>
        </p:nvSpPr>
        <p:spPr>
          <a:xfrm>
            <a:off x="2493855" y="5325471"/>
            <a:ext cx="358415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Course page with price</a:t>
            </a:r>
            <a:endParaRPr lang="en-US" sz="1000" dirty="0"/>
          </a:p>
        </p:txBody>
      </p:sp>
      <p:sp>
        <p:nvSpPr>
          <p:cNvPr id="22" name="Text 18"/>
          <p:cNvSpPr txBox="1"/>
          <p:nvPr/>
        </p:nvSpPr>
        <p:spPr>
          <a:xfrm>
            <a:off x="621021" y="5714091"/>
            <a:ext cx="5456983" cy="26822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Layer sets the price:</a:t>
            </a:r>
            <a:r>
              <a:rPr lang="en-US" sz="1400" dirty="0">
                <a:solidFill>
                  <a:srgbClr val="E8E8F0"/>
                </a:solidFill>
                <a:latin typeface="Arial" pitchFamily="34" charset="0"/>
                <a:ea typeface="Arial" pitchFamily="34" charset="-122"/>
                <a:cs typeface="Arial" pitchFamily="34" charset="-120"/>
              </a:rPr>
              <a:t> L2 Professional, $599</a:t>
            </a:r>
            <a:endParaRPr lang="en-US" sz="1400" dirty="0"/>
          </a:p>
        </p:txBody>
      </p:sp>
      <p:pic>
        <p:nvPicPr>
          <p:cNvPr id="23" name="Image 1" descr="/tmp/claude-0/-home-user-Chronopoli/d7458f57-86b2-5920-914e-8615357fee63/scratchpad/deck/framed/checkout_success.png">    </p:cNvPr>
          <p:cNvPicPr>
            <a:picLocks noChangeAspect="1"/>
          </p:cNvPicPr>
          <p:nvPr/>
        </p:nvPicPr>
        <p:blipFill>
          <a:blip r:embed="rId3"/>
          <a:stretch>
            <a:fillRect/>
          </a:stretch>
        </p:blipFill>
        <p:spPr>
          <a:xfrm>
            <a:off x="6300638" y="1764002"/>
            <a:ext cx="5413162" cy="3535431"/>
          </a:xfrm>
          <a:prstGeom prst="rect">
            <a:avLst/>
          </a:prstGeom>
        </p:spPr>
      </p:pic>
      <p:sp>
        <p:nvSpPr>
          <p:cNvPr id="24" name="Shape 19"/>
          <p:cNvSpPr/>
          <p:nvPr/>
        </p:nvSpPr>
        <p:spPr>
          <a:xfrm>
            <a:off x="6443765" y="5293467"/>
            <a:ext cx="1495471" cy="219456"/>
          </a:xfrm>
          <a:prstGeom prst="roundRect">
            <a:avLst>
              <a:gd name="adj" fmla="val 50000"/>
            </a:avLst>
          </a:prstGeom>
          <a:solidFill>
            <a:srgbClr val="1B1B27"/>
          </a:solidFill>
          <a:ln w="9525">
            <a:solidFill>
              <a:srgbClr val="3A3A50"/>
            </a:solidFill>
            <a:prstDash val="solid"/>
          </a:ln>
        </p:spPr>
      </p:sp>
      <p:sp>
        <p:nvSpPr>
          <p:cNvPr id="25" name="Shape 20"/>
          <p:cNvSpPr/>
          <p:nvPr/>
        </p:nvSpPr>
        <p:spPr>
          <a:xfrm>
            <a:off x="6535205" y="5366619"/>
            <a:ext cx="73152" cy="73152"/>
          </a:xfrm>
          <a:prstGeom prst="ellipse">
            <a:avLst/>
          </a:prstGeom>
          <a:solidFill>
            <a:srgbClr val="A9A9C6"/>
          </a:solidFill>
          <a:ln/>
        </p:spPr>
      </p:sp>
      <p:sp>
        <p:nvSpPr>
          <p:cNvPr id="26" name="Text 21"/>
          <p:cNvSpPr txBox="1"/>
          <p:nvPr/>
        </p:nvSpPr>
        <p:spPr>
          <a:xfrm>
            <a:off x="6663221" y="5293467"/>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27" name="Text 22"/>
          <p:cNvSpPr txBox="1"/>
          <p:nvPr/>
        </p:nvSpPr>
        <p:spPr>
          <a:xfrm>
            <a:off x="8048963" y="5325471"/>
            <a:ext cx="352171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Payment confirmed, auto-enrolled (not yet built)</a:t>
            </a:r>
            <a:endParaRPr lang="en-US" sz="1000" dirty="0"/>
          </a:p>
        </p:txBody>
      </p:sp>
      <p:sp>
        <p:nvSpPr>
          <p:cNvPr id="28" name="Text 23"/>
          <p:cNvSpPr txBox="1"/>
          <p:nvPr/>
        </p:nvSpPr>
        <p:spPr>
          <a:xfrm>
            <a:off x="6443765" y="5714091"/>
            <a:ext cx="5126909" cy="557784"/>
          </a:xfrm>
          <a:prstGeom prst="rect">
            <a:avLst/>
          </a:prstGeom>
          <a:noFill/>
          <a:ln/>
        </p:spPr>
        <p:txBody>
          <a:bodyPr wrap="square" lIns="0" tIns="0" rIns="0" bIns="0" rtlCol="0" anchor="t"/>
          <a:lstStyle/>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Hosted checkout:</a:t>
            </a:r>
            <a:r>
              <a:rPr lang="en-US" sz="1400" dirty="0">
                <a:solidFill>
                  <a:srgbClr val="E8E8F0"/>
                </a:solidFill>
                <a:latin typeface="Arial" pitchFamily="34" charset="0"/>
                <a:ea typeface="Arial" pitchFamily="34" charset="-122"/>
                <a:cs typeface="Arial" pitchFamily="34" charset="-120"/>
              </a:rPr>
              <a:t> card data stays with Stripe</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Signed webhook:</a:t>
            </a:r>
            <a:r>
              <a:rPr lang="en-US" sz="1400" dirty="0">
                <a:solidFill>
                  <a:srgbClr val="E8E8F0"/>
                </a:solidFill>
                <a:latin typeface="Arial" pitchFamily="34" charset="0"/>
                <a:ea typeface="Arial" pitchFamily="34" charset="-122"/>
                <a:cs typeface="Arial" pitchFamily="34" charset="-120"/>
              </a:rPr>
              <a:t> enrols her once, logs the 70% payout</a:t>
            </a:r>
            <a:endParaRPr lang="en-US" sz="1400" dirty="0"/>
          </a:p>
        </p:txBody>
      </p:sp>
      <p:sp>
        <p:nvSpPr>
          <p:cNvPr id="29" name="Text 2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0" name="Text 2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02624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278850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5 OF 9 · LEARN</a:t>
            </a:r>
            <a:endParaRPr lang="en-US" sz="900" dirty="0"/>
          </a:p>
        </p:txBody>
      </p:sp>
      <p:sp>
        <p:nvSpPr>
          <p:cNvPr id="5" name="Shape 2"/>
          <p:cNvSpPr/>
          <p:nvPr/>
        </p:nvSpPr>
        <p:spPr>
          <a:xfrm>
            <a:off x="3648037" y="470916"/>
            <a:ext cx="82296" cy="82296"/>
          </a:xfrm>
          <a:prstGeom prst="ellipse">
            <a:avLst/>
          </a:prstGeom>
          <a:solidFill>
            <a:srgbClr val="9B7A2E"/>
          </a:solidFill>
          <a:ln/>
        </p:spPr>
      </p:sp>
      <p:sp>
        <p:nvSpPr>
          <p:cNvPr id="6" name="Shape 3"/>
          <p:cNvSpPr/>
          <p:nvPr/>
        </p:nvSpPr>
        <p:spPr>
          <a:xfrm>
            <a:off x="3789769" y="470916"/>
            <a:ext cx="82296" cy="82296"/>
          </a:xfrm>
          <a:prstGeom prst="ellipse">
            <a:avLst/>
          </a:prstGeom>
          <a:solidFill>
            <a:srgbClr val="9B7A2E"/>
          </a:solidFill>
          <a:ln/>
        </p:spPr>
      </p:sp>
      <p:sp>
        <p:nvSpPr>
          <p:cNvPr id="7" name="Shape 4"/>
          <p:cNvSpPr/>
          <p:nvPr/>
        </p:nvSpPr>
        <p:spPr>
          <a:xfrm>
            <a:off x="3931501" y="470916"/>
            <a:ext cx="82296" cy="82296"/>
          </a:xfrm>
          <a:prstGeom prst="ellipse">
            <a:avLst/>
          </a:prstGeom>
          <a:solidFill>
            <a:srgbClr val="9B7A2E"/>
          </a:solidFill>
          <a:ln/>
        </p:spPr>
      </p:sp>
      <p:sp>
        <p:nvSpPr>
          <p:cNvPr id="8" name="Shape 5"/>
          <p:cNvSpPr/>
          <p:nvPr/>
        </p:nvSpPr>
        <p:spPr>
          <a:xfrm>
            <a:off x="4073233" y="470916"/>
            <a:ext cx="82296" cy="82296"/>
          </a:xfrm>
          <a:prstGeom prst="ellipse">
            <a:avLst/>
          </a:prstGeom>
          <a:solidFill>
            <a:srgbClr val="9B7A2E"/>
          </a:solidFill>
          <a:ln/>
        </p:spPr>
      </p:sp>
      <p:sp>
        <p:nvSpPr>
          <p:cNvPr id="9" name="Shape 6"/>
          <p:cNvSpPr/>
          <p:nvPr/>
        </p:nvSpPr>
        <p:spPr>
          <a:xfrm>
            <a:off x="4214965" y="470916"/>
            <a:ext cx="82296" cy="82296"/>
          </a:xfrm>
          <a:prstGeom prst="ellipse">
            <a:avLst/>
          </a:prstGeom>
          <a:solidFill>
            <a:srgbClr val="F0C96B"/>
          </a:solidFill>
          <a:ln/>
        </p:spPr>
      </p:sp>
      <p:sp>
        <p:nvSpPr>
          <p:cNvPr id="10" name="Shape 7"/>
          <p:cNvSpPr/>
          <p:nvPr/>
        </p:nvSpPr>
        <p:spPr>
          <a:xfrm>
            <a:off x="4356697" y="470916"/>
            <a:ext cx="82296" cy="82296"/>
          </a:xfrm>
          <a:prstGeom prst="ellipse">
            <a:avLst/>
          </a:prstGeom>
          <a:solidFill>
            <a:srgbClr val="34344A"/>
          </a:solidFill>
          <a:ln/>
        </p:spPr>
      </p:sp>
      <p:sp>
        <p:nvSpPr>
          <p:cNvPr id="11" name="Shape 8"/>
          <p:cNvSpPr/>
          <p:nvPr/>
        </p:nvSpPr>
        <p:spPr>
          <a:xfrm>
            <a:off x="4498429" y="470916"/>
            <a:ext cx="82296" cy="82296"/>
          </a:xfrm>
          <a:prstGeom prst="ellipse">
            <a:avLst/>
          </a:prstGeom>
          <a:solidFill>
            <a:srgbClr val="34344A"/>
          </a:solidFill>
          <a:ln/>
        </p:spPr>
      </p:sp>
      <p:sp>
        <p:nvSpPr>
          <p:cNvPr id="12" name="Shape 9"/>
          <p:cNvSpPr/>
          <p:nvPr/>
        </p:nvSpPr>
        <p:spPr>
          <a:xfrm>
            <a:off x="4640161" y="470916"/>
            <a:ext cx="82296" cy="82296"/>
          </a:xfrm>
          <a:prstGeom prst="ellipse">
            <a:avLst/>
          </a:prstGeom>
          <a:solidFill>
            <a:srgbClr val="34344A"/>
          </a:solidFill>
          <a:ln/>
        </p:spPr>
      </p:sp>
      <p:sp>
        <p:nvSpPr>
          <p:cNvPr id="13" name="Shape 10"/>
          <p:cNvSpPr/>
          <p:nvPr/>
        </p:nvSpPr>
        <p:spPr>
          <a:xfrm>
            <a:off x="4781893" y="470916"/>
            <a:ext cx="82296" cy="82296"/>
          </a:xfrm>
          <a:prstGeom prst="ellipse">
            <a:avLst/>
          </a:prstGeom>
          <a:solidFill>
            <a:srgbClr val="34344A"/>
          </a:solidFill>
          <a:ln/>
        </p:spPr>
      </p:sp>
      <p:sp>
        <p:nvSpPr>
          <p:cNvPr id="14" name="Text 11"/>
          <p:cNvSpPr txBox="1"/>
          <p:nvPr/>
        </p:nvSpPr>
        <p:spPr>
          <a:xfrm>
            <a:off x="5197945" y="384048"/>
            <a:ext cx="6536550"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 Illustrative mock course content</a:t>
            </a:r>
            <a:endParaRPr lang="en-US" sz="1050" dirty="0"/>
          </a:p>
        </p:txBody>
      </p:sp>
      <p:sp>
        <p:nvSpPr>
          <p:cNvPr id="15" name="Text 12"/>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Learn on a proven LMS: lessons and auto-graded checks</a:t>
            </a:r>
            <a:endParaRPr lang="en-US" sz="3300" dirty="0"/>
          </a:p>
        </p:txBody>
      </p:sp>
      <p:sp>
        <p:nvSpPr>
          <p:cNvPr id="16" name="Text 13"/>
          <p:cNvSpPr txBox="1"/>
          <p:nvPr/>
        </p:nvSpPr>
        <p:spPr>
          <a:xfrm>
            <a:off x="8275320" y="999439"/>
            <a:ext cx="3459175" cy="7132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Real Open edX courseware: completion tracking, graded problems, attempts and feedback out of the box</a:t>
            </a:r>
            <a:endParaRPr lang="en-US" sz="1500" dirty="0"/>
          </a:p>
        </p:txBody>
      </p:sp>
      <p:pic>
        <p:nvPicPr>
          <p:cNvPr id="17" name="Image 0" descr="/tmp/claude-0/-home-user-Chronopoli/d7458f57-86b2-5920-914e-8615357fee63/scratchpad/deck/framed/unit_lesson.png">    </p:cNvPr>
          <p:cNvPicPr>
            <a:picLocks noChangeAspect="1"/>
          </p:cNvPicPr>
          <p:nvPr/>
        </p:nvPicPr>
        <p:blipFill>
          <a:blip r:embed="rId2"/>
          <a:stretch>
            <a:fillRect/>
          </a:stretch>
        </p:blipFill>
        <p:spPr>
          <a:xfrm>
            <a:off x="299690" y="1968861"/>
            <a:ext cx="5957177" cy="3505190"/>
          </a:xfrm>
          <a:prstGeom prst="rect">
            <a:avLst/>
          </a:prstGeom>
        </p:spPr>
      </p:pic>
      <p:sp>
        <p:nvSpPr>
          <p:cNvPr id="18" name="Shape 14"/>
          <p:cNvSpPr/>
          <p:nvPr/>
        </p:nvSpPr>
        <p:spPr>
          <a:xfrm>
            <a:off x="457200" y="5453700"/>
            <a:ext cx="1763105"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548640" y="5526852"/>
            <a:ext cx="73152" cy="73152"/>
          </a:xfrm>
          <a:prstGeom prst="ellipse">
            <a:avLst/>
          </a:prstGeom>
          <a:solidFill>
            <a:srgbClr val="34D399"/>
          </a:solidFill>
          <a:ln/>
        </p:spPr>
      </p:sp>
      <p:sp>
        <p:nvSpPr>
          <p:cNvPr id="20" name="Text 16"/>
          <p:cNvSpPr txBox="1"/>
          <p:nvPr/>
        </p:nvSpPr>
        <p:spPr>
          <a:xfrm>
            <a:off x="676656" y="5453700"/>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1" name="Text 17"/>
          <p:cNvSpPr txBox="1"/>
          <p:nvPr/>
        </p:nvSpPr>
        <p:spPr>
          <a:xfrm>
            <a:off x="2330033" y="5485704"/>
            <a:ext cx="3769323"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Learning MFE · lesson 4.1, the Travel Rule in practice</a:t>
            </a:r>
            <a:endParaRPr lang="en-US" sz="1000" dirty="0"/>
          </a:p>
        </p:txBody>
      </p:sp>
      <p:sp>
        <p:nvSpPr>
          <p:cNvPr id="22" name="Text 18"/>
          <p:cNvSpPr txBox="1"/>
          <p:nvPr/>
        </p:nvSpPr>
        <p:spPr>
          <a:xfrm>
            <a:off x="457200" y="5874324"/>
            <a:ext cx="5642157" cy="26822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USDT-201:</a:t>
            </a:r>
            <a:r>
              <a:rPr lang="en-US" sz="1400" dirty="0">
                <a:solidFill>
                  <a:srgbClr val="E8E8F0"/>
                </a:solidFill>
                <a:latin typeface="Arial" pitchFamily="34" charset="0"/>
                <a:ea typeface="Arial" pitchFamily="34" charset="-122"/>
                <a:cs typeface="Arial" pitchFamily="34" charset="-120"/>
              </a:rPr>
              <a:t> six modules, ending in a graded capstone</a:t>
            </a:r>
            <a:endParaRPr lang="en-US" sz="1400" dirty="0"/>
          </a:p>
        </p:txBody>
      </p:sp>
      <p:pic>
        <p:nvPicPr>
          <p:cNvPr id="23" name="Image 1" descr="/tmp/claude-0/-home-user-Chronopoli/d7458f57-86b2-5920-914e-8615357fee63/scratchpad/deck/framed/unit_check.png">    </p:cNvPr>
          <p:cNvPicPr>
            <a:picLocks noChangeAspect="1"/>
          </p:cNvPicPr>
          <p:nvPr/>
        </p:nvPicPr>
        <p:blipFill>
          <a:blip r:embed="rId3"/>
          <a:stretch>
            <a:fillRect/>
          </a:stretch>
        </p:blipFill>
        <p:spPr>
          <a:xfrm>
            <a:off x="6318013" y="1979267"/>
            <a:ext cx="5563585" cy="3484376"/>
          </a:xfrm>
          <a:prstGeom prst="rect">
            <a:avLst/>
          </a:prstGeom>
        </p:spPr>
      </p:pic>
      <p:sp>
        <p:nvSpPr>
          <p:cNvPr id="24" name="Shape 19"/>
          <p:cNvSpPr/>
          <p:nvPr/>
        </p:nvSpPr>
        <p:spPr>
          <a:xfrm>
            <a:off x="6465117" y="5453700"/>
            <a:ext cx="1763105" cy="219456"/>
          </a:xfrm>
          <a:prstGeom prst="roundRect">
            <a:avLst>
              <a:gd name="adj" fmla="val 50000"/>
            </a:avLst>
          </a:prstGeom>
          <a:solidFill>
            <a:srgbClr val="1B1B27"/>
          </a:solidFill>
          <a:ln w="9525">
            <a:solidFill>
              <a:srgbClr val="3A3A50"/>
            </a:solidFill>
            <a:prstDash val="solid"/>
          </a:ln>
        </p:spPr>
      </p:sp>
      <p:sp>
        <p:nvSpPr>
          <p:cNvPr id="25" name="Shape 20"/>
          <p:cNvSpPr/>
          <p:nvPr/>
        </p:nvSpPr>
        <p:spPr>
          <a:xfrm>
            <a:off x="6556557" y="5526852"/>
            <a:ext cx="73152" cy="73152"/>
          </a:xfrm>
          <a:prstGeom prst="ellipse">
            <a:avLst/>
          </a:prstGeom>
          <a:solidFill>
            <a:srgbClr val="34D399"/>
          </a:solidFill>
          <a:ln/>
        </p:spPr>
      </p:sp>
      <p:sp>
        <p:nvSpPr>
          <p:cNvPr id="26" name="Text 21"/>
          <p:cNvSpPr txBox="1"/>
          <p:nvPr/>
        </p:nvSpPr>
        <p:spPr>
          <a:xfrm>
            <a:off x="6684573" y="5453700"/>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7" name="Text 22"/>
          <p:cNvSpPr txBox="1"/>
          <p:nvPr/>
        </p:nvSpPr>
        <p:spPr>
          <a:xfrm>
            <a:off x="8337950" y="5485704"/>
            <a:ext cx="3396545"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Knowledge check 3.2 · correct on attempt 1 of 3</a:t>
            </a:r>
            <a:endParaRPr lang="en-US" sz="1000" dirty="0"/>
          </a:p>
        </p:txBody>
      </p:sp>
      <p:sp>
        <p:nvSpPr>
          <p:cNvPr id="28" name="Text 23"/>
          <p:cNvSpPr txBox="1"/>
          <p:nvPr/>
        </p:nvSpPr>
        <p:spPr>
          <a:xfrm>
            <a:off x="6465117" y="5874324"/>
            <a:ext cx="5269378" cy="26822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Instant grading:</a:t>
            </a:r>
            <a:r>
              <a:rPr lang="en-US" sz="1400" dirty="0">
                <a:solidFill>
                  <a:srgbClr val="E8E8F0"/>
                </a:solidFill>
                <a:latin typeface="Arial" pitchFamily="34" charset="0"/>
                <a:ea typeface="Arial" pitchFamily="34" charset="-122"/>
                <a:cs typeface="Arial" pitchFamily="34" charset="-120"/>
              </a:rPr>
              <a:t> attempts are tracked (1 of 3 used)</a:t>
            </a:r>
            <a:endParaRPr lang="en-US" sz="1400" dirty="0"/>
          </a:p>
        </p:txBody>
      </p:sp>
      <p:sp>
        <p:nvSpPr>
          <p:cNvPr id="29" name="Text 2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0" name="Text 2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217949"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2980205"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6 OF 9 · AI TUTOR</a:t>
            </a:r>
            <a:endParaRPr lang="en-US" sz="900" dirty="0"/>
          </a:p>
        </p:txBody>
      </p:sp>
      <p:sp>
        <p:nvSpPr>
          <p:cNvPr id="5" name="Shape 2"/>
          <p:cNvSpPr/>
          <p:nvPr/>
        </p:nvSpPr>
        <p:spPr>
          <a:xfrm>
            <a:off x="3839741" y="470916"/>
            <a:ext cx="82296" cy="82296"/>
          </a:xfrm>
          <a:prstGeom prst="ellipse">
            <a:avLst/>
          </a:prstGeom>
          <a:solidFill>
            <a:srgbClr val="9B7A2E"/>
          </a:solidFill>
          <a:ln/>
        </p:spPr>
      </p:sp>
      <p:sp>
        <p:nvSpPr>
          <p:cNvPr id="6" name="Shape 3"/>
          <p:cNvSpPr/>
          <p:nvPr/>
        </p:nvSpPr>
        <p:spPr>
          <a:xfrm>
            <a:off x="3981473" y="470916"/>
            <a:ext cx="82296" cy="82296"/>
          </a:xfrm>
          <a:prstGeom prst="ellipse">
            <a:avLst/>
          </a:prstGeom>
          <a:solidFill>
            <a:srgbClr val="9B7A2E"/>
          </a:solidFill>
          <a:ln/>
        </p:spPr>
      </p:sp>
      <p:sp>
        <p:nvSpPr>
          <p:cNvPr id="7" name="Shape 4"/>
          <p:cNvSpPr/>
          <p:nvPr/>
        </p:nvSpPr>
        <p:spPr>
          <a:xfrm>
            <a:off x="4123205" y="470916"/>
            <a:ext cx="82296" cy="82296"/>
          </a:xfrm>
          <a:prstGeom prst="ellipse">
            <a:avLst/>
          </a:prstGeom>
          <a:solidFill>
            <a:srgbClr val="9B7A2E"/>
          </a:solidFill>
          <a:ln/>
        </p:spPr>
      </p:sp>
      <p:sp>
        <p:nvSpPr>
          <p:cNvPr id="8" name="Shape 5"/>
          <p:cNvSpPr/>
          <p:nvPr/>
        </p:nvSpPr>
        <p:spPr>
          <a:xfrm>
            <a:off x="4264937" y="470916"/>
            <a:ext cx="82296" cy="82296"/>
          </a:xfrm>
          <a:prstGeom prst="ellipse">
            <a:avLst/>
          </a:prstGeom>
          <a:solidFill>
            <a:srgbClr val="9B7A2E"/>
          </a:solidFill>
          <a:ln/>
        </p:spPr>
      </p:sp>
      <p:sp>
        <p:nvSpPr>
          <p:cNvPr id="9" name="Shape 6"/>
          <p:cNvSpPr/>
          <p:nvPr/>
        </p:nvSpPr>
        <p:spPr>
          <a:xfrm>
            <a:off x="4406669" y="470916"/>
            <a:ext cx="82296" cy="82296"/>
          </a:xfrm>
          <a:prstGeom prst="ellipse">
            <a:avLst/>
          </a:prstGeom>
          <a:solidFill>
            <a:srgbClr val="9B7A2E"/>
          </a:solidFill>
          <a:ln/>
        </p:spPr>
      </p:sp>
      <p:sp>
        <p:nvSpPr>
          <p:cNvPr id="10" name="Shape 7"/>
          <p:cNvSpPr/>
          <p:nvPr/>
        </p:nvSpPr>
        <p:spPr>
          <a:xfrm>
            <a:off x="4548401" y="470916"/>
            <a:ext cx="82296" cy="82296"/>
          </a:xfrm>
          <a:prstGeom prst="ellipse">
            <a:avLst/>
          </a:prstGeom>
          <a:solidFill>
            <a:srgbClr val="F0C96B"/>
          </a:solidFill>
          <a:ln/>
        </p:spPr>
      </p:sp>
      <p:sp>
        <p:nvSpPr>
          <p:cNvPr id="11" name="Shape 8"/>
          <p:cNvSpPr/>
          <p:nvPr/>
        </p:nvSpPr>
        <p:spPr>
          <a:xfrm>
            <a:off x="4690133" y="470916"/>
            <a:ext cx="82296" cy="82296"/>
          </a:xfrm>
          <a:prstGeom prst="ellipse">
            <a:avLst/>
          </a:prstGeom>
          <a:solidFill>
            <a:srgbClr val="34344A"/>
          </a:solidFill>
          <a:ln/>
        </p:spPr>
      </p:sp>
      <p:sp>
        <p:nvSpPr>
          <p:cNvPr id="12" name="Shape 9"/>
          <p:cNvSpPr/>
          <p:nvPr/>
        </p:nvSpPr>
        <p:spPr>
          <a:xfrm>
            <a:off x="4831865" y="470916"/>
            <a:ext cx="82296" cy="82296"/>
          </a:xfrm>
          <a:prstGeom prst="ellipse">
            <a:avLst/>
          </a:prstGeom>
          <a:solidFill>
            <a:srgbClr val="34344A"/>
          </a:solidFill>
          <a:ln/>
        </p:spPr>
      </p:sp>
      <p:sp>
        <p:nvSpPr>
          <p:cNvPr id="13" name="Shape 10"/>
          <p:cNvSpPr/>
          <p:nvPr/>
        </p:nvSpPr>
        <p:spPr>
          <a:xfrm>
            <a:off x="4973597" y="470916"/>
            <a:ext cx="82296" cy="82296"/>
          </a:xfrm>
          <a:prstGeom prst="ellipse">
            <a:avLst/>
          </a:prstGeom>
          <a:solidFill>
            <a:srgbClr val="34344A"/>
          </a:solidFill>
          <a:ln/>
        </p:spPr>
      </p:sp>
      <p:sp>
        <p:nvSpPr>
          <p:cNvPr id="14" name="Text 11"/>
          <p:cNvSpPr txBox="1"/>
          <p:nvPr/>
        </p:nvSpPr>
        <p:spPr>
          <a:xfrm>
            <a:off x="5389649" y="384048"/>
            <a:ext cx="6344846"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during USDT-201 Module 3 · Mock lesson; dark/gold is the target theme</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An AI tutor that cites its sources</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Claude on Amazon Bedrock answers inside the lesson, from the Chronopoli knowledge base, and shows its sources</a:t>
            </a:r>
            <a:endParaRPr lang="en-US" sz="1600" dirty="0"/>
          </a:p>
        </p:txBody>
      </p:sp>
      <p:pic>
        <p:nvPicPr>
          <p:cNvPr id="17" name="Image 0" descr="/tmp/claude-0/-home-user-Chronopoli/d7458f57-86b2-5920-914e-8615357fee63/scratchpad/deck/framed/tutor_widget.png">    </p:cNvPr>
          <p:cNvPicPr>
            <a:picLocks noChangeAspect="1"/>
          </p:cNvPicPr>
          <p:nvPr/>
        </p:nvPicPr>
        <p:blipFill>
          <a:blip r:embed="rId2"/>
          <a:stretch>
            <a:fillRect/>
          </a:stretch>
        </p:blipFill>
        <p:spPr>
          <a:xfrm>
            <a:off x="250982" y="1700001"/>
            <a:ext cx="7799366" cy="4367522"/>
          </a:xfrm>
          <a:prstGeom prst="rect">
            <a:avLst/>
          </a:prstGeom>
        </p:spPr>
      </p:pic>
      <p:sp>
        <p:nvSpPr>
          <p:cNvPr id="18" name="Shape 14"/>
          <p:cNvSpPr/>
          <p:nvPr/>
        </p:nvSpPr>
        <p:spPr>
          <a:xfrm>
            <a:off x="457200" y="5998464"/>
            <a:ext cx="1495471"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548640" y="6071616"/>
            <a:ext cx="73152" cy="73152"/>
          </a:xfrm>
          <a:prstGeom prst="ellipse">
            <a:avLst/>
          </a:prstGeom>
          <a:solidFill>
            <a:srgbClr val="A9A9C6"/>
          </a:solidFill>
          <a:ln/>
        </p:spPr>
      </p:sp>
      <p:sp>
        <p:nvSpPr>
          <p:cNvPr id="20" name="Text 16"/>
          <p:cNvSpPr txBox="1"/>
          <p:nvPr/>
        </p:nvSpPr>
        <p:spPr>
          <a:xfrm>
            <a:off x="676656" y="5998464"/>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21" name="Text 17"/>
          <p:cNvSpPr txBox="1"/>
          <p:nvPr/>
        </p:nvSpPr>
        <p:spPr>
          <a:xfrm>
            <a:off x="2062399" y="6030468"/>
            <a:ext cx="578173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The repo's real tutor widget on a prototype lesson page · scripted answer, Bedrock stubbed</a:t>
            </a:r>
            <a:endParaRPr lang="en-US" sz="1000" dirty="0"/>
          </a:p>
        </p:txBody>
      </p:sp>
      <p:pic>
        <p:nvPicPr>
          <p:cNvPr id="22" name="Image 1" descr="/tmp/claude-0/-home-user-Chronopoli/d7458f57-86b2-5920-914e-8615357fee63/scratchpad/deck/framed/tutor_history.png">    </p:cNvPr>
          <p:cNvPicPr>
            <a:picLocks noChangeAspect="1"/>
          </p:cNvPicPr>
          <p:nvPr/>
        </p:nvPicPr>
        <p:blipFill>
          <a:blip r:embed="rId3"/>
          <a:stretch>
            <a:fillRect/>
          </a:stretch>
        </p:blipFill>
        <p:spPr>
          <a:xfrm>
            <a:off x="8157007" y="1807617"/>
            <a:ext cx="3676091" cy="1903780"/>
          </a:xfrm>
          <a:prstGeom prst="rect">
            <a:avLst/>
          </a:prstGeom>
        </p:spPr>
      </p:pic>
      <p:sp>
        <p:nvSpPr>
          <p:cNvPr id="23" name="Shape 18"/>
          <p:cNvSpPr/>
          <p:nvPr/>
        </p:nvSpPr>
        <p:spPr>
          <a:xfrm>
            <a:off x="8255609" y="3749955"/>
            <a:ext cx="1495471" cy="219456"/>
          </a:xfrm>
          <a:prstGeom prst="roundRect">
            <a:avLst>
              <a:gd name="adj" fmla="val 50000"/>
            </a:avLst>
          </a:prstGeom>
          <a:solidFill>
            <a:srgbClr val="1B1B27"/>
          </a:solidFill>
          <a:ln w="9525">
            <a:solidFill>
              <a:srgbClr val="3A3A50"/>
            </a:solidFill>
            <a:prstDash val="solid"/>
          </a:ln>
        </p:spPr>
      </p:sp>
      <p:sp>
        <p:nvSpPr>
          <p:cNvPr id="24" name="Shape 19"/>
          <p:cNvSpPr/>
          <p:nvPr/>
        </p:nvSpPr>
        <p:spPr>
          <a:xfrm>
            <a:off x="8347049" y="3823107"/>
            <a:ext cx="73152" cy="73152"/>
          </a:xfrm>
          <a:prstGeom prst="ellipse">
            <a:avLst/>
          </a:prstGeom>
          <a:solidFill>
            <a:srgbClr val="A9A9C6"/>
          </a:solidFill>
          <a:ln/>
        </p:spPr>
      </p:sp>
      <p:sp>
        <p:nvSpPr>
          <p:cNvPr id="25" name="Text 20"/>
          <p:cNvSpPr txBox="1"/>
          <p:nvPr/>
        </p:nvSpPr>
        <p:spPr>
          <a:xfrm>
            <a:off x="8475065" y="3749955"/>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26" name="Text 21"/>
          <p:cNvSpPr txBox="1"/>
          <p:nvPr/>
        </p:nvSpPr>
        <p:spPr>
          <a:xfrm>
            <a:off x="9860808" y="3781959"/>
            <a:ext cx="1873688"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Tutor history (not yet built)</a:t>
            </a:r>
            <a:endParaRPr lang="en-US" sz="1000" dirty="0"/>
          </a:p>
        </p:txBody>
      </p:sp>
      <p:sp>
        <p:nvSpPr>
          <p:cNvPr id="27" name="Text 22"/>
          <p:cNvSpPr txBox="1"/>
          <p:nvPr/>
        </p:nvSpPr>
        <p:spPr>
          <a:xfrm>
            <a:off x="8255609" y="4152291"/>
            <a:ext cx="3478886" cy="1914144"/>
          </a:xfrm>
          <a:prstGeom prst="rect">
            <a:avLst/>
          </a:prstGeom>
          <a:noFill/>
          <a:ln/>
        </p:spPr>
        <p:txBody>
          <a:bodyPr wrap="square" lIns="0" tIns="0" rIns="0" bIns="0" rtlCol="0" anchor="t"/>
          <a:lstStyle/>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In Module 3:</a:t>
            </a:r>
            <a:r>
              <a:rPr lang="en-US" sz="1400" dirty="0">
                <a:solidFill>
                  <a:srgbClr val="E8E8F0"/>
                </a:solidFill>
                <a:latin typeface="Arial" pitchFamily="34" charset="0"/>
                <a:ea typeface="Arial" pitchFamily="34" charset="-122"/>
                <a:cs typeface="Arial" pitchFamily="34" charset="-120"/>
              </a:rPr>
              <a:t> Layla asks what happens to funds already sent to a sanctioned USDT address</a:t>
            </a:r>
            <a:endParaRPr lang="en-US" sz="1400" dirty="0"/>
          </a:p>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Cited answer:</a:t>
            </a:r>
            <a:r>
              <a:rPr lang="en-US" sz="1400" dirty="0">
                <a:solidFill>
                  <a:srgbClr val="E8E8F0"/>
                </a:solidFill>
                <a:latin typeface="Arial" pitchFamily="34" charset="0"/>
                <a:ea typeface="Arial" pitchFamily="34" charset="-122"/>
                <a:cs typeface="Arial" pitchFamily="34" charset="-120"/>
              </a:rPr>
              <a:t> grounded in USDT-201 Lesson 3.1 and the FATF R.15 summary, at her L2 depth</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A learning aid:</a:t>
            </a:r>
            <a:r>
              <a:rPr lang="en-US" sz="1400" dirty="0">
                <a:solidFill>
                  <a:srgbClr val="E8E8F0"/>
                </a:solidFill>
                <a:latin typeface="Arial" pitchFamily="34" charset="0"/>
                <a:ea typeface="Arial" pitchFamily="34" charset="-122"/>
                <a:cs typeface="Arial" pitchFamily="34" charset="-120"/>
              </a:rPr>
              <a:t> not legal or compliance advice</a:t>
            </a:r>
            <a:endParaRPr lang="en-US" sz="1400" dirty="0"/>
          </a:p>
        </p:txBody>
      </p:sp>
      <p:sp>
        <p:nvSpPr>
          <p:cNvPr id="28" name="Text 23"/>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9" name="Text 24"/>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804834"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567090"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7 OF 9 · PASS &amp; PATHWAY</a:t>
            </a:r>
            <a:endParaRPr lang="en-US" sz="900" dirty="0"/>
          </a:p>
        </p:txBody>
      </p:sp>
      <p:sp>
        <p:nvSpPr>
          <p:cNvPr id="5" name="Shape 2"/>
          <p:cNvSpPr/>
          <p:nvPr/>
        </p:nvSpPr>
        <p:spPr>
          <a:xfrm>
            <a:off x="4426626" y="470916"/>
            <a:ext cx="82296" cy="82296"/>
          </a:xfrm>
          <a:prstGeom prst="ellipse">
            <a:avLst/>
          </a:prstGeom>
          <a:solidFill>
            <a:srgbClr val="9B7A2E"/>
          </a:solidFill>
          <a:ln/>
        </p:spPr>
      </p:sp>
      <p:sp>
        <p:nvSpPr>
          <p:cNvPr id="6" name="Shape 3"/>
          <p:cNvSpPr/>
          <p:nvPr/>
        </p:nvSpPr>
        <p:spPr>
          <a:xfrm>
            <a:off x="4568358" y="470916"/>
            <a:ext cx="82296" cy="82296"/>
          </a:xfrm>
          <a:prstGeom prst="ellipse">
            <a:avLst/>
          </a:prstGeom>
          <a:solidFill>
            <a:srgbClr val="9B7A2E"/>
          </a:solidFill>
          <a:ln/>
        </p:spPr>
      </p:sp>
      <p:sp>
        <p:nvSpPr>
          <p:cNvPr id="7" name="Shape 4"/>
          <p:cNvSpPr/>
          <p:nvPr/>
        </p:nvSpPr>
        <p:spPr>
          <a:xfrm>
            <a:off x="4710090" y="470916"/>
            <a:ext cx="82296" cy="82296"/>
          </a:xfrm>
          <a:prstGeom prst="ellipse">
            <a:avLst/>
          </a:prstGeom>
          <a:solidFill>
            <a:srgbClr val="9B7A2E"/>
          </a:solidFill>
          <a:ln/>
        </p:spPr>
      </p:sp>
      <p:sp>
        <p:nvSpPr>
          <p:cNvPr id="8" name="Shape 5"/>
          <p:cNvSpPr/>
          <p:nvPr/>
        </p:nvSpPr>
        <p:spPr>
          <a:xfrm>
            <a:off x="4851822" y="470916"/>
            <a:ext cx="82296" cy="82296"/>
          </a:xfrm>
          <a:prstGeom prst="ellipse">
            <a:avLst/>
          </a:prstGeom>
          <a:solidFill>
            <a:srgbClr val="9B7A2E"/>
          </a:solidFill>
          <a:ln/>
        </p:spPr>
      </p:sp>
      <p:sp>
        <p:nvSpPr>
          <p:cNvPr id="9" name="Shape 6"/>
          <p:cNvSpPr/>
          <p:nvPr/>
        </p:nvSpPr>
        <p:spPr>
          <a:xfrm>
            <a:off x="4993554" y="470916"/>
            <a:ext cx="82296" cy="82296"/>
          </a:xfrm>
          <a:prstGeom prst="ellipse">
            <a:avLst/>
          </a:prstGeom>
          <a:solidFill>
            <a:srgbClr val="9B7A2E"/>
          </a:solidFill>
          <a:ln/>
        </p:spPr>
      </p:sp>
      <p:sp>
        <p:nvSpPr>
          <p:cNvPr id="10" name="Shape 7"/>
          <p:cNvSpPr/>
          <p:nvPr/>
        </p:nvSpPr>
        <p:spPr>
          <a:xfrm>
            <a:off x="5135286" y="470916"/>
            <a:ext cx="82296" cy="82296"/>
          </a:xfrm>
          <a:prstGeom prst="ellipse">
            <a:avLst/>
          </a:prstGeom>
          <a:solidFill>
            <a:srgbClr val="9B7A2E"/>
          </a:solidFill>
          <a:ln/>
        </p:spPr>
      </p:sp>
      <p:sp>
        <p:nvSpPr>
          <p:cNvPr id="11" name="Shape 8"/>
          <p:cNvSpPr/>
          <p:nvPr/>
        </p:nvSpPr>
        <p:spPr>
          <a:xfrm>
            <a:off x="5277018" y="470916"/>
            <a:ext cx="82296" cy="82296"/>
          </a:xfrm>
          <a:prstGeom prst="ellipse">
            <a:avLst/>
          </a:prstGeom>
          <a:solidFill>
            <a:srgbClr val="F0C96B"/>
          </a:solidFill>
          <a:ln/>
        </p:spPr>
      </p:sp>
      <p:sp>
        <p:nvSpPr>
          <p:cNvPr id="12" name="Shape 9"/>
          <p:cNvSpPr/>
          <p:nvPr/>
        </p:nvSpPr>
        <p:spPr>
          <a:xfrm>
            <a:off x="5418750" y="470916"/>
            <a:ext cx="82296" cy="82296"/>
          </a:xfrm>
          <a:prstGeom prst="ellipse">
            <a:avLst/>
          </a:prstGeom>
          <a:solidFill>
            <a:srgbClr val="34344A"/>
          </a:solidFill>
          <a:ln/>
        </p:spPr>
      </p:sp>
      <p:sp>
        <p:nvSpPr>
          <p:cNvPr id="13" name="Shape 10"/>
          <p:cNvSpPr/>
          <p:nvPr/>
        </p:nvSpPr>
        <p:spPr>
          <a:xfrm>
            <a:off x="5560482" y="470916"/>
            <a:ext cx="82296" cy="82296"/>
          </a:xfrm>
          <a:prstGeom prst="ellipse">
            <a:avLst/>
          </a:prstGeom>
          <a:solidFill>
            <a:srgbClr val="34344A"/>
          </a:solidFill>
          <a:ln/>
        </p:spPr>
      </p:sp>
      <p:sp>
        <p:nvSpPr>
          <p:cNvPr id="14" name="Text 11"/>
          <p:cNvSpPr txBox="1"/>
          <p:nvPr/>
        </p:nvSpPr>
        <p:spPr>
          <a:xfrm>
            <a:off x="5976534" y="384048"/>
            <a:ext cx="5757962"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 Pathway grades API stubbed in the test harness</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Pass, then watch the pathway fill up</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Open edX grades each course; the academy reads those grades to track the whole pathway</a:t>
            </a:r>
            <a:endParaRPr lang="en-US" sz="1600" dirty="0"/>
          </a:p>
        </p:txBody>
      </p:sp>
      <p:pic>
        <p:nvPicPr>
          <p:cNvPr id="17" name="Image 0" descr="/tmp/claude-0/-home-user-Chronopoli/d7458f57-86b2-5920-914e-8615357fee63/scratchpad/deck/framed/progress.png">    </p:cNvPr>
          <p:cNvPicPr>
            <a:picLocks noChangeAspect="1"/>
          </p:cNvPicPr>
          <p:nvPr/>
        </p:nvPicPr>
        <p:blipFill>
          <a:blip r:embed="rId2"/>
          <a:stretch>
            <a:fillRect/>
          </a:stretch>
        </p:blipFill>
        <p:spPr>
          <a:xfrm>
            <a:off x="1040922" y="1763603"/>
            <a:ext cx="5474819" cy="3612430"/>
          </a:xfrm>
          <a:prstGeom prst="rect">
            <a:avLst/>
          </a:prstGeom>
        </p:spPr>
      </p:pic>
      <p:sp>
        <p:nvSpPr>
          <p:cNvPr id="18" name="Shape 14"/>
          <p:cNvSpPr/>
          <p:nvPr/>
        </p:nvSpPr>
        <p:spPr>
          <a:xfrm>
            <a:off x="1185679" y="5368436"/>
            <a:ext cx="1763105"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1277119" y="5441588"/>
            <a:ext cx="73152" cy="73152"/>
          </a:xfrm>
          <a:prstGeom prst="ellipse">
            <a:avLst/>
          </a:prstGeom>
          <a:solidFill>
            <a:srgbClr val="34D399"/>
          </a:solidFill>
          <a:ln/>
        </p:spPr>
      </p:sp>
      <p:sp>
        <p:nvSpPr>
          <p:cNvPr id="20" name="Text 16"/>
          <p:cNvSpPr txBox="1"/>
          <p:nvPr/>
        </p:nvSpPr>
        <p:spPr>
          <a:xfrm>
            <a:off x="1405135" y="5368436"/>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1" name="Text 17"/>
          <p:cNvSpPr txBox="1"/>
          <p:nvPr/>
        </p:nvSpPr>
        <p:spPr>
          <a:xfrm>
            <a:off x="3058512" y="5400440"/>
            <a:ext cx="3312472"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Progress page</a:t>
            </a:r>
            <a:endParaRPr lang="en-US" sz="1000" dirty="0"/>
          </a:p>
        </p:txBody>
      </p:sp>
      <p:sp>
        <p:nvSpPr>
          <p:cNvPr id="22" name="Text 18"/>
          <p:cNvSpPr txBox="1"/>
          <p:nvPr/>
        </p:nvSpPr>
        <p:spPr>
          <a:xfrm>
            <a:off x="1185679" y="5789060"/>
            <a:ext cx="5185306"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USDT-201 complete:</a:t>
            </a:r>
            <a:r>
              <a:rPr lang="en-US" sz="1400" dirty="0">
                <a:solidFill>
                  <a:srgbClr val="E8E8F0"/>
                </a:solidFill>
                <a:latin typeface="Arial" pitchFamily="34" charset="0"/>
                <a:ea typeface="Arial" pitchFamily="34" charset="-122"/>
                <a:cs typeface="Arial" pitchFamily="34" charset="-120"/>
              </a:rPr>
              <a:t> 85% against a 70% pass mark (weights: knowledge checks 40%, capstone 60%)</a:t>
            </a:r>
            <a:endParaRPr lang="en-US" sz="1400" dirty="0"/>
          </a:p>
        </p:txBody>
      </p:sp>
      <p:pic>
        <p:nvPicPr>
          <p:cNvPr id="23" name="Image 1" descr="/tmp/claude-0/-home-user-Chronopoli/d7458f57-86b2-5920-914e-8615357fee63/scratchpad/deck/framed/pathway.png">    </p:cNvPr>
          <p:cNvPicPr>
            <a:picLocks noChangeAspect="1"/>
          </p:cNvPicPr>
          <p:nvPr/>
        </p:nvPicPr>
        <p:blipFill>
          <a:blip r:embed="rId3"/>
          <a:stretch>
            <a:fillRect/>
          </a:stretch>
        </p:blipFill>
        <p:spPr>
          <a:xfrm>
            <a:off x="6618154" y="1789768"/>
            <a:ext cx="4506454" cy="3560098"/>
          </a:xfrm>
          <a:prstGeom prst="rect">
            <a:avLst/>
          </a:prstGeom>
        </p:spPr>
      </p:pic>
      <p:sp>
        <p:nvSpPr>
          <p:cNvPr id="24" name="Shape 19"/>
          <p:cNvSpPr/>
          <p:nvPr/>
        </p:nvSpPr>
        <p:spPr>
          <a:xfrm>
            <a:off x="6736744" y="5368436"/>
            <a:ext cx="2591796" cy="219456"/>
          </a:xfrm>
          <a:prstGeom prst="roundRect">
            <a:avLst>
              <a:gd name="adj" fmla="val 50000"/>
            </a:avLst>
          </a:prstGeom>
          <a:solidFill>
            <a:srgbClr val="1B1B27"/>
          </a:solidFill>
          <a:ln w="9525">
            <a:solidFill>
              <a:srgbClr val="3A3A50"/>
            </a:solidFill>
            <a:prstDash val="solid"/>
          </a:ln>
        </p:spPr>
      </p:sp>
      <p:sp>
        <p:nvSpPr>
          <p:cNvPr id="25" name="Shape 20"/>
          <p:cNvSpPr/>
          <p:nvPr/>
        </p:nvSpPr>
        <p:spPr>
          <a:xfrm>
            <a:off x="6828184" y="5441588"/>
            <a:ext cx="73152" cy="73152"/>
          </a:xfrm>
          <a:prstGeom prst="ellipse">
            <a:avLst/>
          </a:prstGeom>
          <a:solidFill>
            <a:srgbClr val="F0C96B"/>
          </a:solidFill>
          <a:ln/>
        </p:spPr>
      </p:sp>
      <p:sp>
        <p:nvSpPr>
          <p:cNvPr id="26" name="Text 21"/>
          <p:cNvSpPr txBox="1"/>
          <p:nvPr/>
        </p:nvSpPr>
        <p:spPr>
          <a:xfrm>
            <a:off x="6956200" y="5368436"/>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7" name="Text 22"/>
          <p:cNvSpPr txBox="1"/>
          <p:nvPr/>
        </p:nvSpPr>
        <p:spPr>
          <a:xfrm>
            <a:off x="9438268" y="5400440"/>
            <a:ext cx="1567748"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Pathway page</a:t>
            </a:r>
            <a:endParaRPr lang="en-US" sz="1000" dirty="0"/>
          </a:p>
        </p:txBody>
      </p:sp>
      <p:sp>
        <p:nvSpPr>
          <p:cNvPr id="28" name="Text 23"/>
          <p:cNvSpPr txBox="1"/>
          <p:nvPr/>
        </p:nvSpPr>
        <p:spPr>
          <a:xfrm>
            <a:off x="6736744" y="5789060"/>
            <a:ext cx="4269272"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Pathway:</a:t>
            </a:r>
            <a:r>
              <a:rPr lang="en-US" sz="1400" dirty="0">
                <a:solidFill>
                  <a:srgbClr val="E8E8F0"/>
                </a:solidFill>
                <a:latin typeface="Arial" pitchFamily="34" charset="0"/>
                <a:ea typeface="Arial" pitchFamily="34" charset="-122"/>
                <a:cs typeface="Arial" pitchFamily="34" charset="-120"/>
              </a:rPr>
              <a:t> four required courses in four districts, all passed; no parallel grade book</a:t>
            </a:r>
            <a:endParaRPr lang="en-US" sz="1400" dirty="0"/>
          </a:p>
        </p:txBody>
      </p:sp>
      <p:sp>
        <p:nvSpPr>
          <p:cNvPr id="29" name="Text 2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0" name="Text 2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609259"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371515"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8 OF 9 · BADGE TO JOB</a:t>
            </a:r>
            <a:endParaRPr lang="en-US" sz="900" dirty="0"/>
          </a:p>
        </p:txBody>
      </p:sp>
      <p:sp>
        <p:nvSpPr>
          <p:cNvPr id="5" name="Shape 2"/>
          <p:cNvSpPr/>
          <p:nvPr/>
        </p:nvSpPr>
        <p:spPr>
          <a:xfrm>
            <a:off x="4231051" y="470916"/>
            <a:ext cx="82296" cy="82296"/>
          </a:xfrm>
          <a:prstGeom prst="ellipse">
            <a:avLst/>
          </a:prstGeom>
          <a:solidFill>
            <a:srgbClr val="9B7A2E"/>
          </a:solidFill>
          <a:ln/>
        </p:spPr>
      </p:sp>
      <p:sp>
        <p:nvSpPr>
          <p:cNvPr id="6" name="Shape 3"/>
          <p:cNvSpPr/>
          <p:nvPr/>
        </p:nvSpPr>
        <p:spPr>
          <a:xfrm>
            <a:off x="4372783" y="470916"/>
            <a:ext cx="82296" cy="82296"/>
          </a:xfrm>
          <a:prstGeom prst="ellipse">
            <a:avLst/>
          </a:prstGeom>
          <a:solidFill>
            <a:srgbClr val="9B7A2E"/>
          </a:solidFill>
          <a:ln/>
        </p:spPr>
      </p:sp>
      <p:sp>
        <p:nvSpPr>
          <p:cNvPr id="7" name="Shape 4"/>
          <p:cNvSpPr/>
          <p:nvPr/>
        </p:nvSpPr>
        <p:spPr>
          <a:xfrm>
            <a:off x="4514515" y="470916"/>
            <a:ext cx="82296" cy="82296"/>
          </a:xfrm>
          <a:prstGeom prst="ellipse">
            <a:avLst/>
          </a:prstGeom>
          <a:solidFill>
            <a:srgbClr val="9B7A2E"/>
          </a:solidFill>
          <a:ln/>
        </p:spPr>
      </p:sp>
      <p:sp>
        <p:nvSpPr>
          <p:cNvPr id="8" name="Shape 5"/>
          <p:cNvSpPr/>
          <p:nvPr/>
        </p:nvSpPr>
        <p:spPr>
          <a:xfrm>
            <a:off x="4656247" y="470916"/>
            <a:ext cx="82296" cy="82296"/>
          </a:xfrm>
          <a:prstGeom prst="ellipse">
            <a:avLst/>
          </a:prstGeom>
          <a:solidFill>
            <a:srgbClr val="9B7A2E"/>
          </a:solidFill>
          <a:ln/>
        </p:spPr>
      </p:sp>
      <p:sp>
        <p:nvSpPr>
          <p:cNvPr id="9" name="Shape 6"/>
          <p:cNvSpPr/>
          <p:nvPr/>
        </p:nvSpPr>
        <p:spPr>
          <a:xfrm>
            <a:off x="4797979" y="470916"/>
            <a:ext cx="82296" cy="82296"/>
          </a:xfrm>
          <a:prstGeom prst="ellipse">
            <a:avLst/>
          </a:prstGeom>
          <a:solidFill>
            <a:srgbClr val="9B7A2E"/>
          </a:solidFill>
          <a:ln/>
        </p:spPr>
      </p:sp>
      <p:sp>
        <p:nvSpPr>
          <p:cNvPr id="10" name="Shape 7"/>
          <p:cNvSpPr/>
          <p:nvPr/>
        </p:nvSpPr>
        <p:spPr>
          <a:xfrm>
            <a:off x="4939711" y="470916"/>
            <a:ext cx="82296" cy="82296"/>
          </a:xfrm>
          <a:prstGeom prst="ellipse">
            <a:avLst/>
          </a:prstGeom>
          <a:solidFill>
            <a:srgbClr val="9B7A2E"/>
          </a:solidFill>
          <a:ln/>
        </p:spPr>
      </p:sp>
      <p:sp>
        <p:nvSpPr>
          <p:cNvPr id="11" name="Shape 8"/>
          <p:cNvSpPr/>
          <p:nvPr/>
        </p:nvSpPr>
        <p:spPr>
          <a:xfrm>
            <a:off x="5081443" y="470916"/>
            <a:ext cx="82296" cy="82296"/>
          </a:xfrm>
          <a:prstGeom prst="ellipse">
            <a:avLst/>
          </a:prstGeom>
          <a:solidFill>
            <a:srgbClr val="9B7A2E"/>
          </a:solidFill>
          <a:ln/>
        </p:spPr>
      </p:sp>
      <p:sp>
        <p:nvSpPr>
          <p:cNvPr id="12" name="Shape 9"/>
          <p:cNvSpPr/>
          <p:nvPr/>
        </p:nvSpPr>
        <p:spPr>
          <a:xfrm>
            <a:off x="5223175" y="470916"/>
            <a:ext cx="82296" cy="82296"/>
          </a:xfrm>
          <a:prstGeom prst="ellipse">
            <a:avLst/>
          </a:prstGeom>
          <a:solidFill>
            <a:srgbClr val="F0C96B"/>
          </a:solidFill>
          <a:ln/>
        </p:spPr>
      </p:sp>
      <p:sp>
        <p:nvSpPr>
          <p:cNvPr id="13" name="Shape 10"/>
          <p:cNvSpPr/>
          <p:nvPr/>
        </p:nvSpPr>
        <p:spPr>
          <a:xfrm>
            <a:off x="5364907" y="470916"/>
            <a:ext cx="82296" cy="82296"/>
          </a:xfrm>
          <a:prstGeom prst="ellipse">
            <a:avLst/>
          </a:prstGeom>
          <a:solidFill>
            <a:srgbClr val="34344A"/>
          </a:solidFill>
          <a:ln/>
        </p:spPr>
      </p:sp>
      <p:sp>
        <p:nvSpPr>
          <p:cNvPr id="14" name="Text 11"/>
          <p:cNvSpPr txBox="1"/>
          <p:nvPr/>
        </p:nvSpPr>
        <p:spPr>
          <a:xfrm>
            <a:off x="5780959" y="384048"/>
            <a:ext cx="5953536"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badge earned 18 Sep 2026 · The partner roles are fictitious</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From credential to career</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Finishing a pathway issues a verifiable Open Badge, and partners can require that badge for open roles</a:t>
            </a:r>
            <a:endParaRPr lang="en-US" sz="1600" dirty="0"/>
          </a:p>
        </p:txBody>
      </p:sp>
      <p:pic>
        <p:nvPicPr>
          <p:cNvPr id="17" name="Image 0" descr="/tmp/claude-0/-home-user-Chronopoli/d7458f57-86b2-5920-914e-8615357fee63/scratchpad/deck/framed/badge.png">    </p:cNvPr>
          <p:cNvPicPr>
            <a:picLocks noChangeAspect="1"/>
          </p:cNvPicPr>
          <p:nvPr/>
        </p:nvPicPr>
        <p:blipFill>
          <a:blip r:embed="rId2"/>
          <a:stretch>
            <a:fillRect/>
          </a:stretch>
        </p:blipFill>
        <p:spPr>
          <a:xfrm>
            <a:off x="359794" y="1928150"/>
            <a:ext cx="3711416" cy="3911223"/>
          </a:xfrm>
          <a:prstGeom prst="rect">
            <a:avLst/>
          </a:prstGeom>
        </p:spPr>
      </p:pic>
      <p:sp>
        <p:nvSpPr>
          <p:cNvPr id="18" name="Shape 14"/>
          <p:cNvSpPr/>
          <p:nvPr/>
        </p:nvSpPr>
        <p:spPr>
          <a:xfrm>
            <a:off x="457200" y="5879127"/>
            <a:ext cx="2591796"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548640" y="5952279"/>
            <a:ext cx="73152" cy="73152"/>
          </a:xfrm>
          <a:prstGeom prst="ellipse">
            <a:avLst/>
          </a:prstGeom>
          <a:solidFill>
            <a:srgbClr val="F0C96B"/>
          </a:solidFill>
          <a:ln/>
        </p:spPr>
      </p:sp>
      <p:sp>
        <p:nvSpPr>
          <p:cNvPr id="20" name="Text 16"/>
          <p:cNvSpPr txBox="1"/>
          <p:nvPr/>
        </p:nvSpPr>
        <p:spPr>
          <a:xfrm>
            <a:off x="676656" y="5879127"/>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1" name="Text 17"/>
          <p:cNvSpPr txBox="1"/>
          <p:nvPr/>
        </p:nvSpPr>
        <p:spPr>
          <a:xfrm>
            <a:off x="3158724" y="5911131"/>
            <a:ext cx="81508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CSCS badge</a:t>
            </a:r>
            <a:endParaRPr lang="en-US" sz="1000" dirty="0"/>
          </a:p>
        </p:txBody>
      </p:sp>
      <p:pic>
        <p:nvPicPr>
          <p:cNvPr id="22" name="Image 1" descr="/tmp/claude-0/-home-user-Chronopoli/d7458f57-86b2-5920-914e-8615357fee63/scratchpad/deck/framed/jobs.png">    </p:cNvPr>
          <p:cNvPicPr>
            <a:picLocks noChangeAspect="1"/>
          </p:cNvPicPr>
          <p:nvPr/>
        </p:nvPicPr>
        <p:blipFill>
          <a:blip r:embed="rId3"/>
          <a:stretch>
            <a:fillRect/>
          </a:stretch>
        </p:blipFill>
        <p:spPr>
          <a:xfrm>
            <a:off x="4214718" y="1900710"/>
            <a:ext cx="4672824" cy="3966104"/>
          </a:xfrm>
          <a:prstGeom prst="rect">
            <a:avLst/>
          </a:prstGeom>
        </p:spPr>
      </p:pic>
      <p:sp>
        <p:nvSpPr>
          <p:cNvPr id="23" name="Shape 18"/>
          <p:cNvSpPr/>
          <p:nvPr/>
        </p:nvSpPr>
        <p:spPr>
          <a:xfrm>
            <a:off x="4339564" y="5879127"/>
            <a:ext cx="2591796" cy="219456"/>
          </a:xfrm>
          <a:prstGeom prst="roundRect">
            <a:avLst>
              <a:gd name="adj" fmla="val 50000"/>
            </a:avLst>
          </a:prstGeom>
          <a:solidFill>
            <a:srgbClr val="1B1B27"/>
          </a:solidFill>
          <a:ln w="9525">
            <a:solidFill>
              <a:srgbClr val="3A3A50"/>
            </a:solidFill>
            <a:prstDash val="solid"/>
          </a:ln>
        </p:spPr>
      </p:sp>
      <p:sp>
        <p:nvSpPr>
          <p:cNvPr id="24" name="Shape 19"/>
          <p:cNvSpPr/>
          <p:nvPr/>
        </p:nvSpPr>
        <p:spPr>
          <a:xfrm>
            <a:off x="4431004" y="5952279"/>
            <a:ext cx="73152" cy="73152"/>
          </a:xfrm>
          <a:prstGeom prst="ellipse">
            <a:avLst/>
          </a:prstGeom>
          <a:solidFill>
            <a:srgbClr val="F0C96B"/>
          </a:solidFill>
          <a:ln/>
        </p:spPr>
      </p:sp>
      <p:sp>
        <p:nvSpPr>
          <p:cNvPr id="25" name="Text 20"/>
          <p:cNvSpPr txBox="1"/>
          <p:nvPr/>
        </p:nvSpPr>
        <p:spPr>
          <a:xfrm>
            <a:off x="4559020" y="5879127"/>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6" name="Text 21"/>
          <p:cNvSpPr txBox="1"/>
          <p:nvPr/>
        </p:nvSpPr>
        <p:spPr>
          <a:xfrm>
            <a:off x="7041088" y="5911131"/>
            <a:ext cx="1721607"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Partner job board</a:t>
            </a:r>
            <a:endParaRPr lang="en-US" sz="1000" dirty="0"/>
          </a:p>
        </p:txBody>
      </p:sp>
      <p:sp>
        <p:nvSpPr>
          <p:cNvPr id="27" name="Text 22"/>
          <p:cNvSpPr txBox="1"/>
          <p:nvPr/>
        </p:nvSpPr>
        <p:spPr>
          <a:xfrm>
            <a:off x="9174175" y="2595982"/>
            <a:ext cx="2560320" cy="2630424"/>
          </a:xfrm>
          <a:prstGeom prst="rect">
            <a:avLst/>
          </a:prstGeom>
          <a:noFill/>
          <a:ln/>
        </p:spPr>
        <p:txBody>
          <a:bodyPr wrap="square" lIns="0" tIns="0" rIns="0" bIns="0" rtlCol="0" anchor="t"/>
          <a:lstStyle/>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CSCS badge:</a:t>
            </a:r>
            <a:r>
              <a:rPr lang="en-US" sz="1400" dirty="0">
                <a:solidFill>
                  <a:srgbClr val="E8E8F0"/>
                </a:solidFill>
                <a:latin typeface="Arial" pitchFamily="34" charset="0"/>
                <a:ea typeface="Arial" pitchFamily="34" charset="-122"/>
                <a:cs typeface="Arial" pitchFamily="34" charset="-120"/>
              </a:rPr>
              <a:t> Open Badges 2.0, readable by badge wallets and HR systems</a:t>
            </a:r>
            <a:endParaRPr lang="en-US" sz="1400" dirty="0"/>
          </a:p>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Roles can require a badge:</a:t>
            </a:r>
            <a:r>
              <a:rPr lang="en-US" sz="1400" dirty="0">
                <a:solidFill>
                  <a:srgbClr val="E8E8F0"/>
                </a:solidFill>
                <a:latin typeface="Arial" pitchFamily="34" charset="0"/>
                <a:ea typeface="Arial" pitchFamily="34" charset="-122"/>
                <a:cs typeface="Arial" pitchFamily="34" charset="-120"/>
              </a:rPr>
              <a:t> the Stablecoin Compliance Analyst role (Dubai, hybrid) asks for CSCS</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Consent first:</a:t>
            </a:r>
            <a:r>
              <a:rPr lang="en-US" sz="1400" dirty="0">
                <a:solidFill>
                  <a:srgbClr val="E8E8F0"/>
                </a:solidFill>
                <a:latin typeface="Arial" pitchFamily="34" charset="0"/>
                <a:ea typeface="Arial" pitchFamily="34" charset="-122"/>
                <a:cs typeface="Arial" pitchFamily="34" charset="-120"/>
              </a:rPr>
              <a:t> learners opt in before partners see their badges (a go-live requirement)</a:t>
            </a:r>
            <a:endParaRPr lang="en-US" sz="1400" dirty="0"/>
          </a:p>
        </p:txBody>
      </p:sp>
      <p:sp>
        <p:nvSpPr>
          <p:cNvPr id="28" name="Text 23"/>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9" name="Text 24"/>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402193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78419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PRODUCT TOUR · STEP 9 OF 9 · COMMUNITY &amp; VIDEO</a:t>
            </a:r>
            <a:endParaRPr lang="en-US" sz="900" dirty="0"/>
          </a:p>
        </p:txBody>
      </p:sp>
      <p:sp>
        <p:nvSpPr>
          <p:cNvPr id="5" name="Shape 2"/>
          <p:cNvSpPr/>
          <p:nvPr/>
        </p:nvSpPr>
        <p:spPr>
          <a:xfrm>
            <a:off x="4643727" y="470916"/>
            <a:ext cx="82296" cy="82296"/>
          </a:xfrm>
          <a:prstGeom prst="ellipse">
            <a:avLst/>
          </a:prstGeom>
          <a:solidFill>
            <a:srgbClr val="9B7A2E"/>
          </a:solidFill>
          <a:ln/>
        </p:spPr>
      </p:sp>
      <p:sp>
        <p:nvSpPr>
          <p:cNvPr id="6" name="Shape 3"/>
          <p:cNvSpPr/>
          <p:nvPr/>
        </p:nvSpPr>
        <p:spPr>
          <a:xfrm>
            <a:off x="4785459" y="470916"/>
            <a:ext cx="82296" cy="82296"/>
          </a:xfrm>
          <a:prstGeom prst="ellipse">
            <a:avLst/>
          </a:prstGeom>
          <a:solidFill>
            <a:srgbClr val="9B7A2E"/>
          </a:solidFill>
          <a:ln/>
        </p:spPr>
      </p:sp>
      <p:sp>
        <p:nvSpPr>
          <p:cNvPr id="7" name="Shape 4"/>
          <p:cNvSpPr/>
          <p:nvPr/>
        </p:nvSpPr>
        <p:spPr>
          <a:xfrm>
            <a:off x="4927191" y="470916"/>
            <a:ext cx="82296" cy="82296"/>
          </a:xfrm>
          <a:prstGeom prst="ellipse">
            <a:avLst/>
          </a:prstGeom>
          <a:solidFill>
            <a:srgbClr val="9B7A2E"/>
          </a:solidFill>
          <a:ln/>
        </p:spPr>
      </p:sp>
      <p:sp>
        <p:nvSpPr>
          <p:cNvPr id="8" name="Shape 5"/>
          <p:cNvSpPr/>
          <p:nvPr/>
        </p:nvSpPr>
        <p:spPr>
          <a:xfrm>
            <a:off x="5068923" y="470916"/>
            <a:ext cx="82296" cy="82296"/>
          </a:xfrm>
          <a:prstGeom prst="ellipse">
            <a:avLst/>
          </a:prstGeom>
          <a:solidFill>
            <a:srgbClr val="9B7A2E"/>
          </a:solidFill>
          <a:ln/>
        </p:spPr>
      </p:sp>
      <p:sp>
        <p:nvSpPr>
          <p:cNvPr id="9" name="Shape 6"/>
          <p:cNvSpPr/>
          <p:nvPr/>
        </p:nvSpPr>
        <p:spPr>
          <a:xfrm>
            <a:off x="5210655" y="470916"/>
            <a:ext cx="82296" cy="82296"/>
          </a:xfrm>
          <a:prstGeom prst="ellipse">
            <a:avLst/>
          </a:prstGeom>
          <a:solidFill>
            <a:srgbClr val="9B7A2E"/>
          </a:solidFill>
          <a:ln/>
        </p:spPr>
      </p:sp>
      <p:sp>
        <p:nvSpPr>
          <p:cNvPr id="10" name="Shape 7"/>
          <p:cNvSpPr/>
          <p:nvPr/>
        </p:nvSpPr>
        <p:spPr>
          <a:xfrm>
            <a:off x="5352387" y="470916"/>
            <a:ext cx="82296" cy="82296"/>
          </a:xfrm>
          <a:prstGeom prst="ellipse">
            <a:avLst/>
          </a:prstGeom>
          <a:solidFill>
            <a:srgbClr val="9B7A2E"/>
          </a:solidFill>
          <a:ln/>
        </p:spPr>
      </p:sp>
      <p:sp>
        <p:nvSpPr>
          <p:cNvPr id="11" name="Shape 8"/>
          <p:cNvSpPr/>
          <p:nvPr/>
        </p:nvSpPr>
        <p:spPr>
          <a:xfrm>
            <a:off x="5494119" y="470916"/>
            <a:ext cx="82296" cy="82296"/>
          </a:xfrm>
          <a:prstGeom prst="ellipse">
            <a:avLst/>
          </a:prstGeom>
          <a:solidFill>
            <a:srgbClr val="9B7A2E"/>
          </a:solidFill>
          <a:ln/>
        </p:spPr>
      </p:sp>
      <p:sp>
        <p:nvSpPr>
          <p:cNvPr id="12" name="Shape 9"/>
          <p:cNvSpPr/>
          <p:nvPr/>
        </p:nvSpPr>
        <p:spPr>
          <a:xfrm>
            <a:off x="5635851" y="470916"/>
            <a:ext cx="82296" cy="82296"/>
          </a:xfrm>
          <a:prstGeom prst="ellipse">
            <a:avLst/>
          </a:prstGeom>
          <a:solidFill>
            <a:srgbClr val="9B7A2E"/>
          </a:solidFill>
          <a:ln/>
        </p:spPr>
      </p:sp>
      <p:sp>
        <p:nvSpPr>
          <p:cNvPr id="13" name="Shape 10"/>
          <p:cNvSpPr/>
          <p:nvPr/>
        </p:nvSpPr>
        <p:spPr>
          <a:xfrm>
            <a:off x="5777583" y="470916"/>
            <a:ext cx="82296" cy="82296"/>
          </a:xfrm>
          <a:prstGeom prst="ellipse">
            <a:avLst/>
          </a:prstGeom>
          <a:solidFill>
            <a:srgbClr val="F0C96B"/>
          </a:solidFill>
          <a:ln/>
        </p:spPr>
      </p:sp>
      <p:sp>
        <p:nvSpPr>
          <p:cNvPr id="14" name="Text 11"/>
          <p:cNvSpPr txBox="1"/>
          <p:nvPr/>
        </p:nvSpPr>
        <p:spPr>
          <a:xfrm>
            <a:off x="6193635" y="384048"/>
            <a:ext cx="5540860"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during USDT-201 · Illustrative mock content</a:t>
            </a:r>
            <a:endParaRPr lang="en-US" sz="1050" dirty="0"/>
          </a:p>
        </p:txBody>
      </p:sp>
      <p:sp>
        <p:nvSpPr>
          <p:cNvPr id="15" name="Text 1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Community and video, in district colours</a:t>
            </a:r>
            <a:endParaRPr lang="en-US" sz="3600" dirty="0"/>
          </a:p>
        </p:txBody>
      </p:sp>
      <p:sp>
        <p:nvSpPr>
          <p:cNvPr id="16" name="Text 1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District forums on Discourse and lecture video on Opencast: both real, both running in our stack</a:t>
            </a:r>
            <a:endParaRPr lang="en-US" sz="1600" dirty="0"/>
          </a:p>
        </p:txBody>
      </p:sp>
      <p:pic>
        <p:nvPicPr>
          <p:cNvPr id="17" name="Image 0" descr="/tmp/claude-0/-home-user-Chronopoli/d7458f57-86b2-5920-914e-8615357fee63/scratchpad/deck/framed/discourse_topic.png">    </p:cNvPr>
          <p:cNvPicPr>
            <a:picLocks noChangeAspect="1"/>
          </p:cNvPicPr>
          <p:nvPr/>
        </p:nvPicPr>
        <p:blipFill>
          <a:blip r:embed="rId2"/>
          <a:stretch>
            <a:fillRect/>
          </a:stretch>
        </p:blipFill>
        <p:spPr>
          <a:xfrm>
            <a:off x="1376628" y="1799174"/>
            <a:ext cx="4119672" cy="3327928"/>
          </a:xfrm>
          <a:prstGeom prst="rect">
            <a:avLst/>
          </a:prstGeom>
        </p:spPr>
      </p:pic>
      <p:sp>
        <p:nvSpPr>
          <p:cNvPr id="18" name="Shape 14"/>
          <p:cNvSpPr/>
          <p:nvPr/>
        </p:nvSpPr>
        <p:spPr>
          <a:xfrm>
            <a:off x="1485554" y="5155336"/>
            <a:ext cx="1327790" cy="219456"/>
          </a:xfrm>
          <a:prstGeom prst="roundRect">
            <a:avLst>
              <a:gd name="adj" fmla="val 50000"/>
            </a:avLst>
          </a:prstGeom>
          <a:solidFill>
            <a:srgbClr val="1B1B27"/>
          </a:solidFill>
          <a:ln w="9525">
            <a:solidFill>
              <a:srgbClr val="3A3A50"/>
            </a:solidFill>
            <a:prstDash val="solid"/>
          </a:ln>
        </p:spPr>
      </p:sp>
      <p:sp>
        <p:nvSpPr>
          <p:cNvPr id="19" name="Shape 15"/>
          <p:cNvSpPr/>
          <p:nvPr/>
        </p:nvSpPr>
        <p:spPr>
          <a:xfrm>
            <a:off x="1576994" y="5228488"/>
            <a:ext cx="73152" cy="73152"/>
          </a:xfrm>
          <a:prstGeom prst="ellipse">
            <a:avLst/>
          </a:prstGeom>
          <a:solidFill>
            <a:srgbClr val="60A5FA"/>
          </a:solidFill>
          <a:ln/>
        </p:spPr>
      </p:sp>
      <p:sp>
        <p:nvSpPr>
          <p:cNvPr id="20" name="Text 16"/>
          <p:cNvSpPr txBox="1"/>
          <p:nvPr/>
        </p:nvSpPr>
        <p:spPr>
          <a:xfrm>
            <a:off x="1705010" y="5155336"/>
            <a:ext cx="1071758"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EXTENSION</a:t>
            </a:r>
            <a:endParaRPr lang="en-US" sz="800" dirty="0"/>
          </a:p>
        </p:txBody>
      </p:sp>
      <p:sp>
        <p:nvSpPr>
          <p:cNvPr id="21" name="Text 17"/>
          <p:cNvSpPr txBox="1"/>
          <p:nvPr/>
        </p:nvSpPr>
        <p:spPr>
          <a:xfrm>
            <a:off x="2923072" y="5187340"/>
            <a:ext cx="2464302"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Discourse 3.5 · Travel Rule thread</a:t>
            </a:r>
            <a:endParaRPr lang="en-US" sz="1000" dirty="0"/>
          </a:p>
        </p:txBody>
      </p:sp>
      <p:sp>
        <p:nvSpPr>
          <p:cNvPr id="22" name="Text 18"/>
          <p:cNvSpPr txBox="1"/>
          <p:nvPr/>
        </p:nvSpPr>
        <p:spPr>
          <a:xfrm>
            <a:off x="1485554" y="5575960"/>
            <a:ext cx="3901820" cy="69494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Community:</a:t>
            </a:r>
            <a:r>
              <a:rPr lang="en-US" sz="1400" dirty="0">
                <a:solidFill>
                  <a:srgbClr val="E8E8F0"/>
                </a:solidFill>
                <a:latin typeface="Arial" pitchFamily="34" charset="0"/>
                <a:ea typeface="Arial" pitchFamily="34" charset="-122"/>
                <a:cs typeface="Arial" pitchFamily="34" charset="-120"/>
              </a:rPr>
              <a:t> a forum per district, joined via SSO; an MLRO asks, an FIU investigator answers</a:t>
            </a:r>
            <a:endParaRPr lang="en-US" sz="1400" dirty="0"/>
          </a:p>
        </p:txBody>
      </p:sp>
      <p:pic>
        <p:nvPicPr>
          <p:cNvPr id="23" name="Image 1" descr="/tmp/claude-0/-home-user-Chronopoli/d7458f57-86b2-5920-914e-8615357fee63/scratchpad/deck/framed/paella.png">    </p:cNvPr>
          <p:cNvPicPr>
            <a:picLocks noChangeAspect="1"/>
          </p:cNvPicPr>
          <p:nvPr/>
        </p:nvPicPr>
        <p:blipFill>
          <a:blip r:embed="rId3"/>
          <a:stretch>
            <a:fillRect/>
          </a:stretch>
        </p:blipFill>
        <p:spPr>
          <a:xfrm>
            <a:off x="5614863" y="1769828"/>
            <a:ext cx="5229551" cy="3386619"/>
          </a:xfrm>
          <a:prstGeom prst="rect">
            <a:avLst/>
          </a:prstGeom>
        </p:spPr>
      </p:pic>
      <p:sp>
        <p:nvSpPr>
          <p:cNvPr id="24" name="Shape 19"/>
          <p:cNvSpPr/>
          <p:nvPr/>
        </p:nvSpPr>
        <p:spPr>
          <a:xfrm>
            <a:off x="5753134" y="5155336"/>
            <a:ext cx="1327790" cy="219456"/>
          </a:xfrm>
          <a:prstGeom prst="roundRect">
            <a:avLst>
              <a:gd name="adj" fmla="val 50000"/>
            </a:avLst>
          </a:prstGeom>
          <a:solidFill>
            <a:srgbClr val="1B1B27"/>
          </a:solidFill>
          <a:ln w="9525">
            <a:solidFill>
              <a:srgbClr val="3A3A50"/>
            </a:solidFill>
            <a:prstDash val="solid"/>
          </a:ln>
        </p:spPr>
      </p:sp>
      <p:sp>
        <p:nvSpPr>
          <p:cNvPr id="25" name="Shape 20"/>
          <p:cNvSpPr/>
          <p:nvPr/>
        </p:nvSpPr>
        <p:spPr>
          <a:xfrm>
            <a:off x="5844574" y="5228488"/>
            <a:ext cx="73152" cy="73152"/>
          </a:xfrm>
          <a:prstGeom prst="ellipse">
            <a:avLst/>
          </a:prstGeom>
          <a:solidFill>
            <a:srgbClr val="60A5FA"/>
          </a:solidFill>
          <a:ln/>
        </p:spPr>
      </p:sp>
      <p:sp>
        <p:nvSpPr>
          <p:cNvPr id="26" name="Text 21"/>
          <p:cNvSpPr txBox="1"/>
          <p:nvPr/>
        </p:nvSpPr>
        <p:spPr>
          <a:xfrm>
            <a:off x="5972590" y="5155336"/>
            <a:ext cx="1071758"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EXTENSION</a:t>
            </a:r>
            <a:endParaRPr lang="en-US" sz="800" dirty="0"/>
          </a:p>
        </p:txBody>
      </p:sp>
      <p:sp>
        <p:nvSpPr>
          <p:cNvPr id="27" name="Text 22"/>
          <p:cNvSpPr txBox="1"/>
          <p:nvPr/>
        </p:nvSpPr>
        <p:spPr>
          <a:xfrm>
            <a:off x="7190652" y="5187340"/>
            <a:ext cx="351549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Opencast 20.4 · Paella player, lecture 4.1</a:t>
            </a:r>
            <a:endParaRPr lang="en-US" sz="1000" dirty="0"/>
          </a:p>
        </p:txBody>
      </p:sp>
      <p:sp>
        <p:nvSpPr>
          <p:cNvPr id="28" name="Text 23"/>
          <p:cNvSpPr txBox="1"/>
          <p:nvPr/>
        </p:nvSpPr>
        <p:spPr>
          <a:xfrm>
            <a:off x="5753134" y="5575960"/>
            <a:ext cx="4953008"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Video:</a:t>
            </a:r>
            <a:r>
              <a:rPr lang="en-US" sz="1400" dirty="0">
                <a:solidFill>
                  <a:srgbClr val="E8E8F0"/>
                </a:solidFill>
                <a:latin typeface="Arial" pitchFamily="34" charset="0"/>
                <a:ea typeface="Arial" pitchFamily="34" charset="-122"/>
                <a:cs typeface="Arial" pitchFamily="34" charset="-120"/>
              </a:rPr>
              <a:t> Opencast records lectures; Paella adds a slide index so learners jump to any slide</a:t>
            </a:r>
            <a:endParaRPr lang="en-US" sz="1400" dirty="0"/>
          </a:p>
        </p:txBody>
      </p:sp>
      <p:sp>
        <p:nvSpPr>
          <p:cNvPr id="29" name="Text 2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0" name="Text 2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566928"/>
            <a:ext cx="808810"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566928"/>
            <a:ext cx="571066"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 2</a:t>
            </a:r>
            <a:endParaRPr lang="en-US" sz="900" dirty="0"/>
          </a:p>
        </p:txBody>
      </p:sp>
      <p:sp>
        <p:nvSpPr>
          <p:cNvPr id="5" name="Text 2"/>
          <p:cNvSpPr txBox="1"/>
          <p:nvPr/>
        </p:nvSpPr>
        <p:spPr>
          <a:xfrm>
            <a:off x="457200" y="1097280"/>
            <a:ext cx="11277295"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partner side: why organisations pay</a:t>
            </a:r>
            <a:endParaRPr lang="en-US" sz="4000" dirty="0"/>
          </a:p>
        </p:txBody>
      </p:sp>
      <p:sp>
        <p:nvSpPr>
          <p:cNvPr id="6" name="Text 3"/>
          <p:cNvSpPr txBox="1"/>
          <p:nvPr/>
        </p:nvSpPr>
        <p:spPr>
          <a:xfrm>
            <a:off x="457200" y="1901952"/>
            <a:ext cx="7863840" cy="822960"/>
          </a:xfrm>
          <a:prstGeom prst="rect">
            <a:avLst/>
          </a:prstGeom>
          <a:noFill/>
          <a:ln/>
        </p:spPr>
        <p:txBody>
          <a:bodyPr wrap="square" lIns="0" tIns="0" rIns="0" bIns="0" rtlCol="0" anchor="t"/>
          <a:lstStyle/>
          <a:p>
            <a:pPr indent="0" marL="0">
              <a:buNone/>
            </a:pPr>
            <a:r>
              <a:rPr lang="en-US" sz="1800" dirty="0">
                <a:solidFill>
                  <a:srgbClr val="B4B4C8"/>
                </a:solidFill>
                <a:latin typeface="Arial" pitchFamily="34" charset="0"/>
                <a:ea typeface="Arial" pitchFamily="34" charset="-122"/>
                <a:cs typeface="Arial" pitchFamily="34" charset="-120"/>
              </a:rPr>
              <a:t>Author, run, measure and earn from an academy, plus round tables and expert masterclasses that no catalogue offers</a:t>
            </a:r>
            <a:endParaRPr lang="en-US" sz="1800" dirty="0"/>
          </a:p>
        </p:txBody>
      </p:sp>
      <p:sp>
        <p:nvSpPr>
          <p:cNvPr id="7" name="Shape 4"/>
          <p:cNvSpPr/>
          <p:nvPr/>
        </p:nvSpPr>
        <p:spPr>
          <a:xfrm>
            <a:off x="457200" y="3063240"/>
            <a:ext cx="438912" cy="438912"/>
          </a:xfrm>
          <a:prstGeom prst="ellipse">
            <a:avLst/>
          </a:prstGeom>
          <a:solidFill>
            <a:srgbClr val="1E1A10"/>
          </a:solidFill>
          <a:ln w="9525">
            <a:solidFill>
              <a:srgbClr val="5A4A22"/>
            </a:solidFill>
            <a:prstDash val="solid"/>
          </a:ln>
        </p:spPr>
      </p:sp>
      <p:pic>
        <p:nvPicPr>
          <p:cNvPr id="8" name="Image 0" descr="preencoded.png">    </p:cNvPr>
          <p:cNvPicPr>
            <a:picLocks noChangeAspect="1"/>
          </p:cNvPicPr>
          <p:nvPr/>
        </p:nvPicPr>
        <p:blipFill>
          <a:blip r:embed="rId2"/>
          <a:stretch>
            <a:fillRect/>
          </a:stretch>
        </p:blipFill>
        <p:spPr>
          <a:xfrm>
            <a:off x="566928" y="3172968"/>
            <a:ext cx="219456" cy="219456"/>
          </a:xfrm>
          <a:prstGeom prst="rect">
            <a:avLst/>
          </a:prstGeom>
        </p:spPr>
      </p:pic>
      <p:sp>
        <p:nvSpPr>
          <p:cNvPr id="9" name="Text 5"/>
          <p:cNvSpPr txBox="1"/>
          <p:nvPr/>
        </p:nvSpPr>
        <p:spPr>
          <a:xfrm>
            <a:off x="1097280" y="3063240"/>
            <a:ext cx="5212080" cy="438912"/>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Authoring in Studio</a:t>
            </a:r>
            <a:endParaRPr lang="en-US" sz="1700" dirty="0"/>
          </a:p>
        </p:txBody>
      </p:sp>
      <p:sp>
        <p:nvSpPr>
          <p:cNvPr id="10" name="Text 6"/>
          <p:cNvSpPr txBox="1"/>
          <p:nvPr/>
        </p:nvSpPr>
        <p:spPr>
          <a:xfrm>
            <a:off x="6263640" y="3063240"/>
            <a:ext cx="1097280" cy="438912"/>
          </a:xfrm>
          <a:prstGeom prst="rect">
            <a:avLst/>
          </a:prstGeom>
          <a:noFill/>
          <a:ln/>
        </p:spPr>
        <p:txBody>
          <a:bodyPr wrap="square" lIns="0" tIns="0" rIns="0" bIns="0" rtlCol="0" anchor="ctr"/>
          <a:lstStyle/>
          <a:p>
            <a:pPr algn="r" indent="0" marL="0">
              <a:buNone/>
            </a:pPr>
            <a:r>
              <a:rPr lang="en-US" sz="1100" dirty="0">
                <a:solidFill>
                  <a:srgbClr val="C9A84C"/>
                </a:solidFill>
                <a:latin typeface="Arial" pitchFamily="34" charset="0"/>
                <a:ea typeface="Arial" pitchFamily="34" charset="-122"/>
                <a:cs typeface="Arial" pitchFamily="34" charset="-120"/>
              </a:rPr>
              <a:t>Slide 15</a:t>
            </a:r>
            <a:endParaRPr lang="en-US" sz="1100" dirty="0"/>
          </a:p>
        </p:txBody>
      </p:sp>
      <p:sp>
        <p:nvSpPr>
          <p:cNvPr id="11" name="Shape 7"/>
          <p:cNvSpPr/>
          <p:nvPr/>
        </p:nvSpPr>
        <p:spPr>
          <a:xfrm>
            <a:off x="1097280" y="3593592"/>
            <a:ext cx="6263640" cy="0"/>
          </a:xfrm>
          <a:prstGeom prst="line">
            <a:avLst/>
          </a:prstGeom>
          <a:noFill/>
          <a:ln w="6350">
            <a:solidFill>
              <a:srgbClr val="2C2C3E"/>
            </a:solidFill>
            <a:prstDash val="solid"/>
          </a:ln>
        </p:spPr>
      </p:sp>
      <p:sp>
        <p:nvSpPr>
          <p:cNvPr id="12" name="Shape 8"/>
          <p:cNvSpPr/>
          <p:nvPr/>
        </p:nvSpPr>
        <p:spPr>
          <a:xfrm>
            <a:off x="457200" y="3685032"/>
            <a:ext cx="438912" cy="438912"/>
          </a:xfrm>
          <a:prstGeom prst="ellipse">
            <a:avLst/>
          </a:prstGeom>
          <a:solidFill>
            <a:srgbClr val="1E1A10"/>
          </a:solidFill>
          <a:ln w="9525">
            <a:solidFill>
              <a:srgbClr val="5A4A22"/>
            </a:solidFill>
            <a:prstDash val="solid"/>
          </a:ln>
        </p:spPr>
      </p:sp>
      <p:pic>
        <p:nvPicPr>
          <p:cNvPr id="13" name="Image 1" descr="preencoded.png">    </p:cNvPr>
          <p:cNvPicPr>
            <a:picLocks noChangeAspect="1"/>
          </p:cNvPicPr>
          <p:nvPr/>
        </p:nvPicPr>
        <p:blipFill>
          <a:blip r:embed="rId3"/>
          <a:stretch>
            <a:fillRect/>
          </a:stretch>
        </p:blipFill>
        <p:spPr>
          <a:xfrm>
            <a:off x="566928" y="3794760"/>
            <a:ext cx="219456" cy="219456"/>
          </a:xfrm>
          <a:prstGeom prst="rect">
            <a:avLst/>
          </a:prstGeom>
        </p:spPr>
      </p:pic>
      <p:sp>
        <p:nvSpPr>
          <p:cNvPr id="14" name="Text 9"/>
          <p:cNvSpPr txBox="1"/>
          <p:nvPr/>
        </p:nvSpPr>
        <p:spPr>
          <a:xfrm>
            <a:off x="1097280" y="3685032"/>
            <a:ext cx="5212080" cy="438912"/>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Partner dashboard and weekly reports</a:t>
            </a:r>
            <a:endParaRPr lang="en-US" sz="1700" dirty="0"/>
          </a:p>
        </p:txBody>
      </p:sp>
      <p:sp>
        <p:nvSpPr>
          <p:cNvPr id="15" name="Text 10"/>
          <p:cNvSpPr txBox="1"/>
          <p:nvPr/>
        </p:nvSpPr>
        <p:spPr>
          <a:xfrm>
            <a:off x="6263640" y="3685032"/>
            <a:ext cx="1097280" cy="438912"/>
          </a:xfrm>
          <a:prstGeom prst="rect">
            <a:avLst/>
          </a:prstGeom>
          <a:noFill/>
          <a:ln/>
        </p:spPr>
        <p:txBody>
          <a:bodyPr wrap="square" lIns="0" tIns="0" rIns="0" bIns="0" rtlCol="0" anchor="ctr"/>
          <a:lstStyle/>
          <a:p>
            <a:pPr algn="r" indent="0" marL="0">
              <a:buNone/>
            </a:pPr>
            <a:r>
              <a:rPr lang="en-US" sz="1100" dirty="0">
                <a:solidFill>
                  <a:srgbClr val="C9A84C"/>
                </a:solidFill>
                <a:latin typeface="Arial" pitchFamily="34" charset="0"/>
                <a:ea typeface="Arial" pitchFamily="34" charset="-122"/>
                <a:cs typeface="Arial" pitchFamily="34" charset="-120"/>
              </a:rPr>
              <a:t>Slide 16</a:t>
            </a:r>
            <a:endParaRPr lang="en-US" sz="1100" dirty="0"/>
          </a:p>
        </p:txBody>
      </p:sp>
      <p:sp>
        <p:nvSpPr>
          <p:cNvPr id="16" name="Shape 11"/>
          <p:cNvSpPr/>
          <p:nvPr/>
        </p:nvSpPr>
        <p:spPr>
          <a:xfrm>
            <a:off x="1097280" y="4215384"/>
            <a:ext cx="6263640" cy="0"/>
          </a:xfrm>
          <a:prstGeom prst="line">
            <a:avLst/>
          </a:prstGeom>
          <a:noFill/>
          <a:ln w="6350">
            <a:solidFill>
              <a:srgbClr val="2C2C3E"/>
            </a:solidFill>
            <a:prstDash val="solid"/>
          </a:ln>
        </p:spPr>
      </p:sp>
      <p:sp>
        <p:nvSpPr>
          <p:cNvPr id="17" name="Shape 12"/>
          <p:cNvSpPr/>
          <p:nvPr/>
        </p:nvSpPr>
        <p:spPr>
          <a:xfrm>
            <a:off x="457200" y="4306824"/>
            <a:ext cx="438912" cy="438912"/>
          </a:xfrm>
          <a:prstGeom prst="ellipse">
            <a:avLst/>
          </a:prstGeom>
          <a:solidFill>
            <a:srgbClr val="1E1A10"/>
          </a:solidFill>
          <a:ln w="9525">
            <a:solidFill>
              <a:srgbClr val="5A4A22"/>
            </a:solidFill>
            <a:prstDash val="solid"/>
          </a:ln>
        </p:spPr>
      </p:sp>
      <p:pic>
        <p:nvPicPr>
          <p:cNvPr id="18" name="Image 2" descr="preencoded.png">    </p:cNvPr>
          <p:cNvPicPr>
            <a:picLocks noChangeAspect="1"/>
          </p:cNvPicPr>
          <p:nvPr/>
        </p:nvPicPr>
        <p:blipFill>
          <a:blip r:embed="rId4"/>
          <a:stretch>
            <a:fillRect/>
          </a:stretch>
        </p:blipFill>
        <p:spPr>
          <a:xfrm>
            <a:off x="566928" y="4416552"/>
            <a:ext cx="219456" cy="219456"/>
          </a:xfrm>
          <a:prstGeom prst="rect">
            <a:avLst/>
          </a:prstGeom>
        </p:spPr>
      </p:pic>
      <p:sp>
        <p:nvSpPr>
          <p:cNvPr id="19" name="Text 13"/>
          <p:cNvSpPr txBox="1"/>
          <p:nvPr/>
        </p:nvSpPr>
        <p:spPr>
          <a:xfrm>
            <a:off x="1097280" y="4306824"/>
            <a:ext cx="5212080" cy="438912"/>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Round tables and the AI content pipeline</a:t>
            </a:r>
            <a:endParaRPr lang="en-US" sz="1700" dirty="0"/>
          </a:p>
        </p:txBody>
      </p:sp>
      <p:sp>
        <p:nvSpPr>
          <p:cNvPr id="20" name="Text 14"/>
          <p:cNvSpPr txBox="1"/>
          <p:nvPr/>
        </p:nvSpPr>
        <p:spPr>
          <a:xfrm>
            <a:off x="6263640" y="4306824"/>
            <a:ext cx="1097280" cy="438912"/>
          </a:xfrm>
          <a:prstGeom prst="rect">
            <a:avLst/>
          </a:prstGeom>
          <a:noFill/>
          <a:ln/>
        </p:spPr>
        <p:txBody>
          <a:bodyPr wrap="square" lIns="0" tIns="0" rIns="0" bIns="0" rtlCol="0" anchor="ctr"/>
          <a:lstStyle/>
          <a:p>
            <a:pPr algn="r" indent="0" marL="0">
              <a:buNone/>
            </a:pPr>
            <a:r>
              <a:rPr lang="en-US" sz="1100" dirty="0">
                <a:solidFill>
                  <a:srgbClr val="C9A84C"/>
                </a:solidFill>
                <a:latin typeface="Arial" pitchFamily="34" charset="0"/>
                <a:ea typeface="Arial" pitchFamily="34" charset="-122"/>
                <a:cs typeface="Arial" pitchFamily="34" charset="-120"/>
              </a:rPr>
              <a:t>Slides 17-18</a:t>
            </a:r>
            <a:endParaRPr lang="en-US" sz="1100" dirty="0"/>
          </a:p>
        </p:txBody>
      </p:sp>
      <p:sp>
        <p:nvSpPr>
          <p:cNvPr id="21" name="Shape 15"/>
          <p:cNvSpPr/>
          <p:nvPr/>
        </p:nvSpPr>
        <p:spPr>
          <a:xfrm>
            <a:off x="1097280" y="4837176"/>
            <a:ext cx="6263640" cy="0"/>
          </a:xfrm>
          <a:prstGeom prst="line">
            <a:avLst/>
          </a:prstGeom>
          <a:noFill/>
          <a:ln w="6350">
            <a:solidFill>
              <a:srgbClr val="2C2C3E"/>
            </a:solidFill>
            <a:prstDash val="solid"/>
          </a:ln>
        </p:spPr>
      </p:sp>
      <p:sp>
        <p:nvSpPr>
          <p:cNvPr id="22" name="Shape 16"/>
          <p:cNvSpPr/>
          <p:nvPr/>
        </p:nvSpPr>
        <p:spPr>
          <a:xfrm>
            <a:off x="457200" y="4928616"/>
            <a:ext cx="438912" cy="438912"/>
          </a:xfrm>
          <a:prstGeom prst="ellipse">
            <a:avLst/>
          </a:prstGeom>
          <a:solidFill>
            <a:srgbClr val="1E1A10"/>
          </a:solidFill>
          <a:ln w="9525">
            <a:solidFill>
              <a:srgbClr val="5A4A22"/>
            </a:solidFill>
            <a:prstDash val="solid"/>
          </a:ln>
        </p:spPr>
      </p:sp>
      <p:pic>
        <p:nvPicPr>
          <p:cNvPr id="23" name="Image 3" descr="preencoded.png">    </p:cNvPr>
          <p:cNvPicPr>
            <a:picLocks noChangeAspect="1"/>
          </p:cNvPicPr>
          <p:nvPr/>
        </p:nvPicPr>
        <p:blipFill>
          <a:blip r:embed="rId5"/>
          <a:stretch>
            <a:fillRect/>
          </a:stretch>
        </p:blipFill>
        <p:spPr>
          <a:xfrm>
            <a:off x="566928" y="5038344"/>
            <a:ext cx="219456" cy="219456"/>
          </a:xfrm>
          <a:prstGeom prst="rect">
            <a:avLst/>
          </a:prstGeom>
        </p:spPr>
      </p:pic>
      <p:sp>
        <p:nvSpPr>
          <p:cNvPr id="24" name="Text 17"/>
          <p:cNvSpPr txBox="1"/>
          <p:nvPr/>
        </p:nvSpPr>
        <p:spPr>
          <a:xfrm>
            <a:off x="1097280" y="4928616"/>
            <a:ext cx="5212080" cy="438912"/>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Digital-twin masterclasses</a:t>
            </a:r>
            <a:endParaRPr lang="en-US" sz="1700" dirty="0"/>
          </a:p>
        </p:txBody>
      </p:sp>
      <p:sp>
        <p:nvSpPr>
          <p:cNvPr id="25" name="Text 18"/>
          <p:cNvSpPr txBox="1"/>
          <p:nvPr/>
        </p:nvSpPr>
        <p:spPr>
          <a:xfrm>
            <a:off x="6263640" y="4928616"/>
            <a:ext cx="1097280" cy="438912"/>
          </a:xfrm>
          <a:prstGeom prst="rect">
            <a:avLst/>
          </a:prstGeom>
          <a:noFill/>
          <a:ln/>
        </p:spPr>
        <p:txBody>
          <a:bodyPr wrap="square" lIns="0" tIns="0" rIns="0" bIns="0" rtlCol="0" anchor="ctr"/>
          <a:lstStyle/>
          <a:p>
            <a:pPr algn="r" indent="0" marL="0">
              <a:buNone/>
            </a:pPr>
            <a:r>
              <a:rPr lang="en-US" sz="1100" dirty="0">
                <a:solidFill>
                  <a:srgbClr val="C9A84C"/>
                </a:solidFill>
                <a:latin typeface="Arial" pitchFamily="34" charset="0"/>
                <a:ea typeface="Arial" pitchFamily="34" charset="-122"/>
                <a:cs typeface="Arial" pitchFamily="34" charset="-120"/>
              </a:rPr>
              <a:t>Slide 19</a:t>
            </a:r>
            <a:endParaRPr lang="en-US" sz="1100" dirty="0"/>
          </a:p>
        </p:txBody>
      </p:sp>
      <p:sp>
        <p:nvSpPr>
          <p:cNvPr id="26" name="Shape 19"/>
          <p:cNvSpPr/>
          <p:nvPr/>
        </p:nvSpPr>
        <p:spPr>
          <a:xfrm>
            <a:off x="1097280" y="5458968"/>
            <a:ext cx="6263640" cy="0"/>
          </a:xfrm>
          <a:prstGeom prst="line">
            <a:avLst/>
          </a:prstGeom>
          <a:noFill/>
          <a:ln w="6350">
            <a:solidFill>
              <a:srgbClr val="2C2C3E"/>
            </a:solidFill>
            <a:prstDash val="solid"/>
          </a:ln>
        </p:spPr>
      </p:sp>
      <p:sp>
        <p:nvSpPr>
          <p:cNvPr id="27" name="Shape 20"/>
          <p:cNvSpPr/>
          <p:nvPr/>
        </p:nvSpPr>
        <p:spPr>
          <a:xfrm>
            <a:off x="457200" y="5550408"/>
            <a:ext cx="438912" cy="438912"/>
          </a:xfrm>
          <a:prstGeom prst="ellipse">
            <a:avLst/>
          </a:prstGeom>
          <a:solidFill>
            <a:srgbClr val="1E1A10"/>
          </a:solidFill>
          <a:ln w="9525">
            <a:solidFill>
              <a:srgbClr val="5A4A22"/>
            </a:solidFill>
            <a:prstDash val="solid"/>
          </a:ln>
        </p:spPr>
      </p:sp>
      <p:pic>
        <p:nvPicPr>
          <p:cNvPr id="28" name="Image 4" descr="preencoded.png">    </p:cNvPr>
          <p:cNvPicPr>
            <a:picLocks noChangeAspect="1"/>
          </p:cNvPicPr>
          <p:nvPr/>
        </p:nvPicPr>
        <p:blipFill>
          <a:blip r:embed="rId6"/>
          <a:stretch>
            <a:fillRect/>
          </a:stretch>
        </p:blipFill>
        <p:spPr>
          <a:xfrm>
            <a:off x="566928" y="5660136"/>
            <a:ext cx="219456" cy="219456"/>
          </a:xfrm>
          <a:prstGeom prst="rect">
            <a:avLst/>
          </a:prstGeom>
        </p:spPr>
      </p:pic>
      <p:sp>
        <p:nvSpPr>
          <p:cNvPr id="29" name="Text 21"/>
          <p:cNvSpPr txBox="1"/>
          <p:nvPr/>
        </p:nvSpPr>
        <p:spPr>
          <a:xfrm>
            <a:off x="1097280" y="5550408"/>
            <a:ext cx="5212080" cy="438912"/>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Business model, licences and payouts</a:t>
            </a:r>
            <a:endParaRPr lang="en-US" sz="1700" dirty="0"/>
          </a:p>
        </p:txBody>
      </p:sp>
      <p:sp>
        <p:nvSpPr>
          <p:cNvPr id="30" name="Text 22"/>
          <p:cNvSpPr txBox="1"/>
          <p:nvPr/>
        </p:nvSpPr>
        <p:spPr>
          <a:xfrm>
            <a:off x="6263640" y="5550408"/>
            <a:ext cx="1097280" cy="438912"/>
          </a:xfrm>
          <a:prstGeom prst="rect">
            <a:avLst/>
          </a:prstGeom>
          <a:noFill/>
          <a:ln/>
        </p:spPr>
        <p:txBody>
          <a:bodyPr wrap="square" lIns="0" tIns="0" rIns="0" bIns="0" rtlCol="0" anchor="ctr"/>
          <a:lstStyle/>
          <a:p>
            <a:pPr algn="r" indent="0" marL="0">
              <a:buNone/>
            </a:pPr>
            <a:r>
              <a:rPr lang="en-US" sz="1100" dirty="0">
                <a:solidFill>
                  <a:srgbClr val="C9A84C"/>
                </a:solidFill>
                <a:latin typeface="Arial" pitchFamily="34" charset="0"/>
                <a:ea typeface="Arial" pitchFamily="34" charset="-122"/>
                <a:cs typeface="Arial" pitchFamily="34" charset="-120"/>
              </a:rPr>
              <a:t>Slides 20-23</a:t>
            </a:r>
            <a:endParaRPr lang="en-US" sz="1100" dirty="0"/>
          </a:p>
        </p:txBody>
      </p:sp>
      <p:sp>
        <p:nvSpPr>
          <p:cNvPr id="31" name="Text 23"/>
          <p:cNvSpPr txBox="1"/>
          <p:nvPr/>
        </p:nvSpPr>
        <p:spPr>
          <a:xfrm>
            <a:off x="8001000" y="3044952"/>
            <a:ext cx="3733495" cy="201168"/>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NEW PERSONAS (FICTITIOUS)</a:t>
            </a:r>
            <a:endParaRPr lang="en-US" sz="900" dirty="0"/>
          </a:p>
        </p:txBody>
      </p:sp>
      <p:sp>
        <p:nvSpPr>
          <p:cNvPr id="32" name="Shape 24"/>
          <p:cNvSpPr/>
          <p:nvPr/>
        </p:nvSpPr>
        <p:spPr>
          <a:xfrm>
            <a:off x="8001000" y="3392424"/>
            <a:ext cx="3733495" cy="1005840"/>
          </a:xfrm>
          <a:prstGeom prst="roundRect">
            <a:avLst>
              <a:gd name="adj" fmla="val 10909"/>
            </a:avLst>
          </a:prstGeom>
          <a:solidFill>
            <a:srgbClr val="171722"/>
          </a:solidFill>
          <a:ln w="9525">
            <a:solidFill>
              <a:srgbClr val="2C2C3E"/>
            </a:solidFill>
            <a:prstDash val="solid"/>
          </a:ln>
        </p:spPr>
      </p:sp>
      <p:sp>
        <p:nvSpPr>
          <p:cNvPr id="33" name="Shape 25"/>
          <p:cNvSpPr/>
          <p:nvPr/>
        </p:nvSpPr>
        <p:spPr>
          <a:xfrm>
            <a:off x="8229600" y="3648456"/>
            <a:ext cx="493776" cy="493776"/>
          </a:xfrm>
          <a:prstGeom prst="ellipse">
            <a:avLst/>
          </a:prstGeom>
          <a:solidFill>
            <a:srgbClr val="3B82F6"/>
          </a:solidFill>
          <a:ln/>
        </p:spPr>
      </p:sp>
      <p:sp>
        <p:nvSpPr>
          <p:cNvPr id="34" name="Text 26"/>
          <p:cNvSpPr txBox="1"/>
          <p:nvPr/>
        </p:nvSpPr>
        <p:spPr>
          <a:xfrm>
            <a:off x="8229600" y="3648456"/>
            <a:ext cx="493776" cy="493776"/>
          </a:xfrm>
          <a:prstGeom prst="rect">
            <a:avLst/>
          </a:prstGeom>
          <a:noFill/>
          <a:ln/>
        </p:spPr>
        <p:txBody>
          <a:bodyPr wrap="square" lIns="0" tIns="0" rIns="0" bIns="0" rtlCol="0" anchor="ctr"/>
          <a:lstStyle/>
          <a:p>
            <a:pPr algn="ctr" indent="0" marL="0">
              <a:buNone/>
            </a:pPr>
            <a:r>
              <a:rPr lang="en-US" sz="1400" b="1" dirty="0">
                <a:solidFill>
                  <a:srgbClr val="0A0A0F"/>
                </a:solidFill>
                <a:latin typeface="Arial" pitchFamily="34" charset="0"/>
                <a:ea typeface="Arial" pitchFamily="34" charset="-122"/>
                <a:cs typeface="Arial" pitchFamily="34" charset="-120"/>
              </a:rPr>
              <a:t>NK</a:t>
            </a:r>
            <a:endParaRPr lang="en-US" sz="1400" dirty="0"/>
          </a:p>
        </p:txBody>
      </p:sp>
      <p:sp>
        <p:nvSpPr>
          <p:cNvPr id="35" name="Text 27"/>
          <p:cNvSpPr txBox="1"/>
          <p:nvPr/>
        </p:nvSpPr>
        <p:spPr>
          <a:xfrm>
            <a:off x="8869680" y="3611880"/>
            <a:ext cx="2727655"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Nadia Karim</a:t>
            </a:r>
            <a:endParaRPr lang="en-US" sz="1500" dirty="0"/>
          </a:p>
        </p:txBody>
      </p:sp>
      <p:sp>
        <p:nvSpPr>
          <p:cNvPr id="36" name="Text 28"/>
          <p:cNvSpPr txBox="1"/>
          <p:nvPr/>
        </p:nvSpPr>
        <p:spPr>
          <a:xfrm>
            <a:off x="8869680" y="3904488"/>
            <a:ext cx="2727655" cy="411480"/>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Academy administrator (fictitious)</a:t>
            </a:r>
            <a:endParaRPr lang="en-US" sz="1200" dirty="0"/>
          </a:p>
        </p:txBody>
      </p:sp>
      <p:sp>
        <p:nvSpPr>
          <p:cNvPr id="37" name="Shape 29"/>
          <p:cNvSpPr/>
          <p:nvPr/>
        </p:nvSpPr>
        <p:spPr>
          <a:xfrm>
            <a:off x="8001000" y="4581144"/>
            <a:ext cx="3733495" cy="1005840"/>
          </a:xfrm>
          <a:prstGeom prst="roundRect">
            <a:avLst>
              <a:gd name="adj" fmla="val 10909"/>
            </a:avLst>
          </a:prstGeom>
          <a:solidFill>
            <a:srgbClr val="171722"/>
          </a:solidFill>
          <a:ln w="9525">
            <a:solidFill>
              <a:srgbClr val="2C2C3E"/>
            </a:solidFill>
            <a:prstDash val="solid"/>
          </a:ln>
        </p:spPr>
      </p:sp>
      <p:sp>
        <p:nvSpPr>
          <p:cNvPr id="38" name="Shape 30"/>
          <p:cNvSpPr/>
          <p:nvPr/>
        </p:nvSpPr>
        <p:spPr>
          <a:xfrm>
            <a:off x="8229600" y="4837176"/>
            <a:ext cx="493776" cy="493776"/>
          </a:xfrm>
          <a:prstGeom prst="ellipse">
            <a:avLst/>
          </a:prstGeom>
          <a:solidFill>
            <a:srgbClr val="10B981"/>
          </a:solidFill>
          <a:ln/>
        </p:spPr>
      </p:sp>
      <p:sp>
        <p:nvSpPr>
          <p:cNvPr id="39" name="Text 31"/>
          <p:cNvSpPr txBox="1"/>
          <p:nvPr/>
        </p:nvSpPr>
        <p:spPr>
          <a:xfrm>
            <a:off x="8229600" y="4837176"/>
            <a:ext cx="493776" cy="493776"/>
          </a:xfrm>
          <a:prstGeom prst="rect">
            <a:avLst/>
          </a:prstGeom>
          <a:noFill/>
          <a:ln/>
        </p:spPr>
        <p:txBody>
          <a:bodyPr wrap="square" lIns="0" tIns="0" rIns="0" bIns="0" rtlCol="0" anchor="ctr"/>
          <a:lstStyle/>
          <a:p>
            <a:pPr algn="ctr" indent="0" marL="0">
              <a:buNone/>
            </a:pPr>
            <a:r>
              <a:rPr lang="en-US" sz="1400" b="1" dirty="0">
                <a:solidFill>
                  <a:srgbClr val="0A0A0F"/>
                </a:solidFill>
                <a:latin typeface="Arial" pitchFamily="34" charset="0"/>
                <a:ea typeface="Arial" pitchFamily="34" charset="-122"/>
                <a:cs typeface="Arial" pitchFamily="34" charset="-120"/>
              </a:rPr>
              <a:t>AH</a:t>
            </a:r>
            <a:endParaRPr lang="en-US" sz="1400" dirty="0"/>
          </a:p>
        </p:txBody>
      </p:sp>
      <p:sp>
        <p:nvSpPr>
          <p:cNvPr id="40" name="Text 32"/>
          <p:cNvSpPr txBox="1"/>
          <p:nvPr/>
        </p:nvSpPr>
        <p:spPr>
          <a:xfrm>
            <a:off x="8869680" y="4800600"/>
            <a:ext cx="2727655"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Dr. Amira Haddad</a:t>
            </a:r>
            <a:endParaRPr lang="en-US" sz="1500" dirty="0"/>
          </a:p>
        </p:txBody>
      </p:sp>
      <p:sp>
        <p:nvSpPr>
          <p:cNvPr id="41" name="Text 33"/>
          <p:cNvSpPr txBox="1"/>
          <p:nvPr/>
        </p:nvSpPr>
        <p:spPr>
          <a:xfrm>
            <a:off x="8869680" y="5093208"/>
            <a:ext cx="2727655" cy="411480"/>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Round-table moderator (fictitious)</a:t>
            </a:r>
            <a:endParaRPr lang="en-US" sz="1200" dirty="0"/>
          </a:p>
        </p:txBody>
      </p:sp>
      <p:sp>
        <p:nvSpPr>
          <p:cNvPr id="42" name="Text 3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43" name="Text 3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2072419"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834675"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AUTHOR</a:t>
            </a:r>
            <a:endParaRPr lang="en-US" sz="900" dirty="0"/>
          </a:p>
        </p:txBody>
      </p:sp>
      <p:sp>
        <p:nvSpPr>
          <p:cNvPr id="5" name="Shape 2"/>
          <p:cNvSpPr/>
          <p:nvPr/>
        </p:nvSpPr>
        <p:spPr>
          <a:xfrm>
            <a:off x="2694211" y="470916"/>
            <a:ext cx="82296" cy="82296"/>
          </a:xfrm>
          <a:prstGeom prst="ellipse">
            <a:avLst/>
          </a:prstGeom>
          <a:solidFill>
            <a:srgbClr val="F0C96B"/>
          </a:solidFill>
          <a:ln/>
        </p:spPr>
      </p:sp>
      <p:sp>
        <p:nvSpPr>
          <p:cNvPr id="6" name="Shape 3"/>
          <p:cNvSpPr/>
          <p:nvPr/>
        </p:nvSpPr>
        <p:spPr>
          <a:xfrm>
            <a:off x="2835943" y="470916"/>
            <a:ext cx="82296" cy="82296"/>
          </a:xfrm>
          <a:prstGeom prst="ellipse">
            <a:avLst/>
          </a:prstGeom>
          <a:solidFill>
            <a:srgbClr val="34344A"/>
          </a:solidFill>
          <a:ln/>
        </p:spPr>
      </p:sp>
      <p:sp>
        <p:nvSpPr>
          <p:cNvPr id="7" name="Shape 4"/>
          <p:cNvSpPr/>
          <p:nvPr/>
        </p:nvSpPr>
        <p:spPr>
          <a:xfrm>
            <a:off x="2977675" y="470916"/>
            <a:ext cx="82296" cy="82296"/>
          </a:xfrm>
          <a:prstGeom prst="ellipse">
            <a:avLst/>
          </a:prstGeom>
          <a:solidFill>
            <a:srgbClr val="34344A"/>
          </a:solidFill>
          <a:ln/>
        </p:spPr>
      </p:sp>
      <p:sp>
        <p:nvSpPr>
          <p:cNvPr id="8" name="Shape 5"/>
          <p:cNvSpPr/>
          <p:nvPr/>
        </p:nvSpPr>
        <p:spPr>
          <a:xfrm>
            <a:off x="3119407" y="470916"/>
            <a:ext cx="82296" cy="82296"/>
          </a:xfrm>
          <a:prstGeom prst="ellipse">
            <a:avLst/>
          </a:prstGeom>
          <a:solidFill>
            <a:srgbClr val="34344A"/>
          </a:solidFill>
          <a:ln/>
        </p:spPr>
      </p:sp>
      <p:sp>
        <p:nvSpPr>
          <p:cNvPr id="9" name="Shape 6"/>
          <p:cNvSpPr/>
          <p:nvPr/>
        </p:nvSpPr>
        <p:spPr>
          <a:xfrm>
            <a:off x="3261139" y="470916"/>
            <a:ext cx="82296" cy="82296"/>
          </a:xfrm>
          <a:prstGeom prst="ellipse">
            <a:avLst/>
          </a:prstGeom>
          <a:solidFill>
            <a:srgbClr val="34344A"/>
          </a:solidFill>
          <a:ln/>
        </p:spPr>
      </p:sp>
      <p:sp>
        <p:nvSpPr>
          <p:cNvPr id="10" name="Shape 7"/>
          <p:cNvSpPr/>
          <p:nvPr/>
        </p:nvSpPr>
        <p:spPr>
          <a:xfrm>
            <a:off x="3402871" y="470916"/>
            <a:ext cx="82296" cy="82296"/>
          </a:xfrm>
          <a:prstGeom prst="ellipse">
            <a:avLst/>
          </a:prstGeom>
          <a:solidFill>
            <a:srgbClr val="34344A"/>
          </a:solidFill>
          <a:ln/>
        </p:spPr>
      </p:sp>
      <p:sp>
        <p:nvSpPr>
          <p:cNvPr id="11" name="Text 8"/>
          <p:cNvSpPr txBox="1"/>
          <p:nvPr/>
        </p:nvSpPr>
        <p:spPr>
          <a:xfrm>
            <a:off x="3818923" y="384048"/>
            <a:ext cx="7915572"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course team (admin account)</a:t>
            </a:r>
            <a:endParaRPr lang="en-US" sz="1050" dirty="0"/>
          </a:p>
        </p:txBody>
      </p:sp>
      <p:sp>
        <p:nvSpPr>
          <p:cNvPr id="12" name="Text 9"/>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Partners author on Open edX Studio: nothing to rebuild</a:t>
            </a:r>
            <a:endParaRPr lang="en-US" sz="3300" dirty="0"/>
          </a:p>
        </p:txBody>
      </p:sp>
      <p:sp>
        <p:nvSpPr>
          <p:cNvPr id="13" name="Text 10"/>
          <p:cNvSpPr txBox="1"/>
          <p:nvPr/>
        </p:nvSpPr>
        <p:spPr>
          <a:xfrm>
            <a:off x="8275320" y="999439"/>
            <a:ext cx="3459175" cy="7132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Course outline, rich-text editing, scheduling and grading policies come straight from upstream Open edX</a:t>
            </a:r>
            <a:endParaRPr lang="en-US" sz="1500" dirty="0"/>
          </a:p>
        </p:txBody>
      </p:sp>
      <p:pic>
        <p:nvPicPr>
          <p:cNvPr id="14" name="Image 0" descr="/tmp/claude-0/-home-user-Chronopoli/d7458f57-86b2-5920-914e-8615357fee63/scratchpad/deck/framed/studio_outline.png">    </p:cNvPr>
          <p:cNvPicPr>
            <a:picLocks noChangeAspect="1"/>
          </p:cNvPicPr>
          <p:nvPr/>
        </p:nvPicPr>
        <p:blipFill>
          <a:blip r:embed="rId2"/>
          <a:stretch>
            <a:fillRect/>
          </a:stretch>
        </p:blipFill>
        <p:spPr>
          <a:xfrm>
            <a:off x="1312682" y="1889790"/>
            <a:ext cx="4030710" cy="3373771"/>
          </a:xfrm>
          <a:prstGeom prst="rect">
            <a:avLst/>
          </a:prstGeom>
        </p:spPr>
      </p:pic>
      <p:sp>
        <p:nvSpPr>
          <p:cNvPr id="15" name="Shape 11"/>
          <p:cNvSpPr/>
          <p:nvPr/>
        </p:nvSpPr>
        <p:spPr>
          <a:xfrm>
            <a:off x="1419256" y="5294147"/>
            <a:ext cx="1763105"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1510696" y="5367299"/>
            <a:ext cx="73152" cy="73152"/>
          </a:xfrm>
          <a:prstGeom prst="ellipse">
            <a:avLst/>
          </a:prstGeom>
          <a:solidFill>
            <a:srgbClr val="34D399"/>
          </a:solidFill>
          <a:ln/>
        </p:spPr>
      </p:sp>
      <p:sp>
        <p:nvSpPr>
          <p:cNvPr id="17" name="Text 13"/>
          <p:cNvSpPr txBox="1"/>
          <p:nvPr/>
        </p:nvSpPr>
        <p:spPr>
          <a:xfrm>
            <a:off x="1638712" y="5294147"/>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18" name="Text 14"/>
          <p:cNvSpPr txBox="1"/>
          <p:nvPr/>
        </p:nvSpPr>
        <p:spPr>
          <a:xfrm>
            <a:off x="3292089" y="5326151"/>
            <a:ext cx="1944729"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USDT-201 outline, 6 modules</a:t>
            </a:r>
            <a:endParaRPr lang="en-US" sz="1000" dirty="0"/>
          </a:p>
        </p:txBody>
      </p:sp>
      <p:sp>
        <p:nvSpPr>
          <p:cNvPr id="19" name="Text 15"/>
          <p:cNvSpPr txBox="1"/>
          <p:nvPr/>
        </p:nvSpPr>
        <p:spPr>
          <a:xfrm>
            <a:off x="1419256" y="5714771"/>
            <a:ext cx="3817562"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District orgs:</a:t>
            </a:r>
            <a:r>
              <a:rPr lang="en-US" sz="1400" dirty="0">
                <a:solidFill>
                  <a:srgbClr val="E8E8F0"/>
                </a:solidFill>
                <a:latin typeface="Arial" pitchFamily="34" charset="0"/>
                <a:ea typeface="Arial" pitchFamily="34" charset="-122"/>
                <a:cs typeface="Arial" pitchFamily="34" charset="-120"/>
              </a:rPr>
              <a:t> courses are built under e.g. CHRON-COMP, then linked to an academy</a:t>
            </a:r>
            <a:endParaRPr lang="en-US" sz="1400" dirty="0"/>
          </a:p>
        </p:txBody>
      </p:sp>
      <p:pic>
        <p:nvPicPr>
          <p:cNvPr id="20" name="Image 1" descr="/tmp/claude-0/-home-user-Chronopoli/d7458f57-86b2-5920-914e-8615357fee63/scratchpad/deck/framed/studio_editor.png">    </p:cNvPr>
          <p:cNvPicPr>
            <a:picLocks noChangeAspect="1"/>
          </p:cNvPicPr>
          <p:nvPr/>
        </p:nvPicPr>
        <p:blipFill>
          <a:blip r:embed="rId3"/>
          <a:stretch>
            <a:fillRect/>
          </a:stretch>
        </p:blipFill>
        <p:spPr>
          <a:xfrm>
            <a:off x="5456949" y="1850734"/>
            <a:ext cx="5461121" cy="3451883"/>
          </a:xfrm>
          <a:prstGeom prst="rect">
            <a:avLst/>
          </a:prstGeom>
        </p:spPr>
      </p:pic>
      <p:sp>
        <p:nvSpPr>
          <p:cNvPr id="21" name="Shape 16"/>
          <p:cNvSpPr/>
          <p:nvPr/>
        </p:nvSpPr>
        <p:spPr>
          <a:xfrm>
            <a:off x="5602578" y="5294147"/>
            <a:ext cx="1763105" cy="219456"/>
          </a:xfrm>
          <a:prstGeom prst="roundRect">
            <a:avLst>
              <a:gd name="adj" fmla="val 50000"/>
            </a:avLst>
          </a:prstGeom>
          <a:solidFill>
            <a:srgbClr val="1B1B27"/>
          </a:solidFill>
          <a:ln w="9525">
            <a:solidFill>
              <a:srgbClr val="3A3A50"/>
            </a:solidFill>
            <a:prstDash val="solid"/>
          </a:ln>
        </p:spPr>
      </p:sp>
      <p:sp>
        <p:nvSpPr>
          <p:cNvPr id="22" name="Shape 17"/>
          <p:cNvSpPr/>
          <p:nvPr/>
        </p:nvSpPr>
        <p:spPr>
          <a:xfrm>
            <a:off x="5694018" y="5367299"/>
            <a:ext cx="73152" cy="73152"/>
          </a:xfrm>
          <a:prstGeom prst="ellipse">
            <a:avLst/>
          </a:prstGeom>
          <a:solidFill>
            <a:srgbClr val="34D399"/>
          </a:solidFill>
          <a:ln/>
        </p:spPr>
      </p:sp>
      <p:sp>
        <p:nvSpPr>
          <p:cNvPr id="23" name="Text 18"/>
          <p:cNvSpPr txBox="1"/>
          <p:nvPr/>
        </p:nvSpPr>
        <p:spPr>
          <a:xfrm>
            <a:off x="5822034" y="5294147"/>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4" name="Text 19"/>
          <p:cNvSpPr txBox="1"/>
          <p:nvPr/>
        </p:nvSpPr>
        <p:spPr>
          <a:xfrm>
            <a:off x="7475412" y="5326151"/>
            <a:ext cx="3297027"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Rich-text editor, lesson 4.1</a:t>
            </a:r>
            <a:endParaRPr lang="en-US" sz="1000" dirty="0"/>
          </a:p>
        </p:txBody>
      </p:sp>
      <p:sp>
        <p:nvSpPr>
          <p:cNvPr id="25" name="Text 20"/>
          <p:cNvSpPr txBox="1"/>
          <p:nvPr/>
        </p:nvSpPr>
        <p:spPr>
          <a:xfrm>
            <a:off x="5602578" y="5714771"/>
            <a:ext cx="5169861" cy="557784"/>
          </a:xfrm>
          <a:prstGeom prst="rect">
            <a:avLst/>
          </a:prstGeom>
          <a:noFill/>
          <a:ln/>
        </p:spPr>
        <p:txBody>
          <a:bodyPr wrap="square" lIns="0" tIns="0" rIns="0" bIns="0" rtlCol="0" anchor="t"/>
          <a:lstStyle/>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Straight from Studio:</a:t>
            </a:r>
            <a:r>
              <a:rPr lang="en-US" sz="1400" dirty="0">
                <a:solidFill>
                  <a:srgbClr val="E8E8F0"/>
                </a:solidFill>
                <a:latin typeface="Arial" pitchFamily="34" charset="0"/>
                <a:ea typeface="Arial" pitchFamily="34" charset="-122"/>
                <a:cs typeface="Arial" pitchFamily="34" charset="-120"/>
              </a:rPr>
              <a:t> outline, editor, dates and grading</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No fork:</a:t>
            </a:r>
            <a:r>
              <a:rPr lang="en-US" sz="1400" dirty="0">
                <a:solidFill>
                  <a:srgbClr val="E8E8F0"/>
                </a:solidFill>
                <a:latin typeface="Arial" pitchFamily="34" charset="0"/>
                <a:ea typeface="Arial" pitchFamily="34" charset="-122"/>
                <a:cs typeface="Arial" pitchFamily="34" charset="-120"/>
              </a:rPr>
              <a:t> every upgrade improves authoring at no cost</a:t>
            </a:r>
            <a:endParaRPr lang="en-US" sz="1400" dirty="0"/>
          </a:p>
        </p:txBody>
      </p:sp>
      <p:sp>
        <p:nvSpPr>
          <p:cNvPr id="26" name="Text 21"/>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7" name="Text 22"/>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2170321"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932577"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MEASURE</a:t>
            </a:r>
            <a:endParaRPr lang="en-US" sz="900" dirty="0"/>
          </a:p>
        </p:txBody>
      </p:sp>
      <p:sp>
        <p:nvSpPr>
          <p:cNvPr id="5" name="Shape 2"/>
          <p:cNvSpPr/>
          <p:nvPr/>
        </p:nvSpPr>
        <p:spPr>
          <a:xfrm>
            <a:off x="2792113" y="470916"/>
            <a:ext cx="82296" cy="82296"/>
          </a:xfrm>
          <a:prstGeom prst="ellipse">
            <a:avLst/>
          </a:prstGeom>
          <a:solidFill>
            <a:srgbClr val="9B7A2E"/>
          </a:solidFill>
          <a:ln/>
        </p:spPr>
      </p:sp>
      <p:sp>
        <p:nvSpPr>
          <p:cNvPr id="6" name="Shape 3"/>
          <p:cNvSpPr/>
          <p:nvPr/>
        </p:nvSpPr>
        <p:spPr>
          <a:xfrm>
            <a:off x="2933845" y="470916"/>
            <a:ext cx="82296" cy="82296"/>
          </a:xfrm>
          <a:prstGeom prst="ellipse">
            <a:avLst/>
          </a:prstGeom>
          <a:solidFill>
            <a:srgbClr val="F0C96B"/>
          </a:solidFill>
          <a:ln/>
        </p:spPr>
      </p:sp>
      <p:sp>
        <p:nvSpPr>
          <p:cNvPr id="7" name="Shape 4"/>
          <p:cNvSpPr/>
          <p:nvPr/>
        </p:nvSpPr>
        <p:spPr>
          <a:xfrm>
            <a:off x="3075577" y="470916"/>
            <a:ext cx="82296" cy="82296"/>
          </a:xfrm>
          <a:prstGeom prst="ellipse">
            <a:avLst/>
          </a:prstGeom>
          <a:solidFill>
            <a:srgbClr val="34344A"/>
          </a:solidFill>
          <a:ln/>
        </p:spPr>
      </p:sp>
      <p:sp>
        <p:nvSpPr>
          <p:cNvPr id="8" name="Shape 5"/>
          <p:cNvSpPr/>
          <p:nvPr/>
        </p:nvSpPr>
        <p:spPr>
          <a:xfrm>
            <a:off x="3217309" y="470916"/>
            <a:ext cx="82296" cy="82296"/>
          </a:xfrm>
          <a:prstGeom prst="ellipse">
            <a:avLst/>
          </a:prstGeom>
          <a:solidFill>
            <a:srgbClr val="34344A"/>
          </a:solidFill>
          <a:ln/>
        </p:spPr>
      </p:sp>
      <p:sp>
        <p:nvSpPr>
          <p:cNvPr id="9" name="Shape 6"/>
          <p:cNvSpPr/>
          <p:nvPr/>
        </p:nvSpPr>
        <p:spPr>
          <a:xfrm>
            <a:off x="3359041" y="470916"/>
            <a:ext cx="82296" cy="82296"/>
          </a:xfrm>
          <a:prstGeom prst="ellipse">
            <a:avLst/>
          </a:prstGeom>
          <a:solidFill>
            <a:srgbClr val="34344A"/>
          </a:solidFill>
          <a:ln/>
        </p:spPr>
      </p:sp>
      <p:sp>
        <p:nvSpPr>
          <p:cNvPr id="10" name="Shape 7"/>
          <p:cNvSpPr/>
          <p:nvPr/>
        </p:nvSpPr>
        <p:spPr>
          <a:xfrm>
            <a:off x="3500773" y="470916"/>
            <a:ext cx="82296" cy="82296"/>
          </a:xfrm>
          <a:prstGeom prst="ellipse">
            <a:avLst/>
          </a:prstGeom>
          <a:solidFill>
            <a:srgbClr val="34344A"/>
          </a:solidFill>
          <a:ln/>
        </p:spPr>
      </p:sp>
      <p:sp>
        <p:nvSpPr>
          <p:cNvPr id="11" name="Text 8"/>
          <p:cNvSpPr txBox="1"/>
          <p:nvPr/>
        </p:nvSpPr>
        <p:spPr>
          <a:xfrm>
            <a:off x="3916825" y="384048"/>
            <a:ext cx="7817670"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Nadia Karim, academy admin (fictitious)</a:t>
            </a:r>
            <a:endParaRPr lang="en-US" sz="1050" dirty="0"/>
          </a:p>
        </p:txBody>
      </p:sp>
      <p:sp>
        <p:nvSpPr>
          <p:cNvPr id="12" name="Text 9"/>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A live cockpit for every partner</a:t>
            </a:r>
            <a:endParaRPr lang="en-US" sz="3600" dirty="0"/>
          </a:p>
        </p:txBody>
      </p:sp>
      <p:sp>
        <p:nvSpPr>
          <p:cNvPr id="13" name="Text 10"/>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Enrolments, completions, badges, revenue and intelligence reports, plus a weekly e-mail summary</a:t>
            </a:r>
            <a:endParaRPr lang="en-US" sz="1600" dirty="0"/>
          </a:p>
        </p:txBody>
      </p:sp>
      <p:pic>
        <p:nvPicPr>
          <p:cNvPr id="14" name="Image 0" descr="/tmp/claude-0/-home-user-Chronopoli/d7458f57-86b2-5920-914e-8615357fee63/scratchpad/deck/framed/partner_dash.png">    </p:cNvPr>
          <p:cNvPicPr>
            <a:picLocks noChangeAspect="1"/>
          </p:cNvPicPr>
          <p:nvPr/>
        </p:nvPicPr>
        <p:blipFill>
          <a:blip r:embed="rId2"/>
          <a:stretch>
            <a:fillRect/>
          </a:stretch>
        </p:blipFill>
        <p:spPr>
          <a:xfrm>
            <a:off x="289696" y="1738716"/>
            <a:ext cx="6335136" cy="4290092"/>
          </a:xfrm>
          <a:prstGeom prst="rect">
            <a:avLst/>
          </a:prstGeom>
        </p:spPr>
      </p:pic>
      <p:sp>
        <p:nvSpPr>
          <p:cNvPr id="15" name="Shape 11"/>
          <p:cNvSpPr/>
          <p:nvPr/>
        </p:nvSpPr>
        <p:spPr>
          <a:xfrm>
            <a:off x="457200" y="5998464"/>
            <a:ext cx="1495471"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548640" y="6071616"/>
            <a:ext cx="73152" cy="73152"/>
          </a:xfrm>
          <a:prstGeom prst="ellipse">
            <a:avLst/>
          </a:prstGeom>
          <a:solidFill>
            <a:srgbClr val="A9A9C6"/>
          </a:solidFill>
          <a:ln/>
        </p:spPr>
      </p:sp>
      <p:sp>
        <p:nvSpPr>
          <p:cNvPr id="17" name="Text 13"/>
          <p:cNvSpPr txBox="1"/>
          <p:nvPr/>
        </p:nvSpPr>
        <p:spPr>
          <a:xfrm>
            <a:off x="676656" y="5998464"/>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8" name="Text 14"/>
          <p:cNvSpPr txBox="1"/>
          <p:nvPr/>
        </p:nvSpPr>
        <p:spPr>
          <a:xfrm>
            <a:off x="2062399" y="6030468"/>
            <a:ext cx="439493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Partner dashboard (template not yet built) · Illustrative mock KPIs</a:t>
            </a:r>
            <a:endParaRPr lang="en-US" sz="1000" dirty="0"/>
          </a:p>
        </p:txBody>
      </p:sp>
      <p:pic>
        <p:nvPicPr>
          <p:cNvPr id="19" name="Image 1" descr="/tmp/claude-0/-home-user-Chronopoli/d7458f57-86b2-5920-914e-8615357fee63/scratchpad/deck/framed/instructor_dash.png">    </p:cNvPr>
          <p:cNvPicPr>
            <a:picLocks noChangeAspect="1"/>
          </p:cNvPicPr>
          <p:nvPr/>
        </p:nvPicPr>
        <p:blipFill>
          <a:blip r:embed="rId3"/>
          <a:stretch>
            <a:fillRect/>
          </a:stretch>
        </p:blipFill>
        <p:spPr>
          <a:xfrm>
            <a:off x="6732975" y="1770385"/>
            <a:ext cx="5137354" cy="2414597"/>
          </a:xfrm>
          <a:prstGeom prst="rect">
            <a:avLst/>
          </a:prstGeom>
        </p:spPr>
      </p:pic>
      <p:sp>
        <p:nvSpPr>
          <p:cNvPr id="20" name="Shape 15"/>
          <p:cNvSpPr/>
          <p:nvPr/>
        </p:nvSpPr>
        <p:spPr>
          <a:xfrm>
            <a:off x="6868809" y="4186309"/>
            <a:ext cx="1763105" cy="219456"/>
          </a:xfrm>
          <a:prstGeom prst="roundRect">
            <a:avLst>
              <a:gd name="adj" fmla="val 50000"/>
            </a:avLst>
          </a:prstGeom>
          <a:solidFill>
            <a:srgbClr val="1B1B27"/>
          </a:solidFill>
          <a:ln w="9525">
            <a:solidFill>
              <a:srgbClr val="3A3A50"/>
            </a:solidFill>
            <a:prstDash val="solid"/>
          </a:ln>
        </p:spPr>
      </p:sp>
      <p:sp>
        <p:nvSpPr>
          <p:cNvPr id="21" name="Shape 16"/>
          <p:cNvSpPr/>
          <p:nvPr/>
        </p:nvSpPr>
        <p:spPr>
          <a:xfrm>
            <a:off x="6960249" y="4259461"/>
            <a:ext cx="73152" cy="73152"/>
          </a:xfrm>
          <a:prstGeom prst="ellipse">
            <a:avLst/>
          </a:prstGeom>
          <a:solidFill>
            <a:srgbClr val="34D399"/>
          </a:solidFill>
          <a:ln/>
        </p:spPr>
      </p:sp>
      <p:sp>
        <p:nvSpPr>
          <p:cNvPr id="22" name="Text 17"/>
          <p:cNvSpPr txBox="1"/>
          <p:nvPr/>
        </p:nvSpPr>
        <p:spPr>
          <a:xfrm>
            <a:off x="7088265" y="4186309"/>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23" name="Text 18"/>
          <p:cNvSpPr txBox="1"/>
          <p:nvPr/>
        </p:nvSpPr>
        <p:spPr>
          <a:xfrm>
            <a:off x="8741642" y="4218313"/>
            <a:ext cx="2992853"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Instructor dashboard</a:t>
            </a:r>
            <a:endParaRPr lang="en-US" sz="1000" dirty="0"/>
          </a:p>
        </p:txBody>
      </p:sp>
      <p:sp>
        <p:nvSpPr>
          <p:cNvPr id="24" name="Text 19"/>
          <p:cNvSpPr txBox="1"/>
          <p:nvPr/>
        </p:nvSpPr>
        <p:spPr>
          <a:xfrm>
            <a:off x="6868809" y="4606933"/>
            <a:ext cx="4865687" cy="1350264"/>
          </a:xfrm>
          <a:prstGeom prst="rect">
            <a:avLst/>
          </a:prstGeom>
          <a:noFill/>
          <a:ln/>
        </p:spPr>
        <p:txBody>
          <a:bodyPr wrap="square" lIns="0" tIns="0" rIns="0" bIns="0" rtlCol="0" anchor="t"/>
          <a:lstStyle/>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KPIs:</a:t>
            </a:r>
            <a:r>
              <a:rPr lang="en-US" sz="1400" dirty="0">
                <a:solidFill>
                  <a:srgbClr val="E8E8F0"/>
                </a:solidFill>
                <a:latin typeface="Arial" pitchFamily="34" charset="0"/>
                <a:ea typeface="Arial" pitchFamily="34" charset="-122"/>
                <a:cs typeface="Arial" pitchFamily="34" charset="-120"/>
              </a:rPr>
              <a:t> enrolments by course and district, learner funnel</a:t>
            </a:r>
            <a:endParaRPr lang="en-US" sz="1400" dirty="0"/>
          </a:p>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Intelligence reports:</a:t>
            </a:r>
            <a:r>
              <a:rPr lang="en-US" sz="1400" dirty="0">
                <a:solidFill>
                  <a:srgbClr val="E8E8F0"/>
                </a:solidFill>
                <a:latin typeface="Arial" pitchFamily="34" charset="0"/>
                <a:ea typeface="Arial" pitchFamily="34" charset="-122"/>
                <a:cs typeface="Arial" pitchFamily="34" charset="-120"/>
              </a:rPr>
              <a:t> from round tables in its districts</a:t>
            </a:r>
            <a:endParaRPr lang="en-US" sz="1400" dirty="0"/>
          </a:p>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Weekly summary:</a:t>
            </a:r>
            <a:r>
              <a:rPr lang="en-US" sz="1400" dirty="0">
                <a:solidFill>
                  <a:srgbClr val="E8E8F0"/>
                </a:solidFill>
                <a:latin typeface="Arial" pitchFamily="34" charset="0"/>
                <a:ea typeface="Arial" pitchFamily="34" charset="-122"/>
                <a:cs typeface="Arial" pitchFamily="34" charset="-120"/>
              </a:rPr>
              <a:t> via Amazon SES, plus a JSON API</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From Open edX:</a:t>
            </a:r>
            <a:r>
              <a:rPr lang="en-US" sz="1400" dirty="0">
                <a:solidFill>
                  <a:srgbClr val="E8E8F0"/>
                </a:solidFill>
                <a:latin typeface="Arial" pitchFamily="34" charset="0"/>
                <a:ea typeface="Arial" pitchFamily="34" charset="-122"/>
                <a:cs typeface="Arial" pitchFamily="34" charset="-120"/>
              </a:rPr>
              <a:t> USDT-201 shows 812 enrolled, 520 verified (paid)</a:t>
            </a:r>
            <a:endParaRPr lang="en-US" sz="1400" dirty="0"/>
          </a:p>
        </p:txBody>
      </p:sp>
      <p:sp>
        <p:nvSpPr>
          <p:cNvPr id="25" name="Text 20"/>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6" name="Text 21"/>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2164011"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926267"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CONVENE</a:t>
            </a:r>
            <a:endParaRPr lang="en-US" sz="900" dirty="0"/>
          </a:p>
        </p:txBody>
      </p:sp>
      <p:sp>
        <p:nvSpPr>
          <p:cNvPr id="5" name="Shape 2"/>
          <p:cNvSpPr/>
          <p:nvPr/>
        </p:nvSpPr>
        <p:spPr>
          <a:xfrm>
            <a:off x="2785803" y="470916"/>
            <a:ext cx="82296" cy="82296"/>
          </a:xfrm>
          <a:prstGeom prst="ellipse">
            <a:avLst/>
          </a:prstGeom>
          <a:solidFill>
            <a:srgbClr val="9B7A2E"/>
          </a:solidFill>
          <a:ln/>
        </p:spPr>
      </p:sp>
      <p:sp>
        <p:nvSpPr>
          <p:cNvPr id="6" name="Shape 3"/>
          <p:cNvSpPr/>
          <p:nvPr/>
        </p:nvSpPr>
        <p:spPr>
          <a:xfrm>
            <a:off x="2927535" y="470916"/>
            <a:ext cx="82296" cy="82296"/>
          </a:xfrm>
          <a:prstGeom prst="ellipse">
            <a:avLst/>
          </a:prstGeom>
          <a:solidFill>
            <a:srgbClr val="9B7A2E"/>
          </a:solidFill>
          <a:ln/>
        </p:spPr>
      </p:sp>
      <p:sp>
        <p:nvSpPr>
          <p:cNvPr id="7" name="Shape 4"/>
          <p:cNvSpPr/>
          <p:nvPr/>
        </p:nvSpPr>
        <p:spPr>
          <a:xfrm>
            <a:off x="3069267" y="470916"/>
            <a:ext cx="82296" cy="82296"/>
          </a:xfrm>
          <a:prstGeom prst="ellipse">
            <a:avLst/>
          </a:prstGeom>
          <a:solidFill>
            <a:srgbClr val="F0C96B"/>
          </a:solidFill>
          <a:ln/>
        </p:spPr>
      </p:sp>
      <p:sp>
        <p:nvSpPr>
          <p:cNvPr id="8" name="Shape 5"/>
          <p:cNvSpPr/>
          <p:nvPr/>
        </p:nvSpPr>
        <p:spPr>
          <a:xfrm>
            <a:off x="3210999" y="470916"/>
            <a:ext cx="82296" cy="82296"/>
          </a:xfrm>
          <a:prstGeom prst="ellipse">
            <a:avLst/>
          </a:prstGeom>
          <a:solidFill>
            <a:srgbClr val="34344A"/>
          </a:solidFill>
          <a:ln/>
        </p:spPr>
      </p:sp>
      <p:sp>
        <p:nvSpPr>
          <p:cNvPr id="9" name="Shape 6"/>
          <p:cNvSpPr/>
          <p:nvPr/>
        </p:nvSpPr>
        <p:spPr>
          <a:xfrm>
            <a:off x="3352731" y="470916"/>
            <a:ext cx="82296" cy="82296"/>
          </a:xfrm>
          <a:prstGeom prst="ellipse">
            <a:avLst/>
          </a:prstGeom>
          <a:solidFill>
            <a:srgbClr val="34344A"/>
          </a:solidFill>
          <a:ln/>
        </p:spPr>
      </p:sp>
      <p:sp>
        <p:nvSpPr>
          <p:cNvPr id="10" name="Shape 7"/>
          <p:cNvSpPr/>
          <p:nvPr/>
        </p:nvSpPr>
        <p:spPr>
          <a:xfrm>
            <a:off x="3494463" y="470916"/>
            <a:ext cx="82296" cy="82296"/>
          </a:xfrm>
          <a:prstGeom prst="ellipse">
            <a:avLst/>
          </a:prstGeom>
          <a:solidFill>
            <a:srgbClr val="34344A"/>
          </a:solidFill>
          <a:ln/>
        </p:spPr>
      </p:sp>
      <p:sp>
        <p:nvSpPr>
          <p:cNvPr id="11" name="Text 8"/>
          <p:cNvSpPr txBox="1"/>
          <p:nvPr/>
        </p:nvSpPr>
        <p:spPr>
          <a:xfrm>
            <a:off x="3910515" y="384048"/>
            <a:ext cx="7823980"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as observer · Thu 12 Nov 2026, 16:00 GST (12:00 UTC) · Panelists and organisations are fictitious</a:t>
            </a:r>
            <a:endParaRPr lang="en-US" sz="1050" dirty="0"/>
          </a:p>
        </p:txBody>
      </p:sp>
      <p:sp>
        <p:nvSpPr>
          <p:cNvPr id="12" name="Text 9"/>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Symposia: closed-door round tables as a product</a:t>
            </a:r>
            <a:endParaRPr lang="en-US" sz="3600" dirty="0"/>
          </a:p>
        </p:txBody>
      </p:sp>
      <p:sp>
        <p:nvSpPr>
          <p:cNvPr id="13" name="Text 10"/>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Curated expert panels under the Chatham House Rule, streamed live on AWS IVS and tied to districts</a:t>
            </a:r>
            <a:endParaRPr lang="en-US" sz="1600" dirty="0"/>
          </a:p>
        </p:txBody>
      </p:sp>
      <p:pic>
        <p:nvPicPr>
          <p:cNvPr id="14" name="Image 0" descr="/tmp/claude-0/-home-user-Chronopoli/d7458f57-86b2-5920-914e-8615357fee63/scratchpad/deck/framed/symposia_list.png">    </p:cNvPr>
          <p:cNvPicPr>
            <a:picLocks noChangeAspect="1"/>
          </p:cNvPicPr>
          <p:nvPr/>
        </p:nvPicPr>
        <p:blipFill>
          <a:blip r:embed="rId2"/>
          <a:stretch>
            <a:fillRect/>
          </a:stretch>
        </p:blipFill>
        <p:spPr>
          <a:xfrm>
            <a:off x="340694" y="1865030"/>
            <a:ext cx="4367918" cy="4037464"/>
          </a:xfrm>
          <a:prstGeom prst="rect">
            <a:avLst/>
          </a:prstGeom>
        </p:spPr>
      </p:pic>
      <p:sp>
        <p:nvSpPr>
          <p:cNvPr id="15" name="Shape 11"/>
          <p:cNvSpPr/>
          <p:nvPr/>
        </p:nvSpPr>
        <p:spPr>
          <a:xfrm>
            <a:off x="457200" y="5923148"/>
            <a:ext cx="2591796"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548640" y="5996300"/>
            <a:ext cx="73152" cy="73152"/>
          </a:xfrm>
          <a:prstGeom prst="ellipse">
            <a:avLst/>
          </a:prstGeom>
          <a:solidFill>
            <a:srgbClr val="F0C96B"/>
          </a:solidFill>
          <a:ln/>
        </p:spPr>
      </p:sp>
      <p:sp>
        <p:nvSpPr>
          <p:cNvPr id="17" name="Text 13"/>
          <p:cNvSpPr txBox="1"/>
          <p:nvPr/>
        </p:nvSpPr>
        <p:spPr>
          <a:xfrm>
            <a:off x="676656" y="5923148"/>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18" name="Text 14"/>
          <p:cNvSpPr txBox="1"/>
          <p:nvPr/>
        </p:nvSpPr>
        <p:spPr>
          <a:xfrm>
            <a:off x="3158724" y="5955152"/>
            <a:ext cx="1433382"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Round-table list</a:t>
            </a:r>
            <a:endParaRPr lang="en-US" sz="1000" dirty="0"/>
          </a:p>
        </p:txBody>
      </p:sp>
      <p:pic>
        <p:nvPicPr>
          <p:cNvPr id="19" name="Image 1" descr="/tmp/claude-0/-home-user-Chronopoli/d7458f57-86b2-5920-914e-8615357fee63/scratchpad/deck/framed/symposium_detail.png">    </p:cNvPr>
          <p:cNvPicPr>
            <a:picLocks noChangeAspect="1"/>
          </p:cNvPicPr>
          <p:nvPr/>
        </p:nvPicPr>
        <p:blipFill>
          <a:blip r:embed="rId3"/>
          <a:stretch>
            <a:fillRect/>
          </a:stretch>
        </p:blipFill>
        <p:spPr>
          <a:xfrm>
            <a:off x="4848083" y="1871753"/>
            <a:ext cx="4115834" cy="4024016"/>
          </a:xfrm>
          <a:prstGeom prst="rect">
            <a:avLst/>
          </a:prstGeom>
        </p:spPr>
      </p:pic>
      <p:sp>
        <p:nvSpPr>
          <p:cNvPr id="20" name="Shape 15"/>
          <p:cNvSpPr/>
          <p:nvPr/>
        </p:nvSpPr>
        <p:spPr>
          <a:xfrm>
            <a:off x="4957865" y="5923148"/>
            <a:ext cx="2591796" cy="219456"/>
          </a:xfrm>
          <a:prstGeom prst="roundRect">
            <a:avLst>
              <a:gd name="adj" fmla="val 50000"/>
            </a:avLst>
          </a:prstGeom>
          <a:solidFill>
            <a:srgbClr val="1B1B27"/>
          </a:solidFill>
          <a:ln w="9525">
            <a:solidFill>
              <a:srgbClr val="3A3A50"/>
            </a:solidFill>
            <a:prstDash val="solid"/>
          </a:ln>
        </p:spPr>
      </p:sp>
      <p:sp>
        <p:nvSpPr>
          <p:cNvPr id="21" name="Shape 16"/>
          <p:cNvSpPr/>
          <p:nvPr/>
        </p:nvSpPr>
        <p:spPr>
          <a:xfrm>
            <a:off x="5049305" y="5996300"/>
            <a:ext cx="73152" cy="73152"/>
          </a:xfrm>
          <a:prstGeom prst="ellipse">
            <a:avLst/>
          </a:prstGeom>
          <a:solidFill>
            <a:srgbClr val="F0C96B"/>
          </a:solidFill>
          <a:ln/>
        </p:spPr>
      </p:sp>
      <p:sp>
        <p:nvSpPr>
          <p:cNvPr id="22" name="Text 17"/>
          <p:cNvSpPr txBox="1"/>
          <p:nvPr/>
        </p:nvSpPr>
        <p:spPr>
          <a:xfrm>
            <a:off x="5177321" y="5923148"/>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3" name="Text 18"/>
          <p:cNvSpPr txBox="1"/>
          <p:nvPr/>
        </p:nvSpPr>
        <p:spPr>
          <a:xfrm>
            <a:off x="7659389" y="5955152"/>
            <a:ext cx="1194746"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Agenda and panel</a:t>
            </a:r>
            <a:endParaRPr lang="en-US" sz="1000" dirty="0"/>
          </a:p>
        </p:txBody>
      </p:sp>
      <p:sp>
        <p:nvSpPr>
          <p:cNvPr id="24" name="Text 19"/>
          <p:cNvSpPr txBox="1"/>
          <p:nvPr/>
        </p:nvSpPr>
        <p:spPr>
          <a:xfrm>
            <a:off x="9265615" y="2809342"/>
            <a:ext cx="2468880" cy="2203704"/>
          </a:xfrm>
          <a:prstGeom prst="rect">
            <a:avLst/>
          </a:prstGeom>
          <a:noFill/>
          <a:ln/>
        </p:spPr>
        <p:txBody>
          <a:bodyPr wrap="square" lIns="0" tIns="0" rIns="0" bIns="0" rtlCol="0" anchor="t"/>
          <a:lstStyle/>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Lifecycle:</a:t>
            </a:r>
            <a:r>
              <a:rPr lang="en-US" sz="1400" dirty="0">
                <a:solidFill>
                  <a:srgbClr val="E8E8F0"/>
                </a:solidFill>
                <a:latin typeface="Arial" pitchFamily="34" charset="0"/>
                <a:ea typeface="Arial" pitchFamily="34" charset="-122"/>
                <a:cs typeface="Arial" pitchFamily="34" charset="-120"/>
              </a:rPr>
              <a:t> draft, open for invitations, confirmed, live, processing, published</a:t>
            </a:r>
            <a:endParaRPr lang="en-US" sz="1400" dirty="0"/>
          </a:p>
          <a:p>
            <a:pPr marL="165100" indent="-165100">
              <a:spcAft>
                <a:spcPts val="9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Invitations:</a:t>
            </a:r>
            <a:r>
              <a:rPr lang="en-US" sz="1400" dirty="0">
                <a:solidFill>
                  <a:srgbClr val="E8E8F0"/>
                </a:solidFill>
                <a:latin typeface="Arial" pitchFamily="34" charset="0"/>
                <a:ea typeface="Arial" pitchFamily="34" charset="-122"/>
                <a:cs typeface="Arial" pitchFamily="34" charset="-120"/>
              </a:rPr>
              <a:t> secure and expiring, with moderator, panelist and observer roles</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Partner report:</a:t>
            </a:r>
            <a:r>
              <a:rPr lang="en-US" sz="1400" dirty="0">
                <a:solidFill>
                  <a:srgbClr val="E8E8F0"/>
                </a:solidFill>
                <a:latin typeface="Arial" pitchFamily="34" charset="0"/>
                <a:ea typeface="Arial" pitchFamily="34" charset="-122"/>
                <a:cs typeface="Arial" pitchFamily="34" charset="-120"/>
              </a:rPr>
              <a:t> the sponsoring partner receives one after every session</a:t>
            </a:r>
            <a:endParaRPr lang="en-US" sz="1400" dirty="0"/>
          </a:p>
        </p:txBody>
      </p:sp>
      <p:sp>
        <p:nvSpPr>
          <p:cNvPr id="25" name="Text 20"/>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6" name="Text 21"/>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2100438"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862694"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PUBLISH</a:t>
            </a:r>
            <a:endParaRPr lang="en-US" sz="900" dirty="0"/>
          </a:p>
        </p:txBody>
      </p:sp>
      <p:sp>
        <p:nvSpPr>
          <p:cNvPr id="5" name="Shape 2"/>
          <p:cNvSpPr/>
          <p:nvPr/>
        </p:nvSpPr>
        <p:spPr>
          <a:xfrm>
            <a:off x="2722230" y="470916"/>
            <a:ext cx="82296" cy="82296"/>
          </a:xfrm>
          <a:prstGeom prst="ellipse">
            <a:avLst/>
          </a:prstGeom>
          <a:solidFill>
            <a:srgbClr val="9B7A2E"/>
          </a:solidFill>
          <a:ln/>
        </p:spPr>
      </p:sp>
      <p:sp>
        <p:nvSpPr>
          <p:cNvPr id="6" name="Shape 3"/>
          <p:cNvSpPr/>
          <p:nvPr/>
        </p:nvSpPr>
        <p:spPr>
          <a:xfrm>
            <a:off x="2863962" y="470916"/>
            <a:ext cx="82296" cy="82296"/>
          </a:xfrm>
          <a:prstGeom prst="ellipse">
            <a:avLst/>
          </a:prstGeom>
          <a:solidFill>
            <a:srgbClr val="9B7A2E"/>
          </a:solidFill>
          <a:ln/>
        </p:spPr>
      </p:sp>
      <p:sp>
        <p:nvSpPr>
          <p:cNvPr id="7" name="Shape 4"/>
          <p:cNvSpPr/>
          <p:nvPr/>
        </p:nvSpPr>
        <p:spPr>
          <a:xfrm>
            <a:off x="3005694" y="470916"/>
            <a:ext cx="82296" cy="82296"/>
          </a:xfrm>
          <a:prstGeom prst="ellipse">
            <a:avLst/>
          </a:prstGeom>
          <a:solidFill>
            <a:srgbClr val="9B7A2E"/>
          </a:solidFill>
          <a:ln/>
        </p:spPr>
      </p:sp>
      <p:sp>
        <p:nvSpPr>
          <p:cNvPr id="8" name="Shape 5"/>
          <p:cNvSpPr/>
          <p:nvPr/>
        </p:nvSpPr>
        <p:spPr>
          <a:xfrm>
            <a:off x="3147426" y="470916"/>
            <a:ext cx="82296" cy="82296"/>
          </a:xfrm>
          <a:prstGeom prst="ellipse">
            <a:avLst/>
          </a:prstGeom>
          <a:solidFill>
            <a:srgbClr val="F0C96B"/>
          </a:solidFill>
          <a:ln/>
        </p:spPr>
      </p:sp>
      <p:sp>
        <p:nvSpPr>
          <p:cNvPr id="9" name="Shape 6"/>
          <p:cNvSpPr/>
          <p:nvPr/>
        </p:nvSpPr>
        <p:spPr>
          <a:xfrm>
            <a:off x="3289158" y="470916"/>
            <a:ext cx="82296" cy="82296"/>
          </a:xfrm>
          <a:prstGeom prst="ellipse">
            <a:avLst/>
          </a:prstGeom>
          <a:solidFill>
            <a:srgbClr val="34344A"/>
          </a:solidFill>
          <a:ln/>
        </p:spPr>
      </p:sp>
      <p:sp>
        <p:nvSpPr>
          <p:cNvPr id="10" name="Shape 7"/>
          <p:cNvSpPr/>
          <p:nvPr/>
        </p:nvSpPr>
        <p:spPr>
          <a:xfrm>
            <a:off x="3430890" y="470916"/>
            <a:ext cx="82296" cy="82296"/>
          </a:xfrm>
          <a:prstGeom prst="ellipse">
            <a:avLst/>
          </a:prstGeom>
          <a:solidFill>
            <a:srgbClr val="34344A"/>
          </a:solidFill>
          <a:ln/>
        </p:spPr>
      </p:sp>
      <p:sp>
        <p:nvSpPr>
          <p:cNvPr id="11" name="Text 8"/>
          <p:cNvSpPr txBox="1"/>
          <p:nvPr/>
        </p:nvSpPr>
        <p:spPr>
          <a:xfrm>
            <a:off x="3846942" y="384048"/>
            <a:ext cx="7887553"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Dr. Amira Haddad, moderator (fictitious) · Mock output texts</a:t>
            </a:r>
            <a:endParaRPr lang="en-US" sz="1050" dirty="0"/>
          </a:p>
        </p:txBody>
      </p:sp>
      <p:sp>
        <p:nvSpPr>
          <p:cNvPr id="12" name="Text 9"/>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One session, six outputs, each approved by a person</a:t>
            </a:r>
            <a:endParaRPr lang="en-US" sz="3300" dirty="0"/>
          </a:p>
        </p:txBody>
      </p:sp>
      <p:sp>
        <p:nvSpPr>
          <p:cNvPr id="13" name="Text 10"/>
          <p:cNvSpPr txBox="1"/>
          <p:nvPr/>
        </p:nvSpPr>
        <p:spPr>
          <a:xfrm>
            <a:off x="8275320" y="770839"/>
            <a:ext cx="3459175" cy="9418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After the stream: Transcribe, then Claude on Bedrock, then an opinion paper, LinkedIn post, Instagram carousel and partner report</a:t>
            </a:r>
            <a:endParaRPr lang="en-US" sz="1500" dirty="0"/>
          </a:p>
        </p:txBody>
      </p:sp>
      <p:pic>
        <p:nvPicPr>
          <p:cNvPr id="14" name="Image 0" descr="/tmp/claude-0/-home-user-Chronopoli/d7458f57-86b2-5920-914e-8615357fee63/scratchpad/deck/framed/symposium_after.png">    </p:cNvPr>
          <p:cNvPicPr>
            <a:picLocks noChangeAspect="1"/>
          </p:cNvPicPr>
          <p:nvPr/>
        </p:nvPicPr>
        <p:blipFill>
          <a:blip r:embed="rId2"/>
          <a:stretch>
            <a:fillRect/>
          </a:stretch>
        </p:blipFill>
        <p:spPr>
          <a:xfrm>
            <a:off x="3006199" y="1968695"/>
            <a:ext cx="3889698" cy="3292161"/>
          </a:xfrm>
          <a:prstGeom prst="rect">
            <a:avLst/>
          </a:prstGeom>
        </p:spPr>
      </p:pic>
      <p:sp>
        <p:nvSpPr>
          <p:cNvPr id="15" name="Shape 11"/>
          <p:cNvSpPr/>
          <p:nvPr/>
        </p:nvSpPr>
        <p:spPr>
          <a:xfrm>
            <a:off x="3108960" y="5295255"/>
            <a:ext cx="2591796"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3200400" y="5368407"/>
            <a:ext cx="73152" cy="73152"/>
          </a:xfrm>
          <a:prstGeom prst="ellipse">
            <a:avLst/>
          </a:prstGeom>
          <a:solidFill>
            <a:srgbClr val="F0C96B"/>
          </a:solidFill>
          <a:ln/>
        </p:spPr>
      </p:sp>
      <p:sp>
        <p:nvSpPr>
          <p:cNvPr id="17" name="Text 13"/>
          <p:cNvSpPr txBox="1"/>
          <p:nvPr/>
        </p:nvSpPr>
        <p:spPr>
          <a:xfrm>
            <a:off x="3328416" y="5295255"/>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18" name="Text 14"/>
          <p:cNvSpPr txBox="1"/>
          <p:nvPr/>
        </p:nvSpPr>
        <p:spPr>
          <a:xfrm>
            <a:off x="5810484" y="5327259"/>
            <a:ext cx="982652"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Six outputs</a:t>
            </a:r>
            <a:endParaRPr lang="en-US" sz="1000" dirty="0"/>
          </a:p>
        </p:txBody>
      </p:sp>
      <p:sp>
        <p:nvSpPr>
          <p:cNvPr id="19" name="Text 15"/>
          <p:cNvSpPr txBox="1"/>
          <p:nvPr/>
        </p:nvSpPr>
        <p:spPr>
          <a:xfrm>
            <a:off x="3108960" y="5715879"/>
            <a:ext cx="3684176"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Sponsor report:</a:t>
            </a:r>
            <a:r>
              <a:rPr lang="en-US" sz="1400" dirty="0">
                <a:solidFill>
                  <a:srgbClr val="E8E8F0"/>
                </a:solidFill>
                <a:latin typeface="Arial" pitchFamily="34" charset="0"/>
                <a:ea typeface="Arial" pitchFamily="34" charset="-122"/>
                <a:cs typeface="Arial" pitchFamily="34" charset="-120"/>
              </a:rPr>
              <a:t> feeds the partner's dashboard</a:t>
            </a:r>
            <a:endParaRPr lang="en-US" sz="1400" dirty="0"/>
          </a:p>
        </p:txBody>
      </p:sp>
      <p:pic>
        <p:nvPicPr>
          <p:cNvPr id="20" name="Image 1" descr="/tmp/claude-0/-home-user-Chronopoli/d7458f57-86b2-5920-914e-8615357fee63/scratchpad/deck/framed/approval_queue.png">    </p:cNvPr>
          <p:cNvPicPr>
            <a:picLocks noChangeAspect="1"/>
          </p:cNvPicPr>
          <p:nvPr/>
        </p:nvPicPr>
        <p:blipFill>
          <a:blip r:embed="rId3"/>
          <a:stretch>
            <a:fillRect/>
          </a:stretch>
        </p:blipFill>
        <p:spPr>
          <a:xfrm>
            <a:off x="7031270" y="1943831"/>
            <a:ext cx="4830850" cy="3341889"/>
          </a:xfrm>
          <a:prstGeom prst="rect">
            <a:avLst/>
          </a:prstGeom>
        </p:spPr>
      </p:pic>
      <p:sp>
        <p:nvSpPr>
          <p:cNvPr id="21" name="Shape 16"/>
          <p:cNvSpPr/>
          <p:nvPr/>
        </p:nvSpPr>
        <p:spPr>
          <a:xfrm>
            <a:off x="7158896" y="5295255"/>
            <a:ext cx="2591796" cy="219456"/>
          </a:xfrm>
          <a:prstGeom prst="roundRect">
            <a:avLst>
              <a:gd name="adj" fmla="val 50000"/>
            </a:avLst>
          </a:prstGeom>
          <a:solidFill>
            <a:srgbClr val="1B1B27"/>
          </a:solidFill>
          <a:ln w="9525">
            <a:solidFill>
              <a:srgbClr val="3A3A50"/>
            </a:solidFill>
            <a:prstDash val="solid"/>
          </a:ln>
        </p:spPr>
      </p:sp>
      <p:sp>
        <p:nvSpPr>
          <p:cNvPr id="22" name="Shape 17"/>
          <p:cNvSpPr/>
          <p:nvPr/>
        </p:nvSpPr>
        <p:spPr>
          <a:xfrm>
            <a:off x="7250336" y="5368407"/>
            <a:ext cx="73152" cy="73152"/>
          </a:xfrm>
          <a:prstGeom prst="ellipse">
            <a:avLst/>
          </a:prstGeom>
          <a:solidFill>
            <a:srgbClr val="F0C96B"/>
          </a:solidFill>
          <a:ln/>
        </p:spPr>
      </p:sp>
      <p:sp>
        <p:nvSpPr>
          <p:cNvPr id="23" name="Text 18"/>
          <p:cNvSpPr txBox="1"/>
          <p:nvPr/>
        </p:nvSpPr>
        <p:spPr>
          <a:xfrm>
            <a:off x="7378352" y="5295255"/>
            <a:ext cx="2335764"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CHRONOPOLI TEMPLATE RENDER</a:t>
            </a:r>
            <a:endParaRPr lang="en-US" sz="800" dirty="0"/>
          </a:p>
        </p:txBody>
      </p:sp>
      <p:sp>
        <p:nvSpPr>
          <p:cNvPr id="24" name="Text 19"/>
          <p:cNvSpPr txBox="1"/>
          <p:nvPr/>
        </p:nvSpPr>
        <p:spPr>
          <a:xfrm>
            <a:off x="9860419" y="5327259"/>
            <a:ext cx="1874076"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Staff approval queue</a:t>
            </a:r>
            <a:endParaRPr lang="en-US" sz="1000" dirty="0"/>
          </a:p>
        </p:txBody>
      </p:sp>
      <p:sp>
        <p:nvSpPr>
          <p:cNvPr id="25" name="Text 20"/>
          <p:cNvSpPr txBox="1"/>
          <p:nvPr/>
        </p:nvSpPr>
        <p:spPr>
          <a:xfrm>
            <a:off x="7158896" y="5715879"/>
            <a:ext cx="4575600"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Approval:</a:t>
            </a:r>
            <a:r>
              <a:rPr lang="en-US" sz="1400" dirty="0">
                <a:solidFill>
                  <a:srgbClr val="E8E8F0"/>
                </a:solidFill>
                <a:latin typeface="Arial" pitchFamily="34" charset="0"/>
                <a:ea typeface="Arial" pitchFamily="34" charset="-122"/>
                <a:cs typeface="Arial" pitchFamily="34" charset="-120"/>
              </a:rPr>
              <a:t> nothing auto-publishes; Chatham House anonymisation is a go-live requirement</a:t>
            </a:r>
            <a:endParaRPr lang="en-US" sz="1400" dirty="0"/>
          </a:p>
        </p:txBody>
      </p:sp>
      <p:sp>
        <p:nvSpPr>
          <p:cNvPr id="26" name="Text 21"/>
          <p:cNvSpPr txBox="1"/>
          <p:nvPr/>
        </p:nvSpPr>
        <p:spPr>
          <a:xfrm>
            <a:off x="457200" y="2053168"/>
            <a:ext cx="2286000" cy="182880"/>
          </a:xfrm>
          <a:prstGeom prst="rect">
            <a:avLst/>
          </a:prstGeom>
          <a:noFill/>
          <a:ln/>
        </p:spPr>
        <p:txBody>
          <a:bodyPr wrap="square" lIns="0" tIns="0" rIns="0" bIns="0" rtlCol="0" anchor="t"/>
          <a:lstStyle/>
          <a:p>
            <a:pPr indent="0" marL="0">
              <a:buNone/>
            </a:pPr>
            <a:r>
              <a:rPr lang="en-US" sz="850" b="1" spc="120" kern="0" dirty="0">
                <a:solidFill>
                  <a:srgbClr val="8E8EA2"/>
                </a:solidFill>
                <a:latin typeface="Arial" pitchFamily="34" charset="0"/>
                <a:ea typeface="Arial" pitchFamily="34" charset="-122"/>
                <a:cs typeface="Arial" pitchFamily="34" charset="-120"/>
              </a:rPr>
              <a:t>PIPELINE STEPS (AWS)</a:t>
            </a:r>
            <a:endParaRPr lang="en-US" sz="850" dirty="0"/>
          </a:p>
        </p:txBody>
      </p:sp>
      <p:sp>
        <p:nvSpPr>
          <p:cNvPr id="27" name="Shape 22"/>
          <p:cNvSpPr/>
          <p:nvPr/>
        </p:nvSpPr>
        <p:spPr>
          <a:xfrm>
            <a:off x="1600200" y="2469220"/>
            <a:ext cx="0" cy="2565431"/>
          </a:xfrm>
          <a:prstGeom prst="line">
            <a:avLst/>
          </a:prstGeom>
          <a:noFill/>
          <a:ln w="15875">
            <a:solidFill>
              <a:srgbClr val="9B7A2E"/>
            </a:solidFill>
            <a:prstDash val="solid"/>
          </a:ln>
        </p:spPr>
      </p:sp>
      <p:sp>
        <p:nvSpPr>
          <p:cNvPr id="28" name="Shape 23"/>
          <p:cNvSpPr/>
          <p:nvPr/>
        </p:nvSpPr>
        <p:spPr>
          <a:xfrm>
            <a:off x="457200" y="2345776"/>
            <a:ext cx="2286000" cy="246888"/>
          </a:xfrm>
          <a:prstGeom prst="roundRect">
            <a:avLst>
              <a:gd name="adj" fmla="val 50000"/>
            </a:avLst>
          </a:prstGeom>
          <a:solidFill>
            <a:srgbClr val="1B1B27"/>
          </a:solidFill>
          <a:ln w="9525">
            <a:solidFill>
              <a:srgbClr val="3A3A50"/>
            </a:solidFill>
            <a:prstDash val="solid"/>
          </a:ln>
        </p:spPr>
      </p:sp>
      <p:sp>
        <p:nvSpPr>
          <p:cNvPr id="29" name="Text 24"/>
          <p:cNvSpPr txBox="1"/>
          <p:nvPr/>
        </p:nvSpPr>
        <p:spPr>
          <a:xfrm>
            <a:off x="457200" y="2345776"/>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IVS recording to S3</a:t>
            </a:r>
            <a:endParaRPr lang="en-US" sz="950" dirty="0"/>
          </a:p>
        </p:txBody>
      </p:sp>
      <p:sp>
        <p:nvSpPr>
          <p:cNvPr id="30" name="Shape 25"/>
          <p:cNvSpPr/>
          <p:nvPr/>
        </p:nvSpPr>
        <p:spPr>
          <a:xfrm>
            <a:off x="457200" y="2712266"/>
            <a:ext cx="2286000" cy="246888"/>
          </a:xfrm>
          <a:prstGeom prst="roundRect">
            <a:avLst>
              <a:gd name="adj" fmla="val 50000"/>
            </a:avLst>
          </a:prstGeom>
          <a:solidFill>
            <a:srgbClr val="1B1B27"/>
          </a:solidFill>
          <a:ln w="9525">
            <a:solidFill>
              <a:srgbClr val="3A3A50"/>
            </a:solidFill>
            <a:prstDash val="solid"/>
          </a:ln>
        </p:spPr>
      </p:sp>
      <p:sp>
        <p:nvSpPr>
          <p:cNvPr id="31" name="Text 26"/>
          <p:cNvSpPr txBox="1"/>
          <p:nvPr/>
        </p:nvSpPr>
        <p:spPr>
          <a:xfrm>
            <a:off x="457200" y="2712266"/>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EventBridge</a:t>
            </a:r>
            <a:endParaRPr lang="en-US" sz="950" dirty="0"/>
          </a:p>
        </p:txBody>
      </p:sp>
      <p:sp>
        <p:nvSpPr>
          <p:cNvPr id="32" name="Shape 27"/>
          <p:cNvSpPr/>
          <p:nvPr/>
        </p:nvSpPr>
        <p:spPr>
          <a:xfrm>
            <a:off x="457200" y="3078756"/>
            <a:ext cx="2286000" cy="246888"/>
          </a:xfrm>
          <a:prstGeom prst="roundRect">
            <a:avLst>
              <a:gd name="adj" fmla="val 50000"/>
            </a:avLst>
          </a:prstGeom>
          <a:solidFill>
            <a:srgbClr val="1B1B27"/>
          </a:solidFill>
          <a:ln w="9525">
            <a:solidFill>
              <a:srgbClr val="3A3A50"/>
            </a:solidFill>
            <a:prstDash val="solid"/>
          </a:ln>
        </p:spPr>
      </p:sp>
      <p:sp>
        <p:nvSpPr>
          <p:cNvPr id="33" name="Text 28"/>
          <p:cNvSpPr txBox="1"/>
          <p:nvPr/>
        </p:nvSpPr>
        <p:spPr>
          <a:xfrm>
            <a:off x="457200" y="3078756"/>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Step Functions</a:t>
            </a:r>
            <a:endParaRPr lang="en-US" sz="950" dirty="0"/>
          </a:p>
        </p:txBody>
      </p:sp>
      <p:sp>
        <p:nvSpPr>
          <p:cNvPr id="34" name="Shape 29"/>
          <p:cNvSpPr/>
          <p:nvPr/>
        </p:nvSpPr>
        <p:spPr>
          <a:xfrm>
            <a:off x="457200" y="3445247"/>
            <a:ext cx="2286000" cy="246888"/>
          </a:xfrm>
          <a:prstGeom prst="roundRect">
            <a:avLst>
              <a:gd name="adj" fmla="val 50000"/>
            </a:avLst>
          </a:prstGeom>
          <a:solidFill>
            <a:srgbClr val="1B1B27"/>
          </a:solidFill>
          <a:ln w="9525">
            <a:solidFill>
              <a:srgbClr val="3A3A50"/>
            </a:solidFill>
            <a:prstDash val="solid"/>
          </a:ln>
        </p:spPr>
      </p:sp>
      <p:sp>
        <p:nvSpPr>
          <p:cNvPr id="35" name="Text 30"/>
          <p:cNvSpPr txBox="1"/>
          <p:nvPr/>
        </p:nvSpPr>
        <p:spPr>
          <a:xfrm>
            <a:off x="457200" y="3445247"/>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Amazon Transcribe</a:t>
            </a:r>
            <a:endParaRPr lang="en-US" sz="950" dirty="0"/>
          </a:p>
        </p:txBody>
      </p:sp>
      <p:sp>
        <p:nvSpPr>
          <p:cNvPr id="36" name="Shape 31"/>
          <p:cNvSpPr/>
          <p:nvPr/>
        </p:nvSpPr>
        <p:spPr>
          <a:xfrm>
            <a:off x="457200" y="3811737"/>
            <a:ext cx="2286000" cy="246888"/>
          </a:xfrm>
          <a:prstGeom prst="roundRect">
            <a:avLst>
              <a:gd name="adj" fmla="val 50000"/>
            </a:avLst>
          </a:prstGeom>
          <a:solidFill>
            <a:srgbClr val="1B1B27"/>
          </a:solidFill>
          <a:ln w="9525">
            <a:solidFill>
              <a:srgbClr val="3A3A50"/>
            </a:solidFill>
            <a:prstDash val="solid"/>
          </a:ln>
        </p:spPr>
      </p:sp>
      <p:sp>
        <p:nvSpPr>
          <p:cNvPr id="37" name="Text 32"/>
          <p:cNvSpPr txBox="1"/>
          <p:nvPr/>
        </p:nvSpPr>
        <p:spPr>
          <a:xfrm>
            <a:off x="457200" y="3811737"/>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Claude analysis on Bedrock</a:t>
            </a:r>
            <a:endParaRPr lang="en-US" sz="950" dirty="0"/>
          </a:p>
        </p:txBody>
      </p:sp>
      <p:sp>
        <p:nvSpPr>
          <p:cNvPr id="38" name="Shape 33"/>
          <p:cNvSpPr/>
          <p:nvPr/>
        </p:nvSpPr>
        <p:spPr>
          <a:xfrm>
            <a:off x="457200" y="4178227"/>
            <a:ext cx="2286000" cy="246888"/>
          </a:xfrm>
          <a:prstGeom prst="roundRect">
            <a:avLst>
              <a:gd name="adj" fmla="val 50000"/>
            </a:avLst>
          </a:prstGeom>
          <a:solidFill>
            <a:srgbClr val="1B1B27"/>
          </a:solidFill>
          <a:ln w="9525">
            <a:solidFill>
              <a:srgbClr val="3A3A50"/>
            </a:solidFill>
            <a:prstDash val="solid"/>
          </a:ln>
        </p:spPr>
      </p:sp>
      <p:sp>
        <p:nvSpPr>
          <p:cNvPr id="39" name="Text 34"/>
          <p:cNvSpPr txBox="1"/>
          <p:nvPr/>
        </p:nvSpPr>
        <p:spPr>
          <a:xfrm>
            <a:off x="457200" y="4178227"/>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4 parallel generators</a:t>
            </a:r>
            <a:endParaRPr lang="en-US" sz="950" dirty="0"/>
          </a:p>
        </p:txBody>
      </p:sp>
      <p:sp>
        <p:nvSpPr>
          <p:cNvPr id="40" name="Shape 35"/>
          <p:cNvSpPr/>
          <p:nvPr/>
        </p:nvSpPr>
        <p:spPr>
          <a:xfrm>
            <a:off x="457200" y="4544717"/>
            <a:ext cx="2286000" cy="246888"/>
          </a:xfrm>
          <a:prstGeom prst="roundRect">
            <a:avLst>
              <a:gd name="adj" fmla="val 50000"/>
            </a:avLst>
          </a:prstGeom>
          <a:solidFill>
            <a:srgbClr val="1B1B27"/>
          </a:solidFill>
          <a:ln w="9525">
            <a:solidFill>
              <a:srgbClr val="3A3A50"/>
            </a:solidFill>
            <a:prstDash val="solid"/>
          </a:ln>
        </p:spPr>
      </p:sp>
      <p:sp>
        <p:nvSpPr>
          <p:cNvPr id="41" name="Text 36"/>
          <p:cNvSpPr txBox="1"/>
          <p:nvPr/>
        </p:nvSpPr>
        <p:spPr>
          <a:xfrm>
            <a:off x="457200" y="4544717"/>
            <a:ext cx="2286000" cy="246888"/>
          </a:xfrm>
          <a:prstGeom prst="rect">
            <a:avLst/>
          </a:prstGeom>
          <a:noFill/>
          <a:ln/>
        </p:spPr>
        <p:txBody>
          <a:bodyPr wrap="square" lIns="0" tIns="0" rIns="0" bIns="0" rtlCol="0" anchor="ctr"/>
          <a:lstStyle/>
          <a:p>
            <a:pPr algn="ctr" indent="0" marL="0">
              <a:buNone/>
            </a:pPr>
            <a:r>
              <a:rPr lang="en-US" sz="950" b="1" dirty="0">
                <a:solidFill>
                  <a:srgbClr val="E8E8F0"/>
                </a:solidFill>
                <a:latin typeface="Arial" pitchFamily="34" charset="0"/>
                <a:ea typeface="Arial" pitchFamily="34" charset="-122"/>
                <a:cs typeface="Arial" pitchFamily="34" charset="-120"/>
              </a:rPr>
              <a:t>SQS approval queue</a:t>
            </a:r>
            <a:endParaRPr lang="en-US" sz="950" dirty="0"/>
          </a:p>
        </p:txBody>
      </p:sp>
      <p:sp>
        <p:nvSpPr>
          <p:cNvPr id="42" name="Shape 37"/>
          <p:cNvSpPr/>
          <p:nvPr/>
        </p:nvSpPr>
        <p:spPr>
          <a:xfrm>
            <a:off x="457200" y="4911207"/>
            <a:ext cx="2286000" cy="246888"/>
          </a:xfrm>
          <a:prstGeom prst="roundRect">
            <a:avLst>
              <a:gd name="adj" fmla="val 50000"/>
            </a:avLst>
          </a:prstGeom>
          <a:solidFill>
            <a:srgbClr val="231E12"/>
          </a:solidFill>
          <a:ln w="9525">
            <a:solidFill>
              <a:srgbClr val="C9A84C"/>
            </a:solidFill>
            <a:prstDash val="solid"/>
          </a:ln>
        </p:spPr>
      </p:sp>
      <p:sp>
        <p:nvSpPr>
          <p:cNvPr id="43" name="Text 38"/>
          <p:cNvSpPr txBox="1"/>
          <p:nvPr/>
        </p:nvSpPr>
        <p:spPr>
          <a:xfrm>
            <a:off x="457200" y="4911207"/>
            <a:ext cx="2286000" cy="246888"/>
          </a:xfrm>
          <a:prstGeom prst="rect">
            <a:avLst/>
          </a:prstGeom>
          <a:noFill/>
          <a:ln/>
        </p:spPr>
        <p:txBody>
          <a:bodyPr wrap="square" lIns="0" tIns="0" rIns="0" bIns="0" rtlCol="0" anchor="ctr"/>
          <a:lstStyle/>
          <a:p>
            <a:pPr algn="ctr" indent="0" marL="0">
              <a:buNone/>
            </a:pPr>
            <a:r>
              <a:rPr lang="en-US" sz="950" b="1" dirty="0">
                <a:solidFill>
                  <a:srgbClr val="F0C96B"/>
                </a:solidFill>
                <a:latin typeface="Arial" pitchFamily="34" charset="0"/>
                <a:ea typeface="Arial" pitchFamily="34" charset="-122"/>
                <a:cs typeface="Arial" pitchFamily="34" charset="-120"/>
              </a:rPr>
              <a:t>Moderator approval</a:t>
            </a:r>
            <a:endParaRPr lang="en-US" sz="950" dirty="0"/>
          </a:p>
        </p:txBody>
      </p:sp>
      <p:sp>
        <p:nvSpPr>
          <p:cNvPr id="44" name="Text 39"/>
          <p:cNvSpPr txBox="1"/>
          <p:nvPr/>
        </p:nvSpPr>
        <p:spPr>
          <a:xfrm>
            <a:off x="457200" y="5715879"/>
            <a:ext cx="2286000"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Pipeline:</a:t>
            </a:r>
            <a:r>
              <a:rPr lang="en-US" sz="1400" dirty="0">
                <a:solidFill>
                  <a:srgbClr val="E8E8F0"/>
                </a:solidFill>
                <a:latin typeface="Arial" pitchFamily="34" charset="0"/>
                <a:ea typeface="Arial" pitchFamily="34" charset="-122"/>
                <a:cs typeface="Arial" pitchFamily="34" charset="-120"/>
              </a:rPr>
              <a:t> Step Functions runs 8 Lambda functions</a:t>
            </a:r>
            <a:endParaRPr lang="en-US" sz="1400" dirty="0"/>
          </a:p>
        </p:txBody>
      </p:sp>
      <p:sp>
        <p:nvSpPr>
          <p:cNvPr id="45" name="Text 40"/>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46" name="Text 41"/>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252969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229195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MASTERCLASS</a:t>
            </a:r>
            <a:endParaRPr lang="en-US" sz="900" dirty="0"/>
          </a:p>
        </p:txBody>
      </p:sp>
      <p:sp>
        <p:nvSpPr>
          <p:cNvPr id="5" name="Shape 2"/>
          <p:cNvSpPr/>
          <p:nvPr/>
        </p:nvSpPr>
        <p:spPr>
          <a:xfrm>
            <a:off x="3151487" y="470916"/>
            <a:ext cx="82296" cy="82296"/>
          </a:xfrm>
          <a:prstGeom prst="ellipse">
            <a:avLst/>
          </a:prstGeom>
          <a:solidFill>
            <a:srgbClr val="9B7A2E"/>
          </a:solidFill>
          <a:ln/>
        </p:spPr>
      </p:sp>
      <p:sp>
        <p:nvSpPr>
          <p:cNvPr id="6" name="Shape 3"/>
          <p:cNvSpPr/>
          <p:nvPr/>
        </p:nvSpPr>
        <p:spPr>
          <a:xfrm>
            <a:off x="3293219" y="470916"/>
            <a:ext cx="82296" cy="82296"/>
          </a:xfrm>
          <a:prstGeom prst="ellipse">
            <a:avLst/>
          </a:prstGeom>
          <a:solidFill>
            <a:srgbClr val="9B7A2E"/>
          </a:solidFill>
          <a:ln/>
        </p:spPr>
      </p:sp>
      <p:sp>
        <p:nvSpPr>
          <p:cNvPr id="7" name="Shape 4"/>
          <p:cNvSpPr/>
          <p:nvPr/>
        </p:nvSpPr>
        <p:spPr>
          <a:xfrm>
            <a:off x="3434951" y="470916"/>
            <a:ext cx="82296" cy="82296"/>
          </a:xfrm>
          <a:prstGeom prst="ellipse">
            <a:avLst/>
          </a:prstGeom>
          <a:solidFill>
            <a:srgbClr val="9B7A2E"/>
          </a:solidFill>
          <a:ln/>
        </p:spPr>
      </p:sp>
      <p:sp>
        <p:nvSpPr>
          <p:cNvPr id="8" name="Shape 5"/>
          <p:cNvSpPr/>
          <p:nvPr/>
        </p:nvSpPr>
        <p:spPr>
          <a:xfrm>
            <a:off x="3576683" y="470916"/>
            <a:ext cx="82296" cy="82296"/>
          </a:xfrm>
          <a:prstGeom prst="ellipse">
            <a:avLst/>
          </a:prstGeom>
          <a:solidFill>
            <a:srgbClr val="9B7A2E"/>
          </a:solidFill>
          <a:ln/>
        </p:spPr>
      </p:sp>
      <p:sp>
        <p:nvSpPr>
          <p:cNvPr id="9" name="Shape 6"/>
          <p:cNvSpPr/>
          <p:nvPr/>
        </p:nvSpPr>
        <p:spPr>
          <a:xfrm>
            <a:off x="3718415" y="470916"/>
            <a:ext cx="82296" cy="82296"/>
          </a:xfrm>
          <a:prstGeom prst="ellipse">
            <a:avLst/>
          </a:prstGeom>
          <a:solidFill>
            <a:srgbClr val="F0C96B"/>
          </a:solidFill>
          <a:ln/>
        </p:spPr>
      </p:sp>
      <p:sp>
        <p:nvSpPr>
          <p:cNvPr id="10" name="Shape 7"/>
          <p:cNvSpPr/>
          <p:nvPr/>
        </p:nvSpPr>
        <p:spPr>
          <a:xfrm>
            <a:off x="3860147" y="470916"/>
            <a:ext cx="82296" cy="82296"/>
          </a:xfrm>
          <a:prstGeom prst="ellipse">
            <a:avLst/>
          </a:prstGeom>
          <a:solidFill>
            <a:srgbClr val="34344A"/>
          </a:solidFill>
          <a:ln/>
        </p:spPr>
      </p:sp>
      <p:sp>
        <p:nvSpPr>
          <p:cNvPr id="11" name="Text 8"/>
          <p:cNvSpPr txBox="1"/>
          <p:nvPr/>
        </p:nvSpPr>
        <p:spPr>
          <a:xfrm>
            <a:off x="4276199" y="384048"/>
            <a:ext cx="7458296"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Personas: Dr. Amira Haddad (staff), Layla (viewer) · The expert is fictitious</a:t>
            </a:r>
            <a:endParaRPr lang="en-US" sz="1050" dirty="0"/>
          </a:p>
        </p:txBody>
      </p:sp>
      <p:sp>
        <p:nvSpPr>
          <p:cNvPr id="12" name="Text 9"/>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Digital-twin masterclasses: scale an expert, with consent</a:t>
            </a:r>
            <a:endParaRPr lang="en-US" sz="3300" dirty="0"/>
          </a:p>
        </p:txBody>
      </p:sp>
      <p:sp>
        <p:nvSpPr>
          <p:cNvPr id="13" name="Text 10"/>
          <p:cNvSpPr txBox="1"/>
          <p:nvPr/>
        </p:nvSpPr>
        <p:spPr>
          <a:xfrm>
            <a:off x="8275320" y="770839"/>
            <a:ext cx="3459175" cy="9418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An AI twin built from the expert's own published work, which prepares questions for the expert to approve and can teach live</a:t>
            </a:r>
            <a:endParaRPr lang="en-US" sz="1500" dirty="0"/>
          </a:p>
        </p:txBody>
      </p:sp>
      <p:pic>
        <p:nvPicPr>
          <p:cNvPr id="14" name="Image 0" descr="/tmp/claude-0/-home-user-Chronopoli/d7458f57-86b2-5920-914e-8615357fee63/scratchpad/deck/framed/digital_twin.png">    </p:cNvPr>
          <p:cNvPicPr>
            <a:picLocks noChangeAspect="1"/>
          </p:cNvPicPr>
          <p:nvPr/>
        </p:nvPicPr>
        <p:blipFill>
          <a:blip r:embed="rId2"/>
          <a:stretch>
            <a:fillRect/>
          </a:stretch>
        </p:blipFill>
        <p:spPr>
          <a:xfrm>
            <a:off x="798483" y="1862238"/>
            <a:ext cx="5212360" cy="3505076"/>
          </a:xfrm>
          <a:prstGeom prst="rect">
            <a:avLst/>
          </a:prstGeom>
        </p:spPr>
      </p:pic>
      <p:sp>
        <p:nvSpPr>
          <p:cNvPr id="15" name="Shape 11"/>
          <p:cNvSpPr/>
          <p:nvPr/>
        </p:nvSpPr>
        <p:spPr>
          <a:xfrm>
            <a:off x="936300" y="5366656"/>
            <a:ext cx="1495471"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1027740" y="5439808"/>
            <a:ext cx="73152" cy="73152"/>
          </a:xfrm>
          <a:prstGeom prst="ellipse">
            <a:avLst/>
          </a:prstGeom>
          <a:solidFill>
            <a:srgbClr val="A9A9C6"/>
          </a:solidFill>
          <a:ln/>
        </p:spPr>
      </p:sp>
      <p:sp>
        <p:nvSpPr>
          <p:cNvPr id="17" name="Text 13"/>
          <p:cNvSpPr txBox="1"/>
          <p:nvPr/>
        </p:nvSpPr>
        <p:spPr>
          <a:xfrm>
            <a:off x="1155756" y="5366656"/>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8" name="Text 14"/>
          <p:cNvSpPr txBox="1"/>
          <p:nvPr/>
        </p:nvSpPr>
        <p:spPr>
          <a:xfrm>
            <a:off x="2541499" y="5398660"/>
            <a:ext cx="3331528"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Twin staff view (template not yet built)</a:t>
            </a:r>
            <a:endParaRPr lang="en-US" sz="1000" dirty="0"/>
          </a:p>
        </p:txBody>
      </p:sp>
      <p:sp>
        <p:nvSpPr>
          <p:cNvPr id="19" name="Text 15"/>
          <p:cNvSpPr txBox="1"/>
          <p:nvPr/>
        </p:nvSpPr>
        <p:spPr>
          <a:xfrm>
            <a:off x="936300" y="5787280"/>
            <a:ext cx="4936726"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Built from the expert's own work:</a:t>
            </a:r>
            <a:r>
              <a:rPr lang="en-US" sz="1400" dirty="0">
                <a:solidFill>
                  <a:srgbClr val="E8E8F0"/>
                </a:solidFill>
                <a:latin typeface="Arial" pitchFamily="34" charset="0"/>
                <a:ea typeface="Arial" pitchFamily="34" charset="-122"/>
                <a:cs typeface="Arial" pitchFamily="34" charset="-120"/>
              </a:rPr>
              <a:t> Textract and Claude map positions; the expert approves every question</a:t>
            </a:r>
            <a:endParaRPr lang="en-US" sz="1400" dirty="0"/>
          </a:p>
        </p:txBody>
      </p:sp>
      <p:pic>
        <p:nvPicPr>
          <p:cNvPr id="20" name="Image 1" descr="/tmp/claude-0/-home-user-Chronopoli/d7458f57-86b2-5920-914e-8615357fee63/scratchpad/deck/framed/masterclass.png">    </p:cNvPr>
          <p:cNvPicPr>
            <a:picLocks noChangeAspect="1"/>
          </p:cNvPicPr>
          <p:nvPr/>
        </p:nvPicPr>
        <p:blipFill>
          <a:blip r:embed="rId3"/>
          <a:stretch>
            <a:fillRect/>
          </a:stretch>
        </p:blipFill>
        <p:spPr>
          <a:xfrm>
            <a:off x="6098739" y="1860008"/>
            <a:ext cx="5296703" cy="3509536"/>
          </a:xfrm>
          <a:prstGeom prst="rect">
            <a:avLst/>
          </a:prstGeom>
        </p:spPr>
      </p:pic>
      <p:sp>
        <p:nvSpPr>
          <p:cNvPr id="21" name="Shape 16"/>
          <p:cNvSpPr/>
          <p:nvPr/>
        </p:nvSpPr>
        <p:spPr>
          <a:xfrm>
            <a:off x="6238786" y="5366656"/>
            <a:ext cx="1495471" cy="219456"/>
          </a:xfrm>
          <a:prstGeom prst="roundRect">
            <a:avLst>
              <a:gd name="adj" fmla="val 50000"/>
            </a:avLst>
          </a:prstGeom>
          <a:solidFill>
            <a:srgbClr val="1B1B27"/>
          </a:solidFill>
          <a:ln w="9525">
            <a:solidFill>
              <a:srgbClr val="3A3A50"/>
            </a:solidFill>
            <a:prstDash val="solid"/>
          </a:ln>
        </p:spPr>
      </p:sp>
      <p:sp>
        <p:nvSpPr>
          <p:cNvPr id="22" name="Shape 17"/>
          <p:cNvSpPr/>
          <p:nvPr/>
        </p:nvSpPr>
        <p:spPr>
          <a:xfrm>
            <a:off x="6330226" y="5439808"/>
            <a:ext cx="73152" cy="73152"/>
          </a:xfrm>
          <a:prstGeom prst="ellipse">
            <a:avLst/>
          </a:prstGeom>
          <a:solidFill>
            <a:srgbClr val="A9A9C6"/>
          </a:solidFill>
          <a:ln/>
        </p:spPr>
      </p:sp>
      <p:sp>
        <p:nvSpPr>
          <p:cNvPr id="23" name="Text 18"/>
          <p:cNvSpPr txBox="1"/>
          <p:nvPr/>
        </p:nvSpPr>
        <p:spPr>
          <a:xfrm>
            <a:off x="6458242" y="5366656"/>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24" name="Text 19"/>
          <p:cNvSpPr txBox="1"/>
          <p:nvPr/>
        </p:nvSpPr>
        <p:spPr>
          <a:xfrm>
            <a:off x="7843985" y="5398660"/>
            <a:ext cx="3411410"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Live masterclass, 10 Nov 2026 (template not yet built)</a:t>
            </a:r>
            <a:endParaRPr lang="en-US" sz="1000" dirty="0"/>
          </a:p>
        </p:txBody>
      </p:sp>
      <p:sp>
        <p:nvSpPr>
          <p:cNvPr id="25" name="Text 20"/>
          <p:cNvSpPr txBox="1"/>
          <p:nvPr/>
        </p:nvSpPr>
        <p:spPr>
          <a:xfrm>
            <a:off x="6238786" y="5787280"/>
            <a:ext cx="5016609"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Live with consent:</a:t>
            </a:r>
            <a:r>
              <a:rPr lang="en-US" sz="1400" dirty="0">
                <a:solidFill>
                  <a:srgbClr val="E8E8F0"/>
                </a:solidFill>
                <a:latin typeface="Arial" pitchFamily="34" charset="0"/>
                <a:ea typeface="Arial" pitchFamily="34" charset="-122"/>
                <a:cs typeface="Arial" pitchFamily="34" charset="-120"/>
              </a:rPr>
              <a:t> AI-disclosed voice and avatar; written expert consent (a go-live requirement)</a:t>
            </a:r>
            <a:endParaRPr lang="en-US" sz="1400" dirty="0"/>
          </a:p>
        </p:txBody>
      </p:sp>
      <p:sp>
        <p:nvSpPr>
          <p:cNvPr id="26" name="Text 21"/>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7" name="Text 22"/>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876913"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639169"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EARN</a:t>
            </a:r>
            <a:endParaRPr lang="en-US" sz="900" dirty="0"/>
          </a:p>
        </p:txBody>
      </p:sp>
      <p:sp>
        <p:nvSpPr>
          <p:cNvPr id="5" name="Shape 2"/>
          <p:cNvSpPr/>
          <p:nvPr/>
        </p:nvSpPr>
        <p:spPr>
          <a:xfrm>
            <a:off x="2498705" y="470916"/>
            <a:ext cx="82296" cy="82296"/>
          </a:xfrm>
          <a:prstGeom prst="ellipse">
            <a:avLst/>
          </a:prstGeom>
          <a:solidFill>
            <a:srgbClr val="9B7A2E"/>
          </a:solidFill>
          <a:ln/>
        </p:spPr>
      </p:sp>
      <p:sp>
        <p:nvSpPr>
          <p:cNvPr id="6" name="Shape 3"/>
          <p:cNvSpPr/>
          <p:nvPr/>
        </p:nvSpPr>
        <p:spPr>
          <a:xfrm>
            <a:off x="2640437" y="470916"/>
            <a:ext cx="82296" cy="82296"/>
          </a:xfrm>
          <a:prstGeom prst="ellipse">
            <a:avLst/>
          </a:prstGeom>
          <a:solidFill>
            <a:srgbClr val="9B7A2E"/>
          </a:solidFill>
          <a:ln/>
        </p:spPr>
      </p:sp>
      <p:sp>
        <p:nvSpPr>
          <p:cNvPr id="7" name="Shape 4"/>
          <p:cNvSpPr/>
          <p:nvPr/>
        </p:nvSpPr>
        <p:spPr>
          <a:xfrm>
            <a:off x="2782169" y="470916"/>
            <a:ext cx="82296" cy="82296"/>
          </a:xfrm>
          <a:prstGeom prst="ellipse">
            <a:avLst/>
          </a:prstGeom>
          <a:solidFill>
            <a:srgbClr val="9B7A2E"/>
          </a:solidFill>
          <a:ln/>
        </p:spPr>
      </p:sp>
      <p:sp>
        <p:nvSpPr>
          <p:cNvPr id="8" name="Shape 5"/>
          <p:cNvSpPr/>
          <p:nvPr/>
        </p:nvSpPr>
        <p:spPr>
          <a:xfrm>
            <a:off x="2923901" y="470916"/>
            <a:ext cx="82296" cy="82296"/>
          </a:xfrm>
          <a:prstGeom prst="ellipse">
            <a:avLst/>
          </a:prstGeom>
          <a:solidFill>
            <a:srgbClr val="9B7A2E"/>
          </a:solidFill>
          <a:ln/>
        </p:spPr>
      </p:sp>
      <p:sp>
        <p:nvSpPr>
          <p:cNvPr id="9" name="Shape 6"/>
          <p:cNvSpPr/>
          <p:nvPr/>
        </p:nvSpPr>
        <p:spPr>
          <a:xfrm>
            <a:off x="3065633" y="470916"/>
            <a:ext cx="82296" cy="82296"/>
          </a:xfrm>
          <a:prstGeom prst="ellipse">
            <a:avLst/>
          </a:prstGeom>
          <a:solidFill>
            <a:srgbClr val="9B7A2E"/>
          </a:solidFill>
          <a:ln/>
        </p:spPr>
      </p:sp>
      <p:sp>
        <p:nvSpPr>
          <p:cNvPr id="10" name="Shape 7"/>
          <p:cNvSpPr/>
          <p:nvPr/>
        </p:nvSpPr>
        <p:spPr>
          <a:xfrm>
            <a:off x="3207365" y="470916"/>
            <a:ext cx="82296" cy="82296"/>
          </a:xfrm>
          <a:prstGeom prst="ellipse">
            <a:avLst/>
          </a:prstGeom>
          <a:solidFill>
            <a:srgbClr val="F0C96B"/>
          </a:solidFill>
          <a:ln/>
        </p:spPr>
      </p:sp>
      <p:sp>
        <p:nvSpPr>
          <p:cNvPr id="11" name="Text 8"/>
          <p:cNvSpPr txBox="1"/>
          <p:nvPr/>
        </p:nvSpPr>
        <p:spPr>
          <a:xfrm>
            <a:off x="3623417" y="384048"/>
            <a:ext cx="8111079"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Layla Al-Mansoori · Illustrative mock data</a:t>
            </a:r>
            <a:endParaRPr lang="en-US" sz="1050" dirty="0"/>
          </a:p>
        </p:txBody>
      </p:sp>
      <p:sp>
        <p:nvSpPr>
          <p:cNvPr id="12" name="Text 9"/>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Business model: four ways the city earns</a:t>
            </a:r>
            <a:endParaRPr lang="en-US" sz="3600" dirty="0"/>
          </a:p>
        </p:txBody>
      </p:sp>
      <p:sp>
        <p:nvSpPr>
          <p:cNvPr id="13" name="Text 10"/>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Revenue follows learning depth, team size and partner reach</a:t>
            </a:r>
            <a:endParaRPr lang="en-US" sz="1600" dirty="0"/>
          </a:p>
        </p:txBody>
      </p:sp>
      <p:pic>
        <p:nvPicPr>
          <p:cNvPr id="14" name="Image 0" descr="/tmp/claude-0/-home-user-Chronopoli/d7458f57-86b2-5920-914e-8615357fee63/scratchpad/deck/framed/course_pricing.png">    </p:cNvPr>
          <p:cNvPicPr>
            <a:picLocks noChangeAspect="1"/>
          </p:cNvPicPr>
          <p:nvPr/>
        </p:nvPicPr>
        <p:blipFill>
          <a:blip r:embed="rId2"/>
          <a:stretch>
            <a:fillRect/>
          </a:stretch>
        </p:blipFill>
        <p:spPr>
          <a:xfrm>
            <a:off x="6123688" y="1753838"/>
            <a:ext cx="5763189" cy="4259847"/>
          </a:xfrm>
          <a:prstGeom prst="rect">
            <a:avLst/>
          </a:prstGeom>
        </p:spPr>
      </p:pic>
      <p:sp>
        <p:nvSpPr>
          <p:cNvPr id="15" name="Shape 11"/>
          <p:cNvSpPr/>
          <p:nvPr/>
        </p:nvSpPr>
        <p:spPr>
          <a:xfrm>
            <a:off x="6276069" y="5998464"/>
            <a:ext cx="1495471"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6367509" y="6071616"/>
            <a:ext cx="73152" cy="73152"/>
          </a:xfrm>
          <a:prstGeom prst="ellipse">
            <a:avLst/>
          </a:prstGeom>
          <a:solidFill>
            <a:srgbClr val="A9A9C6"/>
          </a:solidFill>
          <a:ln/>
        </p:spPr>
      </p:sp>
      <p:sp>
        <p:nvSpPr>
          <p:cNvPr id="17" name="Text 13"/>
          <p:cNvSpPr txBox="1"/>
          <p:nvPr/>
        </p:nvSpPr>
        <p:spPr>
          <a:xfrm>
            <a:off x="6495525" y="5998464"/>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8" name="Text 14"/>
          <p:cNvSpPr txBox="1"/>
          <p:nvPr/>
        </p:nvSpPr>
        <p:spPr>
          <a:xfrm>
            <a:off x="7881268" y="6030468"/>
            <a:ext cx="3853228"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USDT-201 page with the L1-L4 price ladder (not yet built)</a:t>
            </a:r>
            <a:endParaRPr lang="en-US" sz="1000" dirty="0"/>
          </a:p>
        </p:txBody>
      </p:sp>
      <p:sp>
        <p:nvSpPr>
          <p:cNvPr id="19" name="Shape 15"/>
          <p:cNvSpPr/>
          <p:nvPr/>
        </p:nvSpPr>
        <p:spPr>
          <a:xfrm>
            <a:off x="457200" y="1906219"/>
            <a:ext cx="2603110" cy="2055266"/>
          </a:xfrm>
          <a:prstGeom prst="roundRect">
            <a:avLst>
              <a:gd name="adj" fmla="val 4449"/>
            </a:avLst>
          </a:prstGeom>
          <a:solidFill>
            <a:srgbClr val="171722"/>
          </a:solidFill>
          <a:ln w="9525">
            <a:solidFill>
              <a:srgbClr val="2C2C3E"/>
            </a:solidFill>
            <a:prstDash val="solid"/>
          </a:ln>
        </p:spPr>
      </p:sp>
      <p:sp>
        <p:nvSpPr>
          <p:cNvPr id="20" name="Text 16"/>
          <p:cNvSpPr txBox="1"/>
          <p:nvPr/>
        </p:nvSpPr>
        <p:spPr>
          <a:xfrm>
            <a:off x="621792" y="2052523"/>
            <a:ext cx="2273926"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INDIVIDUAL ENROLMENTS</a:t>
            </a:r>
            <a:endParaRPr lang="en-US" sz="850" dirty="0"/>
          </a:p>
        </p:txBody>
      </p:sp>
      <p:sp>
        <p:nvSpPr>
          <p:cNvPr id="21" name="Text 17"/>
          <p:cNvSpPr txBox="1"/>
          <p:nvPr/>
        </p:nvSpPr>
        <p:spPr>
          <a:xfrm>
            <a:off x="621792" y="2290267"/>
            <a:ext cx="2273926" cy="371856"/>
          </a:xfrm>
          <a:prstGeom prst="rect">
            <a:avLst/>
          </a:prstGeom>
          <a:noFill/>
          <a:ln/>
        </p:spPr>
        <p:txBody>
          <a:bodyPr wrap="square" lIns="0" tIns="0" rIns="0" bIns="0" rtlCol="0" anchor="t"/>
          <a:lstStyle/>
          <a:p>
            <a:pPr indent="0" marL="0">
              <a:buNone/>
            </a:pPr>
            <a:r>
              <a:rPr lang="en-US" sz="2200" b="1" dirty="0">
                <a:solidFill>
                  <a:srgbClr val="F0C96B"/>
                </a:solidFill>
                <a:latin typeface="Arial" pitchFamily="34" charset="0"/>
                <a:ea typeface="Arial" pitchFamily="34" charset="-122"/>
                <a:cs typeface="Arial" pitchFamily="34" charset="-120"/>
              </a:rPr>
              <a:t>$0–$2,499</a:t>
            </a:r>
            <a:endParaRPr lang="en-US" sz="2200" dirty="0"/>
          </a:p>
        </p:txBody>
      </p:sp>
      <p:sp>
        <p:nvSpPr>
          <p:cNvPr id="22" name="Text 18"/>
          <p:cNvSpPr txBox="1"/>
          <p:nvPr/>
        </p:nvSpPr>
        <p:spPr>
          <a:xfrm>
            <a:off x="621792" y="2753563"/>
            <a:ext cx="2273926" cy="1116482"/>
          </a:xfrm>
          <a:prstGeom prst="rect">
            <a:avLst/>
          </a:prstGeom>
          <a:noFill/>
          <a:ln/>
        </p:spPr>
        <p:txBody>
          <a:bodyPr wrap="square" lIns="0" tIns="0" rIns="0" bIns="0" rtlCol="0" anchor="t"/>
          <a:lstStyle/>
          <a:p>
            <a:pPr indent="0" marL="0">
              <a:buNone/>
            </a:pPr>
            <a:r>
              <a:rPr lang="en-US" sz="1300" dirty="0">
                <a:solidFill>
                  <a:srgbClr val="B4B4C8"/>
                </a:solidFill>
                <a:latin typeface="Arial" pitchFamily="34" charset="0"/>
                <a:ea typeface="Arial" pitchFamily="34" charset="-122"/>
                <a:cs typeface="Arial" pitchFamily="34" charset="-120"/>
              </a:rPr>
              <a:t>L1 Entry: $0–$149</a:t>
            </a:r>
            <a:endParaRPr lang="en-US" sz="1300" dirty="0"/>
          </a:p>
          <a:p>
            <a:pPr indent="0" marL="0">
              <a:buNone/>
            </a:pPr>
            <a:r>
              <a:rPr lang="en-US" sz="1300" dirty="0">
                <a:solidFill>
                  <a:srgbClr val="B4B4C8"/>
                </a:solidFill>
                <a:latin typeface="Arial" pitchFamily="34" charset="0"/>
                <a:ea typeface="Arial" pitchFamily="34" charset="-122"/>
                <a:cs typeface="Arial" pitchFamily="34" charset="-120"/>
              </a:rPr>
              <a:t>L2 Professional: $299–$799</a:t>
            </a:r>
            <a:endParaRPr lang="en-US" sz="1300" dirty="0"/>
          </a:p>
          <a:p>
            <a:pPr indent="0" marL="0">
              <a:buNone/>
            </a:pPr>
            <a:r>
              <a:rPr lang="en-US" sz="1300" dirty="0">
                <a:solidFill>
                  <a:srgbClr val="B4B4C8"/>
                </a:solidFill>
                <a:latin typeface="Arial" pitchFamily="34" charset="0"/>
                <a:ea typeface="Arial" pitchFamily="34" charset="-122"/>
                <a:cs typeface="Arial" pitchFamily="34" charset="-120"/>
              </a:rPr>
              <a:t>L3 Institutional: $999–$2,499</a:t>
            </a:r>
            <a:endParaRPr lang="en-US" sz="1300" dirty="0"/>
          </a:p>
        </p:txBody>
      </p:sp>
      <p:sp>
        <p:nvSpPr>
          <p:cNvPr id="23" name="Shape 19"/>
          <p:cNvSpPr/>
          <p:nvPr/>
        </p:nvSpPr>
        <p:spPr>
          <a:xfrm>
            <a:off x="3261478" y="1906219"/>
            <a:ext cx="2603110" cy="2055266"/>
          </a:xfrm>
          <a:prstGeom prst="roundRect">
            <a:avLst>
              <a:gd name="adj" fmla="val 4449"/>
            </a:avLst>
          </a:prstGeom>
          <a:solidFill>
            <a:srgbClr val="171722"/>
          </a:solidFill>
          <a:ln w="9525">
            <a:solidFill>
              <a:srgbClr val="2C2C3E"/>
            </a:solidFill>
            <a:prstDash val="solid"/>
          </a:ln>
        </p:spPr>
      </p:sp>
      <p:sp>
        <p:nvSpPr>
          <p:cNvPr id="24" name="Text 20"/>
          <p:cNvSpPr txBox="1"/>
          <p:nvPr/>
        </p:nvSpPr>
        <p:spPr>
          <a:xfrm>
            <a:off x="3426070" y="2052523"/>
            <a:ext cx="2273926"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TEAM LICENCES</a:t>
            </a:r>
            <a:endParaRPr lang="en-US" sz="850" dirty="0"/>
          </a:p>
        </p:txBody>
      </p:sp>
      <p:sp>
        <p:nvSpPr>
          <p:cNvPr id="25" name="Text 21"/>
          <p:cNvSpPr txBox="1"/>
          <p:nvPr/>
        </p:nvSpPr>
        <p:spPr>
          <a:xfrm>
            <a:off x="3426070" y="2290267"/>
            <a:ext cx="2273926" cy="371856"/>
          </a:xfrm>
          <a:prstGeom prst="rect">
            <a:avLst/>
          </a:prstGeom>
          <a:noFill/>
          <a:ln/>
        </p:spPr>
        <p:txBody>
          <a:bodyPr wrap="square" lIns="0" tIns="0" rIns="0" bIns="0" rtlCol="0" anchor="t"/>
          <a:lstStyle/>
          <a:p>
            <a:pPr indent="0" marL="0">
              <a:buNone/>
            </a:pPr>
            <a:r>
              <a:rPr lang="en-US" sz="2200" b="1" dirty="0">
                <a:solidFill>
                  <a:srgbClr val="F0C96B"/>
                </a:solidFill>
                <a:latin typeface="Arial" pitchFamily="34" charset="0"/>
                <a:ea typeface="Arial" pitchFamily="34" charset="-122"/>
                <a:cs typeface="Arial" pitchFamily="34" charset="-120"/>
              </a:rPr>
              <a:t>$125 / seat / mo</a:t>
            </a:r>
            <a:endParaRPr lang="en-US" sz="2200" dirty="0"/>
          </a:p>
        </p:txBody>
      </p:sp>
      <p:sp>
        <p:nvSpPr>
          <p:cNvPr id="26" name="Text 22"/>
          <p:cNvSpPr txBox="1"/>
          <p:nvPr/>
        </p:nvSpPr>
        <p:spPr>
          <a:xfrm>
            <a:off x="3426070" y="2753563"/>
            <a:ext cx="2273926" cy="1116482"/>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For compliance and investigation teams: employers license seats for a whole team</a:t>
            </a:r>
            <a:endParaRPr lang="en-US" sz="1400" dirty="0"/>
          </a:p>
        </p:txBody>
      </p:sp>
      <p:sp>
        <p:nvSpPr>
          <p:cNvPr id="27" name="Shape 23"/>
          <p:cNvSpPr/>
          <p:nvPr/>
        </p:nvSpPr>
        <p:spPr>
          <a:xfrm>
            <a:off x="457200" y="4162654"/>
            <a:ext cx="2603110" cy="2055266"/>
          </a:xfrm>
          <a:prstGeom prst="roundRect">
            <a:avLst>
              <a:gd name="adj" fmla="val 4449"/>
            </a:avLst>
          </a:prstGeom>
          <a:solidFill>
            <a:srgbClr val="171722"/>
          </a:solidFill>
          <a:ln w="9525">
            <a:solidFill>
              <a:srgbClr val="2C2C3E"/>
            </a:solidFill>
            <a:prstDash val="solid"/>
          </a:ln>
        </p:spPr>
      </p:sp>
      <p:sp>
        <p:nvSpPr>
          <p:cNvPr id="28" name="Text 24"/>
          <p:cNvSpPr txBox="1"/>
          <p:nvPr/>
        </p:nvSpPr>
        <p:spPr>
          <a:xfrm>
            <a:off x="621792" y="4308958"/>
            <a:ext cx="2273926"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PARTNER REVENUE SHARE</a:t>
            </a:r>
            <a:endParaRPr lang="en-US" sz="850" dirty="0"/>
          </a:p>
        </p:txBody>
      </p:sp>
      <p:sp>
        <p:nvSpPr>
          <p:cNvPr id="29" name="Text 25"/>
          <p:cNvSpPr txBox="1"/>
          <p:nvPr/>
        </p:nvSpPr>
        <p:spPr>
          <a:xfrm>
            <a:off x="621792" y="4546702"/>
            <a:ext cx="2273926" cy="371856"/>
          </a:xfrm>
          <a:prstGeom prst="rect">
            <a:avLst/>
          </a:prstGeom>
          <a:noFill/>
          <a:ln/>
        </p:spPr>
        <p:txBody>
          <a:bodyPr wrap="square" lIns="0" tIns="0" rIns="0" bIns="0" rtlCol="0" anchor="t"/>
          <a:lstStyle/>
          <a:p>
            <a:pPr indent="0" marL="0">
              <a:buNone/>
            </a:pPr>
            <a:r>
              <a:rPr lang="en-US" sz="2200" b="1" dirty="0">
                <a:solidFill>
                  <a:srgbClr val="F0C96B"/>
                </a:solidFill>
                <a:latin typeface="Arial" pitchFamily="34" charset="0"/>
                <a:ea typeface="Arial" pitchFamily="34" charset="-122"/>
                <a:cs typeface="Arial" pitchFamily="34" charset="-120"/>
              </a:rPr>
              <a:t>70 / 30</a:t>
            </a:r>
            <a:endParaRPr lang="en-US" sz="2200" dirty="0"/>
          </a:p>
        </p:txBody>
      </p:sp>
      <p:sp>
        <p:nvSpPr>
          <p:cNvPr id="30" name="Text 26"/>
          <p:cNvSpPr txBox="1"/>
          <p:nvPr/>
        </p:nvSpPr>
        <p:spPr>
          <a:xfrm>
            <a:off x="621792" y="5009998"/>
            <a:ext cx="2273926" cy="1116482"/>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Every partner-course sale splits at checkout, paid out via Stripe Connect</a:t>
            </a:r>
            <a:endParaRPr lang="en-US" sz="1400" dirty="0"/>
          </a:p>
        </p:txBody>
      </p:sp>
      <p:sp>
        <p:nvSpPr>
          <p:cNvPr id="31" name="Shape 27"/>
          <p:cNvSpPr/>
          <p:nvPr/>
        </p:nvSpPr>
        <p:spPr>
          <a:xfrm>
            <a:off x="3261478" y="4162654"/>
            <a:ext cx="2603110" cy="2055266"/>
          </a:xfrm>
          <a:prstGeom prst="roundRect">
            <a:avLst>
              <a:gd name="adj" fmla="val 4449"/>
            </a:avLst>
          </a:prstGeom>
          <a:solidFill>
            <a:srgbClr val="171722"/>
          </a:solidFill>
          <a:ln w="9525">
            <a:solidFill>
              <a:srgbClr val="2C2C3E"/>
            </a:solidFill>
            <a:prstDash val="solid"/>
          </a:ln>
        </p:spPr>
      </p:sp>
      <p:sp>
        <p:nvSpPr>
          <p:cNvPr id="32" name="Text 28"/>
          <p:cNvSpPr txBox="1"/>
          <p:nvPr/>
        </p:nvSpPr>
        <p:spPr>
          <a:xfrm>
            <a:off x="3426070" y="4308958"/>
            <a:ext cx="2273926"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L4 LIVE FORMATS &amp; TIERS</a:t>
            </a:r>
            <a:endParaRPr lang="en-US" sz="850" dirty="0"/>
          </a:p>
        </p:txBody>
      </p:sp>
      <p:sp>
        <p:nvSpPr>
          <p:cNvPr id="33" name="Text 29"/>
          <p:cNvSpPr txBox="1"/>
          <p:nvPr/>
        </p:nvSpPr>
        <p:spPr>
          <a:xfrm>
            <a:off x="3426070" y="4546702"/>
            <a:ext cx="2273926" cy="371856"/>
          </a:xfrm>
          <a:prstGeom prst="rect">
            <a:avLst/>
          </a:prstGeom>
          <a:noFill/>
          <a:ln/>
        </p:spPr>
        <p:txBody>
          <a:bodyPr wrap="square" lIns="0" tIns="0" rIns="0" bIns="0" rtlCol="0" anchor="t"/>
          <a:lstStyle/>
          <a:p>
            <a:pPr indent="0" marL="0">
              <a:buNone/>
            </a:pPr>
            <a:r>
              <a:rPr lang="en-US" sz="2200" b="1" dirty="0">
                <a:solidFill>
                  <a:srgbClr val="F0C96B"/>
                </a:solidFill>
                <a:latin typeface="Arial" pitchFamily="34" charset="0"/>
                <a:ea typeface="Arial" pitchFamily="34" charset="-122"/>
                <a:cs typeface="Arial" pitchFamily="34" charset="-120"/>
              </a:rPr>
              <a:t>$3,000–$8,000</a:t>
            </a:r>
            <a:endParaRPr lang="en-US" sz="2200" dirty="0"/>
          </a:p>
        </p:txBody>
      </p:sp>
      <p:sp>
        <p:nvSpPr>
          <p:cNvPr id="34" name="Text 30"/>
          <p:cNvSpPr txBox="1"/>
          <p:nvPr/>
        </p:nvSpPr>
        <p:spPr>
          <a:xfrm>
            <a:off x="3426070" y="5009998"/>
            <a:ext cx="2273926" cy="1116482"/>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Influence cohorts, round tables and masterclasses; the partner tier (slide 27) sets the benefits</a:t>
            </a:r>
            <a:endParaRPr lang="en-US" sz="1400" dirty="0"/>
          </a:p>
        </p:txBody>
      </p:sp>
      <p:sp>
        <p:nvSpPr>
          <p:cNvPr id="35" name="Text 31"/>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6" name="Text 32"/>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876913"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639169"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EARN</a:t>
            </a:r>
            <a:endParaRPr lang="en-US" sz="900" dirty="0"/>
          </a:p>
        </p:txBody>
      </p:sp>
      <p:sp>
        <p:nvSpPr>
          <p:cNvPr id="5" name="Shape 2"/>
          <p:cNvSpPr/>
          <p:nvPr/>
        </p:nvSpPr>
        <p:spPr>
          <a:xfrm>
            <a:off x="2498705" y="470916"/>
            <a:ext cx="82296" cy="82296"/>
          </a:xfrm>
          <a:prstGeom prst="ellipse">
            <a:avLst/>
          </a:prstGeom>
          <a:solidFill>
            <a:srgbClr val="9B7A2E"/>
          </a:solidFill>
          <a:ln/>
        </p:spPr>
      </p:sp>
      <p:sp>
        <p:nvSpPr>
          <p:cNvPr id="6" name="Shape 3"/>
          <p:cNvSpPr/>
          <p:nvPr/>
        </p:nvSpPr>
        <p:spPr>
          <a:xfrm>
            <a:off x="2640437" y="470916"/>
            <a:ext cx="82296" cy="82296"/>
          </a:xfrm>
          <a:prstGeom prst="ellipse">
            <a:avLst/>
          </a:prstGeom>
          <a:solidFill>
            <a:srgbClr val="9B7A2E"/>
          </a:solidFill>
          <a:ln/>
        </p:spPr>
      </p:sp>
      <p:sp>
        <p:nvSpPr>
          <p:cNvPr id="7" name="Shape 4"/>
          <p:cNvSpPr/>
          <p:nvPr/>
        </p:nvSpPr>
        <p:spPr>
          <a:xfrm>
            <a:off x="2782169" y="470916"/>
            <a:ext cx="82296" cy="82296"/>
          </a:xfrm>
          <a:prstGeom prst="ellipse">
            <a:avLst/>
          </a:prstGeom>
          <a:solidFill>
            <a:srgbClr val="9B7A2E"/>
          </a:solidFill>
          <a:ln/>
        </p:spPr>
      </p:sp>
      <p:sp>
        <p:nvSpPr>
          <p:cNvPr id="8" name="Shape 5"/>
          <p:cNvSpPr/>
          <p:nvPr/>
        </p:nvSpPr>
        <p:spPr>
          <a:xfrm>
            <a:off x="2923901" y="470916"/>
            <a:ext cx="82296" cy="82296"/>
          </a:xfrm>
          <a:prstGeom prst="ellipse">
            <a:avLst/>
          </a:prstGeom>
          <a:solidFill>
            <a:srgbClr val="9B7A2E"/>
          </a:solidFill>
          <a:ln/>
        </p:spPr>
      </p:sp>
      <p:sp>
        <p:nvSpPr>
          <p:cNvPr id="9" name="Shape 6"/>
          <p:cNvSpPr/>
          <p:nvPr/>
        </p:nvSpPr>
        <p:spPr>
          <a:xfrm>
            <a:off x="3065633" y="470916"/>
            <a:ext cx="82296" cy="82296"/>
          </a:xfrm>
          <a:prstGeom prst="ellipse">
            <a:avLst/>
          </a:prstGeom>
          <a:solidFill>
            <a:srgbClr val="9B7A2E"/>
          </a:solidFill>
          <a:ln/>
        </p:spPr>
      </p:sp>
      <p:sp>
        <p:nvSpPr>
          <p:cNvPr id="10" name="Shape 7"/>
          <p:cNvSpPr/>
          <p:nvPr/>
        </p:nvSpPr>
        <p:spPr>
          <a:xfrm>
            <a:off x="3207365" y="470916"/>
            <a:ext cx="82296" cy="82296"/>
          </a:xfrm>
          <a:prstGeom prst="ellipse">
            <a:avLst/>
          </a:prstGeom>
          <a:solidFill>
            <a:srgbClr val="F0C96B"/>
          </a:solidFill>
          <a:ln/>
        </p:spPr>
      </p:sp>
      <p:sp>
        <p:nvSpPr>
          <p:cNvPr id="11" name="Text 8"/>
          <p:cNvSpPr txBox="1"/>
          <p:nvPr/>
        </p:nvSpPr>
        <p:spPr>
          <a:xfrm>
            <a:off x="3623417" y="384048"/>
            <a:ext cx="8111079"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Personas: Nadia Karim in the admin (left), Layla as billing contact (right)</a:t>
            </a:r>
            <a:endParaRPr lang="en-US" sz="1050" dirty="0"/>
          </a:p>
        </p:txBody>
      </p:sp>
      <p:sp>
        <p:nvSpPr>
          <p:cNvPr id="12" name="Text 9"/>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Prices live in Open edX; companies buy seats</a:t>
            </a:r>
            <a:endParaRPr lang="en-US" sz="3600" dirty="0"/>
          </a:p>
        </p:txBody>
      </p:sp>
      <p:sp>
        <p:nvSpPr>
          <p:cNvPr id="13" name="Text 10"/>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Every course run carries its price as an Open edX course mode, and employers license seats for whole teams</a:t>
            </a:r>
            <a:endParaRPr lang="en-US" sz="1600" dirty="0"/>
          </a:p>
        </p:txBody>
      </p:sp>
      <p:pic>
        <p:nvPicPr>
          <p:cNvPr id="14" name="Image 0" descr="/tmp/claude-0/-home-user-Chronopoli/d7458f57-86b2-5920-914e-8615357fee63/scratchpad/deck/framed/course_modes.png">    </p:cNvPr>
          <p:cNvPicPr>
            <a:picLocks noChangeAspect="1"/>
          </p:cNvPicPr>
          <p:nvPr/>
        </p:nvPicPr>
        <p:blipFill>
          <a:blip r:embed="rId2"/>
          <a:stretch>
            <a:fillRect/>
          </a:stretch>
        </p:blipFill>
        <p:spPr>
          <a:xfrm>
            <a:off x="291203" y="1784742"/>
            <a:ext cx="6278146" cy="3530528"/>
          </a:xfrm>
          <a:prstGeom prst="rect">
            <a:avLst/>
          </a:prstGeom>
        </p:spPr>
      </p:pic>
      <p:sp>
        <p:nvSpPr>
          <p:cNvPr id="15" name="Shape 11"/>
          <p:cNvSpPr/>
          <p:nvPr/>
        </p:nvSpPr>
        <p:spPr>
          <a:xfrm>
            <a:off x="457200" y="5286433"/>
            <a:ext cx="1763105" cy="219456"/>
          </a:xfrm>
          <a:prstGeom prst="roundRect">
            <a:avLst>
              <a:gd name="adj" fmla="val 50000"/>
            </a:avLst>
          </a:prstGeom>
          <a:solidFill>
            <a:srgbClr val="1B1B27"/>
          </a:solidFill>
          <a:ln w="9525">
            <a:solidFill>
              <a:srgbClr val="3A3A50"/>
            </a:solidFill>
            <a:prstDash val="solid"/>
          </a:ln>
        </p:spPr>
      </p:sp>
      <p:sp>
        <p:nvSpPr>
          <p:cNvPr id="16" name="Shape 12"/>
          <p:cNvSpPr/>
          <p:nvPr/>
        </p:nvSpPr>
        <p:spPr>
          <a:xfrm>
            <a:off x="548640" y="5359585"/>
            <a:ext cx="73152" cy="73152"/>
          </a:xfrm>
          <a:prstGeom prst="ellipse">
            <a:avLst/>
          </a:prstGeom>
          <a:solidFill>
            <a:srgbClr val="34D399"/>
          </a:solidFill>
          <a:ln/>
        </p:spPr>
      </p:sp>
      <p:sp>
        <p:nvSpPr>
          <p:cNvPr id="17" name="Text 13"/>
          <p:cNvSpPr txBox="1"/>
          <p:nvPr/>
        </p:nvSpPr>
        <p:spPr>
          <a:xfrm>
            <a:off x="676656" y="5286433"/>
            <a:ext cx="1507073"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REAL OPEN EDX SCREEN</a:t>
            </a:r>
            <a:endParaRPr lang="en-US" sz="800" dirty="0"/>
          </a:p>
        </p:txBody>
      </p:sp>
      <p:sp>
        <p:nvSpPr>
          <p:cNvPr id="18" name="Text 14"/>
          <p:cNvSpPr txBox="1"/>
          <p:nvPr/>
        </p:nvSpPr>
        <p:spPr>
          <a:xfrm>
            <a:off x="2330033" y="5318437"/>
            <a:ext cx="4073319"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Back-office course modes and prices</a:t>
            </a:r>
            <a:endParaRPr lang="en-US" sz="1000" dirty="0"/>
          </a:p>
        </p:txBody>
      </p:sp>
      <p:sp>
        <p:nvSpPr>
          <p:cNvPr id="19" name="Text 15"/>
          <p:cNvSpPr txBox="1"/>
          <p:nvPr/>
        </p:nvSpPr>
        <p:spPr>
          <a:xfrm>
            <a:off x="457200" y="5670481"/>
            <a:ext cx="5946152" cy="557784"/>
          </a:xfrm>
          <a:prstGeom prst="rect">
            <a:avLst/>
          </a:prstGeom>
          <a:noFill/>
          <a:ln/>
        </p:spPr>
        <p:txBody>
          <a:bodyPr wrap="square" lIns="0" tIns="0" rIns="0" bIns="0" rtlCol="0" anchor="t"/>
          <a:lstStyle/>
          <a:p>
            <a:pPr marL="165100" indent="-165100">
              <a:spcAft>
                <a:spcPts val="6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Course modes:</a:t>
            </a:r>
            <a:r>
              <a:rPr lang="en-US" sz="1400" dirty="0">
                <a:solidFill>
                  <a:srgbClr val="E8E8F0"/>
                </a:solidFill>
                <a:latin typeface="Arial" pitchFamily="34" charset="0"/>
                <a:ea typeface="Arial" pitchFamily="34" charset="-122"/>
                <a:cs typeface="Arial" pitchFamily="34" charset="-120"/>
              </a:rPr>
              <a:t> from $0 (USDT-101) to $4,500 (USDT-401)</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Next:</a:t>
            </a:r>
            <a:r>
              <a:rPr lang="en-US" sz="1400" dirty="0">
                <a:solidFill>
                  <a:srgbClr val="E8E8F0"/>
                </a:solidFill>
                <a:latin typeface="Arial" pitchFamily="34" charset="0"/>
                <a:ea typeface="Arial" pitchFamily="34" charset="-122"/>
                <a:cs typeface="Arial" pitchFamily="34" charset="-120"/>
              </a:rPr>
              <a:t> the same paid modes let Open edX enforce payment (R-12)</a:t>
            </a:r>
            <a:endParaRPr lang="en-US" sz="1400" dirty="0"/>
          </a:p>
        </p:txBody>
      </p:sp>
      <p:pic>
        <p:nvPicPr>
          <p:cNvPr id="20" name="Image 1" descr="/tmp/claude-0/-home-user-Chronopoli/d7458f57-86b2-5920-914e-8615357fee63/scratchpad/deck/framed/team_licence.png">    </p:cNvPr>
          <p:cNvPicPr>
            <a:picLocks noChangeAspect="1"/>
          </p:cNvPicPr>
          <p:nvPr/>
        </p:nvPicPr>
        <p:blipFill>
          <a:blip r:embed="rId3"/>
          <a:stretch>
            <a:fillRect/>
          </a:stretch>
        </p:blipFill>
        <p:spPr>
          <a:xfrm>
            <a:off x="6630495" y="1812122"/>
            <a:ext cx="5242617" cy="3475768"/>
          </a:xfrm>
          <a:prstGeom prst="rect">
            <a:avLst/>
          </a:prstGeom>
        </p:spPr>
      </p:pic>
      <p:sp>
        <p:nvSpPr>
          <p:cNvPr id="21" name="Shape 16"/>
          <p:cNvSpPr/>
          <p:nvPr/>
        </p:nvSpPr>
        <p:spPr>
          <a:xfrm>
            <a:off x="6769112" y="5286433"/>
            <a:ext cx="1495471" cy="219456"/>
          </a:xfrm>
          <a:prstGeom prst="roundRect">
            <a:avLst>
              <a:gd name="adj" fmla="val 50000"/>
            </a:avLst>
          </a:prstGeom>
          <a:solidFill>
            <a:srgbClr val="1B1B27"/>
          </a:solidFill>
          <a:ln w="9525">
            <a:solidFill>
              <a:srgbClr val="3A3A50"/>
            </a:solidFill>
            <a:prstDash val="solid"/>
          </a:ln>
        </p:spPr>
      </p:sp>
      <p:sp>
        <p:nvSpPr>
          <p:cNvPr id="22" name="Shape 17"/>
          <p:cNvSpPr/>
          <p:nvPr/>
        </p:nvSpPr>
        <p:spPr>
          <a:xfrm>
            <a:off x="6860552" y="5359585"/>
            <a:ext cx="73152" cy="73152"/>
          </a:xfrm>
          <a:prstGeom prst="ellipse">
            <a:avLst/>
          </a:prstGeom>
          <a:solidFill>
            <a:srgbClr val="A9A9C6"/>
          </a:solidFill>
          <a:ln/>
        </p:spPr>
      </p:sp>
      <p:sp>
        <p:nvSpPr>
          <p:cNvPr id="23" name="Text 18"/>
          <p:cNvSpPr txBox="1"/>
          <p:nvPr/>
        </p:nvSpPr>
        <p:spPr>
          <a:xfrm>
            <a:off x="6988568" y="5286433"/>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24" name="Text 19"/>
          <p:cNvSpPr txBox="1"/>
          <p:nvPr/>
        </p:nvSpPr>
        <p:spPr>
          <a:xfrm>
            <a:off x="8374311" y="5318437"/>
            <a:ext cx="3360184"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Team licence page (not yet built)</a:t>
            </a:r>
            <a:endParaRPr lang="en-US" sz="1000" dirty="0"/>
          </a:p>
        </p:txBody>
      </p:sp>
      <p:sp>
        <p:nvSpPr>
          <p:cNvPr id="25" name="Text 20"/>
          <p:cNvSpPr txBox="1"/>
          <p:nvPr/>
        </p:nvSpPr>
        <p:spPr>
          <a:xfrm>
            <a:off x="6769112" y="5670481"/>
            <a:ext cx="4965383" cy="48158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Gulf Digital Exchange:</a:t>
            </a:r>
            <a:r>
              <a:rPr lang="en-US" sz="1400" dirty="0">
                <a:solidFill>
                  <a:srgbClr val="E8E8F0"/>
                </a:solidFill>
                <a:latin typeface="Arial" pitchFamily="34" charset="0"/>
                <a:ea typeface="Arial" pitchFamily="34" charset="-122"/>
                <a:cs typeface="Arial" pitchFamily="34" charset="-120"/>
              </a:rPr>
              <a:t> 25 seats × $125 = $3,125 a month</a:t>
            </a:r>
            <a:endParaRPr lang="en-US" sz="1400" dirty="0"/>
          </a:p>
        </p:txBody>
      </p:sp>
      <p:sp>
        <p:nvSpPr>
          <p:cNvPr id="26" name="Text 21"/>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7" name="Text 22"/>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876913"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639169"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SIDE · EARN</a:t>
            </a:r>
            <a:endParaRPr lang="en-US" sz="900" dirty="0"/>
          </a:p>
        </p:txBody>
      </p:sp>
      <p:sp>
        <p:nvSpPr>
          <p:cNvPr id="5" name="Shape 2"/>
          <p:cNvSpPr/>
          <p:nvPr/>
        </p:nvSpPr>
        <p:spPr>
          <a:xfrm>
            <a:off x="2498705" y="470916"/>
            <a:ext cx="82296" cy="82296"/>
          </a:xfrm>
          <a:prstGeom prst="ellipse">
            <a:avLst/>
          </a:prstGeom>
          <a:solidFill>
            <a:srgbClr val="9B7A2E"/>
          </a:solidFill>
          <a:ln/>
        </p:spPr>
      </p:sp>
      <p:sp>
        <p:nvSpPr>
          <p:cNvPr id="6" name="Shape 3"/>
          <p:cNvSpPr/>
          <p:nvPr/>
        </p:nvSpPr>
        <p:spPr>
          <a:xfrm>
            <a:off x="2640437" y="470916"/>
            <a:ext cx="82296" cy="82296"/>
          </a:xfrm>
          <a:prstGeom prst="ellipse">
            <a:avLst/>
          </a:prstGeom>
          <a:solidFill>
            <a:srgbClr val="9B7A2E"/>
          </a:solidFill>
          <a:ln/>
        </p:spPr>
      </p:sp>
      <p:sp>
        <p:nvSpPr>
          <p:cNvPr id="7" name="Shape 4"/>
          <p:cNvSpPr/>
          <p:nvPr/>
        </p:nvSpPr>
        <p:spPr>
          <a:xfrm>
            <a:off x="2782169" y="470916"/>
            <a:ext cx="82296" cy="82296"/>
          </a:xfrm>
          <a:prstGeom prst="ellipse">
            <a:avLst/>
          </a:prstGeom>
          <a:solidFill>
            <a:srgbClr val="9B7A2E"/>
          </a:solidFill>
          <a:ln/>
        </p:spPr>
      </p:sp>
      <p:sp>
        <p:nvSpPr>
          <p:cNvPr id="8" name="Shape 5"/>
          <p:cNvSpPr/>
          <p:nvPr/>
        </p:nvSpPr>
        <p:spPr>
          <a:xfrm>
            <a:off x="2923901" y="470916"/>
            <a:ext cx="82296" cy="82296"/>
          </a:xfrm>
          <a:prstGeom prst="ellipse">
            <a:avLst/>
          </a:prstGeom>
          <a:solidFill>
            <a:srgbClr val="9B7A2E"/>
          </a:solidFill>
          <a:ln/>
        </p:spPr>
      </p:sp>
      <p:sp>
        <p:nvSpPr>
          <p:cNvPr id="9" name="Shape 6"/>
          <p:cNvSpPr/>
          <p:nvPr/>
        </p:nvSpPr>
        <p:spPr>
          <a:xfrm>
            <a:off x="3065633" y="470916"/>
            <a:ext cx="82296" cy="82296"/>
          </a:xfrm>
          <a:prstGeom prst="ellipse">
            <a:avLst/>
          </a:prstGeom>
          <a:solidFill>
            <a:srgbClr val="9B7A2E"/>
          </a:solidFill>
          <a:ln/>
        </p:spPr>
      </p:sp>
      <p:sp>
        <p:nvSpPr>
          <p:cNvPr id="10" name="Shape 7"/>
          <p:cNvSpPr/>
          <p:nvPr/>
        </p:nvSpPr>
        <p:spPr>
          <a:xfrm>
            <a:off x="3207365" y="470916"/>
            <a:ext cx="82296" cy="82296"/>
          </a:xfrm>
          <a:prstGeom prst="ellipse">
            <a:avLst/>
          </a:prstGeom>
          <a:solidFill>
            <a:srgbClr val="F0C96B"/>
          </a:solidFill>
          <a:ln/>
        </p:spPr>
      </p:sp>
      <p:sp>
        <p:nvSpPr>
          <p:cNvPr id="11" name="Text 8"/>
          <p:cNvSpPr txBox="1"/>
          <p:nvPr/>
        </p:nvSpPr>
        <p:spPr>
          <a:xfrm>
            <a:off x="3623417" y="384048"/>
            <a:ext cx="8111079"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Persona: Nadia Karim · Illustrative mock data</a:t>
            </a:r>
            <a:endParaRPr lang="en-US" sz="1050" dirty="0"/>
          </a:p>
        </p:txBody>
      </p:sp>
      <p:sp>
        <p:nvSpPr>
          <p:cNvPr id="12" name="Text 9"/>
          <p:cNvSpPr txBox="1"/>
          <p:nvPr/>
        </p:nvSpPr>
        <p:spPr>
          <a:xfrm>
            <a:off x="457200" y="768096"/>
            <a:ext cx="11277295" cy="1075334"/>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70% of every partner-course sale goes to the partner, automatically</a:t>
            </a:r>
            <a:endParaRPr lang="en-US" sz="3600" dirty="0"/>
          </a:p>
        </p:txBody>
      </p:sp>
      <p:pic>
        <p:nvPicPr>
          <p:cNvPr id="13" name="Image 0" descr="/tmp/claude-0/-home-user-Chronopoli/d7458f57-86b2-5920-914e-8615357fee63/scratchpad/deck/framed/payouts.png">    </p:cNvPr>
          <p:cNvPicPr>
            <a:picLocks noChangeAspect="1"/>
          </p:cNvPicPr>
          <p:nvPr/>
        </p:nvPicPr>
        <p:blipFill>
          <a:blip r:embed="rId2"/>
          <a:stretch>
            <a:fillRect/>
          </a:stretch>
        </p:blipFill>
        <p:spPr>
          <a:xfrm>
            <a:off x="288995" y="1894682"/>
            <a:ext cx="6361659" cy="4134827"/>
          </a:xfrm>
          <a:prstGeom prst="rect">
            <a:avLst/>
          </a:prstGeom>
        </p:spPr>
      </p:pic>
      <p:sp>
        <p:nvSpPr>
          <p:cNvPr id="14" name="Shape 10"/>
          <p:cNvSpPr/>
          <p:nvPr/>
        </p:nvSpPr>
        <p:spPr>
          <a:xfrm>
            <a:off x="457200" y="5998464"/>
            <a:ext cx="1495471" cy="219456"/>
          </a:xfrm>
          <a:prstGeom prst="roundRect">
            <a:avLst>
              <a:gd name="adj" fmla="val 50000"/>
            </a:avLst>
          </a:prstGeom>
          <a:solidFill>
            <a:srgbClr val="1B1B27"/>
          </a:solidFill>
          <a:ln w="9525">
            <a:solidFill>
              <a:srgbClr val="3A3A50"/>
            </a:solidFill>
            <a:prstDash val="solid"/>
          </a:ln>
        </p:spPr>
      </p:sp>
      <p:sp>
        <p:nvSpPr>
          <p:cNvPr id="15" name="Shape 11"/>
          <p:cNvSpPr/>
          <p:nvPr/>
        </p:nvSpPr>
        <p:spPr>
          <a:xfrm>
            <a:off x="548640" y="6071616"/>
            <a:ext cx="73152" cy="73152"/>
          </a:xfrm>
          <a:prstGeom prst="ellipse">
            <a:avLst/>
          </a:prstGeom>
          <a:solidFill>
            <a:srgbClr val="A9A9C6"/>
          </a:solidFill>
          <a:ln/>
        </p:spPr>
      </p:sp>
      <p:sp>
        <p:nvSpPr>
          <p:cNvPr id="16" name="Text 12"/>
          <p:cNvSpPr txBox="1"/>
          <p:nvPr/>
        </p:nvSpPr>
        <p:spPr>
          <a:xfrm>
            <a:off x="676656" y="5998464"/>
            <a:ext cx="12394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DESIGN PROTOTYPE</a:t>
            </a:r>
            <a:endParaRPr lang="en-US" sz="800" dirty="0"/>
          </a:p>
        </p:txBody>
      </p:sp>
      <p:sp>
        <p:nvSpPr>
          <p:cNvPr id="17" name="Text 13"/>
          <p:cNvSpPr txBox="1"/>
          <p:nvPr/>
        </p:nvSpPr>
        <p:spPr>
          <a:xfrm>
            <a:off x="2062399" y="6030468"/>
            <a:ext cx="4420051"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Partner payouts view (not yet built)</a:t>
            </a:r>
            <a:endParaRPr lang="en-US" sz="1000" dirty="0"/>
          </a:p>
        </p:txBody>
      </p:sp>
      <p:sp>
        <p:nvSpPr>
          <p:cNvPr id="18" name="Text 14"/>
          <p:cNvSpPr txBox="1"/>
          <p:nvPr/>
        </p:nvSpPr>
        <p:spPr>
          <a:xfrm>
            <a:off x="6939649" y="2159203"/>
            <a:ext cx="4794846" cy="576072"/>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Stripe Connect splits each checkout at the moment of payment</a:t>
            </a:r>
            <a:endParaRPr lang="en-US" sz="1800" dirty="0"/>
          </a:p>
        </p:txBody>
      </p:sp>
      <p:sp>
        <p:nvSpPr>
          <p:cNvPr id="19" name="Text 15"/>
          <p:cNvSpPr txBox="1"/>
          <p:nvPr/>
        </p:nvSpPr>
        <p:spPr>
          <a:xfrm>
            <a:off x="6939649" y="3073603"/>
            <a:ext cx="4794846" cy="457200"/>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Illustrative Q3: $1,108,440 gross from 1,610 paid enrolments</a:t>
            </a:r>
            <a:endParaRPr lang="en-US" sz="1400" dirty="0"/>
          </a:p>
        </p:txBody>
      </p:sp>
      <p:sp>
        <p:nvSpPr>
          <p:cNvPr id="20" name="Shape 16"/>
          <p:cNvSpPr/>
          <p:nvPr/>
        </p:nvSpPr>
        <p:spPr>
          <a:xfrm>
            <a:off x="6939649" y="3701491"/>
            <a:ext cx="3338104" cy="146304"/>
          </a:xfrm>
          <a:prstGeom prst="rect">
            <a:avLst/>
          </a:prstGeom>
          <a:solidFill>
            <a:srgbClr val="C9A84C"/>
          </a:solidFill>
          <a:ln/>
        </p:spPr>
      </p:sp>
      <p:sp>
        <p:nvSpPr>
          <p:cNvPr id="21" name="Shape 17"/>
          <p:cNvSpPr/>
          <p:nvPr/>
        </p:nvSpPr>
        <p:spPr>
          <a:xfrm>
            <a:off x="10296041" y="3701491"/>
            <a:ext cx="1438454" cy="146304"/>
          </a:xfrm>
          <a:prstGeom prst="rect">
            <a:avLst/>
          </a:prstGeom>
          <a:solidFill>
            <a:srgbClr val="5A5A6E"/>
          </a:solidFill>
          <a:ln/>
        </p:spPr>
      </p:sp>
      <p:sp>
        <p:nvSpPr>
          <p:cNvPr id="22" name="Text 18"/>
          <p:cNvSpPr txBox="1"/>
          <p:nvPr/>
        </p:nvSpPr>
        <p:spPr>
          <a:xfrm>
            <a:off x="6939649" y="4012387"/>
            <a:ext cx="2305983" cy="530352"/>
          </a:xfrm>
          <a:prstGeom prst="rect">
            <a:avLst/>
          </a:prstGeom>
          <a:noFill/>
          <a:ln/>
        </p:spPr>
        <p:txBody>
          <a:bodyPr wrap="square" lIns="0" tIns="0" rIns="0" bIns="0" rtlCol="0" anchor="t"/>
          <a:lstStyle/>
          <a:p>
            <a:pPr indent="0" marL="0">
              <a:buNone/>
            </a:pPr>
            <a:r>
              <a:rPr lang="en-US" sz="3200" b="1" dirty="0">
                <a:solidFill>
                  <a:srgbClr val="F0C96B"/>
                </a:solidFill>
                <a:latin typeface="Arial" pitchFamily="34" charset="0"/>
                <a:ea typeface="Arial" pitchFamily="34" charset="-122"/>
                <a:cs typeface="Arial" pitchFamily="34" charset="-120"/>
              </a:rPr>
              <a:t>$775,908</a:t>
            </a:r>
            <a:endParaRPr lang="en-US" sz="3200" dirty="0"/>
          </a:p>
        </p:txBody>
      </p:sp>
      <p:sp>
        <p:nvSpPr>
          <p:cNvPr id="23" name="Text 19"/>
          <p:cNvSpPr txBox="1"/>
          <p:nvPr/>
        </p:nvSpPr>
        <p:spPr>
          <a:xfrm>
            <a:off x="6939649" y="4561027"/>
            <a:ext cx="2305983" cy="228600"/>
          </a:xfrm>
          <a:prstGeom prst="rect">
            <a:avLst/>
          </a:prstGeom>
          <a:noFill/>
          <a:ln/>
        </p:spPr>
        <p:txBody>
          <a:bodyPr wrap="square" lIns="0" tIns="0" rIns="0" bIns="0" rtlCol="0" anchor="t"/>
          <a:lstStyle/>
          <a:p>
            <a:pPr indent="0" marL="0">
              <a:buNone/>
            </a:pPr>
            <a:r>
              <a:rPr lang="en-US" sz="1300" dirty="0">
                <a:solidFill>
                  <a:srgbClr val="B4B4C8"/>
                </a:solidFill>
                <a:latin typeface="Arial" pitchFamily="34" charset="0"/>
                <a:ea typeface="Arial" pitchFamily="34" charset="-122"/>
                <a:cs typeface="Arial" pitchFamily="34" charset="-120"/>
              </a:rPr>
              <a:t>to the partner (70%)</a:t>
            </a:r>
            <a:endParaRPr lang="en-US" sz="1300" dirty="0"/>
          </a:p>
        </p:txBody>
      </p:sp>
      <p:sp>
        <p:nvSpPr>
          <p:cNvPr id="24" name="Text 20"/>
          <p:cNvSpPr txBox="1"/>
          <p:nvPr/>
        </p:nvSpPr>
        <p:spPr>
          <a:xfrm>
            <a:off x="9337072" y="4012387"/>
            <a:ext cx="2305983" cy="530352"/>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$332,532</a:t>
            </a:r>
            <a:endParaRPr lang="en-US" sz="3200" dirty="0"/>
          </a:p>
        </p:txBody>
      </p:sp>
      <p:sp>
        <p:nvSpPr>
          <p:cNvPr id="25" name="Text 21"/>
          <p:cNvSpPr txBox="1"/>
          <p:nvPr/>
        </p:nvSpPr>
        <p:spPr>
          <a:xfrm>
            <a:off x="9337072" y="4561027"/>
            <a:ext cx="2305983" cy="228600"/>
          </a:xfrm>
          <a:prstGeom prst="rect">
            <a:avLst/>
          </a:prstGeom>
          <a:noFill/>
          <a:ln/>
        </p:spPr>
        <p:txBody>
          <a:bodyPr wrap="square" lIns="0" tIns="0" rIns="0" bIns="0" rtlCol="0" anchor="t"/>
          <a:lstStyle/>
          <a:p>
            <a:pPr indent="0" marL="0">
              <a:buNone/>
            </a:pPr>
            <a:r>
              <a:rPr lang="en-US" sz="1300" dirty="0">
                <a:solidFill>
                  <a:srgbClr val="B4B4C8"/>
                </a:solidFill>
                <a:latin typeface="Arial" pitchFamily="34" charset="0"/>
                <a:ea typeface="Arial" pitchFamily="34" charset="-122"/>
                <a:cs typeface="Arial" pitchFamily="34" charset="-120"/>
              </a:rPr>
              <a:t>to Chronopoli (30%)</a:t>
            </a:r>
            <a:endParaRPr lang="en-US" sz="1300" dirty="0"/>
          </a:p>
        </p:txBody>
      </p:sp>
      <p:sp>
        <p:nvSpPr>
          <p:cNvPr id="26" name="Shape 22"/>
          <p:cNvSpPr/>
          <p:nvPr/>
        </p:nvSpPr>
        <p:spPr>
          <a:xfrm>
            <a:off x="6939649" y="5109667"/>
            <a:ext cx="4794846" cy="0"/>
          </a:xfrm>
          <a:prstGeom prst="line">
            <a:avLst/>
          </a:prstGeom>
          <a:noFill/>
          <a:ln w="9525">
            <a:solidFill>
              <a:srgbClr val="2C2C3E"/>
            </a:solidFill>
            <a:prstDash val="solid"/>
          </a:ln>
        </p:spPr>
      </p:sp>
      <p:sp>
        <p:nvSpPr>
          <p:cNvPr id="27" name="Text 23"/>
          <p:cNvSpPr txBox="1"/>
          <p:nvPr/>
        </p:nvSpPr>
        <p:spPr>
          <a:xfrm>
            <a:off x="6939649" y="5338267"/>
            <a:ext cx="4794846" cy="481584"/>
          </a:xfrm>
          <a:prstGeom prst="rect">
            <a:avLst/>
          </a:prstGeom>
          <a:noFill/>
          <a:ln/>
        </p:spPr>
        <p:txBody>
          <a:bodyPr wrap="square" lIns="0" tIns="0" rIns="0" bIns="0" rtlCol="0" anchor="t"/>
          <a:lstStyle/>
          <a:p>
            <a:pPr marL="165100" indent="-165100">
              <a:buClr>
                <a:srgbClr val="C9A84C"/>
              </a:buClr>
              <a:buSzPct val="80000"/>
              <a:buChar char="●"/>
            </a:pPr>
            <a:r>
              <a:rPr lang="en-US" sz="1400" dirty="0">
                <a:solidFill>
                  <a:srgbClr val="E8E8F0"/>
                </a:solidFill>
                <a:latin typeface="Arial" pitchFamily="34" charset="0"/>
                <a:ea typeface="Arial" pitchFamily="34" charset="-122"/>
                <a:cs typeface="Arial" pitchFamily="34" charset="-120"/>
              </a:rPr>
              <a:t>One payout record per purchase, split by course; buyer emails are masked for partners</a:t>
            </a:r>
            <a:endParaRPr lang="en-US" sz="1400" dirty="0"/>
          </a:p>
        </p:txBody>
      </p:sp>
      <p:sp>
        <p:nvSpPr>
          <p:cNvPr id="28" name="Text 24"/>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29" name="Text 25"/>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257375"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019631"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ILLUSTRATIVE SCENARIO · ONE ACADEMY</a:t>
            </a:r>
            <a:endParaRPr lang="en-US" sz="900" dirty="0"/>
          </a:p>
        </p:txBody>
      </p:sp>
      <p:sp>
        <p:nvSpPr>
          <p:cNvPr id="5" name="Text 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What one academy could look like (illustrative)</a:t>
            </a:r>
            <a:endParaRPr lang="en-US" sz="3600" dirty="0"/>
          </a:p>
        </p:txBody>
      </p:sp>
      <p:sp>
        <p:nvSpPr>
          <p:cNvPr id="6" name="Text 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Fictitious Tether scenario, Q3 2026: demo numbers that show the mechanics, not traction</a:t>
            </a:r>
            <a:endParaRPr lang="en-US" sz="1600" dirty="0"/>
          </a:p>
        </p:txBody>
      </p:sp>
      <p:sp>
        <p:nvSpPr>
          <p:cNvPr id="7" name="Shape 4"/>
          <p:cNvSpPr/>
          <p:nvPr/>
        </p:nvSpPr>
        <p:spPr>
          <a:xfrm>
            <a:off x="457200" y="1906219"/>
            <a:ext cx="6766560" cy="4311701"/>
          </a:xfrm>
          <a:prstGeom prst="roundRect">
            <a:avLst>
              <a:gd name="adj" fmla="val 2545"/>
            </a:avLst>
          </a:prstGeom>
          <a:solidFill>
            <a:srgbClr val="171722"/>
          </a:solidFill>
          <a:ln w="9525">
            <a:solidFill>
              <a:srgbClr val="2C2C3E"/>
            </a:solidFill>
            <a:prstDash val="solid"/>
          </a:ln>
        </p:spPr>
      </p:sp>
      <p:graphicFrame>
        <p:nvGraphicFramePr>
          <p:cNvPr id="8" name="Chart 0" descr=""/>
          <p:cNvGraphicFramePr/>
          <p:nvPr/>
        </p:nvGraphicFramePr>
        <p:xfrm>
          <a:off x="594360" y="1997659"/>
          <a:ext cx="6492240" cy="374477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1762963" y="2766548"/>
            <a:ext cx="82296" cy="255032"/>
          </a:xfrm>
          <a:prstGeom prst="rect">
            <a:avLst/>
          </a:prstGeom>
          <a:solidFill>
            <a:srgbClr val="171722"/>
          </a:solidFill>
          <a:ln w="9525">
            <a:solidFill>
              <a:srgbClr val="C9A84C"/>
            </a:solidFill>
            <a:prstDash val="dash"/>
          </a:ln>
        </p:spPr>
      </p:sp>
      <p:sp>
        <p:nvSpPr>
          <p:cNvPr id="10" name="Text 6"/>
          <p:cNvSpPr txBox="1"/>
          <p:nvPr/>
        </p:nvSpPr>
        <p:spPr>
          <a:xfrm>
            <a:off x="1927555" y="2766548"/>
            <a:ext cx="3108960" cy="255032"/>
          </a:xfrm>
          <a:prstGeom prst="rect">
            <a:avLst/>
          </a:prstGeom>
          <a:noFill/>
          <a:ln/>
        </p:spPr>
        <p:txBody>
          <a:bodyPr wrap="square" lIns="0" tIns="0" rIns="0" bIns="0" rtlCol="0" anchor="ctr"/>
          <a:lstStyle/>
          <a:p>
            <a:pPr indent="0" marL="0">
              <a:buNone/>
            </a:pPr>
            <a:r>
              <a:rPr lang="en-US" sz="950" dirty="0">
                <a:solidFill>
                  <a:srgbClr val="F0C96B"/>
                </a:solidFill>
                <a:latin typeface="Arial" pitchFamily="34" charset="0"/>
                <a:ea typeface="Arial" pitchFamily="34" charset="-122"/>
                <a:cs typeface="Arial" pitchFamily="34" charset="-120"/>
              </a:rPr>
              <a:t>Free · 2,140 enrolments · $0 revenue</a:t>
            </a:r>
            <a:endParaRPr lang="en-US" sz="950" dirty="0"/>
          </a:p>
        </p:txBody>
      </p:sp>
      <p:sp>
        <p:nvSpPr>
          <p:cNvPr id="11" name="Text 7"/>
          <p:cNvSpPr txBox="1"/>
          <p:nvPr/>
        </p:nvSpPr>
        <p:spPr>
          <a:xfrm>
            <a:off x="685800" y="5760720"/>
            <a:ext cx="6309360" cy="182880"/>
          </a:xfrm>
          <a:prstGeom prst="rect">
            <a:avLst/>
          </a:prstGeom>
          <a:noFill/>
          <a:ln/>
        </p:spPr>
        <p:txBody>
          <a:bodyPr wrap="square" lIns="0" tIns="0" rIns="0" bIns="0" rtlCol="0" anchor="t"/>
          <a:lstStyle/>
          <a:p>
            <a:pPr indent="0" marL="0">
              <a:buNone/>
            </a:pPr>
            <a:r>
              <a:rPr lang="en-US" sz="1050" dirty="0">
                <a:solidFill>
                  <a:srgbClr val="F0C96B"/>
                </a:solidFill>
                <a:latin typeface="Arial" pitchFamily="34" charset="0"/>
                <a:ea typeface="Arial" pitchFamily="34" charset="-122"/>
                <a:cs typeface="Arial" pitchFamily="34" charset="-120"/>
              </a:rPr>
              <a:t>The free USDT-101 is the funnel: 2,140 of 4,812 enrolments (44%)</a:t>
            </a:r>
            <a:endParaRPr lang="en-US" sz="1050" dirty="0"/>
          </a:p>
        </p:txBody>
      </p:sp>
      <p:sp>
        <p:nvSpPr>
          <p:cNvPr id="12" name="Text 8"/>
          <p:cNvSpPr txBox="1"/>
          <p:nvPr/>
        </p:nvSpPr>
        <p:spPr>
          <a:xfrm>
            <a:off x="685800" y="5961888"/>
            <a:ext cx="6309360" cy="164592"/>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Source: illustrative scenario, paid enrolments × list price · segments under $20k unlabelled</a:t>
            </a:r>
            <a:endParaRPr lang="en-US" sz="900" dirty="0"/>
          </a:p>
        </p:txBody>
      </p:sp>
      <p:sp>
        <p:nvSpPr>
          <p:cNvPr id="13" name="Shape 9"/>
          <p:cNvSpPr/>
          <p:nvPr/>
        </p:nvSpPr>
        <p:spPr>
          <a:xfrm>
            <a:off x="7543800" y="1906219"/>
            <a:ext cx="2003908" cy="932688"/>
          </a:xfrm>
          <a:prstGeom prst="roundRect">
            <a:avLst>
              <a:gd name="adj" fmla="val 9804"/>
            </a:avLst>
          </a:prstGeom>
          <a:solidFill>
            <a:srgbClr val="171722"/>
          </a:solidFill>
          <a:ln w="9525">
            <a:solidFill>
              <a:srgbClr val="2C2C3E"/>
            </a:solidFill>
            <a:prstDash val="solid"/>
          </a:ln>
        </p:spPr>
      </p:sp>
      <p:sp>
        <p:nvSpPr>
          <p:cNvPr id="14" name="Text 10"/>
          <p:cNvSpPr txBox="1"/>
          <p:nvPr/>
        </p:nvSpPr>
        <p:spPr>
          <a:xfrm>
            <a:off x="7708392" y="2025091"/>
            <a:ext cx="1729588"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ENROLMENTS</a:t>
            </a:r>
            <a:endParaRPr lang="en-US" sz="850" dirty="0"/>
          </a:p>
        </p:txBody>
      </p:sp>
      <p:sp>
        <p:nvSpPr>
          <p:cNvPr id="15" name="Text 11"/>
          <p:cNvSpPr txBox="1"/>
          <p:nvPr/>
        </p:nvSpPr>
        <p:spPr>
          <a:xfrm>
            <a:off x="7708392" y="2235403"/>
            <a:ext cx="1729588" cy="384048"/>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4,812</a:t>
            </a:r>
            <a:endParaRPr lang="en-US" sz="2400" dirty="0"/>
          </a:p>
        </p:txBody>
      </p:sp>
      <p:sp>
        <p:nvSpPr>
          <p:cNvPr id="16" name="Text 12"/>
          <p:cNvSpPr txBox="1"/>
          <p:nvPr/>
        </p:nvSpPr>
        <p:spPr>
          <a:xfrm>
            <a:off x="7708392" y="2601163"/>
            <a:ext cx="1729588" cy="182880"/>
          </a:xfrm>
          <a:prstGeom prst="rect">
            <a:avLst/>
          </a:prstGeom>
          <a:noFill/>
          <a:ln/>
        </p:spPr>
        <p:txBody>
          <a:bodyPr wrap="square" lIns="0" tIns="0" rIns="0" bIns="0" rtlCol="0" anchor="t"/>
          <a:lstStyle/>
          <a:p>
            <a:pPr indent="0" marL="0">
              <a:buNone/>
            </a:pPr>
            <a:r>
              <a:rPr lang="en-US" sz="1000" dirty="0">
                <a:solidFill>
                  <a:srgbClr val="34D399"/>
                </a:solidFill>
                <a:latin typeface="Arial" pitchFamily="34" charset="0"/>
                <a:ea typeface="Arial" pitchFamily="34" charset="-122"/>
                <a:cs typeface="Arial" pitchFamily="34" charset="-120"/>
              </a:rPr>
              <a:t>+18% QoQ</a:t>
            </a:r>
            <a:endParaRPr lang="en-US" sz="1000" dirty="0"/>
          </a:p>
        </p:txBody>
      </p:sp>
      <p:sp>
        <p:nvSpPr>
          <p:cNvPr id="17" name="Shape 13"/>
          <p:cNvSpPr/>
          <p:nvPr/>
        </p:nvSpPr>
        <p:spPr>
          <a:xfrm>
            <a:off x="9730588" y="1906219"/>
            <a:ext cx="2003908" cy="932688"/>
          </a:xfrm>
          <a:prstGeom prst="roundRect">
            <a:avLst>
              <a:gd name="adj" fmla="val 9804"/>
            </a:avLst>
          </a:prstGeom>
          <a:solidFill>
            <a:srgbClr val="171722"/>
          </a:solidFill>
          <a:ln w="9525">
            <a:solidFill>
              <a:srgbClr val="2C2C3E"/>
            </a:solidFill>
            <a:prstDash val="solid"/>
          </a:ln>
        </p:spPr>
      </p:sp>
      <p:sp>
        <p:nvSpPr>
          <p:cNvPr id="18" name="Text 14"/>
          <p:cNvSpPr txBox="1"/>
          <p:nvPr/>
        </p:nvSpPr>
        <p:spPr>
          <a:xfrm>
            <a:off x="9895180" y="2025091"/>
            <a:ext cx="1729588"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COMPLETIONS</a:t>
            </a:r>
            <a:endParaRPr lang="en-US" sz="850" dirty="0"/>
          </a:p>
        </p:txBody>
      </p:sp>
      <p:sp>
        <p:nvSpPr>
          <p:cNvPr id="19" name="Text 15"/>
          <p:cNvSpPr txBox="1"/>
          <p:nvPr/>
        </p:nvSpPr>
        <p:spPr>
          <a:xfrm>
            <a:off x="9895180" y="2235403"/>
            <a:ext cx="1729588" cy="384048"/>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1,937</a:t>
            </a:r>
            <a:endParaRPr lang="en-US" sz="2400" dirty="0"/>
          </a:p>
        </p:txBody>
      </p:sp>
      <p:sp>
        <p:nvSpPr>
          <p:cNvPr id="20" name="Text 16"/>
          <p:cNvSpPr txBox="1"/>
          <p:nvPr/>
        </p:nvSpPr>
        <p:spPr>
          <a:xfrm>
            <a:off x="9895180" y="2601163"/>
            <a:ext cx="1729588" cy="182880"/>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40.3% completion rate</a:t>
            </a:r>
            <a:endParaRPr lang="en-US" sz="1000" dirty="0"/>
          </a:p>
        </p:txBody>
      </p:sp>
      <p:sp>
        <p:nvSpPr>
          <p:cNvPr id="21" name="Shape 17"/>
          <p:cNvSpPr/>
          <p:nvPr/>
        </p:nvSpPr>
        <p:spPr>
          <a:xfrm>
            <a:off x="7543800" y="3021787"/>
            <a:ext cx="2003908" cy="932688"/>
          </a:xfrm>
          <a:prstGeom prst="roundRect">
            <a:avLst>
              <a:gd name="adj" fmla="val 9804"/>
            </a:avLst>
          </a:prstGeom>
          <a:solidFill>
            <a:srgbClr val="171722"/>
          </a:solidFill>
          <a:ln w="9525">
            <a:solidFill>
              <a:srgbClr val="2C2C3E"/>
            </a:solidFill>
            <a:prstDash val="solid"/>
          </a:ln>
        </p:spPr>
      </p:sp>
      <p:sp>
        <p:nvSpPr>
          <p:cNvPr id="22" name="Text 18"/>
          <p:cNvSpPr txBox="1"/>
          <p:nvPr/>
        </p:nvSpPr>
        <p:spPr>
          <a:xfrm>
            <a:off x="7708392" y="3140659"/>
            <a:ext cx="1729588"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BADGES ISSUED</a:t>
            </a:r>
            <a:endParaRPr lang="en-US" sz="850" dirty="0"/>
          </a:p>
        </p:txBody>
      </p:sp>
      <p:sp>
        <p:nvSpPr>
          <p:cNvPr id="23" name="Text 19"/>
          <p:cNvSpPr txBox="1"/>
          <p:nvPr/>
        </p:nvSpPr>
        <p:spPr>
          <a:xfrm>
            <a:off x="7708392" y="3350971"/>
            <a:ext cx="1729588" cy="384048"/>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1,244</a:t>
            </a:r>
            <a:endParaRPr lang="en-US" sz="2400" dirty="0"/>
          </a:p>
        </p:txBody>
      </p:sp>
      <p:sp>
        <p:nvSpPr>
          <p:cNvPr id="24" name="Shape 20"/>
          <p:cNvSpPr/>
          <p:nvPr/>
        </p:nvSpPr>
        <p:spPr>
          <a:xfrm>
            <a:off x="9730588" y="3021787"/>
            <a:ext cx="2003908" cy="932688"/>
          </a:xfrm>
          <a:prstGeom prst="roundRect">
            <a:avLst>
              <a:gd name="adj" fmla="val 9804"/>
            </a:avLst>
          </a:prstGeom>
          <a:solidFill>
            <a:srgbClr val="171722"/>
          </a:solidFill>
          <a:ln w="9525">
            <a:solidFill>
              <a:srgbClr val="2C2C3E"/>
            </a:solidFill>
            <a:prstDash val="solid"/>
          </a:ln>
        </p:spPr>
      </p:sp>
      <p:sp>
        <p:nvSpPr>
          <p:cNvPr id="25" name="Text 21"/>
          <p:cNvSpPr txBox="1"/>
          <p:nvPr/>
        </p:nvSpPr>
        <p:spPr>
          <a:xfrm>
            <a:off x="9895180" y="3140659"/>
            <a:ext cx="1729588" cy="182880"/>
          </a:xfrm>
          <a:prstGeom prst="rect">
            <a:avLst/>
          </a:prstGeom>
          <a:noFill/>
          <a:ln/>
        </p:spPr>
        <p:txBody>
          <a:bodyPr wrap="square" lIns="0" tIns="0" rIns="0" bIns="0" rtlCol="0" anchor="t"/>
          <a:lstStyle/>
          <a:p>
            <a:pPr indent="0" marL="0">
              <a:buNone/>
            </a:pPr>
            <a:r>
              <a:rPr lang="en-US" sz="850" b="1" spc="100" kern="0" dirty="0">
                <a:solidFill>
                  <a:srgbClr val="8E8EA2"/>
                </a:solidFill>
                <a:latin typeface="Arial" pitchFamily="34" charset="0"/>
                <a:ea typeface="Arial" pitchFamily="34" charset="-122"/>
                <a:cs typeface="Arial" pitchFamily="34" charset="-120"/>
              </a:rPr>
              <a:t>PARTNER SHARE</a:t>
            </a:r>
            <a:endParaRPr lang="en-US" sz="850" dirty="0"/>
          </a:p>
        </p:txBody>
      </p:sp>
      <p:sp>
        <p:nvSpPr>
          <p:cNvPr id="26" name="Text 22"/>
          <p:cNvSpPr txBox="1"/>
          <p:nvPr/>
        </p:nvSpPr>
        <p:spPr>
          <a:xfrm>
            <a:off x="9895180" y="3350971"/>
            <a:ext cx="1729588" cy="384048"/>
          </a:xfrm>
          <a:prstGeom prst="rect">
            <a:avLst/>
          </a:prstGeom>
          <a:noFill/>
          <a:ln/>
        </p:spPr>
        <p:txBody>
          <a:bodyPr wrap="square" lIns="0" tIns="0" rIns="0" bIns="0" rtlCol="0" anchor="t"/>
          <a:lstStyle/>
          <a:p>
            <a:pPr indent="0" marL="0">
              <a:buNone/>
            </a:pPr>
            <a:r>
              <a:rPr lang="en-US" sz="2400" b="1" dirty="0">
                <a:solidFill>
                  <a:srgbClr val="F0C96B"/>
                </a:solidFill>
                <a:latin typeface="Arial" pitchFamily="34" charset="0"/>
                <a:ea typeface="Arial" pitchFamily="34" charset="-122"/>
                <a:cs typeface="Arial" pitchFamily="34" charset="-120"/>
              </a:rPr>
              <a:t>$775,908</a:t>
            </a:r>
            <a:endParaRPr lang="en-US" sz="2400" dirty="0"/>
          </a:p>
        </p:txBody>
      </p:sp>
      <p:sp>
        <p:nvSpPr>
          <p:cNvPr id="27" name="Text 23"/>
          <p:cNvSpPr txBox="1"/>
          <p:nvPr/>
        </p:nvSpPr>
        <p:spPr>
          <a:xfrm>
            <a:off x="7543800" y="4100779"/>
            <a:ext cx="4190695" cy="1324864"/>
          </a:xfrm>
          <a:prstGeom prst="rect">
            <a:avLst/>
          </a:prstGeom>
          <a:noFill/>
          <a:ln/>
        </p:spPr>
        <p:txBody>
          <a:bodyPr wrap="square" lIns="0" tIns="0" rIns="0" bIns="0" rtlCol="0" anchor="t"/>
          <a:lstStyle/>
          <a:p>
            <a:pPr marL="165100" indent="-165100">
              <a:spcAft>
                <a:spcPts val="8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Gross:</a:t>
            </a:r>
            <a:r>
              <a:rPr lang="en-US" sz="1400" dirty="0">
                <a:solidFill>
                  <a:srgbClr val="E8E8F0"/>
                </a:solidFill>
                <a:latin typeface="Arial" pitchFamily="34" charset="0"/>
                <a:ea typeface="Arial" pitchFamily="34" charset="-122"/>
                <a:cs typeface="Arial" pitchFamily="34" charset="-120"/>
              </a:rPr>
              <a:t> $1,108,440 individual sales · $775,908 partner (70%) · $332,532 platform (30%)</a:t>
            </a:r>
            <a:endParaRPr lang="en-US" sz="1400" dirty="0"/>
          </a:p>
          <a:p>
            <a:pPr marL="165100" indent="-165100">
              <a:spcAft>
                <a:spcPts val="800"/>
              </a:spcAft>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Depth pays:</a:t>
            </a:r>
            <a:r>
              <a:rPr lang="en-US" sz="1400" dirty="0">
                <a:solidFill>
                  <a:srgbClr val="E8E8F0"/>
                </a:solidFill>
                <a:latin typeface="Arial" pitchFamily="34" charset="0"/>
                <a:ea typeface="Arial" pitchFamily="34" charset="-122"/>
                <a:cs typeface="Arial" pitchFamily="34" charset="-120"/>
              </a:rPr>
              <a:t> L3/L4 courses bring about 50% of gross from about 17% of paid enrolments</a:t>
            </a:r>
            <a:endParaRPr lang="en-US" sz="1400" dirty="0"/>
          </a:p>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Not included:</a:t>
            </a:r>
            <a:r>
              <a:rPr lang="en-US" sz="1400" dirty="0">
                <a:solidFill>
                  <a:srgbClr val="E8E8F0"/>
                </a:solidFill>
                <a:latin typeface="Arial" pitchFamily="34" charset="0"/>
                <a:ea typeface="Arial" pitchFamily="34" charset="-122"/>
                <a:cs typeface="Arial" pitchFamily="34" charset="-120"/>
              </a:rPr>
              <a:t> team-licence revenue</a:t>
            </a:r>
            <a:endParaRPr lang="en-US" sz="1400" dirty="0"/>
          </a:p>
        </p:txBody>
      </p:sp>
      <p:sp>
        <p:nvSpPr>
          <p:cNvPr id="28" name="Shape 24"/>
          <p:cNvSpPr/>
          <p:nvPr/>
        </p:nvSpPr>
        <p:spPr>
          <a:xfrm>
            <a:off x="7543800" y="5687568"/>
            <a:ext cx="1873971" cy="219456"/>
          </a:xfrm>
          <a:prstGeom prst="roundRect">
            <a:avLst>
              <a:gd name="adj" fmla="val 50000"/>
            </a:avLst>
          </a:prstGeom>
          <a:solidFill>
            <a:srgbClr val="1B1B27"/>
          </a:solidFill>
          <a:ln w="9525">
            <a:solidFill>
              <a:srgbClr val="3A3A50"/>
            </a:solidFill>
            <a:prstDash val="solid"/>
          </a:ln>
        </p:spPr>
      </p:sp>
      <p:sp>
        <p:nvSpPr>
          <p:cNvPr id="29" name="Shape 25"/>
          <p:cNvSpPr/>
          <p:nvPr/>
        </p:nvSpPr>
        <p:spPr>
          <a:xfrm>
            <a:off x="7635240" y="5760720"/>
            <a:ext cx="73152" cy="73152"/>
          </a:xfrm>
          <a:prstGeom prst="ellipse">
            <a:avLst/>
          </a:prstGeom>
          <a:solidFill>
            <a:srgbClr val="F0C96B"/>
          </a:solidFill>
          <a:ln/>
        </p:spPr>
      </p:sp>
      <p:sp>
        <p:nvSpPr>
          <p:cNvPr id="30" name="Text 26"/>
          <p:cNvSpPr txBox="1"/>
          <p:nvPr/>
        </p:nvSpPr>
        <p:spPr>
          <a:xfrm>
            <a:off x="7763256" y="5687568"/>
            <a:ext cx="1617939" cy="219456"/>
          </a:xfrm>
          <a:prstGeom prst="rect">
            <a:avLst/>
          </a:prstGeom>
          <a:noFill/>
          <a:ln/>
        </p:spPr>
        <p:txBody>
          <a:bodyPr wrap="square" lIns="0" tIns="0" rIns="0" bIns="0" rtlCol="0" anchor="ctr"/>
          <a:lstStyle/>
          <a:p>
            <a:pPr indent="0" marL="0">
              <a:buNone/>
            </a:pPr>
            <a:r>
              <a:rPr lang="en-US" sz="800" b="1" spc="60" kern="0" dirty="0">
                <a:solidFill>
                  <a:srgbClr val="D6D6E4"/>
                </a:solidFill>
                <a:latin typeface="Arial" pitchFamily="34" charset="0"/>
                <a:ea typeface="Arial" pitchFamily="34" charset="-122"/>
                <a:cs typeface="Arial" pitchFamily="34" charset="-120"/>
              </a:rPr>
              <a:t>ILLUSTRATIVE MOCK DATA</a:t>
            </a:r>
            <a:endParaRPr lang="en-US" sz="800" dirty="0"/>
          </a:p>
        </p:txBody>
      </p:sp>
      <p:sp>
        <p:nvSpPr>
          <p:cNvPr id="31" name="Text 27"/>
          <p:cNvSpPr txBox="1"/>
          <p:nvPr/>
        </p:nvSpPr>
        <p:spPr>
          <a:xfrm>
            <a:off x="7543800" y="5961888"/>
            <a:ext cx="4190695" cy="179832"/>
          </a:xfrm>
          <a:prstGeom prst="rect">
            <a:avLst/>
          </a:prstGeom>
          <a:noFill/>
          <a:ln/>
        </p:spPr>
        <p:txBody>
          <a:bodyPr wrap="square" lIns="0" tIns="0" rIns="0" bIns="0" rtlCol="0" anchor="t"/>
          <a:lstStyle/>
          <a:p>
            <a:pPr indent="0" marL="0">
              <a:buNone/>
            </a:pPr>
            <a:r>
              <a:rPr lang="en-US" sz="1000" dirty="0">
                <a:solidFill>
                  <a:srgbClr val="B4B4C8"/>
                </a:solidFill>
                <a:latin typeface="Arial" pitchFamily="34" charset="0"/>
                <a:ea typeface="Arial" pitchFamily="34" charset="-122"/>
                <a:cs typeface="Arial" pitchFamily="34" charset="-120"/>
              </a:rPr>
              <a:t>Fictitious Tether academy; no partnership or real traction implied</a:t>
            </a:r>
            <a:endParaRPr lang="en-US" sz="1000" dirty="0"/>
          </a:p>
        </p:txBody>
      </p:sp>
      <p:sp>
        <p:nvSpPr>
          <p:cNvPr id="32" name="Text 28"/>
          <p:cNvSpPr txBox="1"/>
          <p:nvPr/>
        </p:nvSpPr>
        <p:spPr>
          <a:xfrm>
            <a:off x="457200" y="6510528"/>
            <a:ext cx="8686800" cy="182880"/>
          </a:xfrm>
          <a:prstGeom prst="rect">
            <a:avLst/>
          </a:prstGeom>
          <a:noFill/>
          <a:ln/>
        </p:spPr>
        <p:txBody>
          <a:bodyPr wrap="square" lIns="0" tIns="0" rIns="0" bIns="0" rtlCol="0" anchor="t"/>
          <a:lstStyle/>
          <a:p>
            <a:pPr indent="0" marL="0">
              <a:buNone/>
            </a:pPr>
            <a:r>
              <a:rPr lang="en-US" sz="900" dirty="0">
                <a:solidFill>
                  <a:srgbClr val="8E8EA2"/>
                </a:solidFill>
                <a:latin typeface="Arial" pitchFamily="34" charset="0"/>
                <a:ea typeface="Arial" pitchFamily="34" charset="-122"/>
                <a:cs typeface="Arial" pitchFamily="34" charset="-120"/>
              </a:rPr>
              <a:t>Illustrative mock data · Tether is a partner-roadmap target only; no agreement implied</a:t>
            </a:r>
            <a:endParaRPr lang="en-US" sz="900" dirty="0"/>
          </a:p>
        </p:txBody>
      </p:sp>
      <p:sp>
        <p:nvSpPr>
          <p:cNvPr id="33" name="Text 29"/>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269751"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032007"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TECHNOLOGY</a:t>
            </a:r>
            <a:endParaRPr lang="en-US" sz="900" dirty="0"/>
          </a:p>
        </p:txBody>
      </p:sp>
      <p:sp>
        <p:nvSpPr>
          <p:cNvPr id="5" name="Text 2"/>
          <p:cNvSpPr txBox="1"/>
          <p:nvPr/>
        </p:nvSpPr>
        <p:spPr>
          <a:xfrm>
            <a:off x="457200" y="768096"/>
            <a:ext cx="7406640" cy="990295"/>
          </a:xfrm>
          <a:prstGeom prst="rect">
            <a:avLst/>
          </a:prstGeom>
          <a:noFill/>
          <a:ln/>
        </p:spPr>
        <p:txBody>
          <a:bodyPr wrap="square" lIns="0" tIns="0" rIns="0" bIns="0" rtlCol="0" anchor="t"/>
          <a:lstStyle/>
          <a:p>
            <a:pPr indent="0" marL="0">
              <a:lnSpc>
                <a:spcPct val="93000"/>
              </a:lnSpc>
              <a:buNone/>
            </a:pPr>
            <a:r>
              <a:rPr lang="en-US" sz="3300" b="1" dirty="0">
                <a:solidFill>
                  <a:srgbClr val="FFFFFF"/>
                </a:solidFill>
                <a:latin typeface="Arial" pitchFamily="34" charset="0"/>
                <a:ea typeface="Arial" pitchFamily="34" charset="-122"/>
                <a:cs typeface="Arial" pitchFamily="34" charset="-120"/>
              </a:rPr>
              <a:t>Technology: Open edX at the core, AWS around it, no fork</a:t>
            </a:r>
            <a:endParaRPr lang="en-US" sz="3300" dirty="0"/>
          </a:p>
        </p:txBody>
      </p:sp>
      <p:sp>
        <p:nvSpPr>
          <p:cNvPr id="6" name="Text 3"/>
          <p:cNvSpPr txBox="1"/>
          <p:nvPr/>
        </p:nvSpPr>
        <p:spPr>
          <a:xfrm>
            <a:off x="8275320" y="770839"/>
            <a:ext cx="3459175" cy="941832"/>
          </a:xfrm>
          <a:prstGeom prst="rect">
            <a:avLst/>
          </a:prstGeom>
          <a:noFill/>
          <a:ln/>
        </p:spPr>
        <p:txBody>
          <a:bodyPr wrap="square" lIns="0" tIns="0" rIns="0" bIns="0" rtlCol="0" anchor="b"/>
          <a:lstStyle/>
          <a:p>
            <a:pPr indent="0" marL="0">
              <a:buNone/>
            </a:pPr>
            <a:r>
              <a:rPr lang="en-US" sz="1500" dirty="0">
                <a:solidFill>
                  <a:srgbClr val="B4B4C8"/>
                </a:solidFill>
                <a:latin typeface="Arial" pitchFamily="34" charset="0"/>
                <a:ea typeface="Arial" pitchFamily="34" charset="-122"/>
                <a:cs typeface="Arial" pitchFamily="34" charset="-120"/>
              </a:rPr>
              <a:t>Tutor 22 (Verawood), a Chronopoli Tutor plugin and 8 Django apps; upstream updates arrive with “tutor upgrade”</a:t>
            </a:r>
            <a:endParaRPr lang="en-US" sz="1500" dirty="0"/>
          </a:p>
        </p:txBody>
      </p:sp>
      <p:sp>
        <p:nvSpPr>
          <p:cNvPr id="7" name="Shape 4"/>
          <p:cNvSpPr/>
          <p:nvPr/>
        </p:nvSpPr>
        <p:spPr>
          <a:xfrm>
            <a:off x="457200" y="1996135"/>
            <a:ext cx="11277295" cy="463715"/>
          </a:xfrm>
          <a:prstGeom prst="roundRect">
            <a:avLst>
              <a:gd name="adj" fmla="val 15775"/>
            </a:avLst>
          </a:prstGeom>
          <a:solidFill>
            <a:srgbClr val="171722"/>
          </a:solidFill>
          <a:ln w="9525">
            <a:solidFill>
              <a:srgbClr val="2C2C3E"/>
            </a:solidFill>
            <a:prstDash val="solid"/>
          </a:ln>
        </p:spPr>
      </p:sp>
      <p:sp>
        <p:nvSpPr>
          <p:cNvPr id="8" name="Shape 5"/>
          <p:cNvSpPr/>
          <p:nvPr/>
        </p:nvSpPr>
        <p:spPr>
          <a:xfrm>
            <a:off x="585216" y="2063401"/>
            <a:ext cx="329184" cy="329184"/>
          </a:xfrm>
          <a:prstGeom prst="ellipse">
            <a:avLst/>
          </a:prstGeom>
          <a:solidFill>
            <a:srgbClr val="1E1A10"/>
          </a:solidFill>
          <a:ln w="9525">
            <a:solidFill>
              <a:srgbClr val="5A4A22"/>
            </a:solidFill>
            <a:prstDash val="solid"/>
          </a:ln>
        </p:spPr>
      </p:sp>
      <p:pic>
        <p:nvPicPr>
          <p:cNvPr id="9" name="Image 0" descr="preencoded.png">    </p:cNvPr>
          <p:cNvPicPr>
            <a:picLocks noChangeAspect="1"/>
          </p:cNvPicPr>
          <p:nvPr/>
        </p:nvPicPr>
        <p:blipFill>
          <a:blip r:embed="rId2"/>
          <a:stretch>
            <a:fillRect/>
          </a:stretch>
        </p:blipFill>
        <p:spPr>
          <a:xfrm>
            <a:off x="667512" y="2145697"/>
            <a:ext cx="164592" cy="164592"/>
          </a:xfrm>
          <a:prstGeom prst="rect">
            <a:avLst/>
          </a:prstGeom>
        </p:spPr>
      </p:pic>
      <p:sp>
        <p:nvSpPr>
          <p:cNvPr id="10" name="Text 6"/>
          <p:cNvSpPr txBox="1"/>
          <p:nvPr/>
        </p:nvSpPr>
        <p:spPr>
          <a:xfrm>
            <a:off x="1024128" y="1996135"/>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Edge</a:t>
            </a:r>
            <a:endParaRPr lang="en-US" sz="1300" dirty="0"/>
          </a:p>
        </p:txBody>
      </p:sp>
      <p:sp>
        <p:nvSpPr>
          <p:cNvPr id="11" name="Text 7"/>
          <p:cNvSpPr txBox="1"/>
          <p:nvPr/>
        </p:nvSpPr>
        <p:spPr>
          <a:xfrm>
            <a:off x="3035808" y="1996135"/>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Route53 (5 subdomains + wildcard) · CloudFront · ACM/TLS · Amazon SES</a:t>
            </a:r>
            <a:endParaRPr lang="en-US" sz="1200" dirty="0"/>
          </a:p>
        </p:txBody>
      </p:sp>
      <p:sp>
        <p:nvSpPr>
          <p:cNvPr id="12" name="Text 8"/>
          <p:cNvSpPr txBox="1"/>
          <p:nvPr/>
        </p:nvSpPr>
        <p:spPr>
          <a:xfrm>
            <a:off x="10372039" y="1996135"/>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AWS SERVICES</a:t>
            </a:r>
            <a:endParaRPr lang="en-US" sz="800" dirty="0"/>
          </a:p>
        </p:txBody>
      </p:sp>
      <p:sp>
        <p:nvSpPr>
          <p:cNvPr id="13" name="Shape 9"/>
          <p:cNvSpPr/>
          <p:nvPr/>
        </p:nvSpPr>
        <p:spPr>
          <a:xfrm>
            <a:off x="457200" y="2533002"/>
            <a:ext cx="11277295" cy="463715"/>
          </a:xfrm>
          <a:prstGeom prst="roundRect">
            <a:avLst>
              <a:gd name="adj" fmla="val 15775"/>
            </a:avLst>
          </a:prstGeom>
          <a:solidFill>
            <a:srgbClr val="171722"/>
          </a:solidFill>
          <a:ln w="9525">
            <a:solidFill>
              <a:srgbClr val="2C2C3E"/>
            </a:solidFill>
            <a:prstDash val="solid"/>
          </a:ln>
        </p:spPr>
      </p:sp>
      <p:sp>
        <p:nvSpPr>
          <p:cNvPr id="14" name="Shape 10"/>
          <p:cNvSpPr/>
          <p:nvPr/>
        </p:nvSpPr>
        <p:spPr>
          <a:xfrm>
            <a:off x="585216" y="2600268"/>
            <a:ext cx="329184" cy="329184"/>
          </a:xfrm>
          <a:prstGeom prst="ellipse">
            <a:avLst/>
          </a:prstGeom>
          <a:solidFill>
            <a:srgbClr val="1E1A10"/>
          </a:solidFill>
          <a:ln w="9525">
            <a:solidFill>
              <a:srgbClr val="5A4A22"/>
            </a:solidFill>
            <a:prstDash val="solid"/>
          </a:ln>
        </p:spPr>
      </p:sp>
      <p:pic>
        <p:nvPicPr>
          <p:cNvPr id="15" name="Image 1" descr="preencoded.png">    </p:cNvPr>
          <p:cNvPicPr>
            <a:picLocks noChangeAspect="1"/>
          </p:cNvPicPr>
          <p:nvPr/>
        </p:nvPicPr>
        <p:blipFill>
          <a:blip r:embed="rId3"/>
          <a:stretch>
            <a:fillRect/>
          </a:stretch>
        </p:blipFill>
        <p:spPr>
          <a:xfrm>
            <a:off x="667512" y="2682564"/>
            <a:ext cx="164592" cy="164592"/>
          </a:xfrm>
          <a:prstGeom prst="rect">
            <a:avLst/>
          </a:prstGeom>
        </p:spPr>
      </p:pic>
      <p:sp>
        <p:nvSpPr>
          <p:cNvPr id="16" name="Text 11"/>
          <p:cNvSpPr txBox="1"/>
          <p:nvPr/>
        </p:nvSpPr>
        <p:spPr>
          <a:xfrm>
            <a:off x="1024128" y="2533002"/>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LMS core</a:t>
            </a:r>
            <a:endParaRPr lang="en-US" sz="1300" dirty="0"/>
          </a:p>
        </p:txBody>
      </p:sp>
      <p:sp>
        <p:nvSpPr>
          <p:cNvPr id="17" name="Text 12"/>
          <p:cNvSpPr txBox="1"/>
          <p:nvPr/>
        </p:nvSpPr>
        <p:spPr>
          <a:xfrm>
            <a:off x="3035808" y="2533002"/>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Open edX LMS, Studio and MFEs on Tutor 22 · Celery workers · Caddy</a:t>
            </a:r>
            <a:endParaRPr lang="en-US" sz="1200" dirty="0"/>
          </a:p>
        </p:txBody>
      </p:sp>
      <p:sp>
        <p:nvSpPr>
          <p:cNvPr id="18" name="Text 13"/>
          <p:cNvSpPr txBox="1"/>
          <p:nvPr/>
        </p:nvSpPr>
        <p:spPr>
          <a:xfrm>
            <a:off x="10372039" y="2533002"/>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UPSTREAM</a:t>
            </a:r>
            <a:endParaRPr lang="en-US" sz="800" dirty="0"/>
          </a:p>
        </p:txBody>
      </p:sp>
      <p:sp>
        <p:nvSpPr>
          <p:cNvPr id="19" name="Shape 14"/>
          <p:cNvSpPr/>
          <p:nvPr/>
        </p:nvSpPr>
        <p:spPr>
          <a:xfrm>
            <a:off x="457200" y="3069869"/>
            <a:ext cx="11277295" cy="463715"/>
          </a:xfrm>
          <a:prstGeom prst="roundRect">
            <a:avLst>
              <a:gd name="adj" fmla="val 15775"/>
            </a:avLst>
          </a:prstGeom>
          <a:solidFill>
            <a:srgbClr val="231E12"/>
          </a:solidFill>
          <a:ln w="15875">
            <a:solidFill>
              <a:srgbClr val="C9A84C"/>
            </a:solidFill>
            <a:prstDash val="solid"/>
          </a:ln>
        </p:spPr>
      </p:sp>
      <p:sp>
        <p:nvSpPr>
          <p:cNvPr id="20" name="Shape 15"/>
          <p:cNvSpPr/>
          <p:nvPr/>
        </p:nvSpPr>
        <p:spPr>
          <a:xfrm>
            <a:off x="585216" y="3137135"/>
            <a:ext cx="329184" cy="329184"/>
          </a:xfrm>
          <a:prstGeom prst="ellipse">
            <a:avLst/>
          </a:prstGeom>
          <a:solidFill>
            <a:srgbClr val="1E1A10"/>
          </a:solidFill>
          <a:ln w="9525">
            <a:solidFill>
              <a:srgbClr val="5A4A22"/>
            </a:solidFill>
            <a:prstDash val="solid"/>
          </a:ln>
        </p:spPr>
      </p:sp>
      <p:pic>
        <p:nvPicPr>
          <p:cNvPr id="21" name="Image 2" descr="preencoded.png">    </p:cNvPr>
          <p:cNvPicPr>
            <a:picLocks noChangeAspect="1"/>
          </p:cNvPicPr>
          <p:nvPr/>
        </p:nvPicPr>
        <p:blipFill>
          <a:blip r:embed="rId4"/>
          <a:stretch>
            <a:fillRect/>
          </a:stretch>
        </p:blipFill>
        <p:spPr>
          <a:xfrm>
            <a:off x="667512" y="3219431"/>
            <a:ext cx="164592" cy="164592"/>
          </a:xfrm>
          <a:prstGeom prst="rect">
            <a:avLst/>
          </a:prstGeom>
        </p:spPr>
      </p:pic>
      <p:sp>
        <p:nvSpPr>
          <p:cNvPr id="22" name="Text 16"/>
          <p:cNvSpPr txBox="1"/>
          <p:nvPr/>
        </p:nvSpPr>
        <p:spPr>
          <a:xfrm>
            <a:off x="1024128" y="3069869"/>
            <a:ext cx="1920240" cy="463715"/>
          </a:xfrm>
          <a:prstGeom prst="rect">
            <a:avLst/>
          </a:prstGeom>
          <a:noFill/>
          <a:ln/>
        </p:spPr>
        <p:txBody>
          <a:bodyPr wrap="square" lIns="0" tIns="0" rIns="0" bIns="0" rtlCol="0" anchor="ctr"/>
          <a:lstStyle/>
          <a:p>
            <a:pPr indent="0" marL="0">
              <a:buNone/>
            </a:pPr>
            <a:r>
              <a:rPr lang="en-US" sz="1300" b="1" dirty="0">
                <a:solidFill>
                  <a:srgbClr val="F0C96B"/>
                </a:solidFill>
                <a:latin typeface="Arial" pitchFamily="34" charset="0"/>
                <a:ea typeface="Arial" pitchFamily="34" charset="-122"/>
                <a:cs typeface="Arial" pitchFamily="34" charset="-120"/>
              </a:rPr>
              <a:t>Chronopoli apps</a:t>
            </a:r>
            <a:endParaRPr lang="en-US" sz="1300" dirty="0"/>
          </a:p>
        </p:txBody>
      </p:sp>
      <p:sp>
        <p:nvSpPr>
          <p:cNvPr id="23" name="Text 17"/>
          <p:cNvSpPr txBox="1"/>
          <p:nvPr/>
        </p:nvSpPr>
        <p:spPr>
          <a:xfrm>
            <a:off x="3035808" y="3069869"/>
            <a:ext cx="7235647" cy="463715"/>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onboarding · partners · discourse_sso · ecommerce · symposia · academy · ai_tutor · masterclass</a:t>
            </a:r>
            <a:endParaRPr lang="en-US" sz="1200" dirty="0"/>
          </a:p>
        </p:txBody>
      </p:sp>
      <p:sp>
        <p:nvSpPr>
          <p:cNvPr id="24" name="Text 18"/>
          <p:cNvSpPr txBox="1"/>
          <p:nvPr/>
        </p:nvSpPr>
        <p:spPr>
          <a:xfrm>
            <a:off x="10372039" y="3069869"/>
            <a:ext cx="1234440" cy="463715"/>
          </a:xfrm>
          <a:prstGeom prst="rect">
            <a:avLst/>
          </a:prstGeom>
          <a:noFill/>
          <a:ln/>
        </p:spPr>
        <p:txBody>
          <a:bodyPr wrap="square" lIns="0" tIns="0" rIns="0" bIns="0" rtlCol="0" anchor="ctr"/>
          <a:lstStyle/>
          <a:p>
            <a:pPr algn="r" indent="0" marL="0">
              <a:buNone/>
            </a:pPr>
            <a:r>
              <a:rPr lang="en-US" sz="800" b="1" spc="80" kern="0" dirty="0">
                <a:solidFill>
                  <a:srgbClr val="F0C96B"/>
                </a:solidFill>
                <a:latin typeface="Arial" pitchFamily="34" charset="0"/>
                <a:ea typeface="Arial" pitchFamily="34" charset="-122"/>
                <a:cs typeface="Arial" pitchFamily="34" charset="-120"/>
              </a:rPr>
              <a:t>OUR CODE</a:t>
            </a:r>
            <a:endParaRPr lang="en-US" sz="800" dirty="0"/>
          </a:p>
        </p:txBody>
      </p:sp>
      <p:sp>
        <p:nvSpPr>
          <p:cNvPr id="25" name="Shape 19"/>
          <p:cNvSpPr/>
          <p:nvPr/>
        </p:nvSpPr>
        <p:spPr>
          <a:xfrm>
            <a:off x="457200" y="3606737"/>
            <a:ext cx="11277295" cy="463715"/>
          </a:xfrm>
          <a:prstGeom prst="roundRect">
            <a:avLst>
              <a:gd name="adj" fmla="val 15775"/>
            </a:avLst>
          </a:prstGeom>
          <a:solidFill>
            <a:srgbClr val="171722"/>
          </a:solidFill>
          <a:ln w="9525">
            <a:solidFill>
              <a:srgbClr val="2C2C3E"/>
            </a:solidFill>
            <a:prstDash val="solid"/>
          </a:ln>
        </p:spPr>
      </p:sp>
      <p:sp>
        <p:nvSpPr>
          <p:cNvPr id="26" name="Shape 20"/>
          <p:cNvSpPr/>
          <p:nvPr/>
        </p:nvSpPr>
        <p:spPr>
          <a:xfrm>
            <a:off x="585216" y="3674002"/>
            <a:ext cx="329184" cy="329184"/>
          </a:xfrm>
          <a:prstGeom prst="ellipse">
            <a:avLst/>
          </a:prstGeom>
          <a:solidFill>
            <a:srgbClr val="1E1A10"/>
          </a:solidFill>
          <a:ln w="9525">
            <a:solidFill>
              <a:srgbClr val="5A4A22"/>
            </a:solidFill>
            <a:prstDash val="solid"/>
          </a:ln>
        </p:spPr>
      </p:sp>
      <p:pic>
        <p:nvPicPr>
          <p:cNvPr id="27" name="Image 3" descr="preencoded.png">    </p:cNvPr>
          <p:cNvPicPr>
            <a:picLocks noChangeAspect="1"/>
          </p:cNvPicPr>
          <p:nvPr/>
        </p:nvPicPr>
        <p:blipFill>
          <a:blip r:embed="rId5"/>
          <a:stretch>
            <a:fillRect/>
          </a:stretch>
        </p:blipFill>
        <p:spPr>
          <a:xfrm>
            <a:off x="667512" y="3756298"/>
            <a:ext cx="164592" cy="164592"/>
          </a:xfrm>
          <a:prstGeom prst="rect">
            <a:avLst/>
          </a:prstGeom>
        </p:spPr>
      </p:pic>
      <p:sp>
        <p:nvSpPr>
          <p:cNvPr id="28" name="Text 21"/>
          <p:cNvSpPr txBox="1"/>
          <p:nvPr/>
        </p:nvSpPr>
        <p:spPr>
          <a:xfrm>
            <a:off x="1024128" y="3606737"/>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AI &amp; media</a:t>
            </a:r>
            <a:endParaRPr lang="en-US" sz="1300" dirty="0"/>
          </a:p>
        </p:txBody>
      </p:sp>
      <p:sp>
        <p:nvSpPr>
          <p:cNvPr id="29" name="Text 22"/>
          <p:cNvSpPr txBox="1"/>
          <p:nvPr/>
        </p:nvSpPr>
        <p:spPr>
          <a:xfrm>
            <a:off x="3035808" y="3606737"/>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Bedrock (Claude Sonnet 4.6 + Knowledge Base) · Transcribe · Textract · IVS</a:t>
            </a:r>
            <a:endParaRPr lang="en-US" sz="1200" dirty="0"/>
          </a:p>
        </p:txBody>
      </p:sp>
      <p:sp>
        <p:nvSpPr>
          <p:cNvPr id="30" name="Text 23"/>
          <p:cNvSpPr txBox="1"/>
          <p:nvPr/>
        </p:nvSpPr>
        <p:spPr>
          <a:xfrm>
            <a:off x="10372039" y="3606737"/>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AWS SERVICES</a:t>
            </a:r>
            <a:endParaRPr lang="en-US" sz="800" dirty="0"/>
          </a:p>
        </p:txBody>
      </p:sp>
      <p:sp>
        <p:nvSpPr>
          <p:cNvPr id="31" name="Shape 24"/>
          <p:cNvSpPr/>
          <p:nvPr/>
        </p:nvSpPr>
        <p:spPr>
          <a:xfrm>
            <a:off x="457200" y="4143604"/>
            <a:ext cx="11277295" cy="463715"/>
          </a:xfrm>
          <a:prstGeom prst="roundRect">
            <a:avLst>
              <a:gd name="adj" fmla="val 15775"/>
            </a:avLst>
          </a:prstGeom>
          <a:solidFill>
            <a:srgbClr val="171722"/>
          </a:solidFill>
          <a:ln w="9525">
            <a:solidFill>
              <a:srgbClr val="2C2C3E"/>
            </a:solidFill>
            <a:prstDash val="solid"/>
          </a:ln>
        </p:spPr>
      </p:sp>
      <p:sp>
        <p:nvSpPr>
          <p:cNvPr id="32" name="Shape 25"/>
          <p:cNvSpPr/>
          <p:nvPr/>
        </p:nvSpPr>
        <p:spPr>
          <a:xfrm>
            <a:off x="585216" y="4210869"/>
            <a:ext cx="329184" cy="329184"/>
          </a:xfrm>
          <a:prstGeom prst="ellipse">
            <a:avLst/>
          </a:prstGeom>
          <a:solidFill>
            <a:srgbClr val="1E1A10"/>
          </a:solidFill>
          <a:ln w="9525">
            <a:solidFill>
              <a:srgbClr val="5A4A22"/>
            </a:solidFill>
            <a:prstDash val="solid"/>
          </a:ln>
        </p:spPr>
      </p:sp>
      <p:pic>
        <p:nvPicPr>
          <p:cNvPr id="33" name="Image 4" descr="preencoded.png">    </p:cNvPr>
          <p:cNvPicPr>
            <a:picLocks noChangeAspect="1"/>
          </p:cNvPicPr>
          <p:nvPr/>
        </p:nvPicPr>
        <p:blipFill>
          <a:blip r:embed="rId6"/>
          <a:stretch>
            <a:fillRect/>
          </a:stretch>
        </p:blipFill>
        <p:spPr>
          <a:xfrm>
            <a:off x="667512" y="4293165"/>
            <a:ext cx="164592" cy="164592"/>
          </a:xfrm>
          <a:prstGeom prst="rect">
            <a:avLst/>
          </a:prstGeom>
        </p:spPr>
      </p:pic>
      <p:sp>
        <p:nvSpPr>
          <p:cNvPr id="34" name="Text 26"/>
          <p:cNvSpPr txBox="1"/>
          <p:nvPr/>
        </p:nvSpPr>
        <p:spPr>
          <a:xfrm>
            <a:off x="1024128" y="4143604"/>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Pipeline</a:t>
            </a:r>
            <a:endParaRPr lang="en-US" sz="1300" dirty="0"/>
          </a:p>
        </p:txBody>
      </p:sp>
      <p:sp>
        <p:nvSpPr>
          <p:cNvPr id="35" name="Text 27"/>
          <p:cNvSpPr txBox="1"/>
          <p:nvPr/>
        </p:nvSpPr>
        <p:spPr>
          <a:xfrm>
            <a:off x="3035808" y="4143604"/>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EventBridge, then Step Functions, 8 Python 3.13 Lambdas and an SQS approval queue</a:t>
            </a:r>
            <a:endParaRPr lang="en-US" sz="1200" dirty="0"/>
          </a:p>
        </p:txBody>
      </p:sp>
      <p:sp>
        <p:nvSpPr>
          <p:cNvPr id="36" name="Text 28"/>
          <p:cNvSpPr txBox="1"/>
          <p:nvPr/>
        </p:nvSpPr>
        <p:spPr>
          <a:xfrm>
            <a:off x="10372039" y="4143604"/>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AWS SERVERLESS</a:t>
            </a:r>
            <a:endParaRPr lang="en-US" sz="800" dirty="0"/>
          </a:p>
        </p:txBody>
      </p:sp>
      <p:sp>
        <p:nvSpPr>
          <p:cNvPr id="37" name="Shape 29"/>
          <p:cNvSpPr/>
          <p:nvPr/>
        </p:nvSpPr>
        <p:spPr>
          <a:xfrm>
            <a:off x="457200" y="4680471"/>
            <a:ext cx="11277295" cy="463715"/>
          </a:xfrm>
          <a:prstGeom prst="roundRect">
            <a:avLst>
              <a:gd name="adj" fmla="val 15775"/>
            </a:avLst>
          </a:prstGeom>
          <a:solidFill>
            <a:srgbClr val="171722"/>
          </a:solidFill>
          <a:ln w="9525">
            <a:solidFill>
              <a:srgbClr val="2C2C3E"/>
            </a:solidFill>
            <a:prstDash val="solid"/>
          </a:ln>
        </p:spPr>
      </p:sp>
      <p:sp>
        <p:nvSpPr>
          <p:cNvPr id="38" name="Shape 30"/>
          <p:cNvSpPr/>
          <p:nvPr/>
        </p:nvSpPr>
        <p:spPr>
          <a:xfrm>
            <a:off x="585216" y="4747736"/>
            <a:ext cx="329184" cy="329184"/>
          </a:xfrm>
          <a:prstGeom prst="ellipse">
            <a:avLst/>
          </a:prstGeom>
          <a:solidFill>
            <a:srgbClr val="1E1A10"/>
          </a:solidFill>
          <a:ln w="9525">
            <a:solidFill>
              <a:srgbClr val="5A4A22"/>
            </a:solidFill>
            <a:prstDash val="solid"/>
          </a:ln>
        </p:spPr>
      </p:sp>
      <p:pic>
        <p:nvPicPr>
          <p:cNvPr id="39" name="Image 5" descr="preencoded.png">    </p:cNvPr>
          <p:cNvPicPr>
            <a:picLocks noChangeAspect="1"/>
          </p:cNvPicPr>
          <p:nvPr/>
        </p:nvPicPr>
        <p:blipFill>
          <a:blip r:embed="rId7"/>
          <a:stretch>
            <a:fillRect/>
          </a:stretch>
        </p:blipFill>
        <p:spPr>
          <a:xfrm>
            <a:off x="667512" y="4830032"/>
            <a:ext cx="164592" cy="164592"/>
          </a:xfrm>
          <a:prstGeom prst="rect">
            <a:avLst/>
          </a:prstGeom>
        </p:spPr>
      </p:pic>
      <p:sp>
        <p:nvSpPr>
          <p:cNvPr id="40" name="Text 31"/>
          <p:cNvSpPr txBox="1"/>
          <p:nvPr/>
        </p:nvSpPr>
        <p:spPr>
          <a:xfrm>
            <a:off x="1024128" y="4680471"/>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Data</a:t>
            </a:r>
            <a:endParaRPr lang="en-US" sz="1300" dirty="0"/>
          </a:p>
        </p:txBody>
      </p:sp>
      <p:sp>
        <p:nvSpPr>
          <p:cNvPr id="41" name="Text 32"/>
          <p:cNvSpPr txBox="1"/>
          <p:nvPr/>
        </p:nvSpPr>
        <p:spPr>
          <a:xfrm>
            <a:off x="3035808" y="4680471"/>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RDS MySQL 8.4 · Redis · MongoDB · S3 (media, static, backups, knowledge)</a:t>
            </a:r>
            <a:endParaRPr lang="en-US" sz="1200" dirty="0"/>
          </a:p>
        </p:txBody>
      </p:sp>
      <p:sp>
        <p:nvSpPr>
          <p:cNvPr id="42" name="Text 33"/>
          <p:cNvSpPr txBox="1"/>
          <p:nvPr/>
        </p:nvSpPr>
        <p:spPr>
          <a:xfrm>
            <a:off x="10372039" y="4680471"/>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AWS MANAGED</a:t>
            </a:r>
            <a:endParaRPr lang="en-US" sz="800" dirty="0"/>
          </a:p>
        </p:txBody>
      </p:sp>
      <p:sp>
        <p:nvSpPr>
          <p:cNvPr id="43" name="Shape 34"/>
          <p:cNvSpPr/>
          <p:nvPr/>
        </p:nvSpPr>
        <p:spPr>
          <a:xfrm>
            <a:off x="457200" y="5217338"/>
            <a:ext cx="11277295" cy="463715"/>
          </a:xfrm>
          <a:prstGeom prst="roundRect">
            <a:avLst>
              <a:gd name="adj" fmla="val 15775"/>
            </a:avLst>
          </a:prstGeom>
          <a:solidFill>
            <a:srgbClr val="171722"/>
          </a:solidFill>
          <a:ln w="9525">
            <a:solidFill>
              <a:srgbClr val="2C2C3E"/>
            </a:solidFill>
            <a:prstDash val="solid"/>
          </a:ln>
        </p:spPr>
      </p:sp>
      <p:sp>
        <p:nvSpPr>
          <p:cNvPr id="44" name="Shape 35"/>
          <p:cNvSpPr/>
          <p:nvPr/>
        </p:nvSpPr>
        <p:spPr>
          <a:xfrm>
            <a:off x="585216" y="5284603"/>
            <a:ext cx="329184" cy="329184"/>
          </a:xfrm>
          <a:prstGeom prst="ellipse">
            <a:avLst/>
          </a:prstGeom>
          <a:solidFill>
            <a:srgbClr val="1E1A10"/>
          </a:solidFill>
          <a:ln w="9525">
            <a:solidFill>
              <a:srgbClr val="5A4A22"/>
            </a:solidFill>
            <a:prstDash val="solid"/>
          </a:ln>
        </p:spPr>
      </p:sp>
      <p:pic>
        <p:nvPicPr>
          <p:cNvPr id="45" name="Image 6" descr="preencoded.png">    </p:cNvPr>
          <p:cNvPicPr>
            <a:picLocks noChangeAspect="1"/>
          </p:cNvPicPr>
          <p:nvPr/>
        </p:nvPicPr>
        <p:blipFill>
          <a:blip r:embed="rId8"/>
          <a:stretch>
            <a:fillRect/>
          </a:stretch>
        </p:blipFill>
        <p:spPr>
          <a:xfrm>
            <a:off x="667512" y="5366899"/>
            <a:ext cx="164592" cy="164592"/>
          </a:xfrm>
          <a:prstGeom prst="rect">
            <a:avLst/>
          </a:prstGeom>
        </p:spPr>
      </p:pic>
      <p:sp>
        <p:nvSpPr>
          <p:cNvPr id="46" name="Text 36"/>
          <p:cNvSpPr txBox="1"/>
          <p:nvPr/>
        </p:nvSpPr>
        <p:spPr>
          <a:xfrm>
            <a:off x="1024128" y="5217338"/>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Extensions</a:t>
            </a:r>
            <a:endParaRPr lang="en-US" sz="1300" dirty="0"/>
          </a:p>
        </p:txBody>
      </p:sp>
      <p:sp>
        <p:nvSpPr>
          <p:cNvPr id="47" name="Text 37"/>
          <p:cNvSpPr txBox="1"/>
          <p:nvPr/>
        </p:nvSpPr>
        <p:spPr>
          <a:xfrm>
            <a:off x="3035808" y="5217338"/>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Discourse 3.5 · Opencast 20.4 · Presenton, behind nginx</a:t>
            </a:r>
            <a:endParaRPr lang="en-US" sz="1200" dirty="0"/>
          </a:p>
        </p:txBody>
      </p:sp>
      <p:sp>
        <p:nvSpPr>
          <p:cNvPr id="48" name="Text 38"/>
          <p:cNvSpPr txBox="1"/>
          <p:nvPr/>
        </p:nvSpPr>
        <p:spPr>
          <a:xfrm>
            <a:off x="10372039" y="5217338"/>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SELF-HOSTED</a:t>
            </a:r>
            <a:endParaRPr lang="en-US" sz="800" dirty="0"/>
          </a:p>
        </p:txBody>
      </p:sp>
      <p:sp>
        <p:nvSpPr>
          <p:cNvPr id="49" name="Shape 39"/>
          <p:cNvSpPr/>
          <p:nvPr/>
        </p:nvSpPr>
        <p:spPr>
          <a:xfrm>
            <a:off x="457200" y="5754205"/>
            <a:ext cx="11277295" cy="463715"/>
          </a:xfrm>
          <a:prstGeom prst="roundRect">
            <a:avLst>
              <a:gd name="adj" fmla="val 15775"/>
            </a:avLst>
          </a:prstGeom>
          <a:solidFill>
            <a:srgbClr val="171722"/>
          </a:solidFill>
          <a:ln w="9525">
            <a:solidFill>
              <a:srgbClr val="2C2C3E"/>
            </a:solidFill>
            <a:prstDash val="solid"/>
          </a:ln>
        </p:spPr>
      </p:sp>
      <p:sp>
        <p:nvSpPr>
          <p:cNvPr id="50" name="Shape 40"/>
          <p:cNvSpPr/>
          <p:nvPr/>
        </p:nvSpPr>
        <p:spPr>
          <a:xfrm>
            <a:off x="585216" y="5821470"/>
            <a:ext cx="329184" cy="329184"/>
          </a:xfrm>
          <a:prstGeom prst="ellipse">
            <a:avLst/>
          </a:prstGeom>
          <a:solidFill>
            <a:srgbClr val="1E1A10"/>
          </a:solidFill>
          <a:ln w="9525">
            <a:solidFill>
              <a:srgbClr val="5A4A22"/>
            </a:solidFill>
            <a:prstDash val="solid"/>
          </a:ln>
        </p:spPr>
      </p:sp>
      <p:pic>
        <p:nvPicPr>
          <p:cNvPr id="51" name="Image 7" descr="preencoded.png">    </p:cNvPr>
          <p:cNvPicPr>
            <a:picLocks noChangeAspect="1"/>
          </p:cNvPicPr>
          <p:nvPr/>
        </p:nvPicPr>
        <p:blipFill>
          <a:blip r:embed="rId9"/>
          <a:stretch>
            <a:fillRect/>
          </a:stretch>
        </p:blipFill>
        <p:spPr>
          <a:xfrm>
            <a:off x="667512" y="5903766"/>
            <a:ext cx="164592" cy="164592"/>
          </a:xfrm>
          <a:prstGeom prst="rect">
            <a:avLst/>
          </a:prstGeom>
        </p:spPr>
      </p:pic>
      <p:sp>
        <p:nvSpPr>
          <p:cNvPr id="52" name="Text 41"/>
          <p:cNvSpPr txBox="1"/>
          <p:nvPr/>
        </p:nvSpPr>
        <p:spPr>
          <a:xfrm>
            <a:off x="1024128" y="5754205"/>
            <a:ext cx="1920240" cy="463715"/>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Ops</a:t>
            </a:r>
            <a:endParaRPr lang="en-US" sz="1300" dirty="0"/>
          </a:p>
        </p:txBody>
      </p:sp>
      <p:sp>
        <p:nvSpPr>
          <p:cNvPr id="53" name="Text 42"/>
          <p:cNvSpPr txBox="1"/>
          <p:nvPr/>
        </p:nvSpPr>
        <p:spPr>
          <a:xfrm>
            <a:off x="3035808" y="5754205"/>
            <a:ext cx="7235647" cy="463715"/>
          </a:xfrm>
          <a:prstGeom prst="rect">
            <a:avLst/>
          </a:prstGeom>
          <a:noFill/>
          <a:ln/>
        </p:spPr>
        <p:txBody>
          <a:bodyPr wrap="square" lIns="0" tIns="0" rIns="0" bIns="0" rtlCol="0" anchor="ctr"/>
          <a:lstStyle/>
          <a:p>
            <a:pPr indent="0" marL="0">
              <a:buNone/>
            </a:pPr>
            <a:r>
              <a:rPr lang="en-US" sz="1200" dirty="0">
                <a:solidFill>
                  <a:srgbClr val="E8E8F0"/>
                </a:solidFill>
                <a:latin typeface="Arial" pitchFamily="34" charset="0"/>
                <a:ea typeface="Arial" pitchFamily="34" charset="-122"/>
                <a:cs typeface="Arial" pitchFamily="34" charset="-120"/>
              </a:rPr>
              <a:t>Terraform · GitHub Actions · me-central-1 · EC2 ~$430/mo to EKS $600–$2,000/mo</a:t>
            </a:r>
            <a:endParaRPr lang="en-US" sz="1200" dirty="0"/>
          </a:p>
        </p:txBody>
      </p:sp>
      <p:sp>
        <p:nvSpPr>
          <p:cNvPr id="54" name="Text 43"/>
          <p:cNvSpPr txBox="1"/>
          <p:nvPr/>
        </p:nvSpPr>
        <p:spPr>
          <a:xfrm>
            <a:off x="10372039" y="5754205"/>
            <a:ext cx="1234440" cy="463715"/>
          </a:xfrm>
          <a:prstGeom prst="rect">
            <a:avLst/>
          </a:prstGeom>
          <a:noFill/>
          <a:ln/>
        </p:spPr>
        <p:txBody>
          <a:bodyPr wrap="square" lIns="0" tIns="0" rIns="0" bIns="0" rtlCol="0" anchor="ctr"/>
          <a:lstStyle/>
          <a:p>
            <a:pPr algn="r" indent="0" marL="0">
              <a:buNone/>
            </a:pPr>
            <a:r>
              <a:rPr lang="en-US" sz="800" b="1" spc="80" kern="0" dirty="0">
                <a:solidFill>
                  <a:srgbClr val="8E8EA2"/>
                </a:solidFill>
                <a:latin typeface="Arial" pitchFamily="34" charset="0"/>
                <a:ea typeface="Arial" pitchFamily="34" charset="-122"/>
                <a:cs typeface="Arial" pitchFamily="34" charset="-120"/>
              </a:rPr>
              <a:t>INFRA AS CODE</a:t>
            </a:r>
            <a:endParaRPr lang="en-US" sz="800" dirty="0"/>
          </a:p>
        </p:txBody>
      </p:sp>
      <p:sp>
        <p:nvSpPr>
          <p:cNvPr id="55" name="Text 44"/>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1974609"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1736865"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STATUS · HONEST VIEW</a:t>
            </a:r>
            <a:endParaRPr lang="en-US" sz="900" dirty="0"/>
          </a:p>
        </p:txBody>
      </p:sp>
      <p:sp>
        <p:nvSpPr>
          <p:cNvPr id="5" name="Text 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Where we are: code complete, not yet live</a:t>
            </a:r>
            <a:endParaRPr lang="en-US" sz="3600" dirty="0"/>
          </a:p>
        </p:txBody>
      </p:sp>
      <p:sp>
        <p:nvSpPr>
          <p:cNvPr id="6" name="Text 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A September 2026 technical review of the full codebase found 37 verified issues, and fixing has begun</a:t>
            </a:r>
            <a:endParaRPr lang="en-US" sz="1600" dirty="0"/>
          </a:p>
        </p:txBody>
      </p:sp>
      <p:sp>
        <p:nvSpPr>
          <p:cNvPr id="7" name="Shape 4"/>
          <p:cNvSpPr/>
          <p:nvPr/>
        </p:nvSpPr>
        <p:spPr>
          <a:xfrm>
            <a:off x="457200" y="1942795"/>
            <a:ext cx="2613584" cy="2743200"/>
          </a:xfrm>
          <a:prstGeom prst="roundRect">
            <a:avLst>
              <a:gd name="adj" fmla="val 4198"/>
            </a:avLst>
          </a:prstGeom>
          <a:solidFill>
            <a:srgbClr val="171722"/>
          </a:solidFill>
          <a:ln w="9525">
            <a:solidFill>
              <a:srgbClr val="2C2C3E"/>
            </a:solidFill>
            <a:prstDash val="solid"/>
          </a:ln>
        </p:spPr>
      </p:sp>
      <p:sp>
        <p:nvSpPr>
          <p:cNvPr id="8" name="Text 5"/>
          <p:cNvSpPr txBox="1"/>
          <p:nvPr/>
        </p:nvSpPr>
        <p:spPr>
          <a:xfrm>
            <a:off x="685800" y="2125675"/>
            <a:ext cx="2156384" cy="777240"/>
          </a:xfrm>
          <a:prstGeom prst="rect">
            <a:avLst/>
          </a:prstGeom>
          <a:noFill/>
          <a:ln/>
        </p:spPr>
        <p:txBody>
          <a:bodyPr wrap="square" lIns="0" tIns="0" rIns="0" bIns="0" rtlCol="0" anchor="t"/>
          <a:lstStyle/>
          <a:p>
            <a:pPr indent="0" marL="0">
              <a:buNone/>
            </a:pPr>
            <a:r>
              <a:rPr lang="en-US" sz="5000" b="1" dirty="0">
                <a:solidFill>
                  <a:srgbClr val="F0C96B"/>
                </a:solidFill>
                <a:latin typeface="Arial" pitchFamily="34" charset="0"/>
                <a:ea typeface="Arial" pitchFamily="34" charset="-122"/>
                <a:cs typeface="Arial" pitchFamily="34" charset="-120"/>
              </a:rPr>
              <a:t>37</a:t>
            </a:r>
            <a:endParaRPr lang="en-US" sz="5000" dirty="0"/>
          </a:p>
        </p:txBody>
      </p:sp>
      <p:sp>
        <p:nvSpPr>
          <p:cNvPr id="9" name="Text 6"/>
          <p:cNvSpPr txBox="1"/>
          <p:nvPr/>
        </p:nvSpPr>
        <p:spPr>
          <a:xfrm>
            <a:off x="685800" y="2902915"/>
            <a:ext cx="2156384"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verified findings</a:t>
            </a:r>
            <a:endParaRPr lang="en-US" sz="1500" dirty="0"/>
          </a:p>
        </p:txBody>
      </p:sp>
      <p:sp>
        <p:nvSpPr>
          <p:cNvPr id="10" name="Text 7"/>
          <p:cNvSpPr txBox="1"/>
          <p:nvPr/>
        </p:nvSpPr>
        <p:spPr>
          <a:xfrm>
            <a:off x="685800" y="3222955"/>
            <a:ext cx="2156384" cy="612648"/>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Each one confirmed by reading the code or running a check</a:t>
            </a:r>
            <a:endParaRPr lang="en-US" sz="1100" dirty="0"/>
          </a:p>
        </p:txBody>
      </p:sp>
      <p:sp>
        <p:nvSpPr>
          <p:cNvPr id="11" name="Shape 8"/>
          <p:cNvSpPr/>
          <p:nvPr/>
        </p:nvSpPr>
        <p:spPr>
          <a:xfrm>
            <a:off x="3345104" y="1942795"/>
            <a:ext cx="2613584" cy="2743200"/>
          </a:xfrm>
          <a:prstGeom prst="roundRect">
            <a:avLst>
              <a:gd name="adj" fmla="val 4198"/>
            </a:avLst>
          </a:prstGeom>
          <a:solidFill>
            <a:srgbClr val="171722"/>
          </a:solidFill>
          <a:ln w="9525">
            <a:solidFill>
              <a:srgbClr val="2C2C3E"/>
            </a:solidFill>
            <a:prstDash val="solid"/>
          </a:ln>
        </p:spPr>
      </p:sp>
      <p:sp>
        <p:nvSpPr>
          <p:cNvPr id="12" name="Text 9"/>
          <p:cNvSpPr txBox="1"/>
          <p:nvPr/>
        </p:nvSpPr>
        <p:spPr>
          <a:xfrm>
            <a:off x="3573704" y="2125675"/>
            <a:ext cx="2156384" cy="777240"/>
          </a:xfrm>
          <a:prstGeom prst="rect">
            <a:avLst/>
          </a:prstGeom>
          <a:noFill/>
          <a:ln/>
        </p:spPr>
        <p:txBody>
          <a:bodyPr wrap="square" lIns="0" tIns="0" rIns="0" bIns="0" rtlCol="0" anchor="t"/>
          <a:lstStyle/>
          <a:p>
            <a:pPr indent="0" marL="0">
              <a:buNone/>
            </a:pPr>
            <a:r>
              <a:rPr lang="en-US" sz="5000" b="1" dirty="0">
                <a:solidFill>
                  <a:srgbClr val="F0C96B"/>
                </a:solidFill>
                <a:latin typeface="Arial" pitchFamily="34" charset="0"/>
                <a:ea typeface="Arial" pitchFamily="34" charset="-122"/>
                <a:cs typeface="Arial" pitchFamily="34" charset="-120"/>
              </a:rPr>
              <a:t>8 + 3</a:t>
            </a:r>
            <a:endParaRPr lang="en-US" sz="5000" dirty="0"/>
          </a:p>
        </p:txBody>
      </p:sp>
      <p:sp>
        <p:nvSpPr>
          <p:cNvPr id="13" name="Text 10"/>
          <p:cNvSpPr txBox="1"/>
          <p:nvPr/>
        </p:nvSpPr>
        <p:spPr>
          <a:xfrm>
            <a:off x="3573704" y="2902915"/>
            <a:ext cx="2156384"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fixed + partly fixed</a:t>
            </a:r>
            <a:endParaRPr lang="en-US" sz="1500" dirty="0"/>
          </a:p>
        </p:txBody>
      </p:sp>
      <p:sp>
        <p:nvSpPr>
          <p:cNvPr id="14" name="Text 11"/>
          <p:cNvSpPr txBox="1"/>
          <p:nvPr/>
        </p:nvSpPr>
        <p:spPr>
          <a:xfrm>
            <a:off x="3573704" y="3222955"/>
            <a:ext cx="2156384" cy="612648"/>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26 open: the six sprints close 22 of them and finish all 3 partly fixed</a:t>
            </a:r>
            <a:endParaRPr lang="en-US" sz="1100" dirty="0"/>
          </a:p>
        </p:txBody>
      </p:sp>
      <p:sp>
        <p:nvSpPr>
          <p:cNvPr id="15" name="Shape 12"/>
          <p:cNvSpPr/>
          <p:nvPr/>
        </p:nvSpPr>
        <p:spPr>
          <a:xfrm>
            <a:off x="6233008" y="1942795"/>
            <a:ext cx="2613584" cy="2743200"/>
          </a:xfrm>
          <a:prstGeom prst="roundRect">
            <a:avLst>
              <a:gd name="adj" fmla="val 4198"/>
            </a:avLst>
          </a:prstGeom>
          <a:solidFill>
            <a:srgbClr val="171722"/>
          </a:solidFill>
          <a:ln w="9525">
            <a:solidFill>
              <a:srgbClr val="2C2C3E"/>
            </a:solidFill>
            <a:prstDash val="solid"/>
          </a:ln>
        </p:spPr>
      </p:sp>
      <p:sp>
        <p:nvSpPr>
          <p:cNvPr id="16" name="Text 13"/>
          <p:cNvSpPr txBox="1"/>
          <p:nvPr/>
        </p:nvSpPr>
        <p:spPr>
          <a:xfrm>
            <a:off x="6461608" y="2125675"/>
            <a:ext cx="2156384" cy="777240"/>
          </a:xfrm>
          <a:prstGeom prst="rect">
            <a:avLst/>
          </a:prstGeom>
          <a:noFill/>
          <a:ln/>
        </p:spPr>
        <p:txBody>
          <a:bodyPr wrap="square" lIns="0" tIns="0" rIns="0" bIns="0" rtlCol="0" anchor="t"/>
          <a:lstStyle/>
          <a:p>
            <a:pPr indent="0" marL="0">
              <a:buNone/>
            </a:pPr>
            <a:r>
              <a:rPr lang="en-US" sz="5000" b="1" dirty="0">
                <a:solidFill>
                  <a:srgbClr val="F0C96B"/>
                </a:solidFill>
                <a:latin typeface="Arial" pitchFamily="34" charset="0"/>
                <a:ea typeface="Arial" pitchFamily="34" charset="-122"/>
                <a:cs typeface="Arial" pitchFamily="34" charset="-120"/>
              </a:rPr>
              <a:t>15</a:t>
            </a:r>
            <a:endParaRPr lang="en-US" sz="5000" dirty="0"/>
          </a:p>
        </p:txBody>
      </p:sp>
      <p:sp>
        <p:nvSpPr>
          <p:cNvPr id="17" name="Text 14"/>
          <p:cNvSpPr txBox="1"/>
          <p:nvPr/>
        </p:nvSpPr>
        <p:spPr>
          <a:xfrm>
            <a:off x="6461608" y="2902915"/>
            <a:ext cx="2156384"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update commits</a:t>
            </a:r>
            <a:endParaRPr lang="en-US" sz="1500" dirty="0"/>
          </a:p>
        </p:txBody>
      </p:sp>
      <p:sp>
        <p:nvSpPr>
          <p:cNvPr id="18" name="Text 15"/>
          <p:cNvSpPr txBox="1"/>
          <p:nvPr/>
        </p:nvSpPr>
        <p:spPr>
          <a:xfrm>
            <a:off x="6461608" y="3222955"/>
            <a:ext cx="2156384" cy="960120"/>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On the review branch, e.g. the Bedrock model swap, the AI-tutor chat-history fix and the Terraform stack refresh</a:t>
            </a:r>
            <a:endParaRPr lang="en-US" sz="1100" dirty="0"/>
          </a:p>
        </p:txBody>
      </p:sp>
      <p:sp>
        <p:nvSpPr>
          <p:cNvPr id="19" name="Shape 16"/>
          <p:cNvSpPr/>
          <p:nvPr/>
        </p:nvSpPr>
        <p:spPr>
          <a:xfrm>
            <a:off x="9120911" y="1942795"/>
            <a:ext cx="2613584" cy="2743200"/>
          </a:xfrm>
          <a:prstGeom prst="roundRect">
            <a:avLst>
              <a:gd name="adj" fmla="val 4198"/>
            </a:avLst>
          </a:prstGeom>
          <a:solidFill>
            <a:srgbClr val="171722"/>
          </a:solidFill>
          <a:ln w="9525">
            <a:solidFill>
              <a:srgbClr val="2C2C3E"/>
            </a:solidFill>
            <a:prstDash val="solid"/>
          </a:ln>
        </p:spPr>
      </p:sp>
      <p:sp>
        <p:nvSpPr>
          <p:cNvPr id="20" name="Text 17"/>
          <p:cNvSpPr txBox="1"/>
          <p:nvPr/>
        </p:nvSpPr>
        <p:spPr>
          <a:xfrm>
            <a:off x="9349511" y="2125675"/>
            <a:ext cx="2156384" cy="777240"/>
          </a:xfrm>
          <a:prstGeom prst="rect">
            <a:avLst/>
          </a:prstGeom>
          <a:noFill/>
          <a:ln/>
        </p:spPr>
        <p:txBody>
          <a:bodyPr wrap="square" lIns="0" tIns="0" rIns="0" bIns="0" rtlCol="0" anchor="t"/>
          <a:lstStyle/>
          <a:p>
            <a:pPr indent="0" marL="0">
              <a:buNone/>
            </a:pPr>
            <a:r>
              <a:rPr lang="en-US" sz="5000" b="1" dirty="0">
                <a:solidFill>
                  <a:srgbClr val="F0C96B"/>
                </a:solidFill>
                <a:latin typeface="Arial" pitchFamily="34" charset="0"/>
                <a:ea typeface="Arial" pitchFamily="34" charset="-122"/>
                <a:cs typeface="Arial" pitchFamily="34" charset="-120"/>
              </a:rPr>
              <a:t>16</a:t>
            </a:r>
            <a:endParaRPr lang="en-US" sz="5000" dirty="0"/>
          </a:p>
        </p:txBody>
      </p:sp>
      <p:sp>
        <p:nvSpPr>
          <p:cNvPr id="21" name="Text 18"/>
          <p:cNvSpPr txBox="1"/>
          <p:nvPr/>
        </p:nvSpPr>
        <p:spPr>
          <a:xfrm>
            <a:off x="9349511" y="2902915"/>
            <a:ext cx="2156384"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stack updates</a:t>
            </a:r>
            <a:endParaRPr lang="en-US" sz="1500" dirty="0"/>
          </a:p>
        </p:txBody>
      </p:sp>
      <p:sp>
        <p:nvSpPr>
          <p:cNvPr id="22" name="Text 19"/>
          <p:cNvSpPr txBox="1"/>
          <p:nvPr/>
        </p:nvSpPr>
        <p:spPr>
          <a:xfrm>
            <a:off x="9349511" y="3222955"/>
            <a:ext cx="2156384" cy="1051560"/>
          </a:xfrm>
          <a:prstGeom prst="rect">
            <a:avLst/>
          </a:prstGeom>
          <a:noFill/>
          <a:ln/>
        </p:spPr>
        <p:txBody>
          <a:bodyPr wrap="square" lIns="0" tIns="0" rIns="0" bIns="0" rtlCol="0" anchor="t"/>
          <a:lstStyle/>
          <a:p>
            <a:pPr indent="0" marL="0">
              <a:buNone/>
            </a:pPr>
            <a:r>
              <a:rPr lang="en-US" sz="1100" dirty="0">
                <a:solidFill>
                  <a:srgbClr val="B4B4C8"/>
                </a:solidFill>
                <a:latin typeface="Arial" pitchFamily="34" charset="0"/>
                <a:ea typeface="Arial" pitchFamily="34" charset="-122"/>
                <a:cs typeface="Arial" pitchFamily="34" charset="-120"/>
              </a:rPr>
              <a:t>Including:</a:t>
            </a:r>
            <a:endParaRPr lang="en-US" sz="1100" dirty="0"/>
          </a:p>
          <a:p>
            <a:pPr indent="0" marL="0">
              <a:buNone/>
            </a:pPr>
            <a:r>
              <a:rPr lang="en-US" sz="1100" dirty="0">
                <a:solidFill>
                  <a:srgbClr val="B4B4C8"/>
                </a:solidFill>
                <a:latin typeface="Arial" pitchFamily="34" charset="0"/>
                <a:ea typeface="Arial" pitchFamily="34" charset="-122"/>
                <a:cs typeface="Arial" pitchFamily="34" charset="-120"/>
              </a:rPr>
              <a:t>Tutor 22 (Verawood)</a:t>
            </a:r>
            <a:endParaRPr lang="en-US" sz="1100" dirty="0"/>
          </a:p>
          <a:p>
            <a:pPr indent="0" marL="0">
              <a:buNone/>
            </a:pPr>
            <a:r>
              <a:rPr lang="en-US" sz="1100" dirty="0">
                <a:solidFill>
                  <a:srgbClr val="B4B4C8"/>
                </a:solidFill>
                <a:latin typeface="Arial" pitchFamily="34" charset="0"/>
                <a:ea typeface="Arial" pitchFamily="34" charset="-122"/>
                <a:cs typeface="Arial" pitchFamily="34" charset="-120"/>
              </a:rPr>
              <a:t>MySQL 8.4 · Ubuntu 24.04</a:t>
            </a:r>
            <a:endParaRPr lang="en-US" sz="1100" dirty="0"/>
          </a:p>
          <a:p>
            <a:pPr indent="0" marL="0">
              <a:buNone/>
            </a:pPr>
            <a:r>
              <a:rPr lang="en-US" sz="1100" dirty="0">
                <a:solidFill>
                  <a:srgbClr val="B4B4C8"/>
                </a:solidFill>
                <a:latin typeface="Arial" pitchFamily="34" charset="0"/>
                <a:ea typeface="Arial" pitchFamily="34" charset="-122"/>
                <a:cs typeface="Arial" pitchFamily="34" charset="-120"/>
              </a:rPr>
              <a:t>Python 3.13 Lambdas</a:t>
            </a:r>
            <a:endParaRPr lang="en-US" sz="1100" dirty="0"/>
          </a:p>
          <a:p>
            <a:pPr indent="0" marL="0">
              <a:buNone/>
            </a:pPr>
            <a:r>
              <a:rPr lang="en-US" sz="1100" dirty="0">
                <a:solidFill>
                  <a:srgbClr val="B4B4C8"/>
                </a:solidFill>
                <a:latin typeface="Arial" pitchFamily="34" charset="0"/>
                <a:ea typeface="Arial" pitchFamily="34" charset="-122"/>
                <a:cs typeface="Arial" pitchFamily="34" charset="-120"/>
              </a:rPr>
              <a:t>Claude Sonnet 4.6</a:t>
            </a:r>
            <a:endParaRPr lang="en-US" sz="1100" dirty="0"/>
          </a:p>
          <a:p>
            <a:pPr indent="0" marL="0">
              <a:buNone/>
            </a:pPr>
            <a:r>
              <a:rPr lang="en-US" sz="1100" dirty="0">
                <a:solidFill>
                  <a:srgbClr val="B4B4C8"/>
                </a:solidFill>
                <a:latin typeface="Arial" pitchFamily="34" charset="0"/>
                <a:ea typeface="Arial" pitchFamily="34" charset="-122"/>
                <a:cs typeface="Arial" pitchFamily="34" charset="-120"/>
              </a:rPr>
              <a:t>Pinned Opencast and Presenton</a:t>
            </a:r>
            <a:endParaRPr lang="en-US" sz="1100" dirty="0"/>
          </a:p>
        </p:txBody>
      </p:sp>
      <p:sp>
        <p:nvSpPr>
          <p:cNvPr id="23" name="Shape 20"/>
          <p:cNvSpPr/>
          <p:nvPr/>
        </p:nvSpPr>
        <p:spPr>
          <a:xfrm>
            <a:off x="685800" y="4228795"/>
            <a:ext cx="331396" cy="91440"/>
          </a:xfrm>
          <a:prstGeom prst="rect">
            <a:avLst/>
          </a:prstGeom>
          <a:solidFill>
            <a:srgbClr val="EF4444"/>
          </a:solidFill>
          <a:ln/>
        </p:spPr>
      </p:sp>
      <p:sp>
        <p:nvSpPr>
          <p:cNvPr id="24" name="Shape 21"/>
          <p:cNvSpPr/>
          <p:nvPr/>
        </p:nvSpPr>
        <p:spPr>
          <a:xfrm>
            <a:off x="1035484" y="4228795"/>
            <a:ext cx="1030764" cy="91440"/>
          </a:xfrm>
          <a:prstGeom prst="rect">
            <a:avLst/>
          </a:prstGeom>
          <a:solidFill>
            <a:srgbClr val="F59E0B"/>
          </a:solidFill>
          <a:ln/>
        </p:spPr>
      </p:sp>
      <p:sp>
        <p:nvSpPr>
          <p:cNvPr id="25" name="Shape 22"/>
          <p:cNvSpPr/>
          <p:nvPr/>
        </p:nvSpPr>
        <p:spPr>
          <a:xfrm>
            <a:off x="2084535" y="4228795"/>
            <a:ext cx="739360" cy="91440"/>
          </a:xfrm>
          <a:prstGeom prst="rect">
            <a:avLst/>
          </a:prstGeom>
          <a:solidFill>
            <a:srgbClr val="8E8EA2"/>
          </a:solidFill>
          <a:ln/>
        </p:spPr>
      </p:sp>
      <p:sp>
        <p:nvSpPr>
          <p:cNvPr id="26" name="Text 23"/>
          <p:cNvSpPr txBox="1"/>
          <p:nvPr/>
        </p:nvSpPr>
        <p:spPr>
          <a:xfrm>
            <a:off x="685800" y="4375099"/>
            <a:ext cx="2156384" cy="182880"/>
          </a:xfrm>
          <a:prstGeom prst="rect">
            <a:avLst/>
          </a:prstGeom>
          <a:noFill/>
          <a:ln/>
        </p:spPr>
        <p:txBody>
          <a:bodyPr wrap="square" lIns="0" tIns="0" rIns="0" bIns="0" rtlCol="0" anchor="t"/>
          <a:lstStyle/>
          <a:p>
            <a:pPr indent="0" marL="0">
              <a:buNone/>
            </a:pPr>
            <a:r>
              <a:rPr lang="en-US" sz="900" dirty="0">
                <a:solidFill>
                  <a:srgbClr val="EF4444"/>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6 critical   </a:t>
            </a:r>
            <a:r>
              <a:rPr lang="en-US" sz="900" dirty="0">
                <a:solidFill>
                  <a:srgbClr val="F59E0B"/>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18 high   </a:t>
            </a:r>
            <a:r>
              <a:rPr lang="en-US" sz="900" dirty="0">
                <a:solidFill>
                  <a:srgbClr val="8E8EA2"/>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13 medium</a:t>
            </a:r>
            <a:endParaRPr lang="en-US" sz="900" dirty="0"/>
          </a:p>
        </p:txBody>
      </p:sp>
      <p:sp>
        <p:nvSpPr>
          <p:cNvPr id="27" name="Shape 24"/>
          <p:cNvSpPr/>
          <p:nvPr/>
        </p:nvSpPr>
        <p:spPr>
          <a:xfrm>
            <a:off x="3573704" y="4228795"/>
            <a:ext cx="447957" cy="91440"/>
          </a:xfrm>
          <a:prstGeom prst="rect">
            <a:avLst/>
          </a:prstGeom>
          <a:solidFill>
            <a:srgbClr val="34D399"/>
          </a:solidFill>
          <a:ln/>
        </p:spPr>
      </p:sp>
      <p:sp>
        <p:nvSpPr>
          <p:cNvPr id="28" name="Shape 25"/>
          <p:cNvSpPr/>
          <p:nvPr/>
        </p:nvSpPr>
        <p:spPr>
          <a:xfrm>
            <a:off x="4039949" y="4228795"/>
            <a:ext cx="156554" cy="91440"/>
          </a:xfrm>
          <a:prstGeom prst="rect">
            <a:avLst/>
          </a:prstGeom>
          <a:solidFill>
            <a:srgbClr val="F0C96B"/>
          </a:solidFill>
          <a:ln/>
        </p:spPr>
      </p:sp>
      <p:sp>
        <p:nvSpPr>
          <p:cNvPr id="29" name="Shape 26"/>
          <p:cNvSpPr/>
          <p:nvPr/>
        </p:nvSpPr>
        <p:spPr>
          <a:xfrm>
            <a:off x="4214791" y="4228795"/>
            <a:ext cx="1497009" cy="91440"/>
          </a:xfrm>
          <a:prstGeom prst="rect">
            <a:avLst/>
          </a:prstGeom>
          <a:solidFill>
            <a:srgbClr val="5A5A70"/>
          </a:solidFill>
          <a:ln/>
        </p:spPr>
      </p:sp>
      <p:sp>
        <p:nvSpPr>
          <p:cNvPr id="30" name="Text 27"/>
          <p:cNvSpPr txBox="1"/>
          <p:nvPr/>
        </p:nvSpPr>
        <p:spPr>
          <a:xfrm>
            <a:off x="3573704" y="4375099"/>
            <a:ext cx="2156384" cy="182880"/>
          </a:xfrm>
          <a:prstGeom prst="rect">
            <a:avLst/>
          </a:prstGeom>
          <a:noFill/>
          <a:ln/>
        </p:spPr>
        <p:txBody>
          <a:bodyPr wrap="square" lIns="0" tIns="0" rIns="0" bIns="0" rtlCol="0" anchor="t"/>
          <a:lstStyle/>
          <a:p>
            <a:pPr indent="0" marL="0">
              <a:buNone/>
            </a:pPr>
            <a:r>
              <a:rPr lang="en-US" sz="900" dirty="0">
                <a:solidFill>
                  <a:srgbClr val="34D399"/>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8 fixed   </a:t>
            </a:r>
            <a:r>
              <a:rPr lang="en-US" sz="900" dirty="0">
                <a:solidFill>
                  <a:srgbClr val="F0C96B"/>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3 partly   </a:t>
            </a:r>
            <a:r>
              <a:rPr lang="en-US" sz="900" dirty="0">
                <a:solidFill>
                  <a:srgbClr val="5A5A70"/>
                </a:solidFill>
                <a:latin typeface="Arial" pitchFamily="34" charset="0"/>
                <a:ea typeface="Arial" pitchFamily="34" charset="-122"/>
                <a:cs typeface="Arial" pitchFamily="34" charset="-120"/>
              </a:rPr>
              <a:t>● </a:t>
            </a:r>
            <a:r>
              <a:rPr lang="en-US" sz="900" dirty="0">
                <a:solidFill>
                  <a:srgbClr val="8E8EA2"/>
                </a:solidFill>
                <a:latin typeface="Arial" pitchFamily="34" charset="0"/>
                <a:ea typeface="Arial" pitchFamily="34" charset="-122"/>
                <a:cs typeface="Arial" pitchFamily="34" charset="-120"/>
              </a:rPr>
              <a:t>26 open</a:t>
            </a:r>
            <a:endParaRPr lang="en-US" sz="900" dirty="0"/>
          </a:p>
        </p:txBody>
      </p:sp>
      <p:sp>
        <p:nvSpPr>
          <p:cNvPr id="31" name="Text 28"/>
          <p:cNvSpPr txBox="1"/>
          <p:nvPr/>
        </p:nvSpPr>
        <p:spPr>
          <a:xfrm>
            <a:off x="457200" y="5143195"/>
            <a:ext cx="2613584" cy="69494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Not live yet:</a:t>
            </a:r>
            <a:r>
              <a:rPr lang="en-US" sz="1400" dirty="0">
                <a:solidFill>
                  <a:srgbClr val="E8E8F0"/>
                </a:solidFill>
                <a:latin typeface="Arial" pitchFamily="34" charset="0"/>
                <a:ea typeface="Arial" pitchFamily="34" charset="-122"/>
                <a:cs typeface="Arial" pitchFamily="34" charset="-120"/>
              </a:rPr>
              <a:t> all feature code is written; the platform isn't deployed</a:t>
            </a:r>
            <a:endParaRPr lang="en-US" sz="1400" dirty="0"/>
          </a:p>
        </p:txBody>
      </p:sp>
      <p:sp>
        <p:nvSpPr>
          <p:cNvPr id="32" name="Text 29"/>
          <p:cNvSpPr txBox="1"/>
          <p:nvPr/>
        </p:nvSpPr>
        <p:spPr>
          <a:xfrm>
            <a:off x="3345104" y="5143195"/>
            <a:ext cx="5501488" cy="69494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What the screens are:</a:t>
            </a:r>
            <a:r>
              <a:rPr lang="en-US" sz="1400" dirty="0">
                <a:solidFill>
                  <a:srgbClr val="E8E8F0"/>
                </a:solidFill>
                <a:latin typeface="Arial" pitchFamily="34" charset="0"/>
                <a:ea typeface="Arial" pitchFamily="34" charset="-122"/>
                <a:cs typeface="Arial" pitchFamily="34" charset="-120"/>
              </a:rPr>
              <a:t> real Open edX that ran, real Chronopoli templates in a test harness, design prototypes for pages still to be built, real Opencast and Discourse</a:t>
            </a:r>
            <a:endParaRPr lang="en-US" sz="1400" dirty="0"/>
          </a:p>
        </p:txBody>
      </p:sp>
      <p:sp>
        <p:nvSpPr>
          <p:cNvPr id="33" name="Text 30"/>
          <p:cNvSpPr txBox="1"/>
          <p:nvPr/>
        </p:nvSpPr>
        <p:spPr>
          <a:xfrm>
            <a:off x="9120911" y="5143195"/>
            <a:ext cx="2613584" cy="694944"/>
          </a:xfrm>
          <a:prstGeom prst="rect">
            <a:avLst/>
          </a:prstGeom>
          <a:noFill/>
          <a:ln/>
        </p:spPr>
        <p:txBody>
          <a:bodyPr wrap="square" lIns="0" tIns="0" rIns="0" bIns="0" rtlCol="0" anchor="t"/>
          <a:lstStyle/>
          <a:p>
            <a:pPr marL="165100" indent="-165100">
              <a:buClr>
                <a:srgbClr val="C9A84C"/>
              </a:buClr>
              <a:buSzPct val="80000"/>
              <a:buChar char="●"/>
            </a:pPr>
            <a:r>
              <a:rPr lang="en-US" sz="1400" b="1" dirty="0">
                <a:solidFill>
                  <a:srgbClr val="FFFFFF"/>
                </a:solidFill>
                <a:latin typeface="Arial" pitchFamily="34" charset="0"/>
                <a:ea typeface="Arial" pitchFamily="34" charset="-122"/>
                <a:cs typeface="Arial" pitchFamily="34" charset="-120"/>
              </a:rPr>
              <a:t>Biggest blocker:</a:t>
            </a:r>
            <a:r>
              <a:rPr lang="en-US" sz="1400" dirty="0">
                <a:solidFill>
                  <a:srgbClr val="E8E8F0"/>
                </a:solidFill>
                <a:latin typeface="Arial" pitchFamily="34" charset="0"/>
                <a:ea typeface="Arial" pitchFamily="34" charset="-122"/>
                <a:cs typeface="Arial" pitchFamily="34" charset="-120"/>
              </a:rPr>
              <a:t> packaging the apps as edx-platform plugins (R-1, R-2)</a:t>
            </a:r>
            <a:endParaRPr lang="en-US" sz="1400" dirty="0"/>
          </a:p>
        </p:txBody>
      </p:sp>
      <p:sp>
        <p:nvSpPr>
          <p:cNvPr id="34" name="Text 31"/>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540420"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302676"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GO-LIVE PLAN · ORDER OF WORK, NOT DATES</a:t>
            </a:r>
            <a:endParaRPr lang="en-US" sz="900" dirty="0"/>
          </a:p>
        </p:txBody>
      </p:sp>
      <p:sp>
        <p:nvSpPr>
          <p:cNvPr id="5" name="Text 2"/>
          <p:cNvSpPr txBox="1"/>
          <p:nvPr/>
        </p:nvSpPr>
        <p:spPr>
          <a:xfrm>
            <a:off x="4271940" y="384048"/>
            <a:ext cx="7462556" cy="256032"/>
          </a:xfrm>
          <a:prstGeom prst="rect">
            <a:avLst/>
          </a:prstGeom>
          <a:noFill/>
          <a:ln/>
        </p:spPr>
        <p:txBody>
          <a:bodyPr wrap="square" lIns="0" tIns="0" rIns="0" bIns="0" rtlCol="0" anchor="ctr"/>
          <a:lstStyle/>
          <a:p>
            <a:pPr algn="r" indent="0" marL="0">
              <a:buNone/>
            </a:pPr>
            <a:r>
              <a:rPr lang="en-US" sz="1050" dirty="0">
                <a:solidFill>
                  <a:srgbClr val="8E8EA2"/>
                </a:solidFill>
                <a:latin typeface="Arial" pitchFamily="34" charset="0"/>
                <a:ea typeface="Arial" pitchFamily="34" charset="-122"/>
                <a:cs typeface="Arial" pitchFamily="34" charset="-120"/>
              </a:rPr>
              <a:t>Chips: review findings · gold = partly fixed, finished in that sprint</a:t>
            </a:r>
            <a:endParaRPr lang="en-US" sz="1050" dirty="0"/>
          </a:p>
        </p:txBody>
      </p:sp>
      <p:sp>
        <p:nvSpPr>
          <p:cNvPr id="6" name="Text 3"/>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Road to go-live: six sprints</a:t>
            </a:r>
            <a:endParaRPr lang="en-US" sz="3600" dirty="0"/>
          </a:p>
        </p:txBody>
      </p:sp>
      <p:sp>
        <p:nvSpPr>
          <p:cNvPr id="7" name="Text 4"/>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Each sprint closes a named set of review findings, then terraform apply and the first partner academy</a:t>
            </a:r>
            <a:endParaRPr lang="en-US" sz="1600" dirty="0"/>
          </a:p>
        </p:txBody>
      </p:sp>
      <p:sp>
        <p:nvSpPr>
          <p:cNvPr id="8" name="Shape 5"/>
          <p:cNvSpPr/>
          <p:nvPr/>
        </p:nvSpPr>
        <p:spPr>
          <a:xfrm>
            <a:off x="685800" y="2171395"/>
            <a:ext cx="9397746" cy="0"/>
          </a:xfrm>
          <a:prstGeom prst="line">
            <a:avLst/>
          </a:prstGeom>
          <a:noFill/>
          <a:ln w="15875">
            <a:solidFill>
              <a:srgbClr val="9B7A2E"/>
            </a:solidFill>
            <a:prstDash val="solid"/>
          </a:ln>
        </p:spPr>
      </p:sp>
      <p:sp>
        <p:nvSpPr>
          <p:cNvPr id="9" name="Shape 6"/>
          <p:cNvSpPr/>
          <p:nvPr/>
        </p:nvSpPr>
        <p:spPr>
          <a:xfrm>
            <a:off x="457200" y="1942795"/>
            <a:ext cx="457200" cy="457200"/>
          </a:xfrm>
          <a:prstGeom prst="ellipse">
            <a:avLst/>
          </a:prstGeom>
          <a:solidFill>
            <a:srgbClr val="1E1A10"/>
          </a:solidFill>
          <a:ln w="15875">
            <a:solidFill>
              <a:srgbClr val="C9A84C"/>
            </a:solidFill>
            <a:prstDash val="solid"/>
          </a:ln>
        </p:spPr>
      </p:sp>
      <p:sp>
        <p:nvSpPr>
          <p:cNvPr id="10" name="Text 7"/>
          <p:cNvSpPr txBox="1"/>
          <p:nvPr/>
        </p:nvSpPr>
        <p:spPr>
          <a:xfrm>
            <a:off x="457200"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1</a:t>
            </a:r>
            <a:endParaRPr lang="en-US" sz="1500" dirty="0"/>
          </a:p>
        </p:txBody>
      </p:sp>
      <p:sp>
        <p:nvSpPr>
          <p:cNvPr id="11" name="Text 8"/>
          <p:cNvSpPr txBox="1"/>
          <p:nvPr/>
        </p:nvSpPr>
        <p:spPr>
          <a:xfrm>
            <a:off x="457200"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Boot</a:t>
            </a:r>
            <a:endParaRPr lang="en-US" sz="1600" dirty="0"/>
          </a:p>
        </p:txBody>
      </p:sp>
      <p:sp>
        <p:nvSpPr>
          <p:cNvPr id="12" name="Text 9"/>
          <p:cNvSpPr txBox="1"/>
          <p:nvPr/>
        </p:nvSpPr>
        <p:spPr>
          <a:xfrm>
            <a:off x="457200"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Package the apps as edx-platform plugins; fix routing, templates and init</a:t>
            </a:r>
            <a:endParaRPr lang="en-US" sz="1200" dirty="0"/>
          </a:p>
        </p:txBody>
      </p:sp>
      <p:sp>
        <p:nvSpPr>
          <p:cNvPr id="13" name="Shape 10"/>
          <p:cNvSpPr/>
          <p:nvPr/>
        </p:nvSpPr>
        <p:spPr>
          <a:xfrm>
            <a:off x="457200" y="3917899"/>
            <a:ext cx="367063" cy="201168"/>
          </a:xfrm>
          <a:prstGeom prst="roundRect">
            <a:avLst>
              <a:gd name="adj" fmla="val 50000"/>
            </a:avLst>
          </a:prstGeom>
          <a:solidFill>
            <a:srgbClr val="1B1B27"/>
          </a:solidFill>
          <a:ln w="9525">
            <a:solidFill>
              <a:srgbClr val="3A3A50"/>
            </a:solidFill>
            <a:prstDash val="solid"/>
          </a:ln>
        </p:spPr>
      </p:sp>
      <p:sp>
        <p:nvSpPr>
          <p:cNvPr id="14" name="Text 11"/>
          <p:cNvSpPr txBox="1"/>
          <p:nvPr/>
        </p:nvSpPr>
        <p:spPr>
          <a:xfrm>
            <a:off x="457200"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a:t>
            </a:r>
            <a:endParaRPr lang="en-US" sz="900" dirty="0"/>
          </a:p>
        </p:txBody>
      </p:sp>
      <p:sp>
        <p:nvSpPr>
          <p:cNvPr id="15" name="Shape 12"/>
          <p:cNvSpPr/>
          <p:nvPr/>
        </p:nvSpPr>
        <p:spPr>
          <a:xfrm>
            <a:off x="879127" y="3917899"/>
            <a:ext cx="367063" cy="201168"/>
          </a:xfrm>
          <a:prstGeom prst="roundRect">
            <a:avLst>
              <a:gd name="adj" fmla="val 50000"/>
            </a:avLst>
          </a:prstGeom>
          <a:solidFill>
            <a:srgbClr val="1B1B27"/>
          </a:solidFill>
          <a:ln w="9525">
            <a:solidFill>
              <a:srgbClr val="3A3A50"/>
            </a:solidFill>
            <a:prstDash val="solid"/>
          </a:ln>
        </p:spPr>
      </p:sp>
      <p:sp>
        <p:nvSpPr>
          <p:cNvPr id="16" name="Text 13"/>
          <p:cNvSpPr txBox="1"/>
          <p:nvPr/>
        </p:nvSpPr>
        <p:spPr>
          <a:xfrm>
            <a:off x="879127"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a:t>
            </a:r>
            <a:endParaRPr lang="en-US" sz="900" dirty="0"/>
          </a:p>
        </p:txBody>
      </p:sp>
      <p:sp>
        <p:nvSpPr>
          <p:cNvPr id="17" name="Shape 14"/>
          <p:cNvSpPr/>
          <p:nvPr/>
        </p:nvSpPr>
        <p:spPr>
          <a:xfrm>
            <a:off x="1301054" y="3917899"/>
            <a:ext cx="367063" cy="201168"/>
          </a:xfrm>
          <a:prstGeom prst="roundRect">
            <a:avLst>
              <a:gd name="adj" fmla="val 50000"/>
            </a:avLst>
          </a:prstGeom>
          <a:solidFill>
            <a:srgbClr val="1B1B27"/>
          </a:solidFill>
          <a:ln w="9525">
            <a:solidFill>
              <a:srgbClr val="3A3A50"/>
            </a:solidFill>
            <a:prstDash val="solid"/>
          </a:ln>
        </p:spPr>
      </p:sp>
      <p:sp>
        <p:nvSpPr>
          <p:cNvPr id="18" name="Text 15"/>
          <p:cNvSpPr txBox="1"/>
          <p:nvPr/>
        </p:nvSpPr>
        <p:spPr>
          <a:xfrm>
            <a:off x="1301054"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R-9</a:t>
            </a:r>
            <a:endParaRPr lang="en-US" sz="900" dirty="0"/>
          </a:p>
        </p:txBody>
      </p:sp>
      <p:sp>
        <p:nvSpPr>
          <p:cNvPr id="19" name="Shape 16"/>
          <p:cNvSpPr/>
          <p:nvPr/>
        </p:nvSpPr>
        <p:spPr>
          <a:xfrm>
            <a:off x="457200" y="4173931"/>
            <a:ext cx="430637" cy="201168"/>
          </a:xfrm>
          <a:prstGeom prst="roundRect">
            <a:avLst>
              <a:gd name="adj" fmla="val 50000"/>
            </a:avLst>
          </a:prstGeom>
          <a:solidFill>
            <a:srgbClr val="1B1B27"/>
          </a:solidFill>
          <a:ln w="9525">
            <a:solidFill>
              <a:srgbClr val="3A3A50"/>
            </a:solidFill>
            <a:prstDash val="solid"/>
          </a:ln>
        </p:spPr>
      </p:sp>
      <p:sp>
        <p:nvSpPr>
          <p:cNvPr id="20" name="Text 17"/>
          <p:cNvSpPr txBox="1"/>
          <p:nvPr/>
        </p:nvSpPr>
        <p:spPr>
          <a:xfrm>
            <a:off x="457200"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R-10</a:t>
            </a:r>
            <a:endParaRPr lang="en-US" sz="900" dirty="0"/>
          </a:p>
        </p:txBody>
      </p:sp>
      <p:sp>
        <p:nvSpPr>
          <p:cNvPr id="21" name="Shape 18"/>
          <p:cNvSpPr/>
          <p:nvPr/>
        </p:nvSpPr>
        <p:spPr>
          <a:xfrm>
            <a:off x="942701" y="4173931"/>
            <a:ext cx="430637" cy="201168"/>
          </a:xfrm>
          <a:prstGeom prst="roundRect">
            <a:avLst>
              <a:gd name="adj" fmla="val 50000"/>
            </a:avLst>
          </a:prstGeom>
          <a:solidFill>
            <a:srgbClr val="1B1B27"/>
          </a:solidFill>
          <a:ln w="9525">
            <a:solidFill>
              <a:srgbClr val="3A3A50"/>
            </a:solidFill>
            <a:prstDash val="solid"/>
          </a:ln>
        </p:spPr>
      </p:sp>
      <p:sp>
        <p:nvSpPr>
          <p:cNvPr id="22" name="Text 19"/>
          <p:cNvSpPr txBox="1"/>
          <p:nvPr/>
        </p:nvSpPr>
        <p:spPr>
          <a:xfrm>
            <a:off x="942701"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R-31</a:t>
            </a:r>
            <a:endParaRPr lang="en-US" sz="900" dirty="0"/>
          </a:p>
        </p:txBody>
      </p:sp>
      <p:sp>
        <p:nvSpPr>
          <p:cNvPr id="23" name="Shape 20"/>
          <p:cNvSpPr/>
          <p:nvPr/>
        </p:nvSpPr>
        <p:spPr>
          <a:xfrm>
            <a:off x="2336749" y="1942795"/>
            <a:ext cx="457200" cy="457200"/>
          </a:xfrm>
          <a:prstGeom prst="ellipse">
            <a:avLst/>
          </a:prstGeom>
          <a:solidFill>
            <a:srgbClr val="1E1A10"/>
          </a:solidFill>
          <a:ln w="15875">
            <a:solidFill>
              <a:srgbClr val="C9A84C"/>
            </a:solidFill>
            <a:prstDash val="solid"/>
          </a:ln>
        </p:spPr>
      </p:sp>
      <p:sp>
        <p:nvSpPr>
          <p:cNvPr id="24" name="Text 21"/>
          <p:cNvSpPr txBox="1"/>
          <p:nvPr/>
        </p:nvSpPr>
        <p:spPr>
          <a:xfrm>
            <a:off x="2336749"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2</a:t>
            </a:r>
            <a:endParaRPr lang="en-US" sz="1500" dirty="0"/>
          </a:p>
        </p:txBody>
      </p:sp>
      <p:sp>
        <p:nvSpPr>
          <p:cNvPr id="25" name="Text 22"/>
          <p:cNvSpPr txBox="1"/>
          <p:nvPr/>
        </p:nvSpPr>
        <p:spPr>
          <a:xfrm>
            <a:off x="2336749"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Secure</a:t>
            </a:r>
            <a:endParaRPr lang="en-US" sz="1600" dirty="0"/>
          </a:p>
        </p:txBody>
      </p:sp>
      <p:sp>
        <p:nvSpPr>
          <p:cNvPr id="26" name="Text 23"/>
          <p:cNvSpPr txBox="1"/>
          <p:nvPr/>
        </p:nvSpPr>
        <p:spPr>
          <a:xfrm>
            <a:off x="2336749"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Private media and exports, least-privilege IAM, partner access model, consent</a:t>
            </a:r>
            <a:endParaRPr lang="en-US" sz="1200" dirty="0"/>
          </a:p>
        </p:txBody>
      </p:sp>
      <p:sp>
        <p:nvSpPr>
          <p:cNvPr id="27" name="Shape 24"/>
          <p:cNvSpPr/>
          <p:nvPr/>
        </p:nvSpPr>
        <p:spPr>
          <a:xfrm>
            <a:off x="2336749" y="3917899"/>
            <a:ext cx="367063" cy="201168"/>
          </a:xfrm>
          <a:prstGeom prst="roundRect">
            <a:avLst>
              <a:gd name="adj" fmla="val 50000"/>
            </a:avLst>
          </a:prstGeom>
          <a:solidFill>
            <a:srgbClr val="1B1B27"/>
          </a:solidFill>
          <a:ln w="9525">
            <a:solidFill>
              <a:srgbClr val="3A3A50"/>
            </a:solidFill>
            <a:prstDash val="solid"/>
          </a:ln>
        </p:spPr>
      </p:sp>
      <p:sp>
        <p:nvSpPr>
          <p:cNvPr id="28" name="Text 25"/>
          <p:cNvSpPr txBox="1"/>
          <p:nvPr/>
        </p:nvSpPr>
        <p:spPr>
          <a:xfrm>
            <a:off x="2336749"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R-6</a:t>
            </a:r>
            <a:endParaRPr lang="en-US" sz="900" dirty="0"/>
          </a:p>
        </p:txBody>
      </p:sp>
      <p:sp>
        <p:nvSpPr>
          <p:cNvPr id="29" name="Shape 26"/>
          <p:cNvSpPr/>
          <p:nvPr/>
        </p:nvSpPr>
        <p:spPr>
          <a:xfrm>
            <a:off x="2758676" y="3917899"/>
            <a:ext cx="430637" cy="201168"/>
          </a:xfrm>
          <a:prstGeom prst="roundRect">
            <a:avLst>
              <a:gd name="adj" fmla="val 50000"/>
            </a:avLst>
          </a:prstGeom>
          <a:solidFill>
            <a:srgbClr val="1B1B27"/>
          </a:solidFill>
          <a:ln w="9525">
            <a:solidFill>
              <a:srgbClr val="3A3A50"/>
            </a:solidFill>
            <a:prstDash val="solid"/>
          </a:ln>
        </p:spPr>
      </p:sp>
      <p:sp>
        <p:nvSpPr>
          <p:cNvPr id="30" name="Text 27"/>
          <p:cNvSpPr txBox="1"/>
          <p:nvPr/>
        </p:nvSpPr>
        <p:spPr>
          <a:xfrm>
            <a:off x="2758676"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R-17</a:t>
            </a:r>
            <a:endParaRPr lang="en-US" sz="900" dirty="0"/>
          </a:p>
        </p:txBody>
      </p:sp>
      <p:sp>
        <p:nvSpPr>
          <p:cNvPr id="31" name="Shape 28"/>
          <p:cNvSpPr/>
          <p:nvPr/>
        </p:nvSpPr>
        <p:spPr>
          <a:xfrm>
            <a:off x="3244177" y="3917899"/>
            <a:ext cx="430637" cy="201168"/>
          </a:xfrm>
          <a:prstGeom prst="roundRect">
            <a:avLst>
              <a:gd name="adj" fmla="val 50000"/>
            </a:avLst>
          </a:prstGeom>
          <a:solidFill>
            <a:srgbClr val="1E1A10"/>
          </a:solidFill>
          <a:ln w="9525">
            <a:solidFill>
              <a:srgbClr val="C9A84C"/>
            </a:solidFill>
            <a:prstDash val="solid"/>
          </a:ln>
        </p:spPr>
      </p:sp>
      <p:sp>
        <p:nvSpPr>
          <p:cNvPr id="32" name="Text 29"/>
          <p:cNvSpPr txBox="1"/>
          <p:nvPr/>
        </p:nvSpPr>
        <p:spPr>
          <a:xfrm>
            <a:off x="3244177" y="3917899"/>
            <a:ext cx="430637" cy="201168"/>
          </a:xfrm>
          <a:prstGeom prst="rect">
            <a:avLst/>
          </a:prstGeom>
          <a:noFill/>
          <a:ln/>
        </p:spPr>
        <p:txBody>
          <a:bodyPr wrap="square" lIns="0" tIns="0" rIns="0" bIns="0" rtlCol="0" anchor="ctr"/>
          <a:lstStyle/>
          <a:p>
            <a:pPr algn="ctr" indent="0" marL="0">
              <a:buNone/>
            </a:pPr>
            <a:r>
              <a:rPr lang="en-US" sz="900" b="1" dirty="0">
                <a:solidFill>
                  <a:srgbClr val="F0C96B"/>
                </a:solidFill>
                <a:latin typeface="Arial" pitchFamily="34" charset="0"/>
                <a:ea typeface="Arial" pitchFamily="34" charset="-122"/>
                <a:cs typeface="Arial" pitchFamily="34" charset="-120"/>
              </a:rPr>
              <a:t>R-25</a:t>
            </a:r>
            <a:endParaRPr lang="en-US" sz="900" dirty="0"/>
          </a:p>
        </p:txBody>
      </p:sp>
      <p:sp>
        <p:nvSpPr>
          <p:cNvPr id="33" name="Shape 30"/>
          <p:cNvSpPr/>
          <p:nvPr/>
        </p:nvSpPr>
        <p:spPr>
          <a:xfrm>
            <a:off x="2336749" y="4173931"/>
            <a:ext cx="430637" cy="201168"/>
          </a:xfrm>
          <a:prstGeom prst="roundRect">
            <a:avLst>
              <a:gd name="adj" fmla="val 50000"/>
            </a:avLst>
          </a:prstGeom>
          <a:solidFill>
            <a:srgbClr val="1B1B27"/>
          </a:solidFill>
          <a:ln w="9525">
            <a:solidFill>
              <a:srgbClr val="3A3A50"/>
            </a:solidFill>
            <a:prstDash val="solid"/>
          </a:ln>
        </p:spPr>
      </p:sp>
      <p:sp>
        <p:nvSpPr>
          <p:cNvPr id="34" name="Text 31"/>
          <p:cNvSpPr txBox="1"/>
          <p:nvPr/>
        </p:nvSpPr>
        <p:spPr>
          <a:xfrm>
            <a:off x="2336749"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R-26</a:t>
            </a:r>
            <a:endParaRPr lang="en-US" sz="900" dirty="0"/>
          </a:p>
        </p:txBody>
      </p:sp>
      <p:sp>
        <p:nvSpPr>
          <p:cNvPr id="35" name="Shape 32"/>
          <p:cNvSpPr/>
          <p:nvPr/>
        </p:nvSpPr>
        <p:spPr>
          <a:xfrm>
            <a:off x="2822250" y="4173931"/>
            <a:ext cx="430637" cy="201168"/>
          </a:xfrm>
          <a:prstGeom prst="roundRect">
            <a:avLst>
              <a:gd name="adj" fmla="val 50000"/>
            </a:avLst>
          </a:prstGeom>
          <a:solidFill>
            <a:srgbClr val="1B1B27"/>
          </a:solidFill>
          <a:ln w="9525">
            <a:solidFill>
              <a:srgbClr val="3A3A50"/>
            </a:solidFill>
            <a:prstDash val="solid"/>
          </a:ln>
        </p:spPr>
      </p:sp>
      <p:sp>
        <p:nvSpPr>
          <p:cNvPr id="36" name="Text 33"/>
          <p:cNvSpPr txBox="1"/>
          <p:nvPr/>
        </p:nvSpPr>
        <p:spPr>
          <a:xfrm>
            <a:off x="2822250"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R-29</a:t>
            </a:r>
            <a:endParaRPr lang="en-US" sz="900" dirty="0"/>
          </a:p>
        </p:txBody>
      </p:sp>
      <p:sp>
        <p:nvSpPr>
          <p:cNvPr id="37" name="Shape 34"/>
          <p:cNvSpPr/>
          <p:nvPr/>
        </p:nvSpPr>
        <p:spPr>
          <a:xfrm>
            <a:off x="3307751" y="4173931"/>
            <a:ext cx="430637" cy="201168"/>
          </a:xfrm>
          <a:prstGeom prst="roundRect">
            <a:avLst>
              <a:gd name="adj" fmla="val 50000"/>
            </a:avLst>
          </a:prstGeom>
          <a:solidFill>
            <a:srgbClr val="1B1B27"/>
          </a:solidFill>
          <a:ln w="9525">
            <a:solidFill>
              <a:srgbClr val="3A3A50"/>
            </a:solidFill>
            <a:prstDash val="solid"/>
          </a:ln>
        </p:spPr>
      </p:sp>
      <p:sp>
        <p:nvSpPr>
          <p:cNvPr id="38" name="Text 35"/>
          <p:cNvSpPr txBox="1"/>
          <p:nvPr/>
        </p:nvSpPr>
        <p:spPr>
          <a:xfrm>
            <a:off x="3307751"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R-37</a:t>
            </a:r>
            <a:endParaRPr lang="en-US" sz="900" dirty="0"/>
          </a:p>
        </p:txBody>
      </p:sp>
      <p:sp>
        <p:nvSpPr>
          <p:cNvPr id="39" name="Shape 36"/>
          <p:cNvSpPr/>
          <p:nvPr/>
        </p:nvSpPr>
        <p:spPr>
          <a:xfrm>
            <a:off x="4216298" y="1942795"/>
            <a:ext cx="457200" cy="457200"/>
          </a:xfrm>
          <a:prstGeom prst="ellipse">
            <a:avLst/>
          </a:prstGeom>
          <a:solidFill>
            <a:srgbClr val="1E1A10"/>
          </a:solidFill>
          <a:ln w="15875">
            <a:solidFill>
              <a:srgbClr val="C9A84C"/>
            </a:solidFill>
            <a:prstDash val="solid"/>
          </a:ln>
        </p:spPr>
      </p:sp>
      <p:sp>
        <p:nvSpPr>
          <p:cNvPr id="40" name="Text 37"/>
          <p:cNvSpPr txBox="1"/>
          <p:nvPr/>
        </p:nvSpPr>
        <p:spPr>
          <a:xfrm>
            <a:off x="4216298"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3</a:t>
            </a:r>
            <a:endParaRPr lang="en-US" sz="1500" dirty="0"/>
          </a:p>
        </p:txBody>
      </p:sp>
      <p:sp>
        <p:nvSpPr>
          <p:cNvPr id="41" name="Text 38"/>
          <p:cNvSpPr txBox="1"/>
          <p:nvPr/>
        </p:nvSpPr>
        <p:spPr>
          <a:xfrm>
            <a:off x="4216298"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Commerce</a:t>
            </a:r>
            <a:endParaRPr lang="en-US" sz="1600" dirty="0"/>
          </a:p>
        </p:txBody>
      </p:sp>
      <p:sp>
        <p:nvSpPr>
          <p:cNvPr id="42" name="Text 39"/>
          <p:cNvSpPr txBox="1"/>
          <p:nvPr/>
        </p:nvSpPr>
        <p:spPr>
          <a:xfrm>
            <a:off x="4216298"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Paid course modes, refunds, payout status, webhook hardening</a:t>
            </a:r>
            <a:endParaRPr lang="en-US" sz="1200" dirty="0"/>
          </a:p>
        </p:txBody>
      </p:sp>
      <p:sp>
        <p:nvSpPr>
          <p:cNvPr id="43" name="Shape 40"/>
          <p:cNvSpPr/>
          <p:nvPr/>
        </p:nvSpPr>
        <p:spPr>
          <a:xfrm>
            <a:off x="4216298" y="3917899"/>
            <a:ext cx="430637" cy="201168"/>
          </a:xfrm>
          <a:prstGeom prst="roundRect">
            <a:avLst>
              <a:gd name="adj" fmla="val 50000"/>
            </a:avLst>
          </a:prstGeom>
          <a:solidFill>
            <a:srgbClr val="1B1B27"/>
          </a:solidFill>
          <a:ln w="9525">
            <a:solidFill>
              <a:srgbClr val="3A3A50"/>
            </a:solidFill>
            <a:prstDash val="solid"/>
          </a:ln>
        </p:spPr>
      </p:sp>
      <p:sp>
        <p:nvSpPr>
          <p:cNvPr id="44" name="Text 41"/>
          <p:cNvSpPr txBox="1"/>
          <p:nvPr/>
        </p:nvSpPr>
        <p:spPr>
          <a:xfrm>
            <a:off x="4216298"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R-12</a:t>
            </a:r>
            <a:endParaRPr lang="en-US" sz="900" dirty="0"/>
          </a:p>
        </p:txBody>
      </p:sp>
      <p:sp>
        <p:nvSpPr>
          <p:cNvPr id="45" name="Shape 42"/>
          <p:cNvSpPr/>
          <p:nvPr/>
        </p:nvSpPr>
        <p:spPr>
          <a:xfrm>
            <a:off x="4701799" y="3917899"/>
            <a:ext cx="430637" cy="201168"/>
          </a:xfrm>
          <a:prstGeom prst="roundRect">
            <a:avLst>
              <a:gd name="adj" fmla="val 50000"/>
            </a:avLst>
          </a:prstGeom>
          <a:solidFill>
            <a:srgbClr val="1E1A10"/>
          </a:solidFill>
          <a:ln w="9525">
            <a:solidFill>
              <a:srgbClr val="C9A84C"/>
            </a:solidFill>
            <a:prstDash val="solid"/>
          </a:ln>
        </p:spPr>
      </p:sp>
      <p:sp>
        <p:nvSpPr>
          <p:cNvPr id="46" name="Text 43"/>
          <p:cNvSpPr txBox="1"/>
          <p:nvPr/>
        </p:nvSpPr>
        <p:spPr>
          <a:xfrm>
            <a:off x="4701799" y="3917899"/>
            <a:ext cx="430637" cy="201168"/>
          </a:xfrm>
          <a:prstGeom prst="rect">
            <a:avLst/>
          </a:prstGeom>
          <a:noFill/>
          <a:ln/>
        </p:spPr>
        <p:txBody>
          <a:bodyPr wrap="square" lIns="0" tIns="0" rIns="0" bIns="0" rtlCol="0" anchor="ctr"/>
          <a:lstStyle/>
          <a:p>
            <a:pPr algn="ctr" indent="0" marL="0">
              <a:buNone/>
            </a:pPr>
            <a:r>
              <a:rPr lang="en-US" sz="900" b="1" dirty="0">
                <a:solidFill>
                  <a:srgbClr val="F0C96B"/>
                </a:solidFill>
                <a:latin typeface="Arial" pitchFamily="34" charset="0"/>
                <a:ea typeface="Arial" pitchFamily="34" charset="-122"/>
                <a:cs typeface="Arial" pitchFamily="34" charset="-120"/>
              </a:rPr>
              <a:t>R-13</a:t>
            </a:r>
            <a:endParaRPr lang="en-US" sz="900" dirty="0"/>
          </a:p>
        </p:txBody>
      </p:sp>
      <p:sp>
        <p:nvSpPr>
          <p:cNvPr id="47" name="Shape 44"/>
          <p:cNvSpPr/>
          <p:nvPr/>
        </p:nvSpPr>
        <p:spPr>
          <a:xfrm>
            <a:off x="5187300" y="3917899"/>
            <a:ext cx="430637" cy="201168"/>
          </a:xfrm>
          <a:prstGeom prst="roundRect">
            <a:avLst>
              <a:gd name="adj" fmla="val 50000"/>
            </a:avLst>
          </a:prstGeom>
          <a:solidFill>
            <a:srgbClr val="1E1A10"/>
          </a:solidFill>
          <a:ln w="9525">
            <a:solidFill>
              <a:srgbClr val="C9A84C"/>
            </a:solidFill>
            <a:prstDash val="solid"/>
          </a:ln>
        </p:spPr>
      </p:sp>
      <p:sp>
        <p:nvSpPr>
          <p:cNvPr id="48" name="Text 45"/>
          <p:cNvSpPr txBox="1"/>
          <p:nvPr/>
        </p:nvSpPr>
        <p:spPr>
          <a:xfrm>
            <a:off x="5187300" y="3917899"/>
            <a:ext cx="430637" cy="201168"/>
          </a:xfrm>
          <a:prstGeom prst="rect">
            <a:avLst/>
          </a:prstGeom>
          <a:noFill/>
          <a:ln/>
        </p:spPr>
        <p:txBody>
          <a:bodyPr wrap="square" lIns="0" tIns="0" rIns="0" bIns="0" rtlCol="0" anchor="ctr"/>
          <a:lstStyle/>
          <a:p>
            <a:pPr algn="ctr" indent="0" marL="0">
              <a:buNone/>
            </a:pPr>
            <a:r>
              <a:rPr lang="en-US" sz="900" b="1" dirty="0">
                <a:solidFill>
                  <a:srgbClr val="F0C96B"/>
                </a:solidFill>
                <a:latin typeface="Arial" pitchFamily="34" charset="0"/>
                <a:ea typeface="Arial" pitchFamily="34" charset="-122"/>
                <a:cs typeface="Arial" pitchFamily="34" charset="-120"/>
              </a:rPr>
              <a:t>R-14</a:t>
            </a:r>
            <a:endParaRPr lang="en-US" sz="900" dirty="0"/>
          </a:p>
        </p:txBody>
      </p:sp>
      <p:sp>
        <p:nvSpPr>
          <p:cNvPr id="49" name="Shape 46"/>
          <p:cNvSpPr/>
          <p:nvPr/>
        </p:nvSpPr>
        <p:spPr>
          <a:xfrm>
            <a:off x="6095848" y="1942795"/>
            <a:ext cx="457200" cy="457200"/>
          </a:xfrm>
          <a:prstGeom prst="ellipse">
            <a:avLst/>
          </a:prstGeom>
          <a:solidFill>
            <a:srgbClr val="1E1A10"/>
          </a:solidFill>
          <a:ln w="15875">
            <a:solidFill>
              <a:srgbClr val="C9A84C"/>
            </a:solidFill>
            <a:prstDash val="solid"/>
          </a:ln>
        </p:spPr>
      </p:sp>
      <p:sp>
        <p:nvSpPr>
          <p:cNvPr id="50" name="Text 47"/>
          <p:cNvSpPr txBox="1"/>
          <p:nvPr/>
        </p:nvSpPr>
        <p:spPr>
          <a:xfrm>
            <a:off x="6095848"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4</a:t>
            </a:r>
            <a:endParaRPr lang="en-US" sz="1500" dirty="0"/>
          </a:p>
        </p:txBody>
      </p:sp>
      <p:sp>
        <p:nvSpPr>
          <p:cNvPr id="51" name="Text 48"/>
          <p:cNvSpPr txBox="1"/>
          <p:nvPr/>
        </p:nvSpPr>
        <p:spPr>
          <a:xfrm>
            <a:off x="6095848"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Pipeline</a:t>
            </a:r>
            <a:endParaRPr lang="en-US" sz="1600" dirty="0"/>
          </a:p>
        </p:txBody>
      </p:sp>
      <p:sp>
        <p:nvSpPr>
          <p:cNvPr id="52" name="Text 49"/>
          <p:cNvSpPr txBox="1"/>
          <p:nvPr/>
        </p:nvSpPr>
        <p:spPr>
          <a:xfrm>
            <a:off x="6095848"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IVS recording, event mapping, task tokens, container Lambda for PDFs</a:t>
            </a:r>
            <a:endParaRPr lang="en-US" sz="1200" dirty="0"/>
          </a:p>
        </p:txBody>
      </p:sp>
      <p:sp>
        <p:nvSpPr>
          <p:cNvPr id="53" name="Shape 50"/>
          <p:cNvSpPr/>
          <p:nvPr/>
        </p:nvSpPr>
        <p:spPr>
          <a:xfrm>
            <a:off x="6095848" y="3917899"/>
            <a:ext cx="367063" cy="201168"/>
          </a:xfrm>
          <a:prstGeom prst="roundRect">
            <a:avLst>
              <a:gd name="adj" fmla="val 50000"/>
            </a:avLst>
          </a:prstGeom>
          <a:solidFill>
            <a:srgbClr val="1B1B27"/>
          </a:solidFill>
          <a:ln w="9525">
            <a:solidFill>
              <a:srgbClr val="3A3A50"/>
            </a:solidFill>
            <a:prstDash val="solid"/>
          </a:ln>
        </p:spPr>
      </p:sp>
      <p:sp>
        <p:nvSpPr>
          <p:cNvPr id="54" name="Text 51"/>
          <p:cNvSpPr txBox="1"/>
          <p:nvPr/>
        </p:nvSpPr>
        <p:spPr>
          <a:xfrm>
            <a:off x="6095848"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R-4</a:t>
            </a:r>
            <a:endParaRPr lang="en-US" sz="900" dirty="0"/>
          </a:p>
        </p:txBody>
      </p:sp>
      <p:sp>
        <p:nvSpPr>
          <p:cNvPr id="55" name="Shape 52"/>
          <p:cNvSpPr/>
          <p:nvPr/>
        </p:nvSpPr>
        <p:spPr>
          <a:xfrm>
            <a:off x="6517775" y="3917899"/>
            <a:ext cx="367063" cy="201168"/>
          </a:xfrm>
          <a:prstGeom prst="roundRect">
            <a:avLst>
              <a:gd name="adj" fmla="val 50000"/>
            </a:avLst>
          </a:prstGeom>
          <a:solidFill>
            <a:srgbClr val="1B1B27"/>
          </a:solidFill>
          <a:ln w="9525">
            <a:solidFill>
              <a:srgbClr val="3A3A50"/>
            </a:solidFill>
            <a:prstDash val="solid"/>
          </a:ln>
        </p:spPr>
      </p:sp>
      <p:sp>
        <p:nvSpPr>
          <p:cNvPr id="56" name="Text 53"/>
          <p:cNvSpPr txBox="1"/>
          <p:nvPr/>
        </p:nvSpPr>
        <p:spPr>
          <a:xfrm>
            <a:off x="6517775" y="3917899"/>
            <a:ext cx="367063"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R-5</a:t>
            </a:r>
            <a:endParaRPr lang="en-US" sz="900" dirty="0"/>
          </a:p>
        </p:txBody>
      </p:sp>
      <p:sp>
        <p:nvSpPr>
          <p:cNvPr id="57" name="Shape 54"/>
          <p:cNvSpPr/>
          <p:nvPr/>
        </p:nvSpPr>
        <p:spPr>
          <a:xfrm>
            <a:off x="6939702" y="3917899"/>
            <a:ext cx="430637" cy="201168"/>
          </a:xfrm>
          <a:prstGeom prst="roundRect">
            <a:avLst>
              <a:gd name="adj" fmla="val 50000"/>
            </a:avLst>
          </a:prstGeom>
          <a:solidFill>
            <a:srgbClr val="1B1B27"/>
          </a:solidFill>
          <a:ln w="9525">
            <a:solidFill>
              <a:srgbClr val="3A3A50"/>
            </a:solidFill>
            <a:prstDash val="solid"/>
          </a:ln>
        </p:spPr>
      </p:sp>
      <p:sp>
        <p:nvSpPr>
          <p:cNvPr id="58" name="Text 55"/>
          <p:cNvSpPr txBox="1"/>
          <p:nvPr/>
        </p:nvSpPr>
        <p:spPr>
          <a:xfrm>
            <a:off x="6939702"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R-20</a:t>
            </a:r>
            <a:endParaRPr lang="en-US" sz="900" dirty="0"/>
          </a:p>
        </p:txBody>
      </p:sp>
      <p:sp>
        <p:nvSpPr>
          <p:cNvPr id="59" name="Shape 56"/>
          <p:cNvSpPr/>
          <p:nvPr/>
        </p:nvSpPr>
        <p:spPr>
          <a:xfrm>
            <a:off x="6095848" y="4173931"/>
            <a:ext cx="430637" cy="201168"/>
          </a:xfrm>
          <a:prstGeom prst="roundRect">
            <a:avLst>
              <a:gd name="adj" fmla="val 50000"/>
            </a:avLst>
          </a:prstGeom>
          <a:solidFill>
            <a:srgbClr val="1B1B27"/>
          </a:solidFill>
          <a:ln w="9525">
            <a:solidFill>
              <a:srgbClr val="3A3A50"/>
            </a:solidFill>
            <a:prstDash val="solid"/>
          </a:ln>
        </p:spPr>
      </p:sp>
      <p:sp>
        <p:nvSpPr>
          <p:cNvPr id="60" name="Text 57"/>
          <p:cNvSpPr txBox="1"/>
          <p:nvPr/>
        </p:nvSpPr>
        <p:spPr>
          <a:xfrm>
            <a:off x="6095848"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R-24</a:t>
            </a:r>
            <a:endParaRPr lang="en-US" sz="900" dirty="0"/>
          </a:p>
        </p:txBody>
      </p:sp>
      <p:sp>
        <p:nvSpPr>
          <p:cNvPr id="61" name="Shape 58"/>
          <p:cNvSpPr/>
          <p:nvPr/>
        </p:nvSpPr>
        <p:spPr>
          <a:xfrm>
            <a:off x="7975397" y="1942795"/>
            <a:ext cx="457200" cy="457200"/>
          </a:xfrm>
          <a:prstGeom prst="ellipse">
            <a:avLst/>
          </a:prstGeom>
          <a:solidFill>
            <a:srgbClr val="1E1A10"/>
          </a:solidFill>
          <a:ln w="15875">
            <a:solidFill>
              <a:srgbClr val="C9A84C"/>
            </a:solidFill>
            <a:prstDash val="solid"/>
          </a:ln>
        </p:spPr>
      </p:sp>
      <p:sp>
        <p:nvSpPr>
          <p:cNvPr id="62" name="Text 59"/>
          <p:cNvSpPr txBox="1"/>
          <p:nvPr/>
        </p:nvSpPr>
        <p:spPr>
          <a:xfrm>
            <a:off x="7975397"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5</a:t>
            </a:r>
            <a:endParaRPr lang="en-US" sz="1500" dirty="0"/>
          </a:p>
        </p:txBody>
      </p:sp>
      <p:sp>
        <p:nvSpPr>
          <p:cNvPr id="63" name="Text 60"/>
          <p:cNvSpPr txBox="1"/>
          <p:nvPr/>
        </p:nvSpPr>
        <p:spPr>
          <a:xfrm>
            <a:off x="7975397"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AI &amp; data</a:t>
            </a:r>
            <a:endParaRPr lang="en-US" sz="1600" dirty="0"/>
          </a:p>
        </p:txBody>
      </p:sp>
      <p:sp>
        <p:nvSpPr>
          <p:cNvPr id="64" name="Text 61"/>
          <p:cNvSpPr txBox="1"/>
          <p:nvPr/>
        </p:nvSpPr>
        <p:spPr>
          <a:xfrm>
            <a:off x="7975397"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Knowledge-base index and access policy, embeddings region, quotas</a:t>
            </a:r>
            <a:endParaRPr lang="en-US" sz="1200" dirty="0"/>
          </a:p>
        </p:txBody>
      </p:sp>
      <p:sp>
        <p:nvSpPr>
          <p:cNvPr id="65" name="Shape 62"/>
          <p:cNvSpPr/>
          <p:nvPr/>
        </p:nvSpPr>
        <p:spPr>
          <a:xfrm>
            <a:off x="7975397" y="3917899"/>
            <a:ext cx="430637" cy="201168"/>
          </a:xfrm>
          <a:prstGeom prst="roundRect">
            <a:avLst>
              <a:gd name="adj" fmla="val 50000"/>
            </a:avLst>
          </a:prstGeom>
          <a:solidFill>
            <a:srgbClr val="1B1B27"/>
          </a:solidFill>
          <a:ln w="9525">
            <a:solidFill>
              <a:srgbClr val="3A3A50"/>
            </a:solidFill>
            <a:prstDash val="solid"/>
          </a:ln>
        </p:spPr>
      </p:sp>
      <p:sp>
        <p:nvSpPr>
          <p:cNvPr id="66" name="Text 63"/>
          <p:cNvSpPr txBox="1"/>
          <p:nvPr/>
        </p:nvSpPr>
        <p:spPr>
          <a:xfrm>
            <a:off x="7975397"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R-18</a:t>
            </a:r>
            <a:endParaRPr lang="en-US" sz="900" dirty="0"/>
          </a:p>
        </p:txBody>
      </p:sp>
      <p:sp>
        <p:nvSpPr>
          <p:cNvPr id="67" name="Shape 64"/>
          <p:cNvSpPr/>
          <p:nvPr/>
        </p:nvSpPr>
        <p:spPr>
          <a:xfrm>
            <a:off x="8460897" y="3917899"/>
            <a:ext cx="430637" cy="201168"/>
          </a:xfrm>
          <a:prstGeom prst="roundRect">
            <a:avLst>
              <a:gd name="adj" fmla="val 50000"/>
            </a:avLst>
          </a:prstGeom>
          <a:solidFill>
            <a:srgbClr val="1B1B27"/>
          </a:solidFill>
          <a:ln w="9525">
            <a:solidFill>
              <a:srgbClr val="3A3A50"/>
            </a:solidFill>
            <a:prstDash val="solid"/>
          </a:ln>
        </p:spPr>
      </p:sp>
      <p:sp>
        <p:nvSpPr>
          <p:cNvPr id="68" name="Text 65"/>
          <p:cNvSpPr txBox="1"/>
          <p:nvPr/>
        </p:nvSpPr>
        <p:spPr>
          <a:xfrm>
            <a:off x="8460897"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R-30</a:t>
            </a:r>
            <a:endParaRPr lang="en-US" sz="900" dirty="0"/>
          </a:p>
        </p:txBody>
      </p:sp>
      <p:sp>
        <p:nvSpPr>
          <p:cNvPr id="69" name="Shape 66"/>
          <p:cNvSpPr/>
          <p:nvPr/>
        </p:nvSpPr>
        <p:spPr>
          <a:xfrm>
            <a:off x="8946398" y="3917899"/>
            <a:ext cx="430637" cy="201168"/>
          </a:xfrm>
          <a:prstGeom prst="roundRect">
            <a:avLst>
              <a:gd name="adj" fmla="val 50000"/>
            </a:avLst>
          </a:prstGeom>
          <a:solidFill>
            <a:srgbClr val="1B1B27"/>
          </a:solidFill>
          <a:ln w="9525">
            <a:solidFill>
              <a:srgbClr val="3A3A50"/>
            </a:solidFill>
            <a:prstDash val="solid"/>
          </a:ln>
        </p:spPr>
      </p:sp>
      <p:sp>
        <p:nvSpPr>
          <p:cNvPr id="70" name="Text 67"/>
          <p:cNvSpPr txBox="1"/>
          <p:nvPr/>
        </p:nvSpPr>
        <p:spPr>
          <a:xfrm>
            <a:off x="8946398"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R-32</a:t>
            </a:r>
            <a:endParaRPr lang="en-US" sz="900" dirty="0"/>
          </a:p>
        </p:txBody>
      </p:sp>
      <p:sp>
        <p:nvSpPr>
          <p:cNvPr id="71" name="Shape 68"/>
          <p:cNvSpPr/>
          <p:nvPr/>
        </p:nvSpPr>
        <p:spPr>
          <a:xfrm>
            <a:off x="9854946" y="1942795"/>
            <a:ext cx="457200" cy="457200"/>
          </a:xfrm>
          <a:prstGeom prst="ellipse">
            <a:avLst/>
          </a:prstGeom>
          <a:solidFill>
            <a:srgbClr val="1E1A10"/>
          </a:solidFill>
          <a:ln w="15875">
            <a:solidFill>
              <a:srgbClr val="C9A84C"/>
            </a:solidFill>
            <a:prstDash val="solid"/>
          </a:ln>
        </p:spPr>
      </p:sp>
      <p:sp>
        <p:nvSpPr>
          <p:cNvPr id="72" name="Text 69"/>
          <p:cNvSpPr txBox="1"/>
          <p:nvPr/>
        </p:nvSpPr>
        <p:spPr>
          <a:xfrm>
            <a:off x="9854946" y="1942795"/>
            <a:ext cx="457200" cy="457200"/>
          </a:xfrm>
          <a:prstGeom prst="rect">
            <a:avLst/>
          </a:prstGeom>
          <a:noFill/>
          <a:ln/>
        </p:spPr>
        <p:txBody>
          <a:bodyPr wrap="square" lIns="0" tIns="0" rIns="0" bIns="0" rtlCol="0" anchor="ctr"/>
          <a:lstStyle/>
          <a:p>
            <a:pPr algn="ctr" indent="0" marL="0">
              <a:buNone/>
            </a:pPr>
            <a:r>
              <a:rPr lang="en-US" sz="1500" b="1" dirty="0">
                <a:solidFill>
                  <a:srgbClr val="F0C96B"/>
                </a:solidFill>
                <a:latin typeface="Arial" pitchFamily="34" charset="0"/>
                <a:ea typeface="Arial" pitchFamily="34" charset="-122"/>
                <a:cs typeface="Arial" pitchFamily="34" charset="-120"/>
              </a:rPr>
              <a:t>6</a:t>
            </a:r>
            <a:endParaRPr lang="en-US" sz="1500" dirty="0"/>
          </a:p>
        </p:txBody>
      </p:sp>
      <p:sp>
        <p:nvSpPr>
          <p:cNvPr id="73" name="Text 70"/>
          <p:cNvSpPr txBox="1"/>
          <p:nvPr/>
        </p:nvSpPr>
        <p:spPr>
          <a:xfrm>
            <a:off x="9854946" y="2528011"/>
            <a:ext cx="1605229" cy="29260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Launch</a:t>
            </a:r>
            <a:endParaRPr lang="en-US" sz="1600" dirty="0"/>
          </a:p>
        </p:txBody>
      </p:sp>
      <p:sp>
        <p:nvSpPr>
          <p:cNvPr id="74" name="Text 71"/>
          <p:cNvSpPr txBox="1"/>
          <p:nvPr/>
        </p:nvSpPr>
        <p:spPr>
          <a:xfrm>
            <a:off x="9854946" y="2875483"/>
            <a:ext cx="1605229" cy="950976"/>
          </a:xfrm>
          <a:prstGeom prst="rect">
            <a:avLst/>
          </a:prstGeom>
          <a:noFill/>
          <a:ln/>
        </p:spPr>
        <p:txBody>
          <a:bodyPr wrap="square" lIns="0" tIns="0" rIns="0" bIns="0" rtlCol="0" anchor="t"/>
          <a:lstStyle/>
          <a:p>
            <a:pPr indent="0" marL="0">
              <a:buNone/>
            </a:pPr>
            <a:r>
              <a:rPr lang="en-US" sz="1200" dirty="0">
                <a:solidFill>
                  <a:srgbClr val="B4B4C8"/>
                </a:solidFill>
                <a:latin typeface="Arial" pitchFamily="34" charset="0"/>
                <a:ea typeface="Arial" pitchFamily="34" charset="-122"/>
                <a:cs typeface="Arial" pitchFamily="34" charset="-120"/>
              </a:rPr>
              <a:t>CloudFront DNS origin, wildcard academies, CI migrations, AWS provider 6.x</a:t>
            </a:r>
            <a:endParaRPr lang="en-US" sz="1200" dirty="0"/>
          </a:p>
        </p:txBody>
      </p:sp>
      <p:sp>
        <p:nvSpPr>
          <p:cNvPr id="75" name="Shape 72"/>
          <p:cNvSpPr/>
          <p:nvPr/>
        </p:nvSpPr>
        <p:spPr>
          <a:xfrm>
            <a:off x="9854946" y="3917899"/>
            <a:ext cx="430637" cy="201168"/>
          </a:xfrm>
          <a:prstGeom prst="roundRect">
            <a:avLst>
              <a:gd name="adj" fmla="val 50000"/>
            </a:avLst>
          </a:prstGeom>
          <a:solidFill>
            <a:srgbClr val="1B1B27"/>
          </a:solidFill>
          <a:ln w="9525">
            <a:solidFill>
              <a:srgbClr val="3A3A50"/>
            </a:solidFill>
            <a:prstDash val="solid"/>
          </a:ln>
        </p:spPr>
      </p:sp>
      <p:sp>
        <p:nvSpPr>
          <p:cNvPr id="76" name="Text 73"/>
          <p:cNvSpPr txBox="1"/>
          <p:nvPr/>
        </p:nvSpPr>
        <p:spPr>
          <a:xfrm>
            <a:off x="9854946"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R-19</a:t>
            </a:r>
            <a:endParaRPr lang="en-US" sz="900" dirty="0"/>
          </a:p>
        </p:txBody>
      </p:sp>
      <p:sp>
        <p:nvSpPr>
          <p:cNvPr id="77" name="Shape 74"/>
          <p:cNvSpPr/>
          <p:nvPr/>
        </p:nvSpPr>
        <p:spPr>
          <a:xfrm>
            <a:off x="10340447" y="3917899"/>
            <a:ext cx="430637" cy="201168"/>
          </a:xfrm>
          <a:prstGeom prst="roundRect">
            <a:avLst>
              <a:gd name="adj" fmla="val 50000"/>
            </a:avLst>
          </a:prstGeom>
          <a:solidFill>
            <a:srgbClr val="1B1B27"/>
          </a:solidFill>
          <a:ln w="9525">
            <a:solidFill>
              <a:srgbClr val="3A3A50"/>
            </a:solidFill>
            <a:prstDash val="solid"/>
          </a:ln>
        </p:spPr>
      </p:sp>
      <p:sp>
        <p:nvSpPr>
          <p:cNvPr id="78" name="Text 75"/>
          <p:cNvSpPr txBox="1"/>
          <p:nvPr/>
        </p:nvSpPr>
        <p:spPr>
          <a:xfrm>
            <a:off x="10340447"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R-23</a:t>
            </a:r>
            <a:endParaRPr lang="en-US" sz="900" dirty="0"/>
          </a:p>
        </p:txBody>
      </p:sp>
      <p:sp>
        <p:nvSpPr>
          <p:cNvPr id="79" name="Shape 76"/>
          <p:cNvSpPr/>
          <p:nvPr/>
        </p:nvSpPr>
        <p:spPr>
          <a:xfrm>
            <a:off x="10825947" y="3917899"/>
            <a:ext cx="430637" cy="201168"/>
          </a:xfrm>
          <a:prstGeom prst="roundRect">
            <a:avLst>
              <a:gd name="adj" fmla="val 50000"/>
            </a:avLst>
          </a:prstGeom>
          <a:solidFill>
            <a:srgbClr val="1B1B27"/>
          </a:solidFill>
          <a:ln w="9525">
            <a:solidFill>
              <a:srgbClr val="3A3A50"/>
            </a:solidFill>
            <a:prstDash val="solid"/>
          </a:ln>
        </p:spPr>
      </p:sp>
      <p:sp>
        <p:nvSpPr>
          <p:cNvPr id="80" name="Text 77"/>
          <p:cNvSpPr txBox="1"/>
          <p:nvPr/>
        </p:nvSpPr>
        <p:spPr>
          <a:xfrm>
            <a:off x="10825947" y="3917899"/>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R-35</a:t>
            </a:r>
            <a:endParaRPr lang="en-US" sz="900" dirty="0"/>
          </a:p>
        </p:txBody>
      </p:sp>
      <p:sp>
        <p:nvSpPr>
          <p:cNvPr id="81" name="Shape 78"/>
          <p:cNvSpPr/>
          <p:nvPr/>
        </p:nvSpPr>
        <p:spPr>
          <a:xfrm>
            <a:off x="9854946" y="4173931"/>
            <a:ext cx="430637" cy="201168"/>
          </a:xfrm>
          <a:prstGeom prst="roundRect">
            <a:avLst>
              <a:gd name="adj" fmla="val 50000"/>
            </a:avLst>
          </a:prstGeom>
          <a:solidFill>
            <a:srgbClr val="1B1B27"/>
          </a:solidFill>
          <a:ln w="9525">
            <a:solidFill>
              <a:srgbClr val="3A3A50"/>
            </a:solidFill>
            <a:prstDash val="solid"/>
          </a:ln>
        </p:spPr>
      </p:sp>
      <p:sp>
        <p:nvSpPr>
          <p:cNvPr id="82" name="Text 79"/>
          <p:cNvSpPr txBox="1"/>
          <p:nvPr/>
        </p:nvSpPr>
        <p:spPr>
          <a:xfrm>
            <a:off x="9854946" y="4173931"/>
            <a:ext cx="430637" cy="201168"/>
          </a:xfrm>
          <a:prstGeom prst="rect">
            <a:avLst/>
          </a:prstGeom>
          <a:noFill/>
          <a:ln/>
        </p:spPr>
        <p:txBody>
          <a:bodyPr wrap="square" lIns="0" tIns="0" rIns="0" bIns="0" rtlCol="0" anchor="ctr"/>
          <a:lstStyle/>
          <a:p>
            <a:pPr algn="ctr" indent="0" marL="0">
              <a:buNone/>
            </a:pPr>
            <a:r>
              <a:rPr lang="en-US" sz="900" b="1" dirty="0">
                <a:solidFill>
                  <a:srgbClr val="E8E8F0"/>
                </a:solidFill>
                <a:latin typeface="Arial" pitchFamily="34" charset="0"/>
                <a:ea typeface="Arial" pitchFamily="34" charset="-122"/>
                <a:cs typeface="Arial" pitchFamily="34" charset="-120"/>
              </a:rPr>
              <a:t>R-36</a:t>
            </a:r>
            <a:endParaRPr lang="en-US" sz="900" dirty="0"/>
          </a:p>
        </p:txBody>
      </p:sp>
      <p:sp>
        <p:nvSpPr>
          <p:cNvPr id="83" name="Shape 80"/>
          <p:cNvSpPr/>
          <p:nvPr/>
        </p:nvSpPr>
        <p:spPr>
          <a:xfrm>
            <a:off x="457200" y="4631131"/>
            <a:ext cx="11277295" cy="420624"/>
          </a:xfrm>
          <a:prstGeom prst="roundRect">
            <a:avLst>
              <a:gd name="adj" fmla="val 21739"/>
            </a:avLst>
          </a:prstGeom>
          <a:solidFill>
            <a:srgbClr val="231E12"/>
          </a:solidFill>
          <a:ln w="9525">
            <a:solidFill>
              <a:srgbClr val="C9A84C"/>
            </a:solidFill>
            <a:prstDash val="solid"/>
          </a:ln>
        </p:spPr>
      </p:sp>
      <p:pic>
        <p:nvPicPr>
          <p:cNvPr id="84" name="Image 0" descr="preencoded.png">    </p:cNvPr>
          <p:cNvPicPr>
            <a:picLocks noChangeAspect="1"/>
          </p:cNvPicPr>
          <p:nvPr/>
        </p:nvPicPr>
        <p:blipFill>
          <a:blip r:embed="rId2"/>
          <a:stretch>
            <a:fillRect/>
          </a:stretch>
        </p:blipFill>
        <p:spPr>
          <a:xfrm>
            <a:off x="640080" y="4722571"/>
            <a:ext cx="237744" cy="237744"/>
          </a:xfrm>
          <a:prstGeom prst="rect">
            <a:avLst/>
          </a:prstGeom>
        </p:spPr>
      </p:pic>
      <p:sp>
        <p:nvSpPr>
          <p:cNvPr id="85" name="Text 81"/>
          <p:cNvSpPr txBox="1"/>
          <p:nvPr/>
        </p:nvSpPr>
        <p:spPr>
          <a:xfrm>
            <a:off x="1005840" y="4631131"/>
            <a:ext cx="10545775" cy="420624"/>
          </a:xfrm>
          <a:prstGeom prst="rect">
            <a:avLst/>
          </a:prstGeom>
          <a:noFill/>
          <a:ln/>
        </p:spPr>
        <p:txBody>
          <a:bodyPr wrap="square" lIns="0" tIns="0" rIns="0" bIns="0" rtlCol="0" anchor="ctr"/>
          <a:lstStyle/>
          <a:p>
            <a:pPr indent="0" marL="0">
              <a:buNone/>
            </a:pPr>
            <a:r>
              <a:rPr lang="en-US" sz="1400" b="1" dirty="0">
                <a:solidFill>
                  <a:srgbClr val="F0C96B"/>
                </a:solidFill>
                <a:latin typeface="Arial" pitchFamily="34" charset="0"/>
                <a:ea typeface="Arial" pitchFamily="34" charset="-122"/>
                <a:cs typeface="Arial" pitchFamily="34" charset="-120"/>
              </a:rPr>
              <a:t>After sprint 6: </a:t>
            </a:r>
            <a:r>
              <a:rPr lang="en-US" sz="1400" dirty="0">
                <a:solidFill>
                  <a:srgbClr val="FFFFFF"/>
                </a:solidFill>
                <a:latin typeface="Arial" pitchFamily="34" charset="0"/>
                <a:ea typeface="Arial" pitchFamily="34" charset="-122"/>
                <a:cs typeface="Arial" pitchFamily="34" charset="-120"/>
              </a:rPr>
              <a:t>the first partner academy goes live</a:t>
            </a:r>
            <a:endParaRPr lang="en-US" sz="1400" dirty="0"/>
          </a:p>
        </p:txBody>
      </p:sp>
      <p:sp>
        <p:nvSpPr>
          <p:cNvPr id="86" name="Text 82"/>
          <p:cNvSpPr txBox="1"/>
          <p:nvPr/>
        </p:nvSpPr>
        <p:spPr>
          <a:xfrm>
            <a:off x="457200" y="5289499"/>
            <a:ext cx="7315200" cy="182880"/>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MILESTONES: M1 GOES LIVE, THEN THE FEATURE ROLL-OUT</a:t>
            </a:r>
            <a:endParaRPr lang="en-US" sz="900" dirty="0"/>
          </a:p>
        </p:txBody>
      </p:sp>
      <p:sp>
        <p:nvSpPr>
          <p:cNvPr id="87" name="Shape 83"/>
          <p:cNvSpPr/>
          <p:nvPr/>
        </p:nvSpPr>
        <p:spPr>
          <a:xfrm>
            <a:off x="457200" y="5527243"/>
            <a:ext cx="1516990" cy="708965"/>
          </a:xfrm>
          <a:prstGeom prst="roundRect">
            <a:avLst>
              <a:gd name="adj" fmla="val 10318"/>
            </a:avLst>
          </a:prstGeom>
          <a:solidFill>
            <a:srgbClr val="171722"/>
          </a:solidFill>
          <a:ln w="9525">
            <a:solidFill>
              <a:srgbClr val="2C2C3E"/>
            </a:solidFill>
            <a:prstDash val="solid"/>
          </a:ln>
        </p:spPr>
      </p:sp>
      <p:sp>
        <p:nvSpPr>
          <p:cNvPr id="88" name="Text 84"/>
          <p:cNvSpPr txBox="1"/>
          <p:nvPr/>
        </p:nvSpPr>
        <p:spPr>
          <a:xfrm>
            <a:off x="548640"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M1</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terraform apply + EC2</a:t>
            </a:r>
            <a:endParaRPr lang="en-US" sz="1000" dirty="0"/>
          </a:p>
        </p:txBody>
      </p:sp>
      <p:sp>
        <p:nvSpPr>
          <p:cNvPr id="89" name="Shape 85"/>
          <p:cNvSpPr/>
          <p:nvPr/>
        </p:nvSpPr>
        <p:spPr>
          <a:xfrm>
            <a:off x="2083918" y="5527243"/>
            <a:ext cx="1516990" cy="708965"/>
          </a:xfrm>
          <a:prstGeom prst="roundRect">
            <a:avLst>
              <a:gd name="adj" fmla="val 10318"/>
            </a:avLst>
          </a:prstGeom>
          <a:solidFill>
            <a:srgbClr val="171722"/>
          </a:solidFill>
          <a:ln w="9525">
            <a:solidFill>
              <a:srgbClr val="2C2C3E"/>
            </a:solidFill>
            <a:prstDash val="solid"/>
          </a:ln>
        </p:spPr>
      </p:sp>
      <p:sp>
        <p:nvSpPr>
          <p:cNvPr id="90" name="Text 86"/>
          <p:cNvSpPr txBox="1"/>
          <p:nvPr/>
        </p:nvSpPr>
        <p:spPr>
          <a:xfrm>
            <a:off x="2175358"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M2</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CHRON-ET district</a:t>
            </a:r>
            <a:endParaRPr lang="en-US" sz="1000" dirty="0"/>
          </a:p>
        </p:txBody>
      </p:sp>
      <p:sp>
        <p:nvSpPr>
          <p:cNvPr id="91" name="Shape 87"/>
          <p:cNvSpPr/>
          <p:nvPr/>
        </p:nvSpPr>
        <p:spPr>
          <a:xfrm>
            <a:off x="3710635" y="5527243"/>
            <a:ext cx="1516990" cy="708965"/>
          </a:xfrm>
          <a:prstGeom prst="roundRect">
            <a:avLst>
              <a:gd name="adj" fmla="val 10318"/>
            </a:avLst>
          </a:prstGeom>
          <a:solidFill>
            <a:srgbClr val="171722"/>
          </a:solidFill>
          <a:ln w="9525">
            <a:solidFill>
              <a:srgbClr val="2C2C3E"/>
            </a:solidFill>
            <a:prstDash val="solid"/>
          </a:ln>
        </p:spPr>
      </p:sp>
      <p:sp>
        <p:nvSpPr>
          <p:cNvPr id="92" name="Text 88"/>
          <p:cNvSpPr txBox="1"/>
          <p:nvPr/>
        </p:nvSpPr>
        <p:spPr>
          <a:xfrm>
            <a:off x="3802075"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M3</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E-commerce</a:t>
            </a:r>
            <a:endParaRPr lang="en-US" sz="1000" dirty="0"/>
          </a:p>
        </p:txBody>
      </p:sp>
      <p:sp>
        <p:nvSpPr>
          <p:cNvPr id="93" name="Shape 89"/>
          <p:cNvSpPr/>
          <p:nvPr/>
        </p:nvSpPr>
        <p:spPr>
          <a:xfrm>
            <a:off x="5337353" y="5527243"/>
            <a:ext cx="1516990" cy="708965"/>
          </a:xfrm>
          <a:prstGeom prst="roundRect">
            <a:avLst>
              <a:gd name="adj" fmla="val 10318"/>
            </a:avLst>
          </a:prstGeom>
          <a:solidFill>
            <a:srgbClr val="171722"/>
          </a:solidFill>
          <a:ln w="9525">
            <a:solidFill>
              <a:srgbClr val="2C2C3E"/>
            </a:solidFill>
            <a:prstDash val="solid"/>
          </a:ln>
        </p:spPr>
      </p:sp>
      <p:sp>
        <p:nvSpPr>
          <p:cNvPr id="94" name="Text 90"/>
          <p:cNvSpPr txBox="1"/>
          <p:nvPr/>
        </p:nvSpPr>
        <p:spPr>
          <a:xfrm>
            <a:off x="5428793"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M4</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Symposia (commercial differentiator)</a:t>
            </a:r>
            <a:endParaRPr lang="en-US" sz="1000" dirty="0"/>
          </a:p>
        </p:txBody>
      </p:sp>
      <p:sp>
        <p:nvSpPr>
          <p:cNvPr id="95" name="Shape 91"/>
          <p:cNvSpPr/>
          <p:nvPr/>
        </p:nvSpPr>
        <p:spPr>
          <a:xfrm>
            <a:off x="6964070" y="5527243"/>
            <a:ext cx="1516990" cy="708965"/>
          </a:xfrm>
          <a:prstGeom prst="roundRect">
            <a:avLst>
              <a:gd name="adj" fmla="val 10318"/>
            </a:avLst>
          </a:prstGeom>
          <a:solidFill>
            <a:srgbClr val="171722"/>
          </a:solidFill>
          <a:ln w="9525">
            <a:solidFill>
              <a:srgbClr val="2C2C3E"/>
            </a:solidFill>
            <a:prstDash val="solid"/>
          </a:ln>
        </p:spPr>
      </p:sp>
      <p:sp>
        <p:nvSpPr>
          <p:cNvPr id="96" name="Text 92"/>
          <p:cNvSpPr txBox="1"/>
          <p:nvPr/>
        </p:nvSpPr>
        <p:spPr>
          <a:xfrm>
            <a:off x="7055510"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M5</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Company academies</a:t>
            </a:r>
            <a:endParaRPr lang="en-US" sz="1000" dirty="0"/>
          </a:p>
        </p:txBody>
      </p:sp>
      <p:sp>
        <p:nvSpPr>
          <p:cNvPr id="97" name="Shape 93"/>
          <p:cNvSpPr/>
          <p:nvPr/>
        </p:nvSpPr>
        <p:spPr>
          <a:xfrm>
            <a:off x="8590788" y="5527243"/>
            <a:ext cx="1516990" cy="708965"/>
          </a:xfrm>
          <a:prstGeom prst="roundRect">
            <a:avLst>
              <a:gd name="adj" fmla="val 10318"/>
            </a:avLst>
          </a:prstGeom>
          <a:solidFill>
            <a:srgbClr val="171722"/>
          </a:solidFill>
          <a:ln w="9525">
            <a:solidFill>
              <a:srgbClr val="2C2C3E"/>
            </a:solidFill>
            <a:prstDash val="solid"/>
          </a:ln>
        </p:spPr>
      </p:sp>
      <p:sp>
        <p:nvSpPr>
          <p:cNvPr id="98" name="Text 94"/>
          <p:cNvSpPr txBox="1"/>
          <p:nvPr/>
        </p:nvSpPr>
        <p:spPr>
          <a:xfrm>
            <a:off x="8682228"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M6</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AI tutor (platform moat)</a:t>
            </a:r>
            <a:endParaRPr lang="en-US" sz="1000" dirty="0"/>
          </a:p>
        </p:txBody>
      </p:sp>
      <p:sp>
        <p:nvSpPr>
          <p:cNvPr id="99" name="Shape 95"/>
          <p:cNvSpPr/>
          <p:nvPr/>
        </p:nvSpPr>
        <p:spPr>
          <a:xfrm>
            <a:off x="10217506" y="5527243"/>
            <a:ext cx="1516990" cy="708965"/>
          </a:xfrm>
          <a:prstGeom prst="roundRect">
            <a:avLst>
              <a:gd name="adj" fmla="val 10318"/>
            </a:avLst>
          </a:prstGeom>
          <a:solidFill>
            <a:srgbClr val="171722"/>
          </a:solidFill>
          <a:ln w="9525">
            <a:solidFill>
              <a:srgbClr val="2C2C3E"/>
            </a:solidFill>
            <a:prstDash val="solid"/>
          </a:ln>
        </p:spPr>
      </p:sp>
      <p:sp>
        <p:nvSpPr>
          <p:cNvPr id="100" name="Text 96"/>
          <p:cNvSpPr txBox="1"/>
          <p:nvPr/>
        </p:nvSpPr>
        <p:spPr>
          <a:xfrm>
            <a:off x="10308946" y="5600395"/>
            <a:ext cx="1334110" cy="599237"/>
          </a:xfrm>
          <a:prstGeom prst="rect">
            <a:avLst/>
          </a:prstGeom>
          <a:noFill/>
          <a:ln/>
        </p:spPr>
        <p:txBody>
          <a:bodyPr wrap="square" lIns="0" tIns="0" rIns="0" bIns="0" rtlCol="0" anchor="t"/>
          <a:lstStyle/>
          <a:p>
            <a:pPr indent="0" marL="0">
              <a:buNone/>
            </a:pPr>
            <a:r>
              <a:rPr lang="en-US" sz="1100" b="1" dirty="0">
                <a:solidFill>
                  <a:srgbClr val="F0C96B"/>
                </a:solidFill>
                <a:latin typeface="Arial" pitchFamily="34" charset="0"/>
                <a:ea typeface="Arial" pitchFamily="34" charset="-122"/>
                <a:cs typeface="Arial" pitchFamily="34" charset="-120"/>
              </a:rPr>
              <a:t>M7</a:t>
            </a:r>
            <a:endParaRPr lang="en-US" sz="1000" dirty="0"/>
          </a:p>
          <a:p>
            <a:pPr indent="0" marL="0">
              <a:buNone/>
            </a:pPr>
            <a:r>
              <a:rPr lang="en-US" sz="1000" dirty="0">
                <a:solidFill>
                  <a:srgbClr val="E8E8F0"/>
                </a:solidFill>
                <a:latin typeface="Arial" pitchFamily="34" charset="0"/>
                <a:ea typeface="Arial" pitchFamily="34" charset="-122"/>
                <a:cs typeface="Arial" pitchFamily="34" charset="-120"/>
              </a:rPr>
              <a:t>Digital twin + partner dashboard</a:t>
            </a:r>
            <a:endParaRPr lang="en-US" sz="1000" dirty="0"/>
          </a:p>
        </p:txBody>
      </p:sp>
      <p:sp>
        <p:nvSpPr>
          <p:cNvPr id="101" name="Text 97"/>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384048"/>
            <a:ext cx="3901227"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384048"/>
            <a:ext cx="3663483"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PARTNER ROADMAP · TARGETS, NOT AGREEMENTS</a:t>
            </a:r>
            <a:endParaRPr lang="en-US" sz="900" dirty="0"/>
          </a:p>
        </p:txBody>
      </p:sp>
      <p:sp>
        <p:nvSpPr>
          <p:cNvPr id="5" name="Text 2"/>
          <p:cNvSpPr txBox="1"/>
          <p:nvPr/>
        </p:nvSpPr>
        <p:spPr>
          <a:xfrm>
            <a:off x="457200" y="768096"/>
            <a:ext cx="11277295" cy="565099"/>
          </a:xfrm>
          <a:prstGeom prst="rect">
            <a:avLst/>
          </a:prstGeom>
          <a:noFill/>
          <a:ln/>
        </p:spPr>
        <p:txBody>
          <a:bodyPr wrap="square" lIns="0" tIns="0" rIns="0" bIns="0" rtlCol="0" anchor="t"/>
          <a:lstStyle/>
          <a:p>
            <a:pPr indent="0" marL="0">
              <a:lnSpc>
                <a:spcPct val="93000"/>
              </a:lnSpc>
              <a:buNone/>
            </a:pPr>
            <a:r>
              <a:rPr lang="en-US" sz="3600" b="1" dirty="0">
                <a:solidFill>
                  <a:srgbClr val="FFFFFF"/>
                </a:solidFill>
                <a:latin typeface="Arial" pitchFamily="34" charset="0"/>
                <a:ea typeface="Arial" pitchFamily="34" charset="-122"/>
                <a:cs typeface="Arial" pitchFamily="34" charset="-120"/>
              </a:rPr>
              <a:t>Partner roadmap: who we want to build with</a:t>
            </a:r>
            <a:endParaRPr lang="en-US" sz="3600" dirty="0"/>
          </a:p>
        </p:txBody>
      </p:sp>
      <p:sp>
        <p:nvSpPr>
          <p:cNvPr id="6" name="Text 3"/>
          <p:cNvSpPr txBox="1"/>
          <p:nvPr/>
        </p:nvSpPr>
        <p:spPr>
          <a:xfrm>
            <a:off x="457200" y="1369771"/>
            <a:ext cx="11277295" cy="271272"/>
          </a:xfrm>
          <a:prstGeom prst="rect">
            <a:avLst/>
          </a:prstGeom>
          <a:noFill/>
          <a:ln/>
        </p:spPr>
        <p:txBody>
          <a:bodyPr wrap="square" lIns="0" tIns="0" rIns="0" bIns="0" rtlCol="0" anchor="t"/>
          <a:lstStyle/>
          <a:p>
            <a:pPr indent="0" marL="0">
              <a:buNone/>
            </a:pPr>
            <a:r>
              <a:rPr lang="en-US" sz="1600" dirty="0">
                <a:solidFill>
                  <a:srgbClr val="B4B4C8"/>
                </a:solidFill>
                <a:latin typeface="Arial" pitchFamily="34" charset="0"/>
                <a:ea typeface="Arial" pitchFamily="34" charset="-122"/>
                <a:cs typeface="Arial" pitchFamily="34" charset="-120"/>
              </a:rPr>
              <a:t>Target partners by tier. These are roadmap targets; no agreements are signed.</a:t>
            </a:r>
            <a:endParaRPr lang="en-US" sz="1600" dirty="0"/>
          </a:p>
        </p:txBody>
      </p:sp>
      <p:sp>
        <p:nvSpPr>
          <p:cNvPr id="7" name="Text 4"/>
          <p:cNvSpPr txBox="1"/>
          <p:nvPr/>
        </p:nvSpPr>
        <p:spPr>
          <a:xfrm>
            <a:off x="1234440" y="1906219"/>
            <a:ext cx="2331720" cy="182880"/>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TIER</a:t>
            </a:r>
            <a:endParaRPr lang="en-US" sz="900" dirty="0"/>
          </a:p>
        </p:txBody>
      </p:sp>
      <p:sp>
        <p:nvSpPr>
          <p:cNvPr id="8" name="Text 5"/>
          <p:cNvSpPr txBox="1"/>
          <p:nvPr/>
        </p:nvSpPr>
        <p:spPr>
          <a:xfrm>
            <a:off x="3657600" y="1906219"/>
            <a:ext cx="3383280" cy="182880"/>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TARGET PARTNERS (NOT SIGNED)</a:t>
            </a:r>
            <a:endParaRPr lang="en-US" sz="900" dirty="0"/>
          </a:p>
        </p:txBody>
      </p:sp>
      <p:sp>
        <p:nvSpPr>
          <p:cNvPr id="9" name="Text 6"/>
          <p:cNvSpPr txBox="1"/>
          <p:nvPr/>
        </p:nvSpPr>
        <p:spPr>
          <a:xfrm>
            <a:off x="7223760" y="1906219"/>
            <a:ext cx="4343400" cy="182880"/>
          </a:xfrm>
          <a:prstGeom prst="rect">
            <a:avLst/>
          </a:prstGeom>
          <a:noFill/>
          <a:ln/>
        </p:spPr>
        <p:txBody>
          <a:bodyPr wrap="square" lIns="0" tIns="0" rIns="0" bIns="0" rtlCol="0" anchor="t"/>
          <a:lstStyle/>
          <a:p>
            <a:pPr indent="0" marL="0">
              <a:buNone/>
            </a:pPr>
            <a:r>
              <a:rPr lang="en-US" sz="900" b="1" spc="120" kern="0" dirty="0">
                <a:solidFill>
                  <a:srgbClr val="8E8EA2"/>
                </a:solidFill>
                <a:latin typeface="Arial" pitchFamily="34" charset="0"/>
                <a:ea typeface="Arial" pitchFamily="34" charset="-122"/>
                <a:cs typeface="Arial" pitchFamily="34" charset="-120"/>
              </a:rPr>
              <a:t>WHAT THE TIER GETS</a:t>
            </a:r>
            <a:endParaRPr lang="en-US" sz="900" dirty="0"/>
          </a:p>
        </p:txBody>
      </p:sp>
      <p:sp>
        <p:nvSpPr>
          <p:cNvPr id="10" name="Shape 7"/>
          <p:cNvSpPr/>
          <p:nvPr/>
        </p:nvSpPr>
        <p:spPr>
          <a:xfrm>
            <a:off x="457200" y="2180539"/>
            <a:ext cx="11277295" cy="624596"/>
          </a:xfrm>
          <a:prstGeom prst="roundRect">
            <a:avLst>
              <a:gd name="adj" fmla="val 14640"/>
            </a:avLst>
          </a:prstGeom>
          <a:solidFill>
            <a:srgbClr val="171722"/>
          </a:solidFill>
          <a:ln w="9525">
            <a:solidFill>
              <a:srgbClr val="2C2C3E"/>
            </a:solidFill>
            <a:prstDash val="solid"/>
          </a:ln>
        </p:spPr>
      </p:sp>
      <p:sp>
        <p:nvSpPr>
          <p:cNvPr id="11" name="Shape 8"/>
          <p:cNvSpPr/>
          <p:nvPr/>
        </p:nvSpPr>
        <p:spPr>
          <a:xfrm>
            <a:off x="621792" y="2291669"/>
            <a:ext cx="402336" cy="402336"/>
          </a:xfrm>
          <a:prstGeom prst="ellipse">
            <a:avLst/>
          </a:prstGeom>
          <a:solidFill>
            <a:srgbClr val="1E1A10"/>
          </a:solidFill>
          <a:ln w="9525">
            <a:solidFill>
              <a:srgbClr val="5A4A22"/>
            </a:solidFill>
            <a:prstDash val="solid"/>
          </a:ln>
        </p:spPr>
      </p:sp>
      <p:pic>
        <p:nvPicPr>
          <p:cNvPr id="12" name="Image 0" descr="preencoded.png">    </p:cNvPr>
          <p:cNvPicPr>
            <a:picLocks noChangeAspect="1"/>
          </p:cNvPicPr>
          <p:nvPr/>
        </p:nvPicPr>
        <p:blipFill>
          <a:blip r:embed="rId2"/>
          <a:stretch>
            <a:fillRect/>
          </a:stretch>
        </p:blipFill>
        <p:spPr>
          <a:xfrm>
            <a:off x="722376" y="2392253"/>
            <a:ext cx="201168" cy="201168"/>
          </a:xfrm>
          <a:prstGeom prst="rect">
            <a:avLst/>
          </a:prstGeom>
        </p:spPr>
      </p:pic>
      <p:sp>
        <p:nvSpPr>
          <p:cNvPr id="13" name="Text 9"/>
          <p:cNvSpPr txBox="1"/>
          <p:nvPr/>
        </p:nvSpPr>
        <p:spPr>
          <a:xfrm>
            <a:off x="1234440" y="2180539"/>
            <a:ext cx="2331720" cy="6245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a:t>
            </a:r>
            <a:endParaRPr lang="en-US" sz="1500" dirty="0"/>
          </a:p>
        </p:txBody>
      </p:sp>
      <p:sp>
        <p:nvSpPr>
          <p:cNvPr id="14" name="Text 10"/>
          <p:cNvSpPr txBox="1"/>
          <p:nvPr/>
        </p:nvSpPr>
        <p:spPr>
          <a:xfrm>
            <a:off x="3657600" y="2180539"/>
            <a:ext cx="3383280" cy="624596"/>
          </a:xfrm>
          <a:prstGeom prst="rect">
            <a:avLst/>
          </a:prstGeom>
          <a:noFill/>
          <a:ln/>
        </p:spPr>
        <p:txBody>
          <a:bodyPr wrap="square" lIns="0" tIns="0" rIns="0" bIns="0" rtlCol="0" anchor="ctr"/>
          <a:lstStyle/>
          <a:p>
            <a:pPr indent="0" marL="0">
              <a:buNone/>
            </a:pPr>
            <a:r>
              <a:rPr lang="en-US" sz="1500" dirty="0">
                <a:solidFill>
                  <a:srgbClr val="F0C96B"/>
                </a:solidFill>
                <a:latin typeface="Arial" pitchFamily="34" charset="0"/>
                <a:ea typeface="Arial" pitchFamily="34" charset="-122"/>
                <a:cs typeface="Arial" pitchFamily="34" charset="-120"/>
              </a:rPr>
              <a:t>Ripple, Cardano, Hedera</a:t>
            </a:r>
            <a:endParaRPr lang="en-US" sz="1500" dirty="0"/>
          </a:p>
        </p:txBody>
      </p:sp>
      <p:sp>
        <p:nvSpPr>
          <p:cNvPr id="15" name="Text 11"/>
          <p:cNvSpPr txBox="1"/>
          <p:nvPr/>
        </p:nvSpPr>
        <p:spPr>
          <a:xfrm>
            <a:off x="7223760" y="2180539"/>
            <a:ext cx="4343400" cy="624596"/>
          </a:xfrm>
          <a:prstGeom prst="rect">
            <a:avLst/>
          </a:prstGeom>
          <a:noFill/>
          <a:ln/>
        </p:spPr>
        <p:txBody>
          <a:bodyPr wrap="square" lIns="0" tIns="0" rIns="0" bIns="0" rtlCol="0" anchor="ctr"/>
          <a:lstStyle/>
          <a:p>
            <a:pPr indent="0" marL="0">
              <a:buNone/>
            </a:pPr>
            <a:r>
              <a:rPr lang="en-US" sz="1300" dirty="0">
                <a:solidFill>
                  <a:srgbClr val="B4B4C8"/>
                </a:solidFill>
                <a:latin typeface="Arial" pitchFamily="34" charset="0"/>
                <a:ea typeface="Arial" pitchFamily="34" charset="-122"/>
                <a:cs typeface="Arial" pitchFamily="34" charset="-120"/>
              </a:rPr>
              <a:t>Flagship tracks, co-hosted symposia, a seat on the curriculum board</a:t>
            </a:r>
            <a:endParaRPr lang="en-US" sz="1300" dirty="0"/>
          </a:p>
        </p:txBody>
      </p:sp>
      <p:sp>
        <p:nvSpPr>
          <p:cNvPr id="16" name="Shape 12"/>
          <p:cNvSpPr/>
          <p:nvPr/>
        </p:nvSpPr>
        <p:spPr>
          <a:xfrm>
            <a:off x="457200" y="2896575"/>
            <a:ext cx="11277295" cy="624596"/>
          </a:xfrm>
          <a:prstGeom prst="roundRect">
            <a:avLst>
              <a:gd name="adj" fmla="val 14640"/>
            </a:avLst>
          </a:prstGeom>
          <a:solidFill>
            <a:srgbClr val="171722"/>
          </a:solidFill>
          <a:ln w="9525">
            <a:solidFill>
              <a:srgbClr val="2C2C3E"/>
            </a:solidFill>
            <a:prstDash val="solid"/>
          </a:ln>
        </p:spPr>
      </p:sp>
      <p:sp>
        <p:nvSpPr>
          <p:cNvPr id="17" name="Shape 13"/>
          <p:cNvSpPr/>
          <p:nvPr/>
        </p:nvSpPr>
        <p:spPr>
          <a:xfrm>
            <a:off x="621792" y="3007705"/>
            <a:ext cx="402336" cy="402336"/>
          </a:xfrm>
          <a:prstGeom prst="ellipse">
            <a:avLst/>
          </a:prstGeom>
          <a:solidFill>
            <a:srgbClr val="1E1A10"/>
          </a:solidFill>
          <a:ln w="9525">
            <a:solidFill>
              <a:srgbClr val="5A4A22"/>
            </a:solidFill>
            <a:prstDash val="solid"/>
          </a:ln>
        </p:spPr>
      </p:sp>
      <p:pic>
        <p:nvPicPr>
          <p:cNvPr id="18" name="Image 1" descr="preencoded.png">    </p:cNvPr>
          <p:cNvPicPr>
            <a:picLocks noChangeAspect="1"/>
          </p:cNvPicPr>
          <p:nvPr/>
        </p:nvPicPr>
        <p:blipFill>
          <a:blip r:embed="rId3"/>
          <a:stretch>
            <a:fillRect/>
          </a:stretch>
        </p:blipFill>
        <p:spPr>
          <a:xfrm>
            <a:off x="722376" y="3108289"/>
            <a:ext cx="201168" cy="201168"/>
          </a:xfrm>
          <a:prstGeom prst="rect">
            <a:avLst/>
          </a:prstGeom>
        </p:spPr>
      </p:pic>
      <p:sp>
        <p:nvSpPr>
          <p:cNvPr id="19" name="Text 14"/>
          <p:cNvSpPr txBox="1"/>
          <p:nvPr/>
        </p:nvSpPr>
        <p:spPr>
          <a:xfrm>
            <a:off x="1234440" y="2896575"/>
            <a:ext cx="2331720" cy="6245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Strategic</a:t>
            </a:r>
            <a:endParaRPr lang="en-US" sz="1500" dirty="0"/>
          </a:p>
        </p:txBody>
      </p:sp>
      <p:sp>
        <p:nvSpPr>
          <p:cNvPr id="20" name="Text 15"/>
          <p:cNvSpPr txBox="1"/>
          <p:nvPr/>
        </p:nvSpPr>
        <p:spPr>
          <a:xfrm>
            <a:off x="3657600" y="2896575"/>
            <a:ext cx="3383280" cy="624596"/>
          </a:xfrm>
          <a:prstGeom prst="rect">
            <a:avLst/>
          </a:prstGeom>
          <a:noFill/>
          <a:ln/>
        </p:spPr>
        <p:txBody>
          <a:bodyPr wrap="square" lIns="0" tIns="0" rIns="0" bIns="0" rtlCol="0" anchor="ctr"/>
          <a:lstStyle/>
          <a:p>
            <a:pPr indent="0" marL="0">
              <a:buNone/>
            </a:pPr>
            <a:r>
              <a:rPr lang="en-US" sz="1500" dirty="0">
                <a:solidFill>
                  <a:srgbClr val="F0C96B"/>
                </a:solidFill>
                <a:latin typeface="Arial" pitchFamily="34" charset="0"/>
                <a:ea typeface="Arial" pitchFamily="34" charset="-122"/>
                <a:cs typeface="Arial" pitchFamily="34" charset="-120"/>
              </a:rPr>
              <a:t>Tether, Polygon, Chainlink</a:t>
            </a:r>
            <a:endParaRPr lang="en-US" sz="1500" dirty="0"/>
          </a:p>
        </p:txBody>
      </p:sp>
      <p:sp>
        <p:nvSpPr>
          <p:cNvPr id="21" name="Text 16"/>
          <p:cNvSpPr txBox="1"/>
          <p:nvPr/>
        </p:nvSpPr>
        <p:spPr>
          <a:xfrm>
            <a:off x="7223760" y="2896575"/>
            <a:ext cx="4343400" cy="624596"/>
          </a:xfrm>
          <a:prstGeom prst="rect">
            <a:avLst/>
          </a:prstGeom>
          <a:noFill/>
          <a:ln/>
        </p:spPr>
        <p:txBody>
          <a:bodyPr wrap="square" lIns="0" tIns="0" rIns="0" bIns="0" rtlCol="0" anchor="ctr"/>
          <a:lstStyle/>
          <a:p>
            <a:pPr indent="0" marL="0">
              <a:buNone/>
            </a:pPr>
            <a:r>
              <a:rPr lang="en-US" sz="1300" dirty="0">
                <a:solidFill>
                  <a:srgbClr val="B4B4C8"/>
                </a:solidFill>
                <a:latin typeface="Arial" pitchFamily="34" charset="0"/>
                <a:ea typeface="Arial" pitchFamily="34" charset="-122"/>
                <a:cs typeface="Arial" pitchFamily="34" charset="-120"/>
              </a:rPr>
              <a:t>Branded academy, pathways and badges, talent pipeline</a:t>
            </a:r>
            <a:endParaRPr lang="en-US" sz="1300" dirty="0"/>
          </a:p>
        </p:txBody>
      </p:sp>
      <p:sp>
        <p:nvSpPr>
          <p:cNvPr id="22" name="Shape 17"/>
          <p:cNvSpPr/>
          <p:nvPr/>
        </p:nvSpPr>
        <p:spPr>
          <a:xfrm>
            <a:off x="457200" y="3612612"/>
            <a:ext cx="11277295" cy="624596"/>
          </a:xfrm>
          <a:prstGeom prst="roundRect">
            <a:avLst>
              <a:gd name="adj" fmla="val 14640"/>
            </a:avLst>
          </a:prstGeom>
          <a:solidFill>
            <a:srgbClr val="171722"/>
          </a:solidFill>
          <a:ln w="9525">
            <a:solidFill>
              <a:srgbClr val="2C2C3E"/>
            </a:solidFill>
            <a:prstDash val="solid"/>
          </a:ln>
        </p:spPr>
      </p:sp>
      <p:sp>
        <p:nvSpPr>
          <p:cNvPr id="23" name="Shape 18"/>
          <p:cNvSpPr/>
          <p:nvPr/>
        </p:nvSpPr>
        <p:spPr>
          <a:xfrm>
            <a:off x="621792" y="3723742"/>
            <a:ext cx="402336" cy="402336"/>
          </a:xfrm>
          <a:prstGeom prst="ellipse">
            <a:avLst/>
          </a:prstGeom>
          <a:solidFill>
            <a:srgbClr val="1E1A10"/>
          </a:solidFill>
          <a:ln w="9525">
            <a:solidFill>
              <a:srgbClr val="5A4A22"/>
            </a:solidFill>
            <a:prstDash val="solid"/>
          </a:ln>
        </p:spPr>
      </p:sp>
      <p:pic>
        <p:nvPicPr>
          <p:cNvPr id="24" name="Image 2" descr="preencoded.png">    </p:cNvPr>
          <p:cNvPicPr>
            <a:picLocks noChangeAspect="1"/>
          </p:cNvPicPr>
          <p:nvPr/>
        </p:nvPicPr>
        <p:blipFill>
          <a:blip r:embed="rId4"/>
          <a:stretch>
            <a:fillRect/>
          </a:stretch>
        </p:blipFill>
        <p:spPr>
          <a:xfrm>
            <a:off x="722376" y="3824326"/>
            <a:ext cx="201168" cy="201168"/>
          </a:xfrm>
          <a:prstGeom prst="rect">
            <a:avLst/>
          </a:prstGeom>
        </p:spPr>
      </p:pic>
      <p:sp>
        <p:nvSpPr>
          <p:cNvPr id="25" name="Text 19"/>
          <p:cNvSpPr txBox="1"/>
          <p:nvPr/>
        </p:nvSpPr>
        <p:spPr>
          <a:xfrm>
            <a:off x="1234440" y="3612612"/>
            <a:ext cx="2331720" cy="6245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Content / Investigation</a:t>
            </a:r>
            <a:endParaRPr lang="en-US" sz="1500" dirty="0"/>
          </a:p>
        </p:txBody>
      </p:sp>
      <p:sp>
        <p:nvSpPr>
          <p:cNvPr id="26" name="Text 20"/>
          <p:cNvSpPr txBox="1"/>
          <p:nvPr/>
        </p:nvSpPr>
        <p:spPr>
          <a:xfrm>
            <a:off x="3657600" y="3612612"/>
            <a:ext cx="3383280" cy="624596"/>
          </a:xfrm>
          <a:prstGeom prst="rect">
            <a:avLst/>
          </a:prstGeom>
          <a:noFill/>
          <a:ln/>
        </p:spPr>
        <p:txBody>
          <a:bodyPr wrap="square" lIns="0" tIns="0" rIns="0" bIns="0" rtlCol="0" anchor="ctr"/>
          <a:lstStyle/>
          <a:p>
            <a:pPr indent="0" marL="0">
              <a:buNone/>
            </a:pPr>
            <a:r>
              <a:rPr lang="en-US" sz="1500" dirty="0">
                <a:solidFill>
                  <a:srgbClr val="F0C96B"/>
                </a:solidFill>
                <a:latin typeface="Arial" pitchFamily="34" charset="0"/>
                <a:ea typeface="Arial" pitchFamily="34" charset="-122"/>
                <a:cs typeface="Arial" pitchFamily="34" charset="-120"/>
              </a:rPr>
              <a:t>Chainalysis, TRM Labs, Elliptic</a:t>
            </a:r>
            <a:endParaRPr lang="en-US" sz="1500" dirty="0"/>
          </a:p>
        </p:txBody>
      </p:sp>
      <p:sp>
        <p:nvSpPr>
          <p:cNvPr id="27" name="Text 21"/>
          <p:cNvSpPr txBox="1"/>
          <p:nvPr/>
        </p:nvSpPr>
        <p:spPr>
          <a:xfrm>
            <a:off x="7223760" y="3612612"/>
            <a:ext cx="4343400" cy="624596"/>
          </a:xfrm>
          <a:prstGeom prst="rect">
            <a:avLst/>
          </a:prstGeom>
          <a:noFill/>
          <a:ln/>
        </p:spPr>
        <p:txBody>
          <a:bodyPr wrap="square" lIns="0" tIns="0" rIns="0" bIns="0" rtlCol="0" anchor="ctr"/>
          <a:lstStyle/>
          <a:p>
            <a:pPr indent="0" marL="0">
              <a:buNone/>
            </a:pPr>
            <a:r>
              <a:rPr lang="en-US" sz="1300" dirty="0">
                <a:solidFill>
                  <a:srgbClr val="B4B4C8"/>
                </a:solidFill>
                <a:latin typeface="Arial" pitchFamily="34" charset="0"/>
                <a:ea typeface="Arial" pitchFamily="34" charset="-122"/>
                <a:cs typeface="Arial" pitchFamily="34" charset="-120"/>
              </a:rPr>
              <a:t>Specialist courses inside a district</a:t>
            </a:r>
            <a:endParaRPr lang="en-US" sz="1300" dirty="0"/>
          </a:p>
        </p:txBody>
      </p:sp>
      <p:sp>
        <p:nvSpPr>
          <p:cNvPr id="28" name="Shape 22"/>
          <p:cNvSpPr/>
          <p:nvPr/>
        </p:nvSpPr>
        <p:spPr>
          <a:xfrm>
            <a:off x="457200" y="4328648"/>
            <a:ext cx="11277295" cy="624596"/>
          </a:xfrm>
          <a:prstGeom prst="roundRect">
            <a:avLst>
              <a:gd name="adj" fmla="val 14640"/>
            </a:avLst>
          </a:prstGeom>
          <a:solidFill>
            <a:srgbClr val="171722"/>
          </a:solidFill>
          <a:ln w="9525">
            <a:solidFill>
              <a:srgbClr val="2C2C3E"/>
            </a:solidFill>
            <a:prstDash val="solid"/>
          </a:ln>
        </p:spPr>
      </p:sp>
      <p:sp>
        <p:nvSpPr>
          <p:cNvPr id="29" name="Shape 23"/>
          <p:cNvSpPr/>
          <p:nvPr/>
        </p:nvSpPr>
        <p:spPr>
          <a:xfrm>
            <a:off x="621792" y="4439778"/>
            <a:ext cx="402336" cy="402336"/>
          </a:xfrm>
          <a:prstGeom prst="ellipse">
            <a:avLst/>
          </a:prstGeom>
          <a:solidFill>
            <a:srgbClr val="1E1A10"/>
          </a:solidFill>
          <a:ln w="9525">
            <a:solidFill>
              <a:srgbClr val="5A4A22"/>
            </a:solidFill>
            <a:prstDash val="solid"/>
          </a:ln>
        </p:spPr>
      </p:sp>
      <p:pic>
        <p:nvPicPr>
          <p:cNvPr id="30" name="Image 3" descr="preencoded.png">    </p:cNvPr>
          <p:cNvPicPr>
            <a:picLocks noChangeAspect="1"/>
          </p:cNvPicPr>
          <p:nvPr/>
        </p:nvPicPr>
        <p:blipFill>
          <a:blip r:embed="rId5"/>
          <a:stretch>
            <a:fillRect/>
          </a:stretch>
        </p:blipFill>
        <p:spPr>
          <a:xfrm>
            <a:off x="722376" y="4540362"/>
            <a:ext cx="201168" cy="201168"/>
          </a:xfrm>
          <a:prstGeom prst="rect">
            <a:avLst/>
          </a:prstGeom>
        </p:spPr>
      </p:pic>
      <p:sp>
        <p:nvSpPr>
          <p:cNvPr id="31" name="Text 24"/>
          <p:cNvSpPr txBox="1"/>
          <p:nvPr/>
        </p:nvSpPr>
        <p:spPr>
          <a:xfrm>
            <a:off x="1234440" y="4328648"/>
            <a:ext cx="2331720" cy="6245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AI</a:t>
            </a:r>
            <a:endParaRPr lang="en-US" sz="1500" dirty="0"/>
          </a:p>
        </p:txBody>
      </p:sp>
      <p:sp>
        <p:nvSpPr>
          <p:cNvPr id="32" name="Text 25"/>
          <p:cNvSpPr txBox="1"/>
          <p:nvPr/>
        </p:nvSpPr>
        <p:spPr>
          <a:xfrm>
            <a:off x="3657600" y="4328648"/>
            <a:ext cx="3383280" cy="624596"/>
          </a:xfrm>
          <a:prstGeom prst="rect">
            <a:avLst/>
          </a:prstGeom>
          <a:noFill/>
          <a:ln/>
        </p:spPr>
        <p:txBody>
          <a:bodyPr wrap="square" lIns="0" tIns="0" rIns="0" bIns="0" rtlCol="0" anchor="ctr"/>
          <a:lstStyle/>
          <a:p>
            <a:pPr indent="0" marL="0">
              <a:buNone/>
            </a:pPr>
            <a:r>
              <a:rPr lang="en-US" sz="1500" dirty="0">
                <a:solidFill>
                  <a:srgbClr val="F0C96B"/>
                </a:solidFill>
                <a:latin typeface="Arial" pitchFamily="34" charset="0"/>
                <a:ea typeface="Arial" pitchFamily="34" charset="-122"/>
                <a:cs typeface="Arial" pitchFamily="34" charset="-120"/>
              </a:rPr>
              <a:t>Microsoft AI, Google AI</a:t>
            </a:r>
            <a:endParaRPr lang="en-US" sz="1500" dirty="0"/>
          </a:p>
        </p:txBody>
      </p:sp>
      <p:sp>
        <p:nvSpPr>
          <p:cNvPr id="33" name="Text 26"/>
          <p:cNvSpPr txBox="1"/>
          <p:nvPr/>
        </p:nvSpPr>
        <p:spPr>
          <a:xfrm>
            <a:off x="7223760" y="4328648"/>
            <a:ext cx="4343400" cy="624596"/>
          </a:xfrm>
          <a:prstGeom prst="rect">
            <a:avLst/>
          </a:prstGeom>
          <a:noFill/>
          <a:ln/>
        </p:spPr>
        <p:txBody>
          <a:bodyPr wrap="square" lIns="0" tIns="0" rIns="0" bIns="0" rtlCol="0" anchor="ctr"/>
          <a:lstStyle/>
          <a:p>
            <a:pPr indent="0" marL="0">
              <a:buNone/>
            </a:pPr>
            <a:r>
              <a:rPr lang="en-US" sz="1300" dirty="0">
                <a:solidFill>
                  <a:srgbClr val="B4B4C8"/>
                </a:solidFill>
                <a:latin typeface="Arial" pitchFamily="34" charset="0"/>
                <a:ea typeface="Arial" pitchFamily="34" charset="-122"/>
                <a:cs typeface="Arial" pitchFamily="34" charset="-120"/>
              </a:rPr>
              <a:t>AI District content</a:t>
            </a:r>
            <a:endParaRPr lang="en-US" sz="1300" dirty="0"/>
          </a:p>
        </p:txBody>
      </p:sp>
      <p:sp>
        <p:nvSpPr>
          <p:cNvPr id="34" name="Shape 27"/>
          <p:cNvSpPr/>
          <p:nvPr/>
        </p:nvSpPr>
        <p:spPr>
          <a:xfrm>
            <a:off x="457200" y="5044684"/>
            <a:ext cx="11277295" cy="624596"/>
          </a:xfrm>
          <a:prstGeom prst="roundRect">
            <a:avLst>
              <a:gd name="adj" fmla="val 14640"/>
            </a:avLst>
          </a:prstGeom>
          <a:solidFill>
            <a:srgbClr val="171722"/>
          </a:solidFill>
          <a:ln w="9525">
            <a:solidFill>
              <a:srgbClr val="2C2C3E"/>
            </a:solidFill>
            <a:prstDash val="solid"/>
          </a:ln>
        </p:spPr>
      </p:sp>
      <p:sp>
        <p:nvSpPr>
          <p:cNvPr id="35" name="Shape 28"/>
          <p:cNvSpPr/>
          <p:nvPr/>
        </p:nvSpPr>
        <p:spPr>
          <a:xfrm>
            <a:off x="621792" y="5155814"/>
            <a:ext cx="402336" cy="402336"/>
          </a:xfrm>
          <a:prstGeom prst="ellipse">
            <a:avLst/>
          </a:prstGeom>
          <a:solidFill>
            <a:srgbClr val="1E1A10"/>
          </a:solidFill>
          <a:ln w="9525">
            <a:solidFill>
              <a:srgbClr val="5A4A22"/>
            </a:solidFill>
            <a:prstDash val="solid"/>
          </a:ln>
        </p:spPr>
      </p:sp>
      <p:pic>
        <p:nvPicPr>
          <p:cNvPr id="36" name="Image 4" descr="preencoded.png">    </p:cNvPr>
          <p:cNvPicPr>
            <a:picLocks noChangeAspect="1"/>
          </p:cNvPicPr>
          <p:nvPr/>
        </p:nvPicPr>
        <p:blipFill>
          <a:blip r:embed="rId6"/>
          <a:stretch>
            <a:fillRect/>
          </a:stretch>
        </p:blipFill>
        <p:spPr>
          <a:xfrm>
            <a:off x="722376" y="5256398"/>
            <a:ext cx="201168" cy="201168"/>
          </a:xfrm>
          <a:prstGeom prst="rect">
            <a:avLst/>
          </a:prstGeom>
        </p:spPr>
      </p:pic>
      <p:sp>
        <p:nvSpPr>
          <p:cNvPr id="37" name="Text 29"/>
          <p:cNvSpPr txBox="1"/>
          <p:nvPr/>
        </p:nvSpPr>
        <p:spPr>
          <a:xfrm>
            <a:off x="1234440" y="5044684"/>
            <a:ext cx="2331720" cy="6245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Institutional</a:t>
            </a:r>
            <a:endParaRPr lang="en-US" sz="1500" dirty="0"/>
          </a:p>
        </p:txBody>
      </p:sp>
      <p:sp>
        <p:nvSpPr>
          <p:cNvPr id="38" name="Text 30"/>
          <p:cNvSpPr txBox="1"/>
          <p:nvPr/>
        </p:nvSpPr>
        <p:spPr>
          <a:xfrm>
            <a:off x="3657600" y="5044684"/>
            <a:ext cx="3383280" cy="624596"/>
          </a:xfrm>
          <a:prstGeom prst="rect">
            <a:avLst/>
          </a:prstGeom>
          <a:noFill/>
          <a:ln/>
        </p:spPr>
        <p:txBody>
          <a:bodyPr wrap="square" lIns="0" tIns="0" rIns="0" bIns="0" rtlCol="0" anchor="ctr"/>
          <a:lstStyle/>
          <a:p>
            <a:pPr indent="0" marL="0">
              <a:buNone/>
            </a:pPr>
            <a:r>
              <a:rPr lang="en-US" sz="1500" dirty="0">
                <a:solidFill>
                  <a:srgbClr val="F0C96B"/>
                </a:solidFill>
                <a:latin typeface="Arial" pitchFamily="34" charset="0"/>
                <a:ea typeface="Arial" pitchFamily="34" charset="-122"/>
                <a:cs typeface="Arial" pitchFamily="34" charset="-120"/>
              </a:rPr>
              <a:t>Universities, think tanks, banks</a:t>
            </a:r>
            <a:endParaRPr lang="en-US" sz="1500" dirty="0"/>
          </a:p>
        </p:txBody>
      </p:sp>
      <p:sp>
        <p:nvSpPr>
          <p:cNvPr id="39" name="Text 31"/>
          <p:cNvSpPr txBox="1"/>
          <p:nvPr/>
        </p:nvSpPr>
        <p:spPr>
          <a:xfrm>
            <a:off x="7223760" y="5044684"/>
            <a:ext cx="4343400" cy="624596"/>
          </a:xfrm>
          <a:prstGeom prst="rect">
            <a:avLst/>
          </a:prstGeom>
          <a:noFill/>
          <a:ln/>
        </p:spPr>
        <p:txBody>
          <a:bodyPr wrap="square" lIns="0" tIns="0" rIns="0" bIns="0" rtlCol="0" anchor="ctr"/>
          <a:lstStyle/>
          <a:p>
            <a:pPr indent="0" marL="0">
              <a:buNone/>
            </a:pPr>
            <a:r>
              <a:rPr lang="en-US" sz="1300" dirty="0">
                <a:solidFill>
                  <a:srgbClr val="B4B4C8"/>
                </a:solidFill>
                <a:latin typeface="Arial" pitchFamily="34" charset="0"/>
                <a:ea typeface="Arial" pitchFamily="34" charset="-122"/>
                <a:cs typeface="Arial" pitchFamily="34" charset="-120"/>
              </a:rPr>
              <a:t>Co-certification and research round tables</a:t>
            </a:r>
            <a:endParaRPr lang="en-US" sz="1300" dirty="0"/>
          </a:p>
        </p:txBody>
      </p:sp>
      <p:sp>
        <p:nvSpPr>
          <p:cNvPr id="40" name="Shape 32"/>
          <p:cNvSpPr/>
          <p:nvPr/>
        </p:nvSpPr>
        <p:spPr>
          <a:xfrm>
            <a:off x="457200" y="5833872"/>
            <a:ext cx="11277295" cy="384048"/>
          </a:xfrm>
          <a:prstGeom prst="roundRect">
            <a:avLst>
              <a:gd name="adj" fmla="val 23810"/>
            </a:avLst>
          </a:prstGeom>
          <a:solidFill>
            <a:srgbClr val="15151F"/>
          </a:solidFill>
          <a:ln w="9525">
            <a:solidFill>
              <a:srgbClr val="5A4A22"/>
            </a:solidFill>
            <a:prstDash val="solid"/>
          </a:ln>
        </p:spPr>
      </p:sp>
      <p:pic>
        <p:nvPicPr>
          <p:cNvPr id="41" name="Image 5" descr="preencoded.png">    </p:cNvPr>
          <p:cNvPicPr>
            <a:picLocks noChangeAspect="1"/>
          </p:cNvPicPr>
          <p:nvPr/>
        </p:nvPicPr>
        <p:blipFill>
          <a:blip r:embed="rId7"/>
          <a:stretch>
            <a:fillRect/>
          </a:stretch>
        </p:blipFill>
        <p:spPr>
          <a:xfrm>
            <a:off x="603504" y="5925312"/>
            <a:ext cx="201168" cy="201168"/>
          </a:xfrm>
          <a:prstGeom prst="rect">
            <a:avLst/>
          </a:prstGeom>
        </p:spPr>
      </p:pic>
      <p:sp>
        <p:nvSpPr>
          <p:cNvPr id="42" name="Text 33"/>
          <p:cNvSpPr txBox="1"/>
          <p:nvPr/>
        </p:nvSpPr>
        <p:spPr>
          <a:xfrm>
            <a:off x="914400" y="5833872"/>
            <a:ext cx="10728655" cy="384048"/>
          </a:xfrm>
          <a:prstGeom prst="rect">
            <a:avLst/>
          </a:prstGeom>
          <a:noFill/>
          <a:ln/>
        </p:spPr>
        <p:txBody>
          <a:bodyPr wrap="square" lIns="0" tIns="0" rIns="0" bIns="0" rtlCol="0" anchor="ctr"/>
          <a:lstStyle/>
          <a:p>
            <a:pPr indent="0" marL="0">
              <a:buNone/>
            </a:pPr>
            <a:r>
              <a:rPr lang="en-US" sz="1100" dirty="0">
                <a:solidFill>
                  <a:srgbClr val="E8E8F0"/>
                </a:solidFill>
                <a:latin typeface="Arial" pitchFamily="34" charset="0"/>
                <a:ea typeface="Arial" pitchFamily="34" charset="-122"/>
                <a:cs typeface="Arial" pitchFamily="34" charset="-120"/>
              </a:rPr>
              <a:t>Names are roadmap targets only. No partnership, endorsement or agreement is implied.</a:t>
            </a:r>
            <a:endParaRPr lang="en-US" sz="1100" dirty="0"/>
          </a:p>
        </p:txBody>
      </p:sp>
      <p:sp>
        <p:nvSpPr>
          <p:cNvPr id="43" name="Text 34"/>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457200" y="566928"/>
            <a:ext cx="919262" cy="256032"/>
          </a:xfrm>
          <a:prstGeom prst="roundRect">
            <a:avLst>
              <a:gd name="adj" fmla="val 50000"/>
            </a:avLst>
          </a:prstGeom>
          <a:solidFill>
            <a:srgbClr val="1E1A10"/>
          </a:solidFill>
          <a:ln w="9525">
            <a:solidFill>
              <a:srgbClr val="5A4A22"/>
            </a:solidFill>
            <a:prstDash val="solid"/>
          </a:ln>
        </p:spPr>
      </p:sp>
      <p:sp>
        <p:nvSpPr>
          <p:cNvPr id="4" name="Text 1"/>
          <p:cNvSpPr txBox="1"/>
          <p:nvPr/>
        </p:nvSpPr>
        <p:spPr>
          <a:xfrm>
            <a:off x="612648" y="566928"/>
            <a:ext cx="681518" cy="256032"/>
          </a:xfrm>
          <a:prstGeom prst="rect">
            <a:avLst/>
          </a:prstGeom>
          <a:noFill/>
          <a:ln/>
        </p:spPr>
        <p:txBody>
          <a:bodyPr wrap="square" lIns="0" tIns="0" rIns="0" bIns="0" rtlCol="0" anchor="ctr"/>
          <a:lstStyle/>
          <a:p>
            <a:pPr indent="0" marL="0">
              <a:buNone/>
            </a:pPr>
            <a:r>
              <a:rPr lang="en-US" sz="900" b="1" spc="120" kern="0" dirty="0">
                <a:solidFill>
                  <a:srgbClr val="F0C96B"/>
                </a:solidFill>
                <a:latin typeface="Arial" pitchFamily="34" charset="0"/>
                <a:ea typeface="Arial" pitchFamily="34" charset="-122"/>
                <a:cs typeface="Arial" pitchFamily="34" charset="-120"/>
              </a:rPr>
              <a:t>THE ASK</a:t>
            </a:r>
            <a:endParaRPr lang="en-US" sz="900" dirty="0"/>
          </a:p>
        </p:txBody>
      </p:sp>
      <p:sp>
        <p:nvSpPr>
          <p:cNvPr id="5" name="Text 2"/>
          <p:cNvSpPr txBox="1"/>
          <p:nvPr/>
        </p:nvSpPr>
        <p:spPr>
          <a:xfrm>
            <a:off x="457200" y="1024128"/>
            <a:ext cx="11277295" cy="7772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Become a founding Knowledge Partner</a:t>
            </a:r>
            <a:endParaRPr lang="en-US" sz="4400" dirty="0"/>
          </a:p>
        </p:txBody>
      </p:sp>
      <p:sp>
        <p:nvSpPr>
          <p:cNvPr id="6" name="Text 3"/>
          <p:cNvSpPr txBox="1"/>
          <p:nvPr/>
        </p:nvSpPr>
        <p:spPr>
          <a:xfrm>
            <a:off x="457200" y="1847088"/>
            <a:ext cx="11277295" cy="365760"/>
          </a:xfrm>
          <a:prstGeom prst="rect">
            <a:avLst/>
          </a:prstGeom>
          <a:noFill/>
          <a:ln/>
        </p:spPr>
        <p:txBody>
          <a:bodyPr wrap="square" lIns="0" tIns="0" rIns="0" bIns="0" rtlCol="0" anchor="t"/>
          <a:lstStyle/>
          <a:p>
            <a:pPr indent="0" marL="0">
              <a:buNone/>
            </a:pPr>
            <a:r>
              <a:rPr lang="en-US" sz="1900" dirty="0">
                <a:solidFill>
                  <a:srgbClr val="B4B4C8"/>
                </a:solidFill>
                <a:latin typeface="Arial" pitchFamily="34" charset="0"/>
                <a:ea typeface="Arial" pitchFamily="34" charset="-122"/>
                <a:cs typeface="Arial" pitchFamily="34" charset="-120"/>
              </a:rPr>
              <a:t>Help build the place where the digital economy learns, hosted by Dubai Blockchain Center</a:t>
            </a:r>
            <a:endParaRPr lang="en-US" sz="1900" dirty="0"/>
          </a:p>
        </p:txBody>
      </p:sp>
      <p:sp>
        <p:nvSpPr>
          <p:cNvPr id="7" name="Shape 4"/>
          <p:cNvSpPr/>
          <p:nvPr/>
        </p:nvSpPr>
        <p:spPr>
          <a:xfrm>
            <a:off x="457200" y="2468880"/>
            <a:ext cx="3576218" cy="2362200"/>
          </a:xfrm>
          <a:prstGeom prst="roundRect">
            <a:avLst>
              <a:gd name="adj" fmla="val 4645"/>
            </a:avLst>
          </a:prstGeom>
          <a:solidFill>
            <a:srgbClr val="171722"/>
          </a:solidFill>
          <a:ln w="15875">
            <a:solidFill>
              <a:srgbClr val="C9A84C"/>
            </a:solidFill>
            <a:prstDash val="solid"/>
          </a:ln>
        </p:spPr>
      </p:sp>
      <p:sp>
        <p:nvSpPr>
          <p:cNvPr id="8" name="Shape 5"/>
          <p:cNvSpPr/>
          <p:nvPr/>
        </p:nvSpPr>
        <p:spPr>
          <a:xfrm>
            <a:off x="713232" y="2724912"/>
            <a:ext cx="475488" cy="475488"/>
          </a:xfrm>
          <a:prstGeom prst="ellipse">
            <a:avLst/>
          </a:prstGeom>
          <a:solidFill>
            <a:srgbClr val="1E1A10"/>
          </a:solidFill>
          <a:ln w="9525">
            <a:solidFill>
              <a:srgbClr val="5A4A22"/>
            </a:solidFill>
            <a:prstDash val="solid"/>
          </a:ln>
        </p:spPr>
      </p:sp>
      <p:pic>
        <p:nvPicPr>
          <p:cNvPr id="9" name="Image 0" descr="preencoded.png">    </p:cNvPr>
          <p:cNvPicPr>
            <a:picLocks noChangeAspect="1"/>
          </p:cNvPicPr>
          <p:nvPr/>
        </p:nvPicPr>
        <p:blipFill>
          <a:blip r:embed="rId2"/>
          <a:stretch>
            <a:fillRect/>
          </a:stretch>
        </p:blipFill>
        <p:spPr>
          <a:xfrm>
            <a:off x="832104" y="2843784"/>
            <a:ext cx="237744" cy="237744"/>
          </a:xfrm>
          <a:prstGeom prst="rect">
            <a:avLst/>
          </a:prstGeom>
        </p:spPr>
      </p:pic>
      <p:sp>
        <p:nvSpPr>
          <p:cNvPr id="10" name="Text 6"/>
          <p:cNvSpPr txBox="1"/>
          <p:nvPr/>
        </p:nvSpPr>
        <p:spPr>
          <a:xfrm>
            <a:off x="713232" y="3337560"/>
            <a:ext cx="3064154" cy="310896"/>
          </a:xfrm>
          <a:prstGeom prst="rect">
            <a:avLst/>
          </a:prstGeom>
          <a:noFill/>
          <a:ln/>
        </p:spPr>
        <p:txBody>
          <a:bodyPr wrap="square" lIns="0" tIns="0" rIns="0" bIns="0" rtlCol="0" anchor="t"/>
          <a:lstStyle/>
          <a:p>
            <a:pPr indent="0" marL="0">
              <a:buNone/>
            </a:pPr>
            <a:r>
              <a:rPr lang="en-US" sz="1800" b="1" dirty="0">
                <a:solidFill>
                  <a:srgbClr val="F0C96B"/>
                </a:solidFill>
                <a:latin typeface="Arial" pitchFamily="34" charset="0"/>
                <a:ea typeface="Arial" pitchFamily="34" charset="-122"/>
                <a:cs typeface="Arial" pitchFamily="34" charset="-120"/>
              </a:rPr>
              <a:t>Founding partners</a:t>
            </a:r>
            <a:endParaRPr lang="en-US" sz="1800" dirty="0"/>
          </a:p>
        </p:txBody>
      </p:sp>
      <p:sp>
        <p:nvSpPr>
          <p:cNvPr id="11" name="Text 7"/>
          <p:cNvSpPr txBox="1"/>
          <p:nvPr/>
        </p:nvSpPr>
        <p:spPr>
          <a:xfrm>
            <a:off x="713232" y="3703320"/>
            <a:ext cx="3064154" cy="1036320"/>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Co-design a flagship track or an academy around the roles you hire for, co-host the first round tables, sit on the curriculum board</a:t>
            </a:r>
            <a:endParaRPr lang="en-US" sz="1400" dirty="0"/>
          </a:p>
        </p:txBody>
      </p:sp>
      <p:sp>
        <p:nvSpPr>
          <p:cNvPr id="12" name="Shape 8"/>
          <p:cNvSpPr/>
          <p:nvPr/>
        </p:nvSpPr>
        <p:spPr>
          <a:xfrm>
            <a:off x="4307738" y="2468880"/>
            <a:ext cx="3576218" cy="2362200"/>
          </a:xfrm>
          <a:prstGeom prst="roundRect">
            <a:avLst>
              <a:gd name="adj" fmla="val 4645"/>
            </a:avLst>
          </a:prstGeom>
          <a:solidFill>
            <a:srgbClr val="171722"/>
          </a:solidFill>
          <a:ln w="9525">
            <a:solidFill>
              <a:srgbClr val="2C2C3E"/>
            </a:solidFill>
            <a:prstDash val="solid"/>
          </a:ln>
        </p:spPr>
      </p:sp>
      <p:sp>
        <p:nvSpPr>
          <p:cNvPr id="13" name="Shape 9"/>
          <p:cNvSpPr/>
          <p:nvPr/>
        </p:nvSpPr>
        <p:spPr>
          <a:xfrm>
            <a:off x="4563770" y="2724912"/>
            <a:ext cx="475488" cy="475488"/>
          </a:xfrm>
          <a:prstGeom prst="ellipse">
            <a:avLst/>
          </a:prstGeom>
          <a:solidFill>
            <a:srgbClr val="1E1A10"/>
          </a:solidFill>
          <a:ln w="9525">
            <a:solidFill>
              <a:srgbClr val="5A4A22"/>
            </a:solidFill>
            <a:prstDash val="solid"/>
          </a:ln>
        </p:spPr>
      </p:sp>
      <p:pic>
        <p:nvPicPr>
          <p:cNvPr id="14" name="Image 1" descr="preencoded.png">    </p:cNvPr>
          <p:cNvPicPr>
            <a:picLocks noChangeAspect="1"/>
          </p:cNvPicPr>
          <p:nvPr/>
        </p:nvPicPr>
        <p:blipFill>
          <a:blip r:embed="rId3"/>
          <a:stretch>
            <a:fillRect/>
          </a:stretch>
        </p:blipFill>
        <p:spPr>
          <a:xfrm>
            <a:off x="4682642" y="2843784"/>
            <a:ext cx="237744" cy="237744"/>
          </a:xfrm>
          <a:prstGeom prst="rect">
            <a:avLst/>
          </a:prstGeom>
        </p:spPr>
      </p:pic>
      <p:sp>
        <p:nvSpPr>
          <p:cNvPr id="15" name="Text 10"/>
          <p:cNvSpPr txBox="1"/>
          <p:nvPr/>
        </p:nvSpPr>
        <p:spPr>
          <a:xfrm>
            <a:off x="4563770" y="3337560"/>
            <a:ext cx="3064154"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Pilot institutions</a:t>
            </a:r>
            <a:endParaRPr lang="en-US" sz="1800" dirty="0"/>
          </a:p>
        </p:txBody>
      </p:sp>
      <p:sp>
        <p:nvSpPr>
          <p:cNvPr id="16" name="Text 11"/>
          <p:cNvSpPr txBox="1"/>
          <p:nvPr/>
        </p:nvSpPr>
        <p:spPr>
          <a:xfrm>
            <a:off x="4563770" y="3703320"/>
            <a:ext cx="3064154" cy="1036320"/>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Regulators, FIUs, banks and VASPs for the first team-licence cohorts, with feedback on L2-L3 content</a:t>
            </a:r>
            <a:endParaRPr lang="en-US" sz="1400" dirty="0"/>
          </a:p>
        </p:txBody>
      </p:sp>
      <p:sp>
        <p:nvSpPr>
          <p:cNvPr id="17" name="Shape 12"/>
          <p:cNvSpPr/>
          <p:nvPr/>
        </p:nvSpPr>
        <p:spPr>
          <a:xfrm>
            <a:off x="8158277" y="2468880"/>
            <a:ext cx="3576218" cy="2362200"/>
          </a:xfrm>
          <a:prstGeom prst="roundRect">
            <a:avLst>
              <a:gd name="adj" fmla="val 4645"/>
            </a:avLst>
          </a:prstGeom>
          <a:solidFill>
            <a:srgbClr val="171722"/>
          </a:solidFill>
          <a:ln w="9525">
            <a:solidFill>
              <a:srgbClr val="2C2C3E"/>
            </a:solidFill>
            <a:prstDash val="solid"/>
          </a:ln>
        </p:spPr>
      </p:sp>
      <p:sp>
        <p:nvSpPr>
          <p:cNvPr id="18" name="Shape 13"/>
          <p:cNvSpPr/>
          <p:nvPr/>
        </p:nvSpPr>
        <p:spPr>
          <a:xfrm>
            <a:off x="8414309" y="2724912"/>
            <a:ext cx="475488" cy="475488"/>
          </a:xfrm>
          <a:prstGeom prst="ellipse">
            <a:avLst/>
          </a:prstGeom>
          <a:solidFill>
            <a:srgbClr val="1E1A10"/>
          </a:solidFill>
          <a:ln w="9525">
            <a:solidFill>
              <a:srgbClr val="5A4A22"/>
            </a:solidFill>
            <a:prstDash val="solid"/>
          </a:ln>
        </p:spPr>
      </p:sp>
      <p:pic>
        <p:nvPicPr>
          <p:cNvPr id="19" name="Image 2" descr="preencoded.png">    </p:cNvPr>
          <p:cNvPicPr>
            <a:picLocks noChangeAspect="1"/>
          </p:cNvPicPr>
          <p:nvPr/>
        </p:nvPicPr>
        <p:blipFill>
          <a:blip r:embed="rId4"/>
          <a:stretch>
            <a:fillRect/>
          </a:stretch>
        </p:blipFill>
        <p:spPr>
          <a:xfrm>
            <a:off x="8533181" y="2843784"/>
            <a:ext cx="237744" cy="237744"/>
          </a:xfrm>
          <a:prstGeom prst="rect">
            <a:avLst/>
          </a:prstGeom>
        </p:spPr>
      </p:pic>
      <p:sp>
        <p:nvSpPr>
          <p:cNvPr id="20" name="Text 14"/>
          <p:cNvSpPr txBox="1"/>
          <p:nvPr/>
        </p:nvSpPr>
        <p:spPr>
          <a:xfrm>
            <a:off x="8414309" y="3337560"/>
            <a:ext cx="3064154"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Investors</a:t>
            </a:r>
            <a:endParaRPr lang="en-US" sz="1800" dirty="0"/>
          </a:p>
        </p:txBody>
      </p:sp>
      <p:sp>
        <p:nvSpPr>
          <p:cNvPr id="21" name="Text 15"/>
          <p:cNvSpPr txBox="1"/>
          <p:nvPr/>
        </p:nvSpPr>
        <p:spPr>
          <a:xfrm>
            <a:off x="8414309" y="3703320"/>
            <a:ext cx="3064154" cy="1036320"/>
          </a:xfrm>
          <a:prstGeom prst="rect">
            <a:avLst/>
          </a:prstGeom>
          <a:noFill/>
          <a:ln/>
        </p:spPr>
        <p:txBody>
          <a:bodyPr wrap="square" lIns="0" tIns="0" rIns="0" bIns="0" rtlCol="0" anchor="t"/>
          <a:lstStyle/>
          <a:p>
            <a:pPr indent="0" marL="0">
              <a:buNone/>
            </a:pPr>
            <a:r>
              <a:rPr lang="en-US" sz="1400" dirty="0">
                <a:solidFill>
                  <a:srgbClr val="B4B4C8"/>
                </a:solidFill>
                <a:latin typeface="Arial" pitchFamily="34" charset="0"/>
                <a:ea typeface="Arial" pitchFamily="34" charset="-122"/>
                <a:cs typeface="Arial" pitchFamily="34" charset="-120"/>
              </a:rPr>
              <a:t>Fund the six-sprint go-live and the first partner academies</a:t>
            </a:r>
            <a:endParaRPr lang="en-US" sz="1400" dirty="0"/>
          </a:p>
        </p:txBody>
      </p:sp>
      <p:sp>
        <p:nvSpPr>
          <p:cNvPr id="22" name="Shape 16"/>
          <p:cNvSpPr/>
          <p:nvPr/>
        </p:nvSpPr>
        <p:spPr>
          <a:xfrm>
            <a:off x="457200" y="5105400"/>
            <a:ext cx="11277295" cy="658368"/>
          </a:xfrm>
          <a:prstGeom prst="roundRect">
            <a:avLst>
              <a:gd name="adj" fmla="val 16667"/>
            </a:avLst>
          </a:prstGeom>
          <a:solidFill>
            <a:srgbClr val="231E12"/>
          </a:solidFill>
          <a:ln w="9525">
            <a:solidFill>
              <a:srgbClr val="C9A84C"/>
            </a:solidFill>
            <a:prstDash val="solid"/>
          </a:ln>
        </p:spPr>
      </p:sp>
      <p:sp>
        <p:nvSpPr>
          <p:cNvPr id="23" name="Shape 17"/>
          <p:cNvSpPr/>
          <p:nvPr/>
        </p:nvSpPr>
        <p:spPr>
          <a:xfrm>
            <a:off x="640080" y="5224272"/>
            <a:ext cx="420624" cy="420624"/>
          </a:xfrm>
          <a:prstGeom prst="ellipse">
            <a:avLst/>
          </a:prstGeom>
          <a:solidFill>
            <a:srgbClr val="C9A84C"/>
          </a:solidFill>
          <a:ln w="9525">
            <a:solidFill>
              <a:srgbClr val="C9A84C"/>
            </a:solidFill>
            <a:prstDash val="solid"/>
          </a:ln>
        </p:spPr>
      </p:sp>
      <p:pic>
        <p:nvPicPr>
          <p:cNvPr id="24" name="Image 3" descr="preencoded.png">    </p:cNvPr>
          <p:cNvPicPr>
            <a:picLocks noChangeAspect="1"/>
          </p:cNvPicPr>
          <p:nvPr/>
        </p:nvPicPr>
        <p:blipFill>
          <a:blip r:embed="rId5"/>
          <a:stretch>
            <a:fillRect/>
          </a:stretch>
        </p:blipFill>
        <p:spPr>
          <a:xfrm>
            <a:off x="745236" y="5329428"/>
            <a:ext cx="210312" cy="210312"/>
          </a:xfrm>
          <a:prstGeom prst="rect">
            <a:avLst/>
          </a:prstGeom>
        </p:spPr>
      </p:pic>
      <p:sp>
        <p:nvSpPr>
          <p:cNvPr id="25" name="Text 18"/>
          <p:cNvSpPr txBox="1"/>
          <p:nvPr/>
        </p:nvSpPr>
        <p:spPr>
          <a:xfrm>
            <a:off x="1234440" y="5105400"/>
            <a:ext cx="10362895" cy="658368"/>
          </a:xfrm>
          <a:prstGeom prst="rect">
            <a:avLst/>
          </a:prstGeom>
          <a:noFill/>
          <a:ln/>
        </p:spPr>
        <p:txBody>
          <a:bodyPr wrap="square" lIns="0" tIns="0" rIns="0" bIns="0" rtlCol="0" anchor="ctr"/>
          <a:lstStyle/>
          <a:p>
            <a:pPr indent="0" marL="0">
              <a:buNone/>
            </a:pPr>
            <a:r>
              <a:rPr lang="en-US" sz="1700" b="1" dirty="0">
                <a:solidFill>
                  <a:srgbClr val="F0C96B"/>
                </a:solidFill>
                <a:latin typeface="Arial" pitchFamily="34" charset="0"/>
                <a:ea typeface="Arial" pitchFamily="34" charset="-122"/>
                <a:cs typeface="Arial" pitchFamily="34" charset="-120"/>
              </a:rPr>
              <a:t>Next step: </a:t>
            </a:r>
            <a:r>
              <a:rPr lang="en-US" sz="1700" dirty="0">
                <a:solidFill>
                  <a:srgbClr val="FFFFFF"/>
                </a:solidFill>
                <a:latin typeface="Arial" pitchFamily="34" charset="0"/>
                <a:ea typeface="Arial" pitchFamily="34" charset="-122"/>
                <a:cs typeface="Arial" pitchFamily="34" charset="-120"/>
              </a:rPr>
              <a:t>a working session to choose your district, first track and first round table</a:t>
            </a:r>
            <a:endParaRPr lang="en-US" sz="1700" dirty="0"/>
          </a:p>
        </p:txBody>
      </p:sp>
      <p:sp>
        <p:nvSpPr>
          <p:cNvPr id="26" name="Text 19"/>
          <p:cNvSpPr txBox="1"/>
          <p:nvPr/>
        </p:nvSpPr>
        <p:spPr>
          <a:xfrm>
            <a:off x="1234440" y="5946648"/>
            <a:ext cx="10362895" cy="256032"/>
          </a:xfrm>
          <a:prstGeom prst="rect">
            <a:avLst/>
          </a:prstGeom>
          <a:noFill/>
          <a:ln/>
        </p:spPr>
        <p:txBody>
          <a:bodyPr wrap="square" lIns="0" tIns="0" rIns="0" bIns="0" rtlCol="0" anchor="t"/>
          <a:lstStyle/>
          <a:p>
            <a:pPr indent="0" marL="0">
              <a:buNone/>
            </a:pPr>
            <a:r>
              <a:rPr lang="en-US" sz="1400" b="1" dirty="0">
                <a:solidFill>
                  <a:srgbClr val="F0C96B"/>
                </a:solidFill>
                <a:latin typeface="Arial" pitchFamily="34" charset="0"/>
                <a:ea typeface="Arial" pitchFamily="34" charset="-122"/>
                <a:cs typeface="Arial" pitchFamily="34" charset="-120"/>
              </a:rPr>
              <a:t>Contact: </a:t>
            </a:r>
            <a:r>
              <a:rPr lang="en-US" sz="1400" dirty="0">
                <a:solidFill>
                  <a:srgbClr val="E8E8F0"/>
                </a:solidFill>
                <a:latin typeface="Arial" pitchFamily="34" charset="0"/>
                <a:ea typeface="Arial" pitchFamily="34" charset="-122"/>
                <a:cs typeface="Arial" pitchFamily="34" charset="-120"/>
              </a:rPr>
              <a:t>partners@chronopoli.io · chronopoli.io</a:t>
            </a:r>
            <a:endParaRPr lang="en-US" sz="1400" dirty="0"/>
          </a:p>
        </p:txBody>
      </p:sp>
      <p:sp>
        <p:nvSpPr>
          <p:cNvPr id="27" name="Text 20"/>
          <p:cNvSpPr txBox="1"/>
          <p:nvPr/>
        </p:nvSpPr>
        <p:spPr>
          <a:xfrm>
            <a:off x="11185855" y="6510528"/>
            <a:ext cx="548640" cy="182880"/>
          </a:xfrm>
          <a:prstGeom prst="rect">
            <a:avLst/>
          </a:prstGeom>
          <a:noFill/>
          <a:ln/>
        </p:spPr>
        <p:txBody>
          <a:bodyPr wrap="square" lIns="0" tIns="0" rIns="0" bIns="0" rtlCol="0" anchor="t"/>
          <a:lstStyle/>
          <a:p>
            <a:pPr algn="r" indent="0" marL="0">
              <a:buNone/>
            </a:pPr>
            <a:r>
              <a:rPr lang="en-US" sz="900" b="1" dirty="0">
                <a:solidFill>
                  <a:srgbClr val="74748A"/>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Chronopoli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Chronopoli Pitch Deck</dc:title>
  <dc:subject>Investor and partner presentation</dc:subject>
  <dc:creator>Chronopoli</dc:creator>
  <cp:lastModifiedBy>Chronopoli</cp:lastModifiedBy>
  <cp:revision>1</cp:revision>
  <dcterms:created xsi:type="dcterms:W3CDTF">2026-09-29T22:55:25Z</dcterms:created>
  <dcterms:modified xsi:type="dcterms:W3CDTF">2026-09-29T22:55:25Z</dcterms:modified>
</cp:coreProperties>
</file>